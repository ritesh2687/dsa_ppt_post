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50BEFF"/>
                </a:solidFill>
              </a:defRPr>
            </a:pPr>
            <a:r>
              <a:t>DAY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800" b="1">
                <a:solidFill>
                  <a:srgbClr val="F0F4FC"/>
                </a:solidFill>
              </a:defRPr>
            </a:pPr>
            <a:r>
              <a:t>DAY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80360"/>
            <a:ext cx="960120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AAB5CA"/>
                </a:solidFill>
              </a:defRPr>
            </a:pPr>
            <a:r>
              <a:t>Sliding Window Technique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10698480" cy="123444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51960"/>
            <a:ext cx="29260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1">
                <a:solidFill>
                  <a:srgbClr val="50BEFF"/>
                </a:solidFill>
              </a:defRPr>
            </a:pPr>
            <a:r>
              <a:t>DSA DAILY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45152"/>
            <a:ext cx="98755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0">
                <a:solidFill>
                  <a:srgbClr val="F0F4FC"/>
                </a:solidFill>
              </a:defRPr>
            </a:pPr>
            <a:r>
              <a:t>Arrays • Two Pointers • Sliding Window •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What is Sliding Window?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A pattern for processing contiguous ranges efficiently.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0F4FC"/>
                </a:solidFill>
              </a:defRPr>
            </a:pPr>
            <a:r>
              <a:t>• Maintain a window [left … right] over an array/string.</a:t>
            </a:r>
          </a:p>
          <a:p>
            <a:pPr>
              <a:spcAft>
                <a:spcPts val="1200"/>
              </a:spcAft>
              <a:defRPr sz="1900">
                <a:solidFill>
                  <a:srgbClr val="F0F4FC"/>
                </a:solidFill>
              </a:defRPr>
            </a:pPr>
            <a:r>
              <a:t>• Expand by moving right.</a:t>
            </a:r>
          </a:p>
          <a:p>
            <a:pPr>
              <a:spcAft>
                <a:spcPts val="1200"/>
              </a:spcAft>
              <a:defRPr sz="1900">
                <a:solidFill>
                  <a:srgbClr val="F0F4FC"/>
                </a:solidFill>
              </a:defRPr>
            </a:pPr>
            <a:r>
              <a:t>• Shrink by moving left when the condition requires it.</a:t>
            </a:r>
          </a:p>
          <a:p>
            <a:pPr>
              <a:spcAft>
                <a:spcPts val="1200"/>
              </a:spcAft>
              <a:defRPr sz="1900">
                <a:solidFill>
                  <a:srgbClr val="F0F4FC"/>
                </a:solidFill>
              </a:defRPr>
            </a:pPr>
            <a:r>
              <a:t>• Update the answer using only changes caused by the two moves.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59436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04104"/>
            <a:ext cx="1014984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FFCD5B"/>
                </a:solidFill>
              </a:defRPr>
            </a:pPr>
            <a:r>
              <a:t>Core idea: don’t recompute the same elements again and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Why do we need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The hidden cost in many subarray problems is repeated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429768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166360" cy="429768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FF6A7D"/>
                </a:solidFill>
              </a:defRPr>
            </a:pPr>
            <a:r>
              <a:t>Brute 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480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Generate many ranges</a:t>
            </a:r>
          </a:p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Recalculate sum / count / condition</a:t>
            </a:r>
          </a:p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Often becomes O(n²) or worse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5BDC99"/>
                </a:solidFill>
              </a:defRPr>
            </a:pPr>
            <a:r>
              <a:t>Sliding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480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Keep one active range</a:t>
            </a:r>
          </a:p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Add the new right element</a:t>
            </a:r>
          </a:p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Remove the old left element</a:t>
            </a:r>
          </a:p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Usually reaches O(n)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How does it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Think of the window as a frame moving across the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F0F4FC"/>
                </a:solidFill>
              </a:defRPr>
            </a:pPr>
            <a:r>
              <a:t>Window = a contiguous segment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77724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09928" y="2743200"/>
            <a:ext cx="77724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2743200"/>
            <a:ext cx="77724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2743200"/>
            <a:ext cx="77724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743200"/>
            <a:ext cx="77724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743200"/>
            <a:ext cx="77724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2743200"/>
            <a:ext cx="77724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005840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50BEFF"/>
                </a:solidFill>
              </a:defRPr>
            </a:pPr>
            <a:r>
              <a:t>Expand right → Check condition → Shrink left → Update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Two Main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Choose the window pattern based on the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38912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38912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100" b="1">
                <a:solidFill>
                  <a:srgbClr val="50BEFF"/>
                </a:solidFill>
              </a:defRPr>
            </a:pPr>
            <a:r>
              <a:t>Fixed-Size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Window size k is fixed</a:t>
            </a:r>
          </a:p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Add right element</a:t>
            </a:r>
          </a:p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Remove left element</a:t>
            </a:r>
          </a:p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Great for every k-sized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66344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100" b="1">
                <a:solidFill>
                  <a:srgbClr val="AC78FF"/>
                </a:solidFill>
              </a:defRPr>
            </a:pPr>
            <a:r>
              <a:t>Variable-Size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Window size changes</a:t>
            </a:r>
          </a:p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Expand until useful</a:t>
            </a:r>
          </a:p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Shrink while condition demands it</a:t>
            </a:r>
          </a:p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Great for longest/shortest valid 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Fixed Window: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Example: maximum sum of any k consecutive elements.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F0F4FC"/>
                </a:solidFill>
              </a:defRPr>
            </a:pPr>
            <a:r>
              <a:t>k = 3 → first window sum = 2 + 1 + 5 =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77724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09928" y="2743200"/>
            <a:ext cx="77724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2743200"/>
            <a:ext cx="77724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2743200"/>
            <a:ext cx="77724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743200"/>
            <a:ext cx="77724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743200"/>
            <a:ext cx="77724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2743200"/>
            <a:ext cx="77724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0584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900" b="1">
                <a:solidFill>
                  <a:srgbClr val="5BDC99"/>
                </a:solidFill>
              </a:defRPr>
            </a:pPr>
            <a:r>
              <a:t>New sum = old sum − outgoing + incoming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0584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AAB5CA"/>
                </a:solidFill>
              </a:defRPr>
            </a:pPr>
            <a:r>
              <a:t>8 − 2 + 3 = 9  → no need to recompute the whole window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Fixed Window: C++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O(n) time, O(1) extra 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89920" cy="448056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18488"/>
            <a:ext cx="102870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5BDC99"/>
                </a:solidFill>
              </a:defRPr>
            </a:pPr>
            <a:r>
              <a:t>int maxSum(vector&lt;int&gt;&amp; a, int k) {</a:t>
            </a:r>
            <a:br/>
            <a:r>
              <a:t>    long long window = 0, best = LLONG_MIN;</a:t>
            </a:r>
            <a:br/>
            <a:r>
              <a:t>    for (int i = 0; i &lt; k; i++) window += a[i];</a:t>
            </a:r>
            <a:br/>
            <a:r>
              <a:t>    best = window;</a:t>
            </a:r>
            <a:br/>
            <a:r>
              <a:t>    for (int right = k; right &lt; a.size(); right++) {</a:t>
            </a:r>
            <a:br/>
            <a:r>
              <a:t>        window += a[right];</a:t>
            </a:r>
            <a:br/>
            <a:r>
              <a:t>        window -= a[right - k];</a:t>
            </a:r>
            <a:br/>
            <a:r>
              <a:t>        best = max(best, window);</a:t>
            </a:r>
            <a:br/>
            <a:r>
              <a:t>    }</a:t>
            </a:r>
            <a:br/>
            <a:r>
              <a:t>    return best;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Fixed Window: 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Use one running sum instead of recomputing each window.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468880" cy="196596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03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50BE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103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F0F4FC"/>
                </a:solidFill>
              </a:defRPr>
            </a:pPr>
            <a: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10312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</a:defRPr>
            </a:pPr>
            <a:r>
              <a:t>sum first k elements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600200"/>
            <a:ext cx="2468880" cy="196596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28800"/>
            <a:ext cx="2103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50BE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240280"/>
            <a:ext cx="2103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F0F4FC"/>
                </a:solidFill>
              </a:defRPr>
            </a:pPr>
            <a:r>
              <a:t>Slide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743200"/>
            <a:ext cx="210312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</a:defRPr>
            </a:pPr>
            <a:r>
              <a:t>add a[right]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600200"/>
            <a:ext cx="2468880" cy="196596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103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50BE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2103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F0F4FC"/>
                </a:solidFill>
              </a:defRPr>
            </a:pPr>
            <a:r>
              <a:t>Remove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210312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</a:defRPr>
            </a:pPr>
            <a:r>
              <a:t>subtract a[right-k]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00200"/>
            <a:ext cx="2468880" cy="196596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1828800"/>
            <a:ext cx="2103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50BE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240280"/>
            <a:ext cx="2103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F0F4FC"/>
                </a:solidFill>
              </a:defRPr>
            </a:pPr>
            <a:r>
              <a:t>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2743200"/>
            <a:ext cx="210312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</a:defRPr>
            </a:pPr>
            <a:r>
              <a:t>best = max(best, window)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1005840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100" b="1">
                <a:solidFill>
                  <a:srgbClr val="FFCD5B"/>
                </a:solidFill>
              </a:defRPr>
            </a:pPr>
            <a:r>
              <a:t>Pattern: add incoming → remove outgoing → evaluate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Variable Window: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Example: longest subarray with sum ≤ K (non-negative numbers).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77724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09928" y="2743200"/>
            <a:ext cx="77724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96896" y="2743200"/>
            <a:ext cx="77724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2743200"/>
            <a:ext cx="77724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743200"/>
            <a:ext cx="77724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743200"/>
            <a:ext cx="77724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Expand right → if sum &gt; K, move left until valid again.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05840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000" b="1">
                <a:solidFill>
                  <a:srgbClr val="AC78FF"/>
                </a:solidFill>
              </a:defRPr>
            </a:pPr>
            <a:r>
              <a:t>The window size is NOT fixed. The condition decides when to shrink.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Variable Window: C++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A reusable skeleton for many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89920" cy="448056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18488"/>
            <a:ext cx="1028700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5BDC99"/>
                </a:solidFill>
              </a:defRPr>
            </a:pPr>
            <a:r>
              <a:t>int left = 0;</a:t>
            </a:r>
            <a:br/>
            <a:r>
              <a:t>long long window = 0;</a:t>
            </a:r>
            <a:br/>
            <a:r>
              <a:t>int best = 0;</a:t>
            </a:r>
            <a:br/>
            <a:br/>
            <a:r>
              <a:t>for (int right = 0; right &lt; n; right++) {</a:t>
            </a:r>
            <a:br/>
            <a:r>
              <a:t>    window += a[right];</a:t>
            </a:r>
            <a:br/>
            <a:r>
              <a:t>    while (window &gt; K) {</a:t>
            </a:r>
            <a:br/>
            <a:r>
              <a:t>        window -= a[left];</a:t>
            </a:r>
            <a:br/>
            <a:r>
              <a:t>        left++;</a:t>
            </a:r>
            <a:br/>
            <a:r>
              <a:t>    }</a:t>
            </a:r>
            <a:br/>
            <a:r>
              <a:t>    best = max(best, right - left + 1);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058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00" b="1">
                <a:solidFill>
                  <a:srgbClr val="FFCD5B"/>
                </a:solidFill>
              </a:defRPr>
            </a:pPr>
            <a:r>
              <a:t>Important: this sum condition assumes non-negative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Find the longest subarray with sum ≤ 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058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600" b="1">
                <a:solidFill>
                  <a:srgbClr val="F0F4FC"/>
                </a:solidFill>
              </a:defRPr>
            </a:pPr>
            <a:r>
              <a:t>Start: [2, 1, 3] → sum = 6 → length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96012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828800"/>
            <a:ext cx="96012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28800"/>
            <a:ext cx="960120" cy="685800"/>
          </a:xfrm>
          <a:prstGeom prst="roundRect">
            <a:avLst/>
          </a:prstGeom>
          <a:solidFill>
            <a:srgbClr val="50BEFF"/>
          </a:solidFill>
          <a:ln>
            <a:solidFill>
              <a:srgbClr val="50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A0E18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828800"/>
            <a:ext cx="96012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828800"/>
            <a:ext cx="96012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960120" cy="685800"/>
          </a:xfrm>
          <a:prstGeom prst="roundRect">
            <a:avLst/>
          </a:prstGeom>
          <a:solidFill>
            <a:srgbClr val="1B2439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F6A7D"/>
                </a:solidFill>
              </a:defRPr>
            </a:pPr>
            <a:r>
              <a:t>Add 2 → sum = 8 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5BDC99"/>
                </a:solidFill>
              </a:defRPr>
            </a:pPr>
            <a:r>
              <a:t>Shrink: 8 − 2 = 6 ✅ → [1,3,2]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058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0">
                <a:solidFill>
                  <a:srgbClr val="AAB5CA"/>
                </a:solidFill>
              </a:defRPr>
            </a:pPr>
            <a:r>
              <a:t>Continue sliding and keep the maximum valid length.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Sliding Window vs Two 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They overlap, but they are not identical.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34340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34340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5720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50BEFF"/>
                </a:solidFill>
              </a:defRPr>
            </a:pPr>
            <a:r>
              <a:t>Two Pointers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Broad technique using two indices</a:t>
            </a:r>
          </a:p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Pointers can move for different reasons</a:t>
            </a:r>
          </a:p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Common in sorted arrays and pair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5720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AC78FF"/>
                </a:solidFill>
              </a:defRPr>
            </a:pPr>
            <a:r>
              <a:t>Sliding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Specialized contiguous-range pattern</a:t>
            </a:r>
          </a:p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Left/right define an active window</a:t>
            </a:r>
          </a:p>
          <a:p>
            <a:pPr>
              <a:spcAft>
                <a:spcPts val="1200"/>
              </a:spcAft>
              <a:defRPr sz="1600">
                <a:solidFill>
                  <a:srgbClr val="F0F4FC"/>
                </a:solidFill>
              </a:defRPr>
            </a:pPr>
            <a:r>
              <a:t>• Common for subarray/substring conditions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Why sliding window is powerful.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347472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000" b="1">
                <a:solidFill>
                  <a:srgbClr val="50BEFF"/>
                </a:solidFill>
              </a:defRPr>
            </a:pPr>
            <a: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292608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000" b="1">
                <a:solidFill>
                  <a:srgbClr val="F0F4FC"/>
                </a:solidFill>
              </a:defRPr>
            </a:pPr>
            <a:r>
              <a:t>O(n)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292608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400" b="0">
                <a:solidFill>
                  <a:srgbClr val="AAB5CA"/>
                </a:solidFill>
              </a:defRPr>
            </a:pPr>
            <a:r>
              <a:t>Each element usually enters and leaves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347472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000" b="1">
                <a:solidFill>
                  <a:srgbClr val="5BDC99"/>
                </a:solidFill>
              </a:defRPr>
            </a:pPr>
            <a:r>
              <a:t>Extra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292608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000" b="1">
                <a:solidFill>
                  <a:srgbClr val="F0F4FC"/>
                </a:solidFill>
              </a:defRPr>
            </a:pPr>
            <a:r>
              <a:t>O(1)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37560"/>
            <a:ext cx="292608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400" b="0">
                <a:solidFill>
                  <a:srgbClr val="AAB5CA"/>
                </a:solidFill>
              </a:defRPr>
            </a:pPr>
            <a:r>
              <a:t>For a simple numeric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383280" cy="347472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000" b="1">
                <a:solidFill>
                  <a:srgbClr val="FFCD5B"/>
                </a:solidFill>
              </a:defRPr>
            </a:pPr>
            <a:r>
              <a:t>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23160"/>
            <a:ext cx="292608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000" b="1">
                <a:solidFill>
                  <a:srgbClr val="F0F4FC"/>
                </a:solidFill>
              </a:defRPr>
            </a:pPr>
            <a:r>
              <a:t>Depends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337560"/>
            <a:ext cx="292608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400" b="0">
                <a:solidFill>
                  <a:srgbClr val="AAB5CA"/>
                </a:solidFill>
              </a:defRPr>
            </a:pPr>
            <a:r>
              <a:t>Maps/sets can raise space to O(k) or O(n).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LeetCode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Move from recognition → implementation → variation.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105156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972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5BDC99"/>
                </a:solidFill>
              </a:defRPr>
            </a:pPr>
            <a:r>
              <a:t>Easy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581912"/>
            <a:ext cx="7315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F0F4FC"/>
                </a:solidFill>
              </a:defRPr>
            </a:pPr>
            <a:r>
              <a:t>643. Maximum Average Subarray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984248"/>
            <a:ext cx="731520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</a:defRPr>
            </a:pPr>
            <a:r>
              <a:t>Fixed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972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CD5B"/>
                </a:solidFill>
              </a:defRPr>
            </a:pPr>
            <a: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999232"/>
            <a:ext cx="7315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F0F4FC"/>
                </a:solidFill>
              </a:defRPr>
            </a:pPr>
            <a:r>
              <a:t>209. Minimum Size Subarray Sum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401568"/>
            <a:ext cx="731520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</a:defRPr>
            </a:pPr>
            <a:r>
              <a:t>Variable 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10698480" cy="105156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34840"/>
            <a:ext cx="10972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CD5B"/>
                </a:solidFill>
              </a:defRPr>
            </a:pPr>
            <a: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416552"/>
            <a:ext cx="7315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800" b="1">
                <a:solidFill>
                  <a:srgbClr val="F0F4FC"/>
                </a:solidFill>
              </a:defRPr>
            </a:pPr>
            <a:r>
              <a:t>3. Longest Substring Without Repeating Characters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818888"/>
            <a:ext cx="7315200" cy="2560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00" b="0">
                <a:solidFill>
                  <a:srgbClr val="AAB5CA"/>
                </a:solidFill>
              </a:defRPr>
            </a:pPr>
            <a:r>
              <a:t>Frequency map + variable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60720"/>
            <a:ext cx="103327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0">
                <a:solidFill>
                  <a:srgbClr val="AAB5CA"/>
                </a:solidFill>
              </a:defRPr>
            </a:pPr>
            <a:r>
              <a:t>Solve without looking at the editorial first.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Sliding window is simple only after the condition is correct.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Using variable-window logic when negative values break the assumption.</a:t>
            </a:r>
          </a:p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Shrinking at the wrong time.</a:t>
            </a:r>
          </a:p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Updating the answer at the wrong moment.</a:t>
            </a:r>
          </a:p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Forgetting window length = right − left + 1.</a:t>
            </a:r>
          </a:p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Recomputing the whole window and accidentally returning to O(n²).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Interview Tip 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Before coding, state your window invariant.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10515600" cy="356616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6696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50BEFF"/>
                </a:solidFill>
              </a:defRPr>
            </a:pPr>
            <a:r>
              <a:t>Ask yourself: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875520" cy="822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700" b="1">
                <a:solidFill>
                  <a:srgbClr val="F0F4FC"/>
                </a:solidFill>
              </a:defRPr>
            </a:pPr>
            <a:r>
              <a:t>“What does my current window guarantee is true?”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98755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AAB5CA"/>
                </a:solidFill>
              </a:defRPr>
            </a:pPr>
            <a:r>
              <a:t>Explain when to expand, when to shrink, and what you track.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FFCD5B"/>
                </a:solidFill>
              </a:defRPr>
            </a:pPr>
            <a:r>
              <a:t>Interview habit → state the invariant + complexity before coding.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Quick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Screenshot-worthy revision before your next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43484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1325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50BEFF"/>
                </a:solidFill>
              </a:defRPr>
            </a:pPr>
            <a:r>
              <a:t>Fixed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3200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</a:defRPr>
            </a:pPr>
            <a:r>
              <a:t>k is constant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627632"/>
            <a:ext cx="52120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</a:defRPr>
            </a:pPr>
            <a:r>
              <a:t>add right • remove 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1325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50BEFF"/>
                </a:solidFill>
              </a:defRPr>
            </a:pPr>
            <a:r>
              <a:t>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404872"/>
            <a:ext cx="3200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</a:defRPr>
            </a:pPr>
            <a:r>
              <a:t>condition controls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404872"/>
            <a:ext cx="52120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</a:defRPr>
            </a:pPr>
            <a:r>
              <a:t>expand • shrink •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82112"/>
            <a:ext cx="1325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50BEFF"/>
                </a:solidFill>
              </a:defRPr>
            </a:pPr>
            <a:r>
              <a:t>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182112"/>
            <a:ext cx="3200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</a:defRPr>
            </a:pPr>
            <a:r>
              <a:t>sum / count / 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3182112"/>
            <a:ext cx="52120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</a:defRPr>
            </a:pPr>
            <a:r>
              <a:t>maintain only what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59352"/>
            <a:ext cx="1325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50BEFF"/>
                </a:solidFill>
              </a:defRPr>
            </a:pPr>
            <a:r>
              <a:t>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959352"/>
            <a:ext cx="3200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</a:defRPr>
            </a:pPr>
            <a:r>
              <a:t>usually O(n)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959352"/>
            <a:ext cx="52120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</a:defRPr>
            </a:pPr>
            <a:r>
              <a:t>each pointer moves forward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36592"/>
            <a:ext cx="1325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50BEFF"/>
                </a:solidFill>
              </a:defRPr>
            </a:pPr>
            <a:r>
              <a:t>Watch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736592"/>
            <a:ext cx="3200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F0F4FC"/>
                </a:solidFill>
              </a:defRPr>
            </a:pPr>
            <a:r>
              <a:t>negative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4736592"/>
            <a:ext cx="52120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AAB5CA"/>
                </a:solidFill>
              </a:defRPr>
            </a:pPr>
            <a:r>
              <a:t>condition may no longer be monotonic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What I’ll Learn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Day 14 — Prefix Sum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24128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600" b="1">
                <a:solidFill>
                  <a:srgbClr val="F0F4FC"/>
                </a:solidFill>
              </a:defRPr>
            </a:pPr>
            <a:r>
              <a:t>From moving windows → instant range-sum reasoning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743200"/>
            <a:ext cx="10058400" cy="205740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063240"/>
            <a:ext cx="9418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Build prefix sums step by step</a:t>
            </a:r>
          </a:p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Answer range-sum queries efficiently</a:t>
            </a:r>
          </a:p>
          <a:p>
            <a:pPr>
              <a:spcAft>
                <a:spcPts val="1200"/>
              </a:spcAft>
              <a:defRPr sz="1700">
                <a:solidFill>
                  <a:srgbClr val="F0F4FC"/>
                </a:solidFill>
              </a:defRPr>
            </a:pPr>
            <a:r>
              <a:t>• Connect prefix sum with hashing and subarray 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2412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1">
                <a:solidFill>
                  <a:srgbClr val="50BEFF"/>
                </a:solidFill>
              </a:defRPr>
            </a:pPr>
            <a:r>
              <a:t>Keep learning. Keep solving. Keep posting. 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700" b="1">
                <a:solidFill>
                  <a:srgbClr val="F0F4FC"/>
                </a:solidFill>
              </a:defRPr>
            </a:pPr>
            <a:r>
              <a:t>LinkedIn CTA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60120"/>
            <a:ext cx="106984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AAB5CA"/>
                </a:solidFill>
              </a:defRPr>
            </a:pPr>
            <a:r>
              <a:t>Save • Share • Follow the DSA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900" b="0">
                <a:solidFill>
                  <a:srgbClr val="AAB5CA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24128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800" b="1">
                <a:solidFill>
                  <a:srgbClr val="F0F4FC"/>
                </a:solidFill>
              </a:defRPr>
            </a:pPr>
            <a:r>
              <a:t>Did Sliding Window finally click?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2412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AAB5CA"/>
                </a:solidFill>
              </a:defRPr>
            </a:pPr>
            <a:r>
              <a:t>Comment “WINDOW” if you want the next problem 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246120"/>
            <a:ext cx="10058400" cy="1554480"/>
          </a:xfrm>
          <a:prstGeom prst="roundRect">
            <a:avLst/>
          </a:prstGeom>
          <a:solidFill>
            <a:srgbClr val="141B2B"/>
          </a:solidFill>
          <a:ln>
            <a:solidFill>
              <a:srgbClr val="1B24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566160"/>
            <a:ext cx="9601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50BEFF"/>
                </a:solidFill>
              </a:defRPr>
            </a:pPr>
            <a:r>
              <a:t>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977639"/>
            <a:ext cx="96012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F0F4FC"/>
                </a:solidFill>
              </a:defRPr>
            </a:pPr>
            <a:r>
              <a:t>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5BDC99"/>
                </a:solidFill>
              </a:defRPr>
            </a:pPr>
            <a:r>
              <a:t>Save • Share • Follow for the next DSA post.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