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574A"/>
                </a:solidFill>
                <a:latin typeface="Aptos"/>
              </a:rPr>
              <a:t>DAY 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02428"/>
                </a:solidFill>
                <a:latin typeface="Aptos Display"/>
              </a:rPr>
              <a:t>HASHING + SLIDING WINDOW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7086600" cy="4526280"/>
          </a:xfrm>
          <a:prstGeom prst="roundRect">
            <a:avLst/>
          </a:prstGeom>
          <a:solidFill>
            <a:srgbClr val="EEE9DC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428"/>
                </a:solidFill>
                <a:latin typeface="Aptos"/>
              </a:rPr>
              <a:t>Two powerful patterns. One efficient way to solve window-based problems.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73568" y="1508760"/>
            <a:ext cx="3611880" cy="4526280"/>
          </a:xfrm>
          <a:prstGeom prst="roundRect">
            <a:avLst/>
          </a:prstGeom>
          <a:solidFill>
            <a:srgbClr val="E8EBE3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1" y="18105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574A"/>
                </a:solidFill>
                <a:latin typeface="Aptos"/>
              </a:rPr>
              <a:t>NOTE /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2240280"/>
            <a:ext cx="2926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2428"/>
                </a:solidFill>
                <a:latin typeface="Aptos"/>
              </a:rPr>
              <a:t>Today: learn when to combine a moving window with fast lookup.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369"/>
                </a:solidFill>
                <a:latin typeface="Aptos"/>
              </a:rPr>
              <a:t>DSA From Scratch → Advanced • DAY 39 • 01/19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190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9574A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574A"/>
                </a:solidFill>
                <a:latin typeface="Aptos"/>
              </a:rPr>
              <a:t>01 •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02428"/>
                </a:solidFill>
                <a:latin typeface="Aptos Display"/>
              </a:rPr>
              <a:t>What is Sliding Window + Hashing?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7086600" cy="4526280"/>
          </a:xfrm>
          <a:prstGeom prst="roundRect">
            <a:avLst/>
          </a:prstGeom>
          <a:solidFill>
            <a:srgbClr val="EEE9DC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428"/>
                </a:solidFill>
                <a:latin typeface="Aptos"/>
              </a:rPr>
              <a:t>Sliding Window keeps a valid/required range of elements.</a:t>
            </a:r>
            <a:br/>
            <a:r>
              <a:t>Hashing stores counts or membership so we can answer “have I seen this?” quickly.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73568" y="1508760"/>
            <a:ext cx="3611880" cy="4526280"/>
          </a:xfrm>
          <a:prstGeom prst="roundRect">
            <a:avLst/>
          </a:prstGeom>
          <a:solidFill>
            <a:srgbClr val="E8EBE3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1" y="18105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574A"/>
                </a:solidFill>
                <a:latin typeface="Aptos"/>
              </a:rPr>
              <a:t>NOTE /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2240280"/>
            <a:ext cx="2926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2428"/>
                </a:solidFill>
                <a:latin typeface="Aptos"/>
              </a:rPr>
              <a:t>Window → expand / shrink</a:t>
            </a:r>
            <a:br/>
            <a:r>
              <a:t>Hash → track state</a:t>
            </a:r>
            <a:br/>
            <a:r>
              <a:t>Together → avoid repeated scanning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369"/>
                </a:solidFill>
                <a:latin typeface="Aptos"/>
              </a:rPr>
              <a:t>DSA From Scratch → Advanced • DAY 39 • 02/19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190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9574A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574A"/>
                </a:solidFill>
                <a:latin typeface="Aptos"/>
              </a:rPr>
              <a:t>02 • WHEN TO COMBINE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02428"/>
                </a:solidFill>
                <a:latin typeface="Aptos Display"/>
              </a:rPr>
              <a:t>Why combine them?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7086600" cy="4526280"/>
          </a:xfrm>
          <a:prstGeom prst="roundRect">
            <a:avLst/>
          </a:prstGeom>
          <a:solidFill>
            <a:srgbClr val="EEE9DC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428"/>
                </a:solidFill>
                <a:latin typeface="Aptos"/>
              </a:rPr>
              <a:t>Use the combination when a problem asks about a contiguous subarray/substring and the window needs fast frequency or membership checks.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73568" y="1508760"/>
            <a:ext cx="3611880" cy="4526280"/>
          </a:xfrm>
          <a:prstGeom prst="roundRect">
            <a:avLst/>
          </a:prstGeom>
          <a:solidFill>
            <a:srgbClr val="E8EBE3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1" y="18105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574A"/>
                </a:solidFill>
                <a:latin typeface="Aptos"/>
              </a:rPr>
              <a:t>NOTE /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2240280"/>
            <a:ext cx="2926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2428"/>
                </a:solidFill>
                <a:latin typeface="Aptos"/>
              </a:rPr>
              <a:t>Typical clues:</a:t>
            </a:r>
            <a:br/>
            <a:r>
              <a:t>• longest / shortest window</a:t>
            </a:r>
            <a:br/>
            <a:r>
              <a:t>• at most K distinct</a:t>
            </a:r>
            <a:br/>
            <a:r>
              <a:t>• no repeated characters</a:t>
            </a:r>
            <a:br/>
            <a:r>
              <a:t>• target frequency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369"/>
                </a:solidFill>
                <a:latin typeface="Aptos"/>
              </a:rPr>
              <a:t>DSA From Scratch → Advanced • DAY 39 • 03/19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190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9574A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574A"/>
                </a:solidFill>
                <a:latin typeface="Aptos"/>
              </a:rPr>
              <a:t>03 • TWO FLAVOURS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02428"/>
                </a:solidFill>
                <a:latin typeface="Aptos Display"/>
              </a:rPr>
              <a:t>Fixed vs Variable Window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7086600" cy="4526280"/>
          </a:xfrm>
          <a:prstGeom prst="roundRect">
            <a:avLst/>
          </a:prstGeom>
          <a:solidFill>
            <a:srgbClr val="EEE9DC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428"/>
                </a:solidFill>
                <a:latin typeface="Aptos"/>
              </a:rPr>
              <a:t>FIXED: window size is constant. Move left and right together.</a:t>
            </a:r>
            <a:br/>
            <a:r>
              <a:t>VARIABLE: size changes to maintain a condition; usually expand right, then shrink left.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73568" y="1508760"/>
            <a:ext cx="3611880" cy="4526280"/>
          </a:xfrm>
          <a:prstGeom prst="roundRect">
            <a:avLst/>
          </a:prstGeom>
          <a:solidFill>
            <a:srgbClr val="E8EBE3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1" y="18105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574A"/>
                </a:solidFill>
                <a:latin typeface="Aptos"/>
              </a:rPr>
              <a:t>NOTE /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2240280"/>
            <a:ext cx="2926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2428"/>
                </a:solidFill>
                <a:latin typeface="Aptos"/>
              </a:rPr>
              <a:t>Fixed → max sum of K elements</a:t>
            </a:r>
            <a:br/>
            <a:r>
              <a:t>Variable → longest substring without repeating characters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369"/>
                </a:solidFill>
                <a:latin typeface="Aptos"/>
              </a:rPr>
              <a:t>DSA From Scratch → Advanced • DAY 39 • 04/19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190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9574A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574A"/>
                </a:solidFill>
                <a:latin typeface="Aptos"/>
              </a:rPr>
              <a:t>04 • HASHING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02428"/>
                </a:solidFill>
                <a:latin typeface="Aptos Display"/>
              </a:rPr>
              <a:t>unordered_map vs unordered_set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7086600" cy="4526280"/>
          </a:xfrm>
          <a:prstGeom prst="roundRect">
            <a:avLst/>
          </a:prstGeom>
          <a:solidFill>
            <a:srgbClr val="EEE9DC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428"/>
                </a:solidFill>
                <a:latin typeface="Aptos"/>
              </a:rPr>
              <a:t>unordered_map&lt;key,value&gt; → frequency / counts / last position.</a:t>
            </a:r>
            <a:br/>
            <a:r>
              <a:t>unordered_set&lt;key&gt; → only membership / uniqueness.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73568" y="1508760"/>
            <a:ext cx="3611880" cy="4526280"/>
          </a:xfrm>
          <a:prstGeom prst="roundRect">
            <a:avLst/>
          </a:prstGeom>
          <a:solidFill>
            <a:srgbClr val="E8EBE3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1" y="18105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574A"/>
                </a:solidFill>
                <a:latin typeface="Aptos"/>
              </a:rPr>
              <a:t>NOTE /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2240280"/>
            <a:ext cx="2926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2428"/>
                </a:solidFill>
                <a:latin typeface="Aptos"/>
              </a:rPr>
              <a:t>MAP = “how many / where?”</a:t>
            </a:r>
            <a:br/>
            <a:r>
              <a:t>SET = “is it present?”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369"/>
                </a:solidFill>
                <a:latin typeface="Aptos"/>
              </a:rPr>
              <a:t>DSA From Scratch → Advanced • DAY 39 • 05/19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190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9574A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574A"/>
                </a:solidFill>
                <a:latin typeface="Aptos"/>
              </a:rPr>
              <a:t>05 •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02428"/>
                </a:solidFill>
                <a:latin typeface="Aptos Display"/>
              </a:rPr>
              <a:t>The Expand → Check → Shrink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7086600" cy="4526280"/>
          </a:xfrm>
          <a:prstGeom prst="roundRect">
            <a:avLst/>
          </a:prstGeom>
          <a:solidFill>
            <a:srgbClr val="EEE9DC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428"/>
                </a:solidFill>
                <a:latin typeface="Aptos"/>
              </a:rPr>
              <a:t>1. Add right element to the hash structure.</a:t>
            </a:r>
            <a:br/>
            <a:r>
              <a:t>2. Check whether the window violates the rule.</a:t>
            </a:r>
            <a:br/>
            <a:r>
              <a:t>3. While invalid, remove the left element.</a:t>
            </a:r>
            <a:br/>
            <a:r>
              <a:t>4. Update the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73568" y="1508760"/>
            <a:ext cx="3611880" cy="4526280"/>
          </a:xfrm>
          <a:prstGeom prst="roundRect">
            <a:avLst/>
          </a:prstGeom>
          <a:solidFill>
            <a:srgbClr val="E8EBE3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1" y="18105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574A"/>
                </a:solidFill>
                <a:latin typeface="Aptos"/>
              </a:rPr>
              <a:t>NOTE /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2240280"/>
            <a:ext cx="2926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2428"/>
                </a:solidFill>
                <a:latin typeface="Aptos"/>
              </a:rPr>
              <a:t>Reusable template for many variable-window problems.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369"/>
                </a:solidFill>
                <a:latin typeface="Aptos"/>
              </a:rPr>
              <a:t>DSA From Scratch → Advanced • DAY 39 • 06/19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190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9574A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574A"/>
                </a:solidFill>
                <a:latin typeface="Aptos"/>
              </a:rPr>
              <a:t>06 •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02428"/>
                </a:solidFill>
                <a:latin typeface="Aptos Display"/>
              </a:rPr>
              <a:t>Longest Substring Without Repeating Characters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7086600" cy="4526280"/>
          </a:xfrm>
          <a:prstGeom prst="roundRect">
            <a:avLst/>
          </a:prstGeom>
          <a:solidFill>
            <a:srgbClr val="EEE9DC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428"/>
                </a:solidFill>
                <a:latin typeface="Aptos"/>
              </a:rPr>
              <a:t>Input: p w w k e w</a:t>
            </a:r>
            <a:br/>
            <a:r>
              <a:t>Goal: longest contiguous substring with all unique characters.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73568" y="1508760"/>
            <a:ext cx="3611880" cy="4526280"/>
          </a:xfrm>
          <a:prstGeom prst="roundRect">
            <a:avLst/>
          </a:prstGeom>
          <a:solidFill>
            <a:srgbClr val="E8EBE3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1" y="18105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574A"/>
                </a:solidFill>
                <a:latin typeface="Aptos"/>
              </a:rPr>
              <a:t>NOTE /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2240280"/>
            <a:ext cx="2926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2428"/>
                </a:solidFill>
                <a:latin typeface="Aptos"/>
              </a:rPr>
              <a:t>Expected answer: 3</a:t>
            </a:r>
            <a:br/>
            <a:r>
              <a:t>One valid window: “wke”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369"/>
                </a:solidFill>
                <a:latin typeface="Aptos"/>
              </a:rPr>
              <a:t>DSA From Scratch → Advanced • DAY 39 • 07/19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190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9574A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574A"/>
                </a:solidFill>
                <a:latin typeface="Aptos"/>
              </a:rPr>
              <a:t>07 • DRY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02428"/>
                </a:solidFill>
                <a:latin typeface="Aptos Display"/>
              </a:rPr>
              <a:t>Move the Window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7086600" cy="4526280"/>
          </a:xfrm>
          <a:prstGeom prst="roundRect">
            <a:avLst/>
          </a:prstGeom>
          <a:solidFill>
            <a:srgbClr val="EEE9DC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428"/>
                </a:solidFill>
                <a:latin typeface="Aptos"/>
              </a:rPr>
              <a:t>right=0 p → {p} → best=1</a:t>
            </a:r>
            <a:br/>
            <a:r>
              <a:t>right=1 w → {p,w} → best=2</a:t>
            </a:r>
            <a:br/>
            <a:r>
              <a:t>right=2 w → duplicate → shrink until valid</a:t>
            </a:r>
            <a:br/>
            <a:r>
              <a:t>right=3 k → {w,k} → best=2</a:t>
            </a:r>
            <a:br/>
            <a:r>
              <a:t>right=4 e → {w,k,e} → best=3</a:t>
            </a:r>
            <a:br/>
            <a:r>
              <a:t>right=5 w → duplicate → shrink until valid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73568" y="1508760"/>
            <a:ext cx="3611880" cy="4526280"/>
          </a:xfrm>
          <a:prstGeom prst="roundRect">
            <a:avLst/>
          </a:prstGeom>
          <a:solidFill>
            <a:srgbClr val="E8EBE3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1" y="18105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574A"/>
                </a:solidFill>
                <a:latin typeface="Aptos"/>
              </a:rPr>
              <a:t>NOTE /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2240280"/>
            <a:ext cx="2926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2428"/>
                </a:solidFill>
                <a:latin typeface="Aptos"/>
              </a:rPr>
              <a:t>Each element enters and leaves the window at most once.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369"/>
                </a:solidFill>
                <a:latin typeface="Aptos"/>
              </a:rPr>
              <a:t>DSA From Scratch → Advanced • DAY 39 • 08/19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190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9574A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574A"/>
                </a:solidFill>
                <a:latin typeface="Aptos"/>
              </a:rPr>
              <a:t>08 • BRUTE FORCE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02428"/>
                </a:solidFill>
                <a:latin typeface="Aptos Display"/>
              </a:rPr>
              <a:t>Why not check every substring?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7086600" cy="4526280"/>
          </a:xfrm>
          <a:prstGeom prst="roundRect">
            <a:avLst/>
          </a:prstGeom>
          <a:solidFill>
            <a:srgbClr val="EEE9DC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428"/>
                </a:solidFill>
                <a:latin typeface="Aptos"/>
              </a:rPr>
              <a:t>Generate every possible substring and test whether it contains duplicates.</a:t>
            </a:r>
            <a:br/>
            <a:r>
              <a:t>This repeats work heavily.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73568" y="1508760"/>
            <a:ext cx="3611880" cy="4526280"/>
          </a:xfrm>
          <a:prstGeom prst="roundRect">
            <a:avLst/>
          </a:prstGeom>
          <a:solidFill>
            <a:srgbClr val="E8EBE3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1" y="18105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574A"/>
                </a:solidFill>
                <a:latin typeface="Aptos"/>
              </a:rPr>
              <a:t>NOTE /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2240280"/>
            <a:ext cx="2926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2428"/>
                </a:solidFill>
                <a:latin typeface="Aptos"/>
              </a:rPr>
              <a:t>Typical complexity:</a:t>
            </a:r>
            <a:br/>
            <a:r>
              <a:t>O(n²) substrings × extra checking</a:t>
            </a:r>
            <a:br/>
            <a:r>
              <a:t>→ can reach O(n³) with naive duplicate checking.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369"/>
                </a:solidFill>
                <a:latin typeface="Aptos"/>
              </a:rPr>
              <a:t>DSA From Scratch → Advanced • DAY 39 • 09/19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190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9574A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574A"/>
                </a:solidFill>
                <a:latin typeface="Aptos"/>
              </a:rPr>
              <a:t>09 • OPTIMAL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02428"/>
                </a:solidFill>
                <a:latin typeface="Aptos Display"/>
              </a:rPr>
              <a:t>Hash Set + Variable Window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7086600" cy="4526280"/>
          </a:xfrm>
          <a:prstGeom prst="roundRect">
            <a:avLst/>
          </a:prstGeom>
          <a:solidFill>
            <a:srgbClr val="EEE9DC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10512"/>
            <a:ext cx="6492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0EC"/>
                </a:solidFill>
                <a:latin typeface="Consolas"/>
              </a:rPr>
              <a:t>Maintain a set of characters currently inside the window.</a:t>
            </a:r>
            <a:br/>
            <a:r>
              <a:t>If s[right] is already present, erase s[left] and move left until the duplicate disappears.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73568" y="1508760"/>
            <a:ext cx="3611880" cy="4526280"/>
          </a:xfrm>
          <a:prstGeom prst="roundRect">
            <a:avLst/>
          </a:prstGeom>
          <a:solidFill>
            <a:srgbClr val="E8EBE3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1" y="18105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574A"/>
                </a:solidFill>
                <a:latin typeface="Aptos"/>
              </a:rPr>
              <a:t>NOTE /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2240280"/>
            <a:ext cx="2926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2428"/>
                </a:solidFill>
                <a:latin typeface="Aptos"/>
              </a:rPr>
              <a:t>Time: O(n)</a:t>
            </a:r>
            <a:br/>
            <a:r>
              <a:t>Space: O(min(n, alphabet))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369"/>
                </a:solidFill>
                <a:latin typeface="Aptos"/>
              </a:rPr>
              <a:t>DSA From Scratch → Advanced • DAY 39 • 10/19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190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9574A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574A"/>
                </a:solidFill>
                <a:latin typeface="Aptos"/>
              </a:rPr>
              <a:t>10 • C++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02428"/>
                </a:solidFill>
                <a:latin typeface="Aptos Display"/>
              </a:rPr>
              <a:t>Implementation — Hash 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7086600" cy="4526280"/>
          </a:xfrm>
          <a:prstGeom prst="roundRect">
            <a:avLst/>
          </a:prstGeom>
          <a:solidFill>
            <a:srgbClr val="EEE9DC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10512"/>
            <a:ext cx="6492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0EC"/>
                </a:solidFill>
                <a:latin typeface="Consolas"/>
              </a:rPr>
              <a:t>int lengthOfLongestSubstring(string s) {</a:t>
            </a:r>
            <a:br/>
            <a:r>
              <a:t>    unordered_set&lt;char&gt; st;</a:t>
            </a:r>
            <a:br/>
            <a:r>
              <a:t>    int left = 0, ans = 0;</a:t>
            </a:r>
            <a:br/>
            <a:br/>
            <a:r>
              <a:t>    for (int right = 0; right &lt; s.size(); right++) {</a:t>
            </a:r>
            <a:br/>
            <a:r>
              <a:t>        while (st.count(s[right])) {</a:t>
            </a:r>
            <a:br/>
            <a:r>
              <a:t>            st.erase(s[left]);</a:t>
            </a:r>
            <a:br/>
            <a:r>
              <a:t>            left++;</a:t>
            </a:r>
            <a:br/>
            <a:r>
              <a:t>        }</a:t>
            </a:r>
            <a:br/>
            <a:r>
              <a:t>        st.insert(s[right]);</a:t>
            </a:r>
            <a:br/>
            <a:r>
              <a:t>        ans = max(ans, right - left + 1);</a:t>
            </a:r>
            <a:br/>
            <a:r>
              <a:t>    }</a:t>
            </a:r>
            <a:br/>
            <a:r>
              <a:t>    return ans;</a:t>
            </a:r>
            <a:br/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73568" y="1508760"/>
            <a:ext cx="3611880" cy="4526280"/>
          </a:xfrm>
          <a:prstGeom prst="roundRect">
            <a:avLst/>
          </a:prstGeom>
          <a:solidFill>
            <a:srgbClr val="E8EBE3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1" y="18105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574A"/>
                </a:solidFill>
                <a:latin typeface="Aptos"/>
              </a:rPr>
              <a:t>NOTE /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2240280"/>
            <a:ext cx="2926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2428"/>
                </a:solidFill>
                <a:latin typeface="Aptos"/>
              </a:rPr>
              <a:t>Pattern: while (invalid) → remove from left.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369"/>
                </a:solidFill>
                <a:latin typeface="Aptos"/>
              </a:rPr>
              <a:t>DSA From Scratch → Advanced • DAY 39 • 11/19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190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9574A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574A"/>
                </a:solidFill>
                <a:latin typeface="Aptos"/>
              </a:rPr>
              <a:t>11 • MAP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02428"/>
                </a:solidFill>
                <a:latin typeface="Aptos Display"/>
              </a:rPr>
              <a:t>Frequency Map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7086600" cy="4526280"/>
          </a:xfrm>
          <a:prstGeom prst="roundRect">
            <a:avLst/>
          </a:prstGeom>
          <a:solidFill>
            <a:srgbClr val="EEE9DC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428"/>
                </a:solidFill>
                <a:latin typeface="Aptos"/>
              </a:rPr>
              <a:t>unordered_map&lt;char,int&gt; freq;</a:t>
            </a:r>
            <a:br/>
            <a:r>
              <a:t>int left = 0, ans = 0;</a:t>
            </a:r>
            <a:br/>
            <a:br/>
            <a:r>
              <a:t>for (int right = 0; right &lt; s.size(); right++) {</a:t>
            </a:r>
            <a:br/>
            <a:r>
              <a:t>    freq[s[right]]++;</a:t>
            </a:r>
            <a:br/>
            <a:br/>
            <a:r>
              <a:t>    while (freq[s[right]] &gt; 1) {</a:t>
            </a:r>
            <a:br/>
            <a:r>
              <a:t>        freq[s[left]]--;</a:t>
            </a:r>
            <a:br/>
            <a:r>
              <a:t>        left++;</a:t>
            </a:r>
            <a:br/>
            <a:r>
              <a:t>    }</a:t>
            </a:r>
            <a:br/>
            <a:r>
              <a:t>    ans = max(ans, right - left + 1);</a:t>
            </a:r>
            <a:br/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73568" y="1508760"/>
            <a:ext cx="3611880" cy="4526280"/>
          </a:xfrm>
          <a:prstGeom prst="roundRect">
            <a:avLst/>
          </a:prstGeom>
          <a:solidFill>
            <a:srgbClr val="E8EBE3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1" y="18105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574A"/>
                </a:solidFill>
                <a:latin typeface="Aptos"/>
              </a:rPr>
              <a:t>NOTE /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2240280"/>
            <a:ext cx="2926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2428"/>
                </a:solidFill>
                <a:latin typeface="Aptos"/>
              </a:rPr>
              <a:t>Use a map when the rule depends on counts.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369"/>
                </a:solidFill>
                <a:latin typeface="Aptos"/>
              </a:rPr>
              <a:t>DSA From Scratch → Advanced • DAY 39 • 12/19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190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9574A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574A"/>
                </a:solidFill>
                <a:latin typeface="Aptos"/>
              </a:rPr>
              <a:t>12 •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02428"/>
                </a:solidFill>
                <a:latin typeface="Aptos Display"/>
              </a:rPr>
              <a:t>Brute Force vs Optimal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7086600" cy="4526280"/>
          </a:xfrm>
          <a:prstGeom prst="roundRect">
            <a:avLst/>
          </a:prstGeom>
          <a:solidFill>
            <a:srgbClr val="EEE9DC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428"/>
                </a:solidFill>
                <a:latin typeface="Aptos"/>
              </a:rPr>
              <a:t>BRUTE FORCE</a:t>
            </a:r>
            <a:br/>
            <a:r>
              <a:t>• Rechecks many ranges</a:t>
            </a:r>
            <a:br/>
            <a:r>
              <a:t>• Simple but repetitive</a:t>
            </a:r>
            <a:br/>
            <a:r>
              <a:t>• Often O(n²) or worse</a:t>
            </a:r>
            <a:br/>
            <a:br/>
            <a:r>
              <a:t>OPTIMAL WINDOW + HASH</a:t>
            </a:r>
            <a:br/>
            <a:r>
              <a:t>• Each pointer moves forward only</a:t>
            </a:r>
            <a:br/>
            <a:r>
              <a:t>• State is updated incrementally</a:t>
            </a:r>
            <a:br/>
            <a:r>
              <a:t>• Usually O(n)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73568" y="1508760"/>
            <a:ext cx="3611880" cy="4526280"/>
          </a:xfrm>
          <a:prstGeom prst="roundRect">
            <a:avLst/>
          </a:prstGeom>
          <a:solidFill>
            <a:srgbClr val="E8EBE3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1" y="18105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574A"/>
                </a:solidFill>
                <a:latin typeface="Aptos"/>
              </a:rPr>
              <a:t>NOTE /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2240280"/>
            <a:ext cx="2926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2428"/>
                </a:solidFill>
                <a:latin typeface="Aptos"/>
              </a:rPr>
              <a:t>Interview habit: identify repeated work → maintain only the state you need.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369"/>
                </a:solidFill>
                <a:latin typeface="Aptos"/>
              </a:rPr>
              <a:t>DSA From Scratch → Advanced • DAY 39 • 13/19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190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9574A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574A"/>
                </a:solidFill>
                <a:latin typeface="Aptos"/>
              </a:rPr>
              <a:t>13 •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02428"/>
                </a:solidFill>
                <a:latin typeface="Aptos Display"/>
              </a:rPr>
              <a:t>Why is the Window O(n)?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7086600" cy="4526280"/>
          </a:xfrm>
          <a:prstGeom prst="roundRect">
            <a:avLst/>
          </a:prstGeom>
          <a:solidFill>
            <a:srgbClr val="EEE9DC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428"/>
                </a:solidFill>
                <a:latin typeface="Aptos"/>
              </a:rPr>
              <a:t>Although there is a while-loop inside the for-loop, left never moves backward.</a:t>
            </a:r>
            <a:br/>
            <a:r>
              <a:t>Across the whole run:</a:t>
            </a:r>
            <a:br/>
            <a:r>
              <a:t>right moves ≤ n times</a:t>
            </a:r>
            <a:br/>
            <a:r>
              <a:t>left moves ≤ n times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73568" y="1508760"/>
            <a:ext cx="3611880" cy="4526280"/>
          </a:xfrm>
          <a:prstGeom prst="roundRect">
            <a:avLst/>
          </a:prstGeom>
          <a:solidFill>
            <a:srgbClr val="E8EBE3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1" y="18105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574A"/>
                </a:solidFill>
                <a:latin typeface="Aptos"/>
              </a:rPr>
              <a:t>NOTE /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2240280"/>
            <a:ext cx="2926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2428"/>
                </a:solidFill>
                <a:latin typeface="Aptos"/>
              </a:rPr>
              <a:t>Total pointer movement ≤ 2n → O(n).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369"/>
                </a:solidFill>
                <a:latin typeface="Aptos"/>
              </a:rPr>
              <a:t>DSA From Scratch → Advanced • DAY 39 • 14/19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190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9574A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574A"/>
                </a:solidFill>
                <a:latin typeface="Aptos"/>
              </a:rPr>
              <a:t>14 •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02428"/>
                </a:solidFill>
                <a:latin typeface="Aptos Display"/>
              </a:rPr>
              <a:t>Common Mistakes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7086600" cy="4526280"/>
          </a:xfrm>
          <a:prstGeom prst="roundRect">
            <a:avLst/>
          </a:prstGeom>
          <a:solidFill>
            <a:srgbClr val="EEE9DC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428"/>
                </a:solidFill>
                <a:latin typeface="Aptos"/>
              </a:rPr>
              <a:t>❌ Forgetting to remove the left element</a:t>
            </a:r>
            <a:br/>
            <a:r>
              <a:t>❌ Using if instead of while when multiple removals are needed</a:t>
            </a:r>
            <a:br/>
            <a:r>
              <a:t>❌ Updating answer before restoring validity</a:t>
            </a:r>
            <a:br/>
            <a:r>
              <a:t>❌ Confusing substring with subsequence</a:t>
            </a:r>
            <a:br/>
            <a:r>
              <a:t>❌ Mixing fixed-window and variable-window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73568" y="1508760"/>
            <a:ext cx="3611880" cy="4526280"/>
          </a:xfrm>
          <a:prstGeom prst="roundRect">
            <a:avLst/>
          </a:prstGeom>
          <a:solidFill>
            <a:srgbClr val="E8EBE3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1" y="18105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574A"/>
                </a:solidFill>
                <a:latin typeface="Aptos"/>
              </a:rPr>
              <a:t>NOTE /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2240280"/>
            <a:ext cx="2926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2428"/>
                </a:solidFill>
                <a:latin typeface="Aptos"/>
              </a:rPr>
              <a:t>Debug with a tiny example and write the window invariant.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369"/>
                </a:solidFill>
                <a:latin typeface="Aptos"/>
              </a:rPr>
              <a:t>DSA From Scratch → Advanced • DAY 39 • 15/19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190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9574A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574A"/>
                </a:solidFill>
                <a:latin typeface="Aptos"/>
              </a:rPr>
              <a:t>15 •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02428"/>
                </a:solidFill>
                <a:latin typeface="Aptos Display"/>
              </a:rPr>
              <a:t>Interview / LeetCode 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7086600" cy="4526280"/>
          </a:xfrm>
          <a:prstGeom prst="roundRect">
            <a:avLst/>
          </a:prstGeom>
          <a:solidFill>
            <a:srgbClr val="EEE9DC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428"/>
                </a:solidFill>
                <a:latin typeface="Aptos"/>
              </a:rPr>
              <a:t>1. Longest Substring Without Repeating Characters — LC 3</a:t>
            </a:r>
            <a:br/>
            <a:r>
              <a:t>2. Longest Repeating Character Replacement — LC 424</a:t>
            </a:r>
            <a:br/>
            <a:r>
              <a:t>3. Fruit Into Baskets — LC 904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73568" y="1508760"/>
            <a:ext cx="3611880" cy="4526280"/>
          </a:xfrm>
          <a:prstGeom prst="roundRect">
            <a:avLst/>
          </a:prstGeom>
          <a:solidFill>
            <a:srgbClr val="E8EBE3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1" y="18105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574A"/>
                </a:solidFill>
                <a:latin typeface="Aptos"/>
              </a:rPr>
              <a:t>NOTE /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2240280"/>
            <a:ext cx="2926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2428"/>
                </a:solidFill>
                <a:latin typeface="Aptos"/>
              </a:rPr>
              <a:t>Identify the window condition before writing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369"/>
                </a:solidFill>
                <a:latin typeface="Aptos"/>
              </a:rPr>
              <a:t>DSA From Scratch → Advanced • DAY 39 • 16/19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190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9574A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574A"/>
                </a:solidFill>
                <a:latin typeface="Aptos"/>
              </a:rPr>
              <a:t>16 • REAL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02428"/>
                </a:solidFill>
                <a:latin typeface="Aptos Display"/>
              </a:rPr>
              <a:t>Where is this useful?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7086600" cy="4526280"/>
          </a:xfrm>
          <a:prstGeom prst="roundRect">
            <a:avLst/>
          </a:prstGeom>
          <a:solidFill>
            <a:srgbClr val="EEE9DC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428"/>
                </a:solidFill>
                <a:latin typeface="Aptos"/>
              </a:rPr>
              <a:t>Examples:</a:t>
            </a:r>
            <a:br/>
            <a:r>
              <a:t>• Unique users/devices in a rolling interval</a:t>
            </a:r>
            <a:br/>
            <a:r>
              <a:t>• Network traffic and log analysis</a:t>
            </a:r>
            <a:br/>
            <a:r>
              <a:t>• Detecting repeated events in recent activity</a:t>
            </a:r>
            <a:br/>
            <a:r>
              <a:t>• Finding valid text/session segments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73568" y="1508760"/>
            <a:ext cx="3611880" cy="4526280"/>
          </a:xfrm>
          <a:prstGeom prst="roundRect">
            <a:avLst/>
          </a:prstGeom>
          <a:solidFill>
            <a:srgbClr val="E8EBE3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1" y="18105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574A"/>
                </a:solidFill>
                <a:latin typeface="Aptos"/>
              </a:rPr>
              <a:t>NOTE /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2240280"/>
            <a:ext cx="2926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2428"/>
                </a:solidFill>
                <a:latin typeface="Aptos"/>
              </a:rPr>
              <a:t>Same abstraction: moving range + fast state lookup.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369"/>
                </a:solidFill>
                <a:latin typeface="Aptos"/>
              </a:rPr>
              <a:t>DSA From Scratch → Advanced • DAY 39 • 17/19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190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9574A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574A"/>
                </a:solidFill>
                <a:latin typeface="Aptos"/>
              </a:rPr>
              <a:t>17 • MINI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02428"/>
                </a:solidFill>
                <a:latin typeface="Aptos Display"/>
              </a:rPr>
              <a:t>Variable Window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7086600" cy="4526280"/>
          </a:xfrm>
          <a:prstGeom prst="roundRect">
            <a:avLst/>
          </a:prstGeom>
          <a:solidFill>
            <a:srgbClr val="EEE9DC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428"/>
                </a:solidFill>
                <a:latin typeface="Aptos"/>
              </a:rPr>
              <a:t>1. Define what the window means.</a:t>
            </a:r>
            <a:br/>
            <a:r>
              <a:t>2. Add right.</a:t>
            </a:r>
            <a:br/>
            <a:r>
              <a:t>3. Update hash state.</a:t>
            </a:r>
            <a:br/>
            <a:r>
              <a:t>4. While invalid → remove left.</a:t>
            </a:r>
            <a:br/>
            <a:r>
              <a:t>5. Update answer.</a:t>
            </a:r>
            <a:br/>
            <a:r>
              <a:t>6. Move right.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73568" y="1508760"/>
            <a:ext cx="3611880" cy="4526280"/>
          </a:xfrm>
          <a:prstGeom prst="roundRect">
            <a:avLst/>
          </a:prstGeom>
          <a:solidFill>
            <a:srgbClr val="E8EBE3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1" y="18105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574A"/>
                </a:solidFill>
                <a:latin typeface="Aptos"/>
              </a:rPr>
              <a:t>NOTE /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2240280"/>
            <a:ext cx="2926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2428"/>
                </a:solidFill>
                <a:latin typeface="Aptos"/>
              </a:rPr>
              <a:t>If you can explain these six steps, you can code the pattern confidently.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369"/>
                </a:solidFill>
                <a:latin typeface="Aptos"/>
              </a:rPr>
              <a:t>DSA From Scratch → Advanced • DAY 39 • 18/19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190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9574A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574A"/>
                </a:solidFill>
                <a:latin typeface="Aptos"/>
              </a:rPr>
              <a:t>18 •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02428"/>
                </a:solidFill>
                <a:latin typeface="Aptos Display"/>
              </a:rPr>
              <a:t>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7086600" cy="4526280"/>
          </a:xfrm>
          <a:prstGeom prst="roundRect">
            <a:avLst/>
          </a:prstGeom>
          <a:solidFill>
            <a:srgbClr val="EEE9DC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428"/>
                </a:solidFill>
                <a:latin typeface="Aptos"/>
              </a:rPr>
              <a:t>• Sliding Window handles contiguous ranges.</a:t>
            </a:r>
            <a:br/>
            <a:r>
              <a:t>• Hashing gives fast membership/frequency access.</a:t>
            </a:r>
            <a:br/>
            <a:r>
              <a:t>• Set → uniqueness; Map → counts/state.</a:t>
            </a:r>
            <a:br/>
            <a:r>
              <a:t>• Variable windows use expand + shrink.</a:t>
            </a:r>
            <a:br/>
            <a:r>
              <a:t>• Amortized pointer movement gives O(n).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73568" y="1508760"/>
            <a:ext cx="3611880" cy="4526280"/>
          </a:xfrm>
          <a:prstGeom prst="roundRect">
            <a:avLst/>
          </a:prstGeom>
          <a:solidFill>
            <a:srgbClr val="E8EBE3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1" y="18105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574A"/>
                </a:solidFill>
                <a:latin typeface="Aptos"/>
              </a:rPr>
              <a:t>NOTE /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2240280"/>
            <a:ext cx="2926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2428"/>
                </a:solidFill>
                <a:latin typeface="Aptos"/>
              </a:rPr>
              <a:t>Master the pattern, not just one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369"/>
                </a:solidFill>
                <a:latin typeface="Aptos"/>
              </a:rPr>
              <a:t>DSA From Scratch → Advanced • DAY 39 • 19/19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190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9574A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9574A"/>
                </a:solidFill>
                <a:latin typeface="Aptos"/>
              </a:rPr>
              <a:t>19 •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02428"/>
                </a:solidFill>
                <a:latin typeface="Aptos Display"/>
              </a:rPr>
              <a:t>DAY 40 — TWO POINTERS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7086600" cy="4526280"/>
          </a:xfrm>
          <a:prstGeom prst="roundRect">
            <a:avLst/>
          </a:prstGeom>
          <a:solidFill>
            <a:srgbClr val="EEE9DC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428"/>
                </a:solidFill>
                <a:latin typeface="Aptos"/>
              </a:rPr>
              <a:t>Next: Two Pointer pattern from basics to interview-level problems.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73568" y="1508760"/>
            <a:ext cx="3611880" cy="4526280"/>
          </a:xfrm>
          <a:prstGeom prst="roundRect">
            <a:avLst/>
          </a:prstGeom>
          <a:solidFill>
            <a:srgbClr val="E8EBE3"/>
          </a:solidFill>
          <a:ln>
            <a:solidFill>
              <a:srgbClr val="DC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1" y="18105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9574A"/>
                </a:solidFill>
                <a:latin typeface="Aptos"/>
              </a:rPr>
              <a:t>NOTE /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1" y="2240280"/>
            <a:ext cx="29260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2428"/>
                </a:solidFill>
                <a:latin typeface="Aptos"/>
              </a:rPr>
              <a:t>Preview: left/right pointers • sorted arrays • opposite-direction movement • classic problems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369"/>
                </a:solidFill>
                <a:latin typeface="Aptos"/>
              </a:rPr>
              <a:t>DSA From Scratch → Advanced • DAY 39 • 20/19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1908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39574A"/>
                </a:solidFill>
                <a:latin typeface="Aptos"/>
              </a:rPr>
              <a:t>github.com/ritesh2687/dsa_ppt_post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