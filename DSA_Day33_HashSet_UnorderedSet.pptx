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55C69"/>
                </a:solidFill>
                <a:latin typeface="Comic Sans M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25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32323"/>
                </a:solidFill>
                <a:latin typeface="Comic Sans MS"/>
              </a:rPr>
              <a:t>DAY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01168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32323"/>
                </a:solidFill>
                <a:latin typeface="Comic Sans MS"/>
              </a:rPr>
              <a:t>HASHSET / unordered_set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F5F5A"/>
                </a:solidFill>
                <a:latin typeface="Aptos"/>
              </a:rPr>
              <a:t>Fast membership checks • uniqueness • hashing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188720"/>
            <a:ext cx="2468880" cy="3108960"/>
          </a:xfrm>
          <a:prstGeom prst="roundRect">
            <a:avLst/>
          </a:prstGeom>
          <a:solidFill>
            <a:srgbClr val="F6E082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82880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232323"/>
                </a:solidFill>
                <a:latin typeface="Comic Sans MS"/>
              </a:rPr>
              <a:t>SET
WITHOUT
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01 — What is a HashSet?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In C++, the common HashSet structure is unordered_set.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03520" cy="411480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5C69"/>
                </a:solidFill>
                <a:latin typeface="Comic Sans MS"/>
              </a:rPr>
              <a:t>unordered_set&lt;T&gt;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Stores UNIQUE values only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Uses hashing internally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No guaranteed sorted order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  <a:latin typeface="Comic Sans MS"/>
              </a:defRPr>
            </a:pPr>
            <a:r>
              <a:t>• Average O(1) insert / search / erase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120640" cy="4114800"/>
          </a:xfrm>
          <a:prstGeom prst="roundRect">
            <a:avLst/>
          </a:prstGeom>
          <a:solidFill>
            <a:srgbClr val="F5F1E2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E4C41"/>
                </a:solidFill>
                <a:latin typeface="Comic Sans MS"/>
              </a:rPr>
              <a:t>Think: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3317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32323"/>
                </a:solidFill>
                <a:latin typeface="Comic Sans MS"/>
              </a:rPr>
              <a:t>“Have I seen this value before?”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7033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F5F5A"/>
                </a:solidFill>
                <a:latin typeface="Aptos"/>
              </a:rPr>
              <a:t>HashSet answers this quickly.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02 — Why use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Choose it when uniqueness + fast membership are the main goals.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337560" cy="3291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5C69"/>
                </a:solidFill>
                <a:latin typeface="Comic Sans MS"/>
              </a:rPr>
              <a:t>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2788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Duplicates disappear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00200"/>
            <a:ext cx="3337560" cy="3291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5C69"/>
                </a:solidFill>
                <a:latin typeface="Comic Sans MS"/>
              </a:rPr>
              <a:t>FAST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788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Average O(1) membership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00200"/>
            <a:ext cx="3337560" cy="329184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5C69"/>
                </a:solidFill>
                <a:latin typeface="Comic Sans MS"/>
              </a:rPr>
              <a:t>SIMPLE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743200"/>
            <a:ext cx="2788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Less code for “seen / not seen” logic.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F5F5A"/>
                </a:solidFill>
                <a:latin typeface="Aptos"/>
              </a:rPr>
              <a:t>Good fit → duplicate detection, visited values, membership filters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03 — How hashing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A simplified mental model: value → hash → bucket.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331720" cy="246888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011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E4C41"/>
                </a:solidFill>
                <a:latin typeface="Comic Sans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5C69"/>
                </a:solidFill>
                <a:latin typeface="Comic Sans MS"/>
              </a:rPr>
              <a:t>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Comic Sans M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2697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5F5F5A"/>
                </a:solidFill>
                <a:latin typeface="Comic Sans M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331720" cy="246888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011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E4C41"/>
                </a:solidFill>
                <a:latin typeface="Comic Sans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606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5C69"/>
                </a:solidFill>
                <a:latin typeface="Comic Sans MS"/>
              </a:rPr>
              <a:t>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Comic Sans MS"/>
              </a:rPr>
              <a:t>h(42)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2697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5F5F5A"/>
                </a:solidFill>
                <a:latin typeface="Comic Sans M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2331720" cy="246888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011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E4C41"/>
                </a:solidFill>
                <a:latin typeface="Comic Sans M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5C69"/>
                </a:solidFill>
                <a:latin typeface="Comic Sans MS"/>
              </a:rPr>
              <a:t>bucket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Comic Sans MS"/>
              </a:rPr>
              <a:t>[ index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7" y="2697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5F5F5A"/>
                </a:solidFill>
                <a:latin typeface="Comic Sans M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331720" cy="246888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2011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E4C41"/>
                </a:solidFill>
                <a:latin typeface="Comic Sans M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606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5C69"/>
                </a:solidFill>
                <a:latin typeface="Comic Sans MS"/>
              </a:rPr>
              <a:t>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246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Comic Sans MS"/>
              </a:rPr>
              <a:t>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F5F5A"/>
                </a:solidFill>
                <a:latin typeface="Aptos"/>
              </a:rPr>
              <a:t>The implementation manages buckets, collisions, and resizing for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04 — Core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The four operations you should know 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5166360" cy="160020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55C69"/>
                </a:solidFill>
                <a:latin typeface="Consolas"/>
              </a:rPr>
              <a:t>insert(x)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add 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166360" cy="160020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55C69"/>
                </a:solidFill>
                <a:latin typeface="Consolas"/>
              </a:rPr>
              <a:t>find(x)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774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iterator / end()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566160"/>
            <a:ext cx="5166360" cy="160020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55C69"/>
                </a:solidFill>
                <a:latin typeface="Consolas"/>
              </a:rPr>
              <a:t>count(x)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0 or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566160"/>
            <a:ext cx="5166360" cy="160020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8404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55C69"/>
                </a:solidFill>
                <a:latin typeface="Consolas"/>
              </a:rPr>
              <a:t>erase(x)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4348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remove 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05 — C++ starter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Minimal code you can reuse in interviews.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6400800" cy="4480560"/>
          </a:xfrm>
          <a:prstGeom prst="roundRect">
            <a:avLst/>
          </a:prstGeom>
          <a:solidFill>
            <a:srgbClr val="232628"/>
          </a:solidFill>
          <a:ln w="15240">
            <a:solidFill>
              <a:srgbClr val="23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39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EEEE8"/>
                </a:solidFill>
                <a:latin typeface="Consolas"/>
              </a:rPr>
              <a:t>#include &lt;bits/stdc++.h&gt;
using namespace std;
int main() {
    unordered_set&lt;int&gt; st;
    st.insert(10);
    st.insert(20);
    st.insert(10);   // ignored
    cout &lt;&lt; st.size();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600200"/>
            <a:ext cx="3840480" cy="3474720"/>
          </a:xfrm>
          <a:prstGeom prst="roundRect">
            <a:avLst/>
          </a:prstGeom>
          <a:solidFill>
            <a:srgbClr val="F6E082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F5F5A"/>
                </a:solidFill>
                <a:latin typeface="Comic Sans MS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514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232323"/>
                </a:solidFill>
                <a:latin typeface="Comic Sans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352044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Comic Sans MS"/>
              </a:rPr>
              <a:t>Why? 10 is inserted twice,
but the set keeps one copy.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06 — find() and count()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Two clean ways to answer: “Is x present?”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6492240" cy="3291840"/>
          </a:xfrm>
          <a:prstGeom prst="roundRect">
            <a:avLst/>
          </a:prstGeom>
          <a:solidFill>
            <a:srgbClr val="232628"/>
          </a:solidFill>
          <a:ln w="15240">
            <a:solidFill>
              <a:srgbClr val="23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612647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EEEE8"/>
                </a:solidFill>
                <a:latin typeface="Consolas"/>
              </a:rPr>
              <a:t>unordered_set&lt;int&gt; st = {2, 5, 8, 10};
if (st.find(8) != st.end())
    cout &lt;&lt; "Present";
if (st.count(5))
    cout &lt;&lt; "Present";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600200"/>
            <a:ext cx="3840480" cy="310896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55C69"/>
                </a:solidFill>
                <a:latin typeface="Consolas"/>
              </a:rPr>
              <a:t>find(x)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4688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returns iterator
or end()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55C69"/>
                </a:solidFill>
                <a:latin typeface="Consolas"/>
              </a:rPr>
              <a:t>count(x)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returns 0 or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07 — erase()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Remove by value, iterator, or a range.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6675120" cy="3840480"/>
          </a:xfrm>
          <a:prstGeom prst="roundRect">
            <a:avLst/>
          </a:prstGeom>
          <a:solidFill>
            <a:srgbClr val="232628"/>
          </a:solidFill>
          <a:ln w="15240">
            <a:solidFill>
              <a:srgbClr val="23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19"/>
            <a:ext cx="630935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EEEE8"/>
                </a:solidFill>
                <a:latin typeface="Consolas"/>
              </a:rPr>
              <a:t>unordered_set&lt;int&gt; st = {10, 20, 30};
st.erase(20);          // by value
auto it = st.find(30);
if (it != st.end())
    st.erase(it);      // by iterator
// st → {10}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828800"/>
            <a:ext cx="3474720" cy="2651760"/>
          </a:xfrm>
          <a:prstGeom prst="roundRect">
            <a:avLst/>
          </a:prstGeom>
          <a:solidFill>
            <a:srgbClr val="F5F1E2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E4C41"/>
                </a:solidFill>
                <a:latin typeface="Comic Sans MS"/>
              </a:rPr>
              <a:t>Interview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880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Comic Sans MS"/>
              </a:rPr>
              <a:t>erase(x) returns the
number of elements removed.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08 — unordered_set vs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Both store unique values. The ordering + performance model differs.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5C69"/>
                </a:solidFill>
                <a:latin typeface="Comic Sans MS"/>
              </a:rPr>
              <a:t>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52728"/>
            <a:ext cx="3886200" cy="658368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71800" y="1399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No sorted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252728"/>
            <a:ext cx="3886200" cy="658368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399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Sorted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5C69"/>
                </a:solidFill>
                <a:latin typeface="Comic Sans MS"/>
              </a:rPr>
              <a:t>Typical lookup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212848"/>
            <a:ext cx="3886200" cy="658368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3591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Average O(1)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212848"/>
            <a:ext cx="3886200" cy="658368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3591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O(log 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5C69"/>
                </a:solidFill>
                <a:latin typeface="Comic Sans MS"/>
              </a:rPr>
              <a:t>Implementation idea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172968"/>
            <a:ext cx="3886200" cy="658368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3192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Hash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172968"/>
            <a:ext cx="3886200" cy="658368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33192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Balanced BST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062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5C69"/>
                </a:solidFill>
                <a:latin typeface="Comic Sans MS"/>
              </a:rPr>
              <a:t>Use when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133088"/>
            <a:ext cx="3886200" cy="658368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Fast membership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33088"/>
            <a:ext cx="3886200" cy="658368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323"/>
                </a:solidFill>
                <a:latin typeface="Aptos"/>
              </a:rPr>
              <a:t>Need ordered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323"/>
                </a:solidFill>
                <a:latin typeface="Aptos"/>
              </a:rPr>
              <a:t>Rule of thumb: need order → set | need fast membership → unordered_set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09 — Complexity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Average-case performance is the key assumption for hashing.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874519" cy="201168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240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nsolas"/>
              </a:rPr>
              <a:t>insert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971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Aptos"/>
              </a:rPr>
              <a:t>O(1) avg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74519"/>
            <a:ext cx="1874519" cy="201168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2240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nsolas"/>
              </a:rPr>
              <a:t>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2971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Aptos"/>
              </a:rPr>
              <a:t>O(1) avg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874519"/>
            <a:ext cx="1874519" cy="201168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0952" y="2240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nsolas"/>
              </a:rPr>
              <a:t>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2971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Aptos"/>
              </a:rPr>
              <a:t>O(1) avg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874519"/>
            <a:ext cx="1874519" cy="201168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2" y="2240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nsolas"/>
              </a:rPr>
              <a:t>erase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2" y="2971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Aptos"/>
              </a:rPr>
              <a:t>O(1) avg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1874519"/>
            <a:ext cx="1874519" cy="201168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11512" y="2240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nsolas"/>
              </a:rPr>
              <a:t>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2971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32323"/>
                </a:solidFill>
                <a:latin typeface="Aptos"/>
              </a:rPr>
              <a:t>O(n)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F5F5A"/>
                </a:solidFill>
                <a:latin typeface="Aptos"/>
              </a:rPr>
              <a:t>Worst-case hashing can degrade to O(n); interviews usually expect the average-case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10 — Pattern: “Have I seen this?”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HashSet turns repeated scanning into a one-pass check.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749039" cy="411480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mic Sans MS"/>
              </a:rPr>
              <a:t>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32323"/>
                </a:solidFill>
                <a:latin typeface="Consolas"/>
              </a:rPr>
              <a:t>[ 4, 7, 2, 7, 9 ]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mic Sans MS"/>
              </a:rPr>
              <a:t>7 appears again → duplicate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417320"/>
            <a:ext cx="6583680" cy="4114800"/>
          </a:xfrm>
          <a:prstGeom prst="roundRect">
            <a:avLst/>
          </a:prstGeom>
          <a:solidFill>
            <a:srgbClr val="F6E082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mic Sans MS"/>
              </a:rPr>
              <a:t>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32323"/>
                </a:solidFill>
                <a:latin typeface="Consolas"/>
              </a:rPr>
              <a:t>seen = {4, 7, 2}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290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Comic Sans MS"/>
              </a:rPr>
              <a:t>Check before insert → detect duplicates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11 — Problem #1: Contains Duplicate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Beginner pattern: detect whether any value appears twice.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Aptos"/>
              </a:rPr>
              <a:t>Given an integer array, return true if any value occurs at least twice.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6675120" cy="3383280"/>
          </a:xfrm>
          <a:prstGeom prst="roundRect">
            <a:avLst/>
          </a:prstGeom>
          <a:solidFill>
            <a:srgbClr val="232628"/>
          </a:solidFill>
          <a:ln w="15240">
            <a:solidFill>
              <a:srgbClr val="23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630935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EEEE8"/>
                </a:solidFill>
                <a:latin typeface="Consolas"/>
              </a:rPr>
              <a:t>bool containsDuplicate(vector&lt;int&gt;&amp; nums) {
    unordered_set&lt;int&gt; seen;
    for (int x : nums) {
        if (seen.count(x)) return true;
        seen.insert(x);
    }
    return false;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057400"/>
            <a:ext cx="3383280" cy="292608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423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E4C41"/>
                </a:solidFill>
                <a:latin typeface="Comic Sans MS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063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Comic Sans MS"/>
              </a:rPr>
              <a:t>check → then insert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886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32323"/>
                </a:solidFill>
                <a:latin typeface="Aptos"/>
              </a:rPr>
              <a:t>Time: O(n) avg
Space: 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12 — Problem #2: Intersection of Two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Keep one array in a set, then test membership from the other.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6629400" cy="4023360"/>
          </a:xfrm>
          <a:prstGeom prst="roundRect">
            <a:avLst/>
          </a:prstGeom>
          <a:solidFill>
            <a:srgbClr val="232628"/>
          </a:solidFill>
          <a:ln w="15240">
            <a:solidFill>
              <a:srgbClr val="23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19"/>
            <a:ext cx="6263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EEEE8"/>
                </a:solidFill>
                <a:latin typeface="Consolas"/>
              </a:rPr>
              <a:t>unordered_set&lt;int&gt; s(nums1.begin(), nums1.end());
vector&lt;int&gt; ans;
for (int x : nums2) {
    if (s.count(x)) {
        ans.push_back(x);
        s.erase(x); // avoid duplicates
  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737360"/>
            <a:ext cx="3566160" cy="3200400"/>
          </a:xfrm>
          <a:prstGeom prst="roundRect">
            <a:avLst/>
          </a:prstGeom>
          <a:solidFill>
            <a:srgbClr val="F6E082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E4C41"/>
                </a:solidFill>
                <a:latin typeface="Comic Sans MS"/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7432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32323"/>
                </a:solidFill>
                <a:latin typeface="Consolas"/>
              </a:rPr>
              <a:t>nums1 = [1,2,2,3]
nums2 = [2,3,4]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32323"/>
                </a:solidFill>
                <a:latin typeface="Consolas"/>
              </a:rPr>
              <a:t>answer = [2,3]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13 — Problem #3: First Repeated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Same pattern, but now the order matters.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6629400" cy="4023360"/>
          </a:xfrm>
          <a:prstGeom prst="roundRect">
            <a:avLst/>
          </a:prstGeom>
          <a:solidFill>
            <a:srgbClr val="232628"/>
          </a:solidFill>
          <a:ln w="15240">
            <a:solidFill>
              <a:srgbClr val="232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19"/>
            <a:ext cx="6263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EEEE8"/>
                </a:solidFill>
                <a:latin typeface="Consolas"/>
              </a:rPr>
              <a:t>int firstRepeated(vector&lt;int&gt;&amp; a) {
    unordered_set&lt;int&gt; seen;
    for (int x : a) {
        if (seen.count(x))
            return x;
        seen.insert(x);
    }
    return -1;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737360"/>
            <a:ext cx="3566160" cy="320040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E4C41"/>
                </a:solidFill>
                <a:latin typeface="Comic Sans MS"/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743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32323"/>
                </a:solidFill>
                <a:latin typeface="Consolas"/>
              </a:rPr>
              <a:t>[5, 1, 4, 1, 5]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657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32323"/>
                </a:solidFill>
                <a:latin typeface="Comic Sans MS"/>
              </a:rPr>
              <a:t>first repeated →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F5F5A"/>
                </a:solidFill>
                <a:latin typeface="Aptos"/>
              </a:rPr>
              <a:t>Stop at the first hit.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14 — Real-world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Duplicate filtering in a data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377440" cy="219456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mic Sans MS"/>
              </a:rPr>
              <a:t>RAW 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Consolas"/>
              </a:rPr>
              <a:t>A7 A7 B2
C4 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F5F5A"/>
                </a:solidFill>
                <a:latin typeface="Comic Sans M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508760"/>
            <a:ext cx="2377440" cy="2194560"/>
          </a:xfrm>
          <a:prstGeom prst="roundRect">
            <a:avLst/>
          </a:prstGeom>
          <a:solidFill>
            <a:srgbClr val="F6E082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mic Sans MS"/>
              </a:rPr>
              <a:t>HASHSET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5603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Consolas"/>
              </a:rPr>
              <a:t>A7 B2 C4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F5F5A"/>
                </a:solidFill>
                <a:latin typeface="Comic Sans M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1508760"/>
            <a:ext cx="4297680" cy="219456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mic Sans MS"/>
              </a:rPr>
              <a:t>UNIQUE 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32323"/>
                </a:solidFill>
                <a:latin typeface="Comic Sans MS"/>
              </a:rPr>
              <a:t>Process each ID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F5F5A"/>
                </a:solidFill>
                <a:latin typeface="Aptos"/>
              </a:rPr>
              <a:t>Useful for: duplicate events • visited URLs • processed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15 — Interview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Know what hashing gives you — and what it does NOT guarantee.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5212080" cy="3931920"/>
          </a:xfrm>
          <a:prstGeom prst="roundRect">
            <a:avLst/>
          </a:prstGeom>
          <a:solidFill>
            <a:srgbClr val="F6E082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E4C41"/>
                </a:solidFill>
                <a:latin typeface="Comic Sans MS"/>
              </a:rPr>
              <a:t>DON'T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146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Comic Sans MS"/>
              </a:rPr>
              <a:t>“unordered_set is always O(1)”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Comic Sans MS"/>
              </a:rPr>
              <a:t>Say: “Average-case O(1),
with worst-case degradation.”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212080" cy="393192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5C69"/>
                </a:solidFill>
                <a:latin typeface="Comic Sans MS"/>
              </a:rPr>
              <a:t>ALSO 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146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Comic Sans MS"/>
              </a:defRPr>
            </a:pPr>
            <a:r>
              <a:t>• No sorted order guarantee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Comic Sans MS"/>
              </a:defRPr>
            </a:pPr>
            <a:r>
              <a:t>• Duplicates are not stored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Comic Sans MS"/>
              </a:defRPr>
            </a:pPr>
            <a:r>
              <a:t>• Use set when ordering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16 — Quick revision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If you can explain this card, you know the 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5C69"/>
                </a:solidFill>
                <a:latin typeface="Comic Sans MS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32323"/>
                </a:solidFill>
                <a:latin typeface="Consolas"/>
              </a:rPr>
              <a:t>unordered_set&lt;T&gt;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5C69"/>
                </a:solidFill>
                <a:latin typeface="Comic Sans MS"/>
              </a:rPr>
              <a:t>Stores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103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Aptos"/>
              </a:rPr>
              <a:t>unique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5C69"/>
                </a:solidFill>
                <a:latin typeface="Comic Sans MS"/>
              </a:rPr>
              <a:t>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92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Aptos"/>
              </a:rPr>
              <a:t>average O(1)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5C69"/>
                </a:solidFill>
                <a:latin typeface="Comic Sans MS"/>
              </a:rPr>
              <a:t>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7490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Aptos"/>
              </a:rPr>
              <a:t>not sorted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5C69"/>
                </a:solidFill>
                <a:latin typeface="Comic Sans MS"/>
              </a:rPr>
              <a:t>Main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572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32323"/>
                </a:solidFill>
                <a:latin typeface="Aptos"/>
              </a:rPr>
              <a:t>seen / not seen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417320"/>
            <a:ext cx="2743200" cy="3291840"/>
          </a:xfrm>
          <a:prstGeom prst="roundRect">
            <a:avLst/>
          </a:prstGeom>
          <a:solidFill>
            <a:srgbClr val="F6E082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E4C41"/>
                </a:solidFill>
                <a:latin typeface="Comic Sans MS"/>
              </a:rPr>
              <a:t>4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5146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32323"/>
                </a:solidFill>
                <a:latin typeface="Consolas"/>
              </a:rPr>
              <a:t>insert()
find()
count()
erase()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17 —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One mental model to carry into problem solving.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32323"/>
                </a:solidFill>
                <a:latin typeface="Comic Sans MS"/>
              </a:rPr>
              <a:t>Need UNIQUE + FAST membership?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55C69"/>
                </a:solidFill>
                <a:latin typeface="Comic Sans MS"/>
              </a:rPr>
              <a:t>→  unordered_set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337560"/>
            <a:ext cx="8503920" cy="137160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37033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232323"/>
                </a:solidFill>
                <a:latin typeface="Comic Sans MS"/>
              </a:rPr>
              <a:t>Think:  “Have I seen this before?”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89204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5F5F5A"/>
                </a:solidFill>
                <a:latin typeface="Aptos"/>
              </a:rPr>
              <a:t>Then reach for hashing.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32323"/>
                </a:solidFill>
                <a:latin typeface="Comic Sans MS"/>
              </a:rPr>
              <a:t>18 — Tomorrow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F5F5A"/>
                </a:solidFill>
                <a:latin typeface="Aptos"/>
              </a:rPr>
              <a:t>DAY 34 — HashMap / unordered_map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417320"/>
            <a:ext cx="10058400" cy="411480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25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E4C41"/>
                </a:solidFill>
                <a:latin typeface="Comic Sans MS"/>
              </a:rPr>
              <a:t>NEXT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14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55C69"/>
                </a:solidFill>
                <a:latin typeface="Consolas"/>
              </a:rPr>
              <a:t>unordered_map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2461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32323"/>
                </a:solidFill>
                <a:latin typeface="Consolas"/>
              </a:rPr>
              <a:t>key →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4884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Comic Sans MS"/>
              </a:defRPr>
            </a:pPr>
            <a:r>
              <a:t>• frequency counting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Comic Sans MS"/>
              </a:defRPr>
            </a:pPr>
            <a:r>
              <a:t>• key-value lookup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Comic Sans MS"/>
              </a:defRPr>
            </a:pPr>
            <a:r>
              <a:t>• map vs unordered_map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  <a:latin typeface="Comic Sans MS"/>
              </a:defRPr>
            </a:pPr>
            <a:r>
              <a:t>• common interview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9834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F5F5A"/>
                </a:solidFill>
                <a:latin typeface="Aptos"/>
              </a:rPr>
              <a:t>Keep building. One pattern at a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5C69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446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F5F5A"/>
                </a:solidFill>
                <a:latin typeface="Aptos"/>
              </a:rPr>
              <a:t>DAY 33  • 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