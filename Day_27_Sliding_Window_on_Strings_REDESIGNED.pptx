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66928"/>
            <a:ext cx="182880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465FB4"/>
                </a:solidFill>
                <a:latin typeface="Comic Neue"/>
              </a:rPr>
              <a:t>DAY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6583680" cy="7772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4200" b="1">
                <a:solidFill>
                  <a:srgbClr val="23232A"/>
                </a:solidFill>
                <a:latin typeface="Comic Neue"/>
              </a:rPr>
              <a:t>SLIDING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47088"/>
            <a:ext cx="594360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3400" b="1">
                <a:solidFill>
                  <a:srgbClr val="23232A"/>
                </a:solidFill>
                <a:latin typeface="Comic Neue"/>
              </a:rPr>
              <a:t>ON 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70048"/>
            <a:ext cx="630936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900" b="0">
                <a:solidFill>
                  <a:srgbClr val="5A5B64"/>
                </a:solidFill>
                <a:latin typeface="Comic Neue"/>
              </a:rPr>
              <a:t>A handwritten-style guide to fixed &amp; variable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337560"/>
            <a:ext cx="539496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337560"/>
            <a:ext cx="539496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CONCEPT → EXAMPLE → CODE → PATTERN →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097280"/>
            <a:ext cx="4160520" cy="3246120"/>
          </a:xfrm>
          <a:prstGeom prst="roundRect">
            <a:avLst/>
          </a:prstGeom>
          <a:solidFill>
            <a:srgbClr val="F0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508760"/>
            <a:ext cx="36576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23232A"/>
                </a:solidFill>
                <a:latin typeface="Comic Neue"/>
              </a:rPr>
              <a:t>a  b  c  a  b  c  b 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331720"/>
            <a:ext cx="1691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1691640" cy="7132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465FB4"/>
                </a:solidFill>
                <a:latin typeface="Comic Neue"/>
              </a:rPr>
              <a:t>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273552"/>
            <a:ext cx="109728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CF5B5B"/>
                </a:solidFill>
                <a:latin typeface="Comic Neue"/>
              </a:rPr>
              <a:t>←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73552"/>
            <a:ext cx="114300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5B9169"/>
                </a:solidFill>
                <a:latin typeface="Comic Neue"/>
              </a:rPr>
              <a:t>right →</a:t>
            </a:r>
          </a:p>
        </p:txBody>
      </p:sp>
      <p:sp>
        <p:nvSpPr>
          <p:cNvPr id="14" name="TextBox 13">
            <a:hlinkClick r:id="rId2"/>
          </p:cNvPr>
          <p:cNvSpPr txBox="1"/>
          <p:nvPr/>
        </p:nvSpPr>
        <p:spPr>
          <a:xfrm>
            <a:off x="749808" y="6172200"/>
            <a:ext cx="1051560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92240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From Palindrome → Anagram → Two Pointers → Sliding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25420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856231"/>
            <a:ext cx="731520" cy="384048"/>
          </a:xfrm>
          <a:prstGeom prst="round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56231"/>
            <a:ext cx="731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DAY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68880"/>
            <a:ext cx="214884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3232A"/>
                </a:solidFill>
                <a:latin typeface="Comic Neue"/>
              </a:rPr>
              <a:t>Palindrome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90672"/>
            <a:ext cx="2148840" cy="8686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5A5B64"/>
                </a:solidFill>
                <a:latin typeface="Comic Neue"/>
              </a:rPr>
              <a:t>Compare from both 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3" y="2743200"/>
            <a:ext cx="2286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5A5B64"/>
                </a:solidFill>
                <a:latin typeface="Comic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645920"/>
            <a:ext cx="25420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39312" y="1856231"/>
            <a:ext cx="731520" cy="384048"/>
          </a:xfrm>
          <a:prstGeom prst="roundRect">
            <a:avLst/>
          </a:prstGeom>
          <a:solidFill>
            <a:srgbClr val="46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856231"/>
            <a:ext cx="731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DAY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468880"/>
            <a:ext cx="214884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3232A"/>
                </a:solidFill>
                <a:latin typeface="Comic Neue"/>
              </a:rPr>
              <a:t>Anagrams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090672"/>
            <a:ext cx="2148840" cy="8686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5A5B64"/>
                </a:solidFill>
                <a:latin typeface="Comic Neue"/>
              </a:rPr>
              <a:t>Character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743200"/>
            <a:ext cx="2286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5A5B64"/>
                </a:solidFill>
                <a:latin typeface="Comic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645920"/>
            <a:ext cx="25420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55664" y="1856231"/>
            <a:ext cx="731520" cy="384048"/>
          </a:xfrm>
          <a:prstGeom prst="roundRect">
            <a:avLst/>
          </a:prstGeom>
          <a:solidFill>
            <a:srgbClr val="5B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856231"/>
            <a:ext cx="731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DAY 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68880"/>
            <a:ext cx="214884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3232A"/>
                </a:solidFill>
                <a:latin typeface="Comic Neue"/>
              </a:rPr>
              <a:t>Two Pointers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090672"/>
            <a:ext cx="2148840" cy="8686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5A5B64"/>
                </a:solidFill>
                <a:latin typeface="Comic Neue"/>
              </a:rPr>
              <a:t>Move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743200"/>
            <a:ext cx="2286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5A5B64"/>
                </a:solidFill>
                <a:latin typeface="Comic Neu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7424" y="1645920"/>
            <a:ext cx="254203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D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72016" y="1856231"/>
            <a:ext cx="73152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1856231"/>
            <a:ext cx="731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DAY 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2468880"/>
            <a:ext cx="214884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3232A"/>
                </a:solidFill>
                <a:latin typeface="Comic Neue"/>
              </a:rPr>
              <a:t>Sliding 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3090672"/>
            <a:ext cx="2148840" cy="8686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5A5B64"/>
                </a:solidFill>
                <a:latin typeface="Comic Neue"/>
              </a:rPr>
              <a:t>Maintain a substring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42416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3232A"/>
                </a:solidFill>
                <a:latin typeface="Comic Neue"/>
              </a:rPr>
              <a:t>The pattern gets stronger: compare → count → move → maintain.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What is a Sliding Window?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51206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48056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465FB4"/>
                </a:solidFill>
                <a:latin typeface="Comic Neue"/>
              </a:rPr>
              <a:t>A moving contiguous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4434840" cy="2377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A window is a substring [left … right].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right expands the window.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left shrinks the window when needed.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A small state tracks what is inside.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57800" cy="4160520"/>
          </a:xfrm>
          <a:prstGeom prst="roundRect">
            <a:avLst/>
          </a:prstGeom>
          <a:solidFill>
            <a:srgbClr val="F0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5262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23232A"/>
                </a:solidFill>
                <a:latin typeface="Comic Neue"/>
              </a:rPr>
              <a:t>s =  a b c a b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2103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880360"/>
            <a:ext cx="2103120" cy="7772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465FB4"/>
                </a:solidFill>
                <a:latin typeface="Comic Neue"/>
              </a:rPr>
              <a:t>current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069080"/>
            <a:ext cx="10058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CF5B5B"/>
                </a:solidFill>
                <a:latin typeface="Comic Neue"/>
              </a:rPr>
              <a:t>left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4069080"/>
            <a:ext cx="10058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5B9169"/>
                </a:solidFill>
                <a:latin typeface="Comic Neue"/>
              </a:rPr>
              <a:t>←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Why does it save time?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074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20116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CF5B5B"/>
                </a:solidFill>
                <a:latin typeface="Comic Neue"/>
              </a:rPr>
              <a:t>Brute 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206240" cy="20116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Generate many substrings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Re-check characters repeatedly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Typical cost: O(n²)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074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25603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5B9169"/>
                </a:solidFill>
                <a:latin typeface="Comic Neue"/>
              </a:rPr>
              <a:t>Sliding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206240" cy="20116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Reuse the current state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Each pointer moves forward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Often reduces to O(n)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102412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23232A"/>
                </a:solidFill>
                <a:latin typeface="Comic Neue"/>
              </a:rPr>
              <a:t>Key idea: don't recalculate what you already know.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Fixed Window vs Variable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074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43891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465FB4"/>
                </a:solidFill>
                <a:latin typeface="Comic Neue"/>
              </a:rPr>
              <a:t>FIXED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4206240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A5B64"/>
                </a:solidFill>
                <a:latin typeface="Comic Neue"/>
              </a:rPr>
              <a:t>Window length is exactly 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29000"/>
            <a:ext cx="40690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23232A"/>
                </a:solidFill>
                <a:latin typeface="Comic Neue"/>
              </a:rPr>
              <a:t>[ a b c ] d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60520"/>
            <a:ext cx="388620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465FB4"/>
                </a:solidFill>
                <a:latin typeface="Comic Neue"/>
              </a:rPr>
              <a:t>add d  •  remove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5074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3891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5B9169"/>
                </a:solidFill>
                <a:latin typeface="Comic Neue"/>
              </a:rPr>
              <a:t>VARIABLE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42032"/>
            <a:ext cx="4206240" cy="5486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A5B64"/>
                </a:solidFill>
                <a:latin typeface="Comic Neue"/>
              </a:rPr>
              <a:t>Window length changes with the constraint.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337560"/>
            <a:ext cx="36576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23232A"/>
                </a:solidFill>
                <a:latin typeface="Comic Neue"/>
              </a:rPr>
              <a:t>[ a b c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60520"/>
            <a:ext cx="40690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5B9169"/>
                </a:solidFill>
                <a:latin typeface="Comic Neue"/>
              </a:rPr>
              <a:t>expand → invalid → shrink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The 4 moving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4572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CF5B5B"/>
                </a:solidFill>
                <a:latin typeface="Comic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743200"/>
            <a:ext cx="21031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3232A"/>
                </a:solidFill>
                <a:latin typeface="Comic Neue"/>
              </a:rPr>
              <a:t>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201168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A5B64"/>
                </a:solidFill>
                <a:latin typeface="Comic Neue"/>
              </a:rPr>
              <a:t>start of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057400"/>
            <a:ext cx="4572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5B9169"/>
                </a:solidFill>
                <a:latin typeface="Comic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743200"/>
            <a:ext cx="21031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3232A"/>
                </a:solidFill>
                <a:latin typeface="Comic Neue"/>
              </a:rPr>
              <a:t>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29000"/>
            <a:ext cx="201168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A5B64"/>
                </a:solidFill>
                <a:latin typeface="Comic Neue"/>
              </a:rPr>
              <a:t>new character enters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057400"/>
            <a:ext cx="4572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465FB4"/>
                </a:solidFill>
                <a:latin typeface="Comic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743200"/>
            <a:ext cx="21031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3232A"/>
                </a:solidFill>
                <a:latin typeface="Comic Neue"/>
              </a:rP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201168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A5B64"/>
                </a:solidFill>
                <a:latin typeface="Comic Neue"/>
              </a:rPr>
              <a:t>freq / count / sum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828800"/>
            <a:ext cx="24688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D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1" y="2057400"/>
            <a:ext cx="4572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F6D352"/>
                </a:solidFill>
                <a:latin typeface="Comic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1" y="2743200"/>
            <a:ext cx="21031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3232A"/>
                </a:solidFill>
                <a:latin typeface="Comic Neue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3429000"/>
            <a:ext cx="201168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A5B64"/>
                </a:solidFill>
                <a:latin typeface="Comic Neue"/>
              </a:rPr>
              <a:t>best valid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42416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23232A"/>
                </a:solidFill>
                <a:latin typeface="Comic Neue"/>
              </a:rPr>
              <a:t>Think: WINDOW + STATE + INVALID CONDITION +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Example — Longest substring without repeats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365760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23232A"/>
                </a:solidFill>
                <a:latin typeface="Comic Neue"/>
              </a:rPr>
              <a:t>Input: "abcabcbb"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45720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572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40280"/>
            <a:ext cx="201168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23232A"/>
                </a:solidFill>
                <a:latin typeface="Comic Neue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40280"/>
            <a:ext cx="3931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B9169"/>
                </a:solidFill>
                <a:latin typeface="Comic Neue"/>
              </a:rPr>
              <a:t>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40280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500" b="1">
                <a:solidFill>
                  <a:srgbClr val="465FB4"/>
                </a:solidFill>
                <a:latin typeface="Comic Neue"/>
              </a:rPr>
              <a:t>best =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98648"/>
            <a:ext cx="45720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98648"/>
            <a:ext cx="4572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98648"/>
            <a:ext cx="201168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23232A"/>
                </a:solidFill>
                <a:latin typeface="Comic Neue"/>
              </a:rPr>
              <a:t>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98648"/>
            <a:ext cx="3931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B9169"/>
                </a:solidFill>
                <a:latin typeface="Comic Neue"/>
              </a:rPr>
              <a:t>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98648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500" b="1">
                <a:solidFill>
                  <a:srgbClr val="465FB4"/>
                </a:solidFill>
                <a:latin typeface="Comic Neue"/>
              </a:rPr>
              <a:t>best =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57016"/>
            <a:ext cx="45720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57016"/>
            <a:ext cx="4572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557016"/>
            <a:ext cx="201168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23232A"/>
                </a:solidFill>
                <a:latin typeface="Comic Neue"/>
              </a:rPr>
              <a:t>abc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557016"/>
            <a:ext cx="3931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B9169"/>
                </a:solidFill>
                <a:latin typeface="Comic Neue"/>
              </a:rPr>
              <a:t>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557016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500" b="1">
                <a:solidFill>
                  <a:srgbClr val="465FB4"/>
                </a:solidFill>
                <a:latin typeface="Comic Neue"/>
              </a:rPr>
              <a:t>best =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15384"/>
            <a:ext cx="45720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15384"/>
            <a:ext cx="4572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215384"/>
            <a:ext cx="201168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23232A"/>
                </a:solidFill>
                <a:latin typeface="Comic Neue"/>
              </a:rPr>
              <a:t>abca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215384"/>
            <a:ext cx="3931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CF5B5B"/>
                </a:solidFill>
                <a:latin typeface="Comic Neue"/>
              </a:rPr>
              <a:t>duplicate a → shrink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15384"/>
            <a:ext cx="1645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500" b="1">
                <a:solidFill>
                  <a:srgbClr val="465FB4"/>
                </a:solidFill>
                <a:latin typeface="Comic Neue"/>
              </a:rPr>
              <a:t>best =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1572768"/>
            <a:ext cx="4343400" cy="3657600"/>
          </a:xfrm>
          <a:prstGeom prst="roundRect">
            <a:avLst/>
          </a:prstGeom>
          <a:solidFill>
            <a:srgbClr val="F0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965960"/>
            <a:ext cx="34747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465FB4"/>
                </a:solidFill>
                <a:latin typeface="Comic Neue"/>
              </a:rPr>
              <a:t>Maximum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606040"/>
            <a:ext cx="3474720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3100" b="1">
                <a:solidFill>
                  <a:srgbClr val="23232A"/>
                </a:solidFill>
                <a:latin typeface="Comic Neue"/>
              </a:rPr>
              <a:t>"abc"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429000"/>
            <a:ext cx="347472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5B9169"/>
                </a:solidFill>
                <a:latin typeface="Comic Neue"/>
              </a:rPr>
              <a:t>length =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When do we shrink the window?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561320" cy="914400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1019556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23232A"/>
                </a:solidFill>
                <a:latin typeface="Comic Neue"/>
              </a:rPr>
              <a:t>If the window violates the rule → move left until the rule is true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9966960" cy="2057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Duplicate character? Remove from the left.</a:t>
            </a:r>
          </a:p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Too many distinct characters? Remove until distinct ≤ k.</a:t>
            </a:r>
          </a:p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Too large a cost / sum? Shrink until the constraint is satisfied.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CF5B5B"/>
                </a:solidFill>
                <a:latin typeface="Comic Neue"/>
              </a:rPr>
              <a:t>Important: update the answer only after the window is valid.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Reusable variable-window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6583680" cy="4251960"/>
          </a:xfrm>
          <a:prstGeom prst="roundRect">
            <a:avLst/>
          </a:prstGeom>
          <a:solidFill>
            <a:srgbClr val="2B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9928"/>
            <a:ext cx="6254496" cy="4032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DejaVu Sans Mono"/>
              </a:rPr>
              <a:t>int left = 0;</a:t>
            </a:r>
            <a:br/>
            <a:r>
              <a:t>for (int right = 0; right &lt; n; right++) {</a:t>
            </a:r>
            <a:br/>
            <a:r>
              <a:t>    add(s[right]);</a:t>
            </a:r>
            <a:br/>
            <a:br/>
            <a:r>
              <a:t>    while (window_is_invalid()) {</a:t>
            </a:r>
            <a:br/>
            <a:r>
              <a:t>        remove(s[left]);</a:t>
            </a:r>
            <a:br/>
            <a:r>
              <a:t>        left++;</a:t>
            </a:r>
            <a:br/>
            <a:r>
              <a:t>    }</a:t>
            </a:r>
            <a:br/>
            <a:br/>
            <a:r>
              <a:t>    ans = max(ans, right - left + 1);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57400"/>
            <a:ext cx="2606040" cy="2926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65FB4"/>
                </a:solidFill>
                <a:latin typeface="Comic Neue"/>
              </a:defRPr>
            </a:pPr>
            <a:r>
              <a:t>ADD</a:t>
            </a:r>
          </a:p>
          <a:p>
            <a:pPr>
              <a:spcAft>
                <a:spcPts val="800"/>
              </a:spcAft>
              <a:defRPr sz="2100">
                <a:solidFill>
                  <a:srgbClr val="465FB4"/>
                </a:solidFill>
                <a:latin typeface="Comic Neue"/>
              </a:defRPr>
            </a:pPr>
            <a:r>
              <a:t>CHECK</a:t>
            </a:r>
          </a:p>
          <a:p>
            <a:pPr>
              <a:spcAft>
                <a:spcPts val="800"/>
              </a:spcAft>
              <a:defRPr sz="2100">
                <a:solidFill>
                  <a:srgbClr val="465FB4"/>
                </a:solidFill>
                <a:latin typeface="Comic Neue"/>
              </a:defRPr>
            </a:pPr>
            <a:r>
              <a:t>SHRINK</a:t>
            </a:r>
          </a:p>
          <a:p>
            <a:pPr>
              <a:spcAft>
                <a:spcPts val="800"/>
              </a:spcAft>
              <a:defRPr sz="2100">
                <a:solidFill>
                  <a:srgbClr val="465FB4"/>
                </a:solidFill>
                <a:latin typeface="Comic Neue"/>
              </a:defRPr>
            </a:pPr>
            <a: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983480"/>
            <a:ext cx="27432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3232A"/>
                </a:solidFill>
                <a:latin typeface="Comic Neue"/>
              </a:rPr>
              <a:t>This pattern appears again and again in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PROBLEM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LeetCode 3 — C++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7406640" cy="4526280"/>
          </a:xfrm>
          <a:prstGeom prst="roundRect">
            <a:avLst/>
          </a:prstGeom>
          <a:solidFill>
            <a:srgbClr val="2B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18488"/>
            <a:ext cx="7077455" cy="430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DejaVu Sans Mono"/>
              </a:rPr>
              <a:t>int lengthOfLongestSubstring(string s) {</a:t>
            </a:r>
            <a:br/>
            <a:r>
              <a:t>    vector&lt;int&gt; last(256, -1);</a:t>
            </a:r>
            <a:br/>
            <a:r>
              <a:t>    int left = 0, ans = 0;</a:t>
            </a:r>
            <a:br/>
            <a:br/>
            <a:r>
              <a:t>    for (int right = 0; right &lt; s.size(); right++) {</a:t>
            </a:r>
            <a:br/>
            <a:r>
              <a:t>        unsigned char c = s[right];</a:t>
            </a:r>
            <a:br/>
            <a:br/>
            <a:r>
              <a:t>        if (last[c] &gt;= left)</a:t>
            </a:r>
            <a:br/>
            <a:r>
              <a:t>            left = last[c] + 1;</a:t>
            </a:r>
            <a:br/>
            <a:br/>
            <a:r>
              <a:t>        last[c] = right;</a:t>
            </a:r>
            <a:br/>
            <a:r>
              <a:t>        ans = max(ans, right - left + 1);</a:t>
            </a:r>
            <a:br/>
            <a:r>
              <a:t>    }</a:t>
            </a:r>
            <a:br/>
            <a:r>
              <a:t>    return ans;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50876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874519"/>
            <a:ext cx="219456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5B9169"/>
                </a:solidFill>
                <a:latin typeface="Comic Neue"/>
              </a:rPr>
              <a:t>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560320"/>
            <a:ext cx="2148840" cy="19202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A"/>
                </a:solidFill>
                <a:latin typeface="Comic Neue"/>
              </a:defRPr>
            </a:pPr>
            <a:r>
              <a:t>• Store last index.</a:t>
            </a:r>
          </a:p>
          <a:p>
            <a:pPr>
              <a:spcAft>
                <a:spcPts val="800"/>
              </a:spcAft>
              <a:defRPr sz="1600">
                <a:solidFill>
                  <a:srgbClr val="23232A"/>
                </a:solidFill>
                <a:latin typeface="Comic Neue"/>
              </a:defRPr>
            </a:pPr>
            <a:r>
              <a:t>• Jump left directly.</a:t>
            </a:r>
          </a:p>
          <a:p>
            <a:pPr>
              <a:spcAft>
                <a:spcPts val="800"/>
              </a:spcAft>
              <a:defRPr sz="1600">
                <a:solidFill>
                  <a:srgbClr val="23232A"/>
                </a:solidFill>
                <a:latin typeface="Comic Neue"/>
              </a:defRPr>
            </a:pPr>
            <a:r>
              <a:t>• Never move left backward.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800600"/>
            <a:ext cx="1051560" cy="384048"/>
          </a:xfrm>
          <a:prstGeom prst="roundRect">
            <a:avLst/>
          </a:prstGeom>
          <a:solidFill>
            <a:srgbClr val="5B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4800600"/>
            <a:ext cx="105156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mic Neue"/>
              </a:rPr>
              <a:t>O(n)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4800600"/>
            <a:ext cx="1051560" cy="384048"/>
          </a:xfrm>
          <a:prstGeom prst="roundRect">
            <a:avLst/>
          </a:prstGeom>
          <a:solidFill>
            <a:srgbClr val="46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4800600"/>
            <a:ext cx="105156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mic Neue"/>
              </a:rPr>
              <a:t>O(1) space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Fixed window — maximum vowels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7315200" cy="4526280"/>
          </a:xfrm>
          <a:prstGeom prst="roundRect">
            <a:avLst/>
          </a:prstGeom>
          <a:solidFill>
            <a:srgbClr val="2B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18488"/>
            <a:ext cx="6986016" cy="4306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DejaVu Sans Mono"/>
              </a:rPr>
              <a:t>int countVowels(string s, int k) {</a:t>
            </a:r>
            <a:br/>
            <a:r>
              <a:t>    auto vowel = [](char c) {</a:t>
            </a:r>
            <a:br/>
            <a:r>
              <a:t>        return string("aeiou").find(c) != string::npos;</a:t>
            </a:r>
            <a:br/>
            <a:r>
              <a:t>    };</a:t>
            </a:r>
            <a:br/>
            <a:br/>
            <a:r>
              <a:t>    int cur = 0;</a:t>
            </a:r>
            <a:br/>
            <a:r>
              <a:t>    for (int i = 0; i &lt; k; i++) cur += vowel(s[i]);</a:t>
            </a:r>
            <a:br/>
            <a:br/>
            <a:r>
              <a:t>    int ans = cur;</a:t>
            </a:r>
            <a:br/>
            <a:r>
              <a:t>    for (int r = k; r &lt; s.size(); r++) {</a:t>
            </a:r>
            <a:br/>
            <a:r>
              <a:t>        cur += vowel(s[r]);</a:t>
            </a:r>
            <a:br/>
            <a:r>
              <a:t>        cur -= vowel(s[r-k]);</a:t>
            </a:r>
            <a:br/>
            <a:r>
              <a:t>        ans = max(ans, cur);</a:t>
            </a:r>
            <a:br/>
            <a:r>
              <a:t>    }</a:t>
            </a:r>
            <a:br/>
            <a:r>
              <a:t>    return ans;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508760"/>
            <a:ext cx="2834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74519"/>
            <a:ext cx="228600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465FB4"/>
                </a:solidFill>
                <a:latin typeface="Comic Neue"/>
              </a:rPr>
              <a:t>Fixed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651760"/>
            <a:ext cx="2240280" cy="2377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size = k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add incoming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remove outgoing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measure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PROBLEM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LeetCode 424 — Repeating Character Replacement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7452360" cy="4617720"/>
          </a:xfrm>
          <a:prstGeom prst="roundRect">
            <a:avLst/>
          </a:prstGeom>
          <a:solidFill>
            <a:srgbClr val="2B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7123176" cy="4398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DejaVu Sans Mono"/>
              </a:rPr>
              <a:t>int characterReplacement(string s, int k) {</a:t>
            </a:r>
            <a:br/>
            <a:r>
              <a:t>    vector&lt;int&gt; freq(26);</a:t>
            </a:r>
            <a:br/>
            <a:r>
              <a:t>    int left = 0, maxFreq = 0, ans = 0;</a:t>
            </a:r>
            <a:br/>
            <a:br/>
            <a:r>
              <a:t>    for (int right = 0; right &lt; s.size(); right++) {</a:t>
            </a:r>
            <a:br/>
            <a:r>
              <a:t>        maxFreq = max(maxFreq, ++freq[s[right] - 'A']);</a:t>
            </a:r>
            <a:br/>
            <a:br/>
            <a:r>
              <a:t>        while ((right - left + 1) - maxFreq &gt; k)</a:t>
            </a:r>
            <a:br/>
            <a:r>
              <a:t>            freq[s[left++] - 'A']--;</a:t>
            </a:r>
            <a:br/>
            <a:br/>
            <a:r>
              <a:t>        ans = max(ans, right - left + 1);</a:t>
            </a:r>
            <a:br/>
            <a:r>
              <a:t>    }</a:t>
            </a:r>
            <a:br/>
            <a:r>
              <a:t>    return ans;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2788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33172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CF5B5B"/>
                </a:solidFill>
                <a:latin typeface="Comic Neue"/>
              </a:rPr>
              <a:t>Window is valid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651760"/>
            <a:ext cx="233172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3232A"/>
                </a:solidFill>
                <a:latin typeface="Comic Neue"/>
              </a:rPr>
              <a:t>window size − maxFreq ≤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977639"/>
            <a:ext cx="23317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5B9169"/>
                </a:solidFill>
                <a:latin typeface="Comic Neue"/>
              </a:rPr>
              <a:t>Time: O(n)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480560"/>
            <a:ext cx="23317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465FB4"/>
                </a:solidFill>
                <a:latin typeface="Comic Neue"/>
              </a:rPr>
              <a:t>Space: O(1)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PROBLEM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LeetCode 567 — Permutation in String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7452360" cy="4617720"/>
          </a:xfrm>
          <a:prstGeom prst="roundRect">
            <a:avLst/>
          </a:prstGeom>
          <a:solidFill>
            <a:srgbClr val="2B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7123176" cy="4398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DejaVu Sans Mono"/>
              </a:rPr>
              <a:t>bool checkInclusion(string p, string s) {</a:t>
            </a:r>
            <a:br/>
            <a:r>
              <a:t>    if (p.size() &gt; s.size()) return false;</a:t>
            </a:r>
            <a:br/>
            <a:br/>
            <a:r>
              <a:t>    vector&lt;int&gt; need(26), win(26);</a:t>
            </a:r>
            <a:br/>
            <a:r>
              <a:t>    for (char c : p) need[c-'a']++;</a:t>
            </a:r>
            <a:br/>
            <a:br/>
            <a:r>
              <a:t>    int k = p.size();</a:t>
            </a:r>
            <a:br/>
            <a:r>
              <a:t>    for (int r = 0; r &lt; s.size(); r++) {</a:t>
            </a:r>
            <a:br/>
            <a:r>
              <a:t>        win[s[r]-'a']++;</a:t>
            </a:r>
            <a:br/>
            <a:br/>
            <a:r>
              <a:t>        if (r &gt;= k)</a:t>
            </a:r>
            <a:br/>
            <a:r>
              <a:t>            win[s[r-k]-'a']--;</a:t>
            </a:r>
            <a:br/>
            <a:br/>
            <a:r>
              <a:t>        if (r &gt;= k-1 &amp;&amp; win == need)</a:t>
            </a:r>
            <a:br/>
            <a:r>
              <a:t>            return true;</a:t>
            </a:r>
            <a:br/>
            <a:r>
              <a:t>    }</a:t>
            </a:r>
            <a:br/>
            <a:r>
              <a:t>    return false;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463040"/>
            <a:ext cx="2788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3317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465FB4"/>
                </a:solidFill>
                <a:latin typeface="Comic Neue"/>
              </a:rPr>
              <a:t>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2286000" cy="18288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A"/>
                </a:solidFill>
                <a:latin typeface="Comic Neue"/>
              </a:defRPr>
            </a:pPr>
            <a:r>
              <a:t>• Fixed size = |p|</a:t>
            </a:r>
          </a:p>
          <a:p>
            <a:pPr>
              <a:spcAft>
                <a:spcPts val="800"/>
              </a:spcAft>
              <a:defRPr sz="1700">
                <a:solidFill>
                  <a:srgbClr val="23232A"/>
                </a:solidFill>
                <a:latin typeface="Comic Neue"/>
              </a:defRPr>
            </a:pPr>
            <a:r>
              <a:t>• Maintain 26 counts</a:t>
            </a:r>
          </a:p>
          <a:p>
            <a:pPr>
              <a:spcAft>
                <a:spcPts val="800"/>
              </a:spcAft>
              <a:defRPr sz="1700">
                <a:solidFill>
                  <a:srgbClr val="23232A"/>
                </a:solidFill>
                <a:latin typeface="Comic Neue"/>
              </a:defRPr>
            </a:pPr>
            <a:r>
              <a:t>• Compare frequencies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892040"/>
            <a:ext cx="228600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92040"/>
            <a:ext cx="228600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Fixed window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PATTERN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Common sliding-window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7"/>
            <a:ext cx="20574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465FB4"/>
                </a:solidFill>
                <a:latin typeface="Comic Neue"/>
              </a:rPr>
              <a:t>Fixed size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664207"/>
            <a:ext cx="29718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3232A"/>
                </a:solidFill>
                <a:latin typeface="Comic Neue"/>
              </a:rPr>
              <a:t>add + remove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64207"/>
            <a:ext cx="40690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3232A"/>
                </a:solidFill>
                <a:latin typeface="Comic Neue"/>
              </a:rPr>
              <a:t>max/min/count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39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20574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5B9169"/>
                </a:solidFill>
                <a:latin typeface="Comic Neue"/>
              </a:rPr>
              <a:t>At most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715768"/>
            <a:ext cx="29718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3232A"/>
                </a:solidFill>
                <a:latin typeface="Comic Neue"/>
              </a:rPr>
              <a:t>expand + shrink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15768"/>
            <a:ext cx="40690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3232A"/>
                </a:solidFill>
                <a:latin typeface="Comic Neue"/>
              </a:rPr>
              <a:t>distinct /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67328"/>
            <a:ext cx="20574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CF5B5B"/>
                </a:solidFill>
                <a:latin typeface="Comic Neue"/>
              </a:rPr>
              <a:t>No repeats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767328"/>
            <a:ext cx="29718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3232A"/>
                </a:solidFill>
                <a:latin typeface="Comic Neue"/>
              </a:rPr>
              <a:t>frequency / last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67328"/>
            <a:ext cx="40690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3232A"/>
                </a:solidFill>
                <a:latin typeface="Comic Neue"/>
              </a:rPr>
              <a:t>longest substring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9159"/>
            <a:ext cx="10515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D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18888"/>
            <a:ext cx="20574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F6D352"/>
                </a:solidFill>
                <a:latin typeface="Comic Neue"/>
              </a:rPr>
              <a:t>Frequency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18888"/>
            <a:ext cx="29718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3232A"/>
                </a:solidFill>
                <a:latin typeface="Comic Neue"/>
              </a:rPr>
              <a:t>count arrays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18888"/>
            <a:ext cx="40690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3232A"/>
                </a:solidFill>
                <a:latin typeface="Comic Neue"/>
              </a:rPr>
              <a:t>permutation/anagram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DEBUG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Common mistakes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36192"/>
            <a:ext cx="502920" cy="384048"/>
          </a:xfrm>
          <a:prstGeom prst="round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36192"/>
            <a:ext cx="502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mic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36192"/>
            <a:ext cx="93268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Forget to remove s[left] when shrinking.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59152"/>
            <a:ext cx="502920" cy="384048"/>
          </a:xfrm>
          <a:prstGeom prst="round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59152"/>
            <a:ext cx="502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mic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59152"/>
            <a:ext cx="93268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Update the answer while the window is still invalid.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82112"/>
            <a:ext cx="502920" cy="384048"/>
          </a:xfrm>
          <a:prstGeom prst="round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82112"/>
            <a:ext cx="502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mic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82112"/>
            <a:ext cx="93268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Let left move backward after a duplicate.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05072"/>
            <a:ext cx="502920" cy="384048"/>
          </a:xfrm>
          <a:prstGeom prst="round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05072"/>
            <a:ext cx="502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mic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05072"/>
            <a:ext cx="93268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Use sliding window for a non-contiguous subsequence problem.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28032"/>
            <a:ext cx="502920" cy="384048"/>
          </a:xfrm>
          <a:prstGeom prst="roundRect">
            <a:avLst/>
          </a:prstGeom>
          <a:solidFill>
            <a:srgbClr val="C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28032"/>
            <a:ext cx="502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mic Neu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28032"/>
            <a:ext cx="93268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Confuse fixed-size and variable-size window logic.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Why many solutions are O(n)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0292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48056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5B9169"/>
                </a:solidFill>
                <a:latin typeface="Comic Neue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448056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23232A"/>
                </a:solidFill>
                <a:latin typeface="Comic Neue"/>
              </a:rPr>
              <a:t>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448056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5A5B64"/>
                </a:solidFill>
                <a:latin typeface="Comic Neue"/>
              </a:rPr>
              <a:t>right moves n times</a:t>
            </a:r>
            <a:br/>
            <a:r>
              <a:t>left also only moves forward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0292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48056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465FB4"/>
                </a:solidFill>
                <a:latin typeface="Comic Neue"/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448056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3100" b="1">
                <a:solidFill>
                  <a:srgbClr val="23232A"/>
                </a:solidFill>
                <a:latin typeface="Comic Neue"/>
              </a:rPr>
              <a:t>O(1) / O(k)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657600"/>
            <a:ext cx="4480560" cy="9144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5A5B64"/>
                </a:solidFill>
                <a:latin typeface="Comic Neue"/>
              </a:rPr>
              <a:t>depends on the alphabet/state</a:t>
            </a:r>
            <a:br/>
            <a:r>
              <a:t>being maintained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Interview Tip — speak the pattern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2971800" cy="74980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08760"/>
            <a:ext cx="274320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3232A"/>
                </a:solidFill>
                <a:latin typeface="Comic Neue"/>
              </a:rPr>
              <a:t>What is my window?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508760"/>
            <a:ext cx="658368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substring [left … right]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60320"/>
            <a:ext cx="2971800" cy="74980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274320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3232A"/>
                </a:solidFill>
                <a:latin typeface="Comic Neue"/>
              </a:rPr>
              <a:t>What state do I maintain?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60320"/>
            <a:ext cx="658368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frequency / count / sum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79"/>
            <a:ext cx="2971800" cy="74980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611879"/>
            <a:ext cx="274320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3232A"/>
                </a:solidFill>
                <a:latin typeface="Comic Neue"/>
              </a:rPr>
              <a:t>When is it invalid?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79"/>
            <a:ext cx="658368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duplicate / too many / mismatch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63440"/>
            <a:ext cx="2971800" cy="74980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63440"/>
            <a:ext cx="274320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3232A"/>
                </a:solidFill>
                <a:latin typeface="Comic Neue"/>
              </a:rPr>
              <a:t>When do I measure?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663440"/>
            <a:ext cx="6583680" cy="7498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3232A"/>
                </a:solidFill>
                <a:latin typeface="Comic Neue"/>
              </a:rPr>
              <a:t>after restoring 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465FB4"/>
                </a:solidFill>
                <a:latin typeface="Comic Neue"/>
              </a:rPr>
              <a:t>If these four answers are clear, the code is usually straightforward.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Key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05613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65960"/>
            <a:ext cx="98298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465FB4"/>
                </a:solidFill>
                <a:latin typeface="Comic Neue"/>
              </a:rPr>
              <a:t>Sliding Window = Two Pointers + Maintained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88920"/>
            <a:ext cx="9235440" cy="19202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Expand with right.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Shrink with left when the rule breaks.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Maintain only the information the window needs.</a:t>
            </a:r>
          </a:p>
          <a:p>
            <a:pPr>
              <a:spcAft>
                <a:spcPts val="800"/>
              </a:spcAft>
              <a:defRPr sz="1800">
                <a:solidFill>
                  <a:srgbClr val="23232A"/>
                </a:solidFill>
                <a:latin typeface="Comic Neue"/>
              </a:defRPr>
            </a:pPr>
            <a:r>
              <a:t>• Measure the answer after the window is valid.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5440680"/>
            <a:ext cx="6217920" cy="384048"/>
          </a:xfrm>
          <a:prstGeom prst="round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5440680"/>
            <a:ext cx="62179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3232A"/>
                </a:solidFill>
                <a:latin typeface="Comic Neue"/>
              </a:rPr>
              <a:t>DON'T RECALCULATE — MAINTAIN &amp; MOVE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3200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65FB4"/>
                </a:solidFill>
                <a:latin typeface="Comic Neue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789920" cy="56692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23232A"/>
                </a:solidFill>
                <a:latin typeface="Comic Neue"/>
              </a:rPr>
              <a:t>Practice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1371600" cy="41148"/>
          </a:xfrm>
          <a:prstGeom prst="rect">
            <a:avLst/>
          </a:prstGeom>
          <a:solidFill>
            <a:srgbClr val="F6D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00" b="1">
                <a:solidFill>
                  <a:srgbClr val="5A5B64"/>
                </a:solidFill>
                <a:latin typeface="Comic Neue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292608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5669280" y="6437376"/>
            <a:ext cx="58978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6032" y="6473952"/>
            <a:ext cx="228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00" b="0">
                <a:solidFill>
                  <a:srgbClr val="5A5B64"/>
                </a:solidFill>
                <a:latin typeface="Comic Neue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6537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5897880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465FB4"/>
                </a:solidFill>
                <a:latin typeface="Comic Neue"/>
              </a:rPr>
              <a:t>Before coding, identify: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5394960" cy="2514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Window</a:t>
            </a:r>
          </a:p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State</a:t>
            </a:r>
          </a:p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Invalid condition</a:t>
            </a:r>
          </a:p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Shrink rule</a:t>
            </a:r>
          </a:p>
          <a:p>
            <a:pPr>
              <a:spcAft>
                <a:spcPts val="800"/>
              </a:spcAft>
              <a:defRPr sz="1900">
                <a:solidFill>
                  <a:srgbClr val="23232A"/>
                </a:solidFill>
                <a:latin typeface="Comic Neue"/>
              </a:defRPr>
            </a:pPr>
            <a:r>
              <a:t>• Answer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3611880" cy="4389120"/>
          </a:xfrm>
          <a:prstGeom prst="roundRect">
            <a:avLst/>
          </a:prstGeom>
          <a:solidFill>
            <a:srgbClr val="F0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920240"/>
            <a:ext cx="278892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23232A"/>
                </a:solidFill>
                <a:latin typeface="Comic Neue"/>
              </a:rPr>
              <a:t>LeetCode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697480"/>
            <a:ext cx="2743200" cy="19202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A"/>
                </a:solidFill>
                <a:latin typeface="Comic Neue"/>
              </a:defRPr>
            </a:pPr>
            <a:r>
              <a:t>• 3 — No Repeats</a:t>
            </a:r>
          </a:p>
          <a:p>
            <a:pPr>
              <a:spcAft>
                <a:spcPts val="800"/>
              </a:spcAft>
              <a:defRPr sz="1600">
                <a:solidFill>
                  <a:srgbClr val="23232A"/>
                </a:solidFill>
                <a:latin typeface="Comic Neue"/>
              </a:defRPr>
            </a:pPr>
            <a:r>
              <a:t>• 424 — Replacement</a:t>
            </a:r>
          </a:p>
          <a:p>
            <a:pPr>
              <a:spcAft>
                <a:spcPts val="800"/>
              </a:spcAft>
              <a:defRPr sz="1600">
                <a:solidFill>
                  <a:srgbClr val="23232A"/>
                </a:solidFill>
                <a:latin typeface="Comic Neue"/>
              </a:defRPr>
            </a:pPr>
            <a:r>
              <a:t>• 567 — Permutation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983480"/>
            <a:ext cx="274320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5B9169"/>
                </a:solidFill>
                <a:latin typeface="Comic Neue"/>
              </a:rPr>
              <a:t>Solve → explain → optimize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201168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465FB4"/>
                </a:solidFill>
                <a:latin typeface="Comic Neue"/>
              </a:rPr>
              <a:t>NEXT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283464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3400" b="1">
                <a:solidFill>
                  <a:srgbClr val="23232A"/>
                </a:solidFill>
                <a:latin typeface="Comic Neue"/>
              </a:rPr>
              <a:t>DAY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6583680" cy="7315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23232A"/>
                </a:solidFill>
                <a:latin typeface="Comic Neue"/>
              </a:rPr>
              <a:t>STRING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6766560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5A5B64"/>
                </a:solidFill>
                <a:latin typeface="Comic Neue"/>
              </a:rPr>
              <a:t>From maintaining windows → to fast lookup and string frequency techniques.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143000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D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26974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23232A"/>
                </a:solidFill>
                <a:latin typeface="Comic Neue"/>
              </a:rPr>
              <a:t>Keep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560320"/>
            <a:ext cx="26974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23232A"/>
                </a:solidFill>
                <a:latin typeface="Comic Neue"/>
              </a:rPr>
              <a:t>Keep solving.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291840"/>
            <a:ext cx="2697480" cy="5029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23232A"/>
                </a:solidFill>
                <a:latin typeface="Comic Neue"/>
              </a:rPr>
              <a:t>Keep learning.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777240" y="6126480"/>
            <a:ext cx="1051560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465FB4"/>
                </a:solidFill>
                <a:latin typeface="Comic Neue"/>
              </a:rPr>
              <a:t>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92240"/>
            <a:ext cx="3657600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A5B64"/>
                </a:solidFill>
                <a:latin typeface="Comic Neue"/>
              </a:rPr>
              <a:t>DSA From Scratch → Advanced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