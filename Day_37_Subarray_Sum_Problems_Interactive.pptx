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etcode.com/problems/subarray-sum-equals-k/" TargetMode="External"/><Relationship Id="rId3" Type="http://schemas.openxmlformats.org/officeDocument/2006/relationships/hyperlink" Target="https://leetcode.com/problems/contiguous-array/" TargetMode="External"/><Relationship Id="rId4" Type="http://schemas.openxmlformats.org/officeDocument/2006/relationships/hyperlink" Target="https://leetcode.com/problems/subarray-sums-divisible-by-k/" TargetMode="External"/><Relationship Id="rId5" Type="http://schemas.openxmlformats.org/officeDocument/2006/relationships/hyperlink" Target="https://github.com/ritesh2687/dsa_ppt_post" TargetMode="External"/><Relationship Id="rId6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F5F5F"/>
                </a:solidFill>
                <a:latin typeface="Comic Sans MS"/>
              </a:rPr>
              <a:t>DSA From Scratch → Advanced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05B48"/>
                </a:solidFill>
                <a:latin typeface="Comic Sans MS"/>
              </a:rPr>
              <a:t>DAY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8046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32323"/>
                </a:solidFill>
                <a:latin typeface="Comic Sans MS"/>
              </a:rPr>
              <a:t>SUBARRAY SUM</a:t>
            </a:r>
            <a:br/>
            <a:r>
              <a:t>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C25246"/>
                </a:solidFill>
                <a:latin typeface="Comic Sans MS"/>
              </a:rPr>
              <a:t>From O(n²) thinking → Prefix Sum + HashMap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417320"/>
            <a:ext cx="2377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1554480"/>
            <a:ext cx="2048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D25B"/>
                </a:solidFill>
                <a:latin typeface="Comic Sans MS"/>
              </a:rPr>
              <a:t>TODAY'S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1947672"/>
            <a:ext cx="204825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Recognize when a running prefix sum can turn a repeated subarray-sum search into a one-pass solution.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5760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36699"/>
                </a:solidFill>
                <a:latin typeface="Comic Sans MS"/>
              </a:rPr>
              <a:t>Click the GitHub link in the footer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What is a Subarray?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Think: contiguous pieces of an array.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463039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SUBARRAY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56231"/>
            <a:ext cx="488289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A subarray is a contiguous sequence of elements taken from an array.</a:t>
            </a:r>
            <a:br/>
            <a:br/>
            <a:r>
              <a:t>Example: [2, 4, 1, 3] → [4, 1] is a subarray.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25880"/>
            <a:ext cx="52120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463039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NOT A SUBARRAY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856231"/>
            <a:ext cx="488289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[2, 1] is not a subarray of [2, 4, 1, 3] because 4 was skipped.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05B48"/>
                </a:solidFill>
                <a:latin typeface="Comic Sans MS"/>
              </a:rPr>
              <a:t>Key rule → contiguous!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70332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36699"/>
                </a:solidFill>
                <a:latin typeface="Comic Sans MS"/>
              </a:rPr>
              <a:t>Number of non-empty subarrays = n(n+1)/2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20" name="TextBox 19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2</a:t>
            </a:r>
          </a:p>
        </p:txBody>
      </p:sp>
      <p:sp>
        <p:nvSpPr>
          <p:cNvPr id="22" name="TextBox 21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Subarray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The target is usually a sum 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Comic Sans MS"/>
              </a:rPr>
              <a:t>For an array A, we want a contiguous range [l … r] such that: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6596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305B48"/>
                </a:solidFill>
                <a:latin typeface="Comic Sans MS"/>
              </a:rPr>
              <a:t>A[l] + A[l+1] + … + A[r] = 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63240"/>
            <a:ext cx="31089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200400"/>
            <a:ext cx="2779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593592"/>
            <a:ext cx="277977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A = [1, 2, 3]</a:t>
            </a:r>
            <a:br/>
            <a:r>
              <a:t>K = 5 → [2, 3]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063240"/>
            <a:ext cx="31089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3200400"/>
            <a:ext cx="2779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593592"/>
            <a:ext cx="277977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How many?</a:t>
            </a:r>
            <a:br/>
            <a:r>
              <a:t>Which range?</a:t>
            </a:r>
            <a:br/>
            <a:r>
              <a:t>Longest range?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063240"/>
            <a:ext cx="31089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3200400"/>
            <a:ext cx="2779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D25B"/>
                </a:solidFill>
                <a:latin typeface="Comic Sans MS"/>
              </a:rPr>
              <a:t>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93592"/>
            <a:ext cx="277977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Repeated range sums</a:t>
            </a:r>
            <a:br/>
            <a:r>
              <a:t>→ Prefix Sum can help.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3</a:t>
            </a:r>
          </a:p>
        </p:txBody>
      </p:sp>
      <p:sp>
        <p:nvSpPr>
          <p:cNvPr id="25" name="TextBox 24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Approach 1 — Brute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Start simple. Then optimize.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258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omic Sans MS"/>
              </a:defRPr>
            </a:pPr>
            <a:r>
              <a:t>• Pick every possible starting index l.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omic Sans MS"/>
              </a:defRPr>
            </a:pPr>
            <a:r>
              <a:t>• Extend r from l to the end while maintaining the running sum.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omic Sans MS"/>
              </a:defRPr>
            </a:pPr>
            <a:r>
              <a:t>• Whenever sum == K, record/count the subarray.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omic Sans MS"/>
              </a:defRPr>
            </a:pPr>
            <a:r>
              <a:t>• Easy to understand, but there can be O(n²) ranges.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417320"/>
            <a:ext cx="32461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554480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MENTAL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1947672"/>
            <a:ext cx="291693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Comic Sans MS"/>
              </a:rPr>
              <a:t>Two loops:</a:t>
            </a:r>
            <a:br/>
            <a:r>
              <a:t>for l</a:t>
            </a:r>
            <a:br/>
            <a:r>
              <a:t>  for r</a:t>
            </a:r>
            <a:br/>
            <a:r>
              <a:t>    add A[r]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703320"/>
            <a:ext cx="32461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3840480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D25B"/>
                </a:solidFill>
                <a:latin typeface="Comic Sans MS"/>
              </a:rPr>
              <a:t>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4233672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Time: O(n²)</a:t>
            </a:r>
            <a:br/>
            <a:r>
              <a:t>Extra space: O(1)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4</a:t>
            </a:r>
          </a:p>
        </p:txBody>
      </p:sp>
      <p:sp>
        <p:nvSpPr>
          <p:cNvPr id="21" name="TextBox 20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Why Prefix Sum?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Turn a range sum into a difference.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258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Define prefix[i] = sum of elements before index 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05B48"/>
                </a:solidFill>
                <a:latin typeface="Comic Sans MS"/>
              </a:rPr>
              <a:t>prefix[0]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92024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36699"/>
                </a:solidFill>
                <a:latin typeface="Comic Sans MS"/>
              </a:rPr>
              <a:t>prefix[i+1] = prefix[i] + A[i]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17520"/>
            <a:ext cx="4754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54679"/>
            <a:ext cx="44256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RANGE 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547872"/>
            <a:ext cx="442569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32323"/>
                </a:solidFill>
                <a:latin typeface="Comic Sans MS"/>
              </a:rPr>
              <a:t>sum(l…r) = prefix[r+1] − prefix[l]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017520"/>
            <a:ext cx="4754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3154679"/>
            <a:ext cx="44256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TARGET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3547872"/>
            <a:ext cx="442569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Need:</a:t>
            </a:r>
            <a:br/>
            <a:r>
              <a:t>prefix[r+1] − prefix[l] = K</a:t>
            </a:r>
            <a:br/>
            <a:r>
              <a:t>⇒ prefix[l] = prefix[r+1] −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5</a:t>
            </a:r>
          </a:p>
        </p:txBody>
      </p:sp>
      <p:sp>
        <p:nvSpPr>
          <p:cNvPr id="23" name="TextBox 22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The HashMap Trick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Store prefix sums we've already seen.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At the current prefix sum P, a previous prefix of P − K means the elements between them sum to K.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HashMap stores: prefix sum → how many times it has appeared.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Initialize freq[0] = 1 so a subarray beginning at index 0 can be counted.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Each element is processed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305B48"/>
                </a:solidFill>
                <a:latin typeface="Comic Sans MS"/>
              </a:rPr>
              <a:t>Core idea: currentPrefix − K must have appeared before.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4" name="TextBox 13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6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Dry Run — [1, 2, 3, -2, 2], K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Watch the prefix sum and the lookup move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640080" cy="594360"/>
          </a:xfrm>
          <a:prstGeom prst="rect">
            <a:avLst/>
          </a:prstGeom>
          <a:solidFill>
            <a:srgbClr val="305B48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545336"/>
            <a:ext cx="585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417320"/>
            <a:ext cx="914400" cy="594360"/>
          </a:xfrm>
          <a:prstGeom prst="rect">
            <a:avLst/>
          </a:prstGeom>
          <a:solidFill>
            <a:srgbClr val="305B48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0472" y="1545336"/>
            <a:ext cx="859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A[i]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417320"/>
            <a:ext cx="1143000" cy="594360"/>
          </a:xfrm>
          <a:prstGeom prst="rect">
            <a:avLst/>
          </a:prstGeom>
          <a:solidFill>
            <a:srgbClr val="305B48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1545336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417320"/>
            <a:ext cx="1965960" cy="594360"/>
          </a:xfrm>
          <a:prstGeom prst="rect">
            <a:avLst/>
          </a:prstGeom>
          <a:solidFill>
            <a:srgbClr val="305B48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545336"/>
            <a:ext cx="1911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need = prefix−K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417320"/>
            <a:ext cx="1417320" cy="594360"/>
          </a:xfrm>
          <a:prstGeom prst="rect">
            <a:avLst/>
          </a:prstGeom>
          <a:solidFill>
            <a:srgbClr val="305B48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2" y="1545336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freq[need]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417320"/>
            <a:ext cx="960120" cy="594360"/>
          </a:xfrm>
          <a:prstGeom prst="rect">
            <a:avLst/>
          </a:prstGeom>
          <a:solidFill>
            <a:srgbClr val="305B48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1545336"/>
            <a:ext cx="905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011680"/>
            <a:ext cx="640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2139696"/>
            <a:ext cx="585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2011680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2139696"/>
            <a:ext cx="859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011680"/>
            <a:ext cx="1143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4872" y="2139696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2011680"/>
            <a:ext cx="1965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2139696"/>
            <a:ext cx="1911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-2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011680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13832" y="2139696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2011680"/>
            <a:ext cx="960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2139696"/>
            <a:ext cx="905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2606040"/>
            <a:ext cx="640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2734056"/>
            <a:ext cx="585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2606040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0472" y="2734056"/>
            <a:ext cx="859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2606040"/>
            <a:ext cx="1143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4872" y="2734056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2606040"/>
            <a:ext cx="1965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7872" y="2734056"/>
            <a:ext cx="1911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2606040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13832" y="2734056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2606040"/>
            <a:ext cx="960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31152" y="2734056"/>
            <a:ext cx="905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200400"/>
            <a:ext cx="640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3328416"/>
            <a:ext cx="585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3200400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90472" y="3328416"/>
            <a:ext cx="859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77440" y="3200400"/>
            <a:ext cx="1143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04872" y="3328416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3200400"/>
            <a:ext cx="1965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47872" y="3328416"/>
            <a:ext cx="1911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3200400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13832" y="3328416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3200400"/>
            <a:ext cx="960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31152" y="3328416"/>
            <a:ext cx="905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" y="3794760"/>
            <a:ext cx="640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3922776"/>
            <a:ext cx="585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63040" y="3794760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3922776"/>
            <a:ext cx="859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-2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7440" y="3794760"/>
            <a:ext cx="1143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04872" y="3922776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40" y="3794760"/>
            <a:ext cx="1965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47872" y="3922776"/>
            <a:ext cx="1911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3794760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13832" y="3922776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3720" y="3794760"/>
            <a:ext cx="960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31152" y="3922776"/>
            <a:ext cx="905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389120"/>
            <a:ext cx="640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0392" y="4517136"/>
            <a:ext cx="585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63040" y="4389120"/>
            <a:ext cx="9144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90472" y="4517136"/>
            <a:ext cx="859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77440" y="4389120"/>
            <a:ext cx="1143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04872" y="4517136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40" y="4389120"/>
            <a:ext cx="1965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47872" y="4517136"/>
            <a:ext cx="1911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4389120"/>
            <a:ext cx="1417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13832" y="4517136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03720" y="4389120"/>
            <a:ext cx="960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2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31152" y="4517136"/>
            <a:ext cx="905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489204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25246"/>
                </a:solidFill>
                <a:latin typeface="Comic Sans MS"/>
              </a:rPr>
              <a:t>At i=1: prefix=3, need=0 → prefix 0 existed once → [1,2] counts.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548640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Comic Sans MS"/>
              </a:rPr>
              <a:t>At i=2: prefix=6, need=3 → [3] and [1,2]? The frequency captures every matching start.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86" name="TextBox 85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7</a:t>
            </a:r>
          </a:p>
        </p:txBody>
      </p:sp>
      <p:sp>
        <p:nvSpPr>
          <p:cNvPr id="88" name="TextBox 87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C++ — Prefix Sum + HashMap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Canonical solution for Count Subarrays With Sum 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234440"/>
            <a:ext cx="10698480" cy="480060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17320"/>
            <a:ext cx="1051560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int subarraySum(vector&lt;int&gt;&amp; nums, int k) {</a:t>
            </a:r>
            <a:br/>
            <a:r>
              <a:t>    unordered_map&lt;int,int&gt; freq;</a:t>
            </a:r>
            <a:br/>
            <a:r>
              <a:t>    freq[0] = 1;</a:t>
            </a:r>
            <a:br/>
            <a:br/>
            <a:r>
              <a:t>    int prefix = 0, ans = 0;</a:t>
            </a:r>
            <a:br/>
            <a:br/>
            <a:r>
              <a:t>    for (int x : nums) {</a:t>
            </a:r>
            <a:br/>
            <a:r>
              <a:t>        prefix += x;</a:t>
            </a:r>
            <a:br/>
            <a:br/>
            <a:r>
              <a:t>        int need = prefix - k;</a:t>
            </a:r>
            <a:br/>
            <a:r>
              <a:t>        if (freq.count(need))</a:t>
            </a:r>
            <a:br/>
            <a:r>
              <a:t>            ans += freq[need];</a:t>
            </a:r>
            <a:br/>
            <a:br/>
            <a:r>
              <a:t>        freq[prefix]++;</a:t>
            </a:r>
            <a:br/>
            <a:r>
              <a:t>    }</a:t>
            </a:r>
            <a:br/>
            <a:br/>
            <a:r>
              <a:t>    return ans;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4" name="TextBox 13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8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Why freq[0] = 1?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This tiny line prevents a common bug.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05B48"/>
                </a:solidFill>
                <a:latin typeface="Comic Sans MS"/>
              </a:rPr>
              <a:t>nums = [3, 1],  K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At i = 0 → prefix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need = 3 − 3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25246"/>
                </a:solidFill>
                <a:latin typeface="Comic Sans MS"/>
              </a:rPr>
              <a:t>If prefix 0 is stored, [3] is counted.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42976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554480"/>
            <a:ext cx="3968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D25B"/>
                </a:solidFill>
                <a:latin typeface="Comic Sans MS"/>
              </a:rPr>
              <a:t>INITIAL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947672"/>
            <a:ext cx="396849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freq[0] = 1</a:t>
            </a:r>
            <a:br/>
            <a:br/>
            <a:r>
              <a:t>It represents the empty prefix before the array starts.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5196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5B48"/>
                </a:solidFill>
                <a:latin typeface="Comic Sans MS"/>
              </a:rPr>
              <a:t>Think: “sum 0 has occurred once before index 0.”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20" name="TextBox 19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9</a:t>
            </a:r>
          </a:p>
        </p:txBody>
      </p:sp>
      <p:sp>
        <p:nvSpPr>
          <p:cNvPr id="22" name="TextBox 21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Complexity — Brute Force vs HashMap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Know what optimization actually 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417320"/>
            <a:ext cx="507492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554480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BRUTE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947672"/>
            <a:ext cx="4745736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Time: O(n²)</a:t>
            </a:r>
            <a:br/>
            <a:r>
              <a:t>Space: O(1)</a:t>
            </a:r>
            <a:br/>
            <a:br/>
            <a:r>
              <a:t>Great baseline, too slow for large 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07492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554480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PREFIX + HASHMAP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947672"/>
            <a:ext cx="4745736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Average time: O(n)</a:t>
            </a:r>
            <a:br/>
            <a:r>
              <a:t>Space: O(n)</a:t>
            </a:r>
            <a:br/>
            <a:br/>
            <a:r>
              <a:t>One pass + stored prefix frequencies.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36699"/>
                </a:solidFill>
                <a:latin typeface="Comic Sans MS"/>
              </a:rPr>
              <a:t>Trade-off: more memory → much faster lookup.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10</a:t>
            </a:r>
          </a:p>
        </p:txBody>
      </p:sp>
      <p:sp>
        <p:nvSpPr>
          <p:cNvPr id="21" name="TextBox 20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When Does This Pattern Work?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A quick pattern-recognition checklist.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Problem asks for subarray / contiguous range.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Need a target sum K, count, or existence check.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Numbers may include negative values → sliding window may fail.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Prefix sum converts “range sum” into “difference of two prefixes.”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HashMap makes the “have we seen P − K?” lookup fast.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5074920"/>
            <a:ext cx="36576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5212080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D25B"/>
                </a:solidFill>
                <a:latin typeface="Comic Sans MS"/>
              </a:rPr>
              <a:t>TRIGGER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5605272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Comic Sans MS"/>
              </a:rPr>
              <a:t>subarray • contiguous • sum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6" name="TextBox 15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11</a:t>
            </a:r>
          </a:p>
        </p:txBody>
      </p:sp>
      <p:sp>
        <p:nvSpPr>
          <p:cNvPr id="18" name="TextBox 17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Common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These are the bugs worth remembering.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33832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463039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56231"/>
            <a:ext cx="305409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Forgetting freq[0] 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463039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856231"/>
            <a:ext cx="305409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Updating freq before checking need can change the count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3832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63039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856231"/>
            <a:ext cx="305409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Using int blindly when constraints require a wider prefix sum 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33832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794760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D25B"/>
                </a:solidFill>
                <a:latin typeface="Comic Sans M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187952"/>
            <a:ext cx="305409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Confusing subarray with subsequence.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57600"/>
            <a:ext cx="33832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794760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187952"/>
            <a:ext cx="305409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Assuming sliding window works with arbitrary negative numbers.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657600"/>
            <a:ext cx="33832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3794760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4187952"/>
            <a:ext cx="3054096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Mixing up “count” vs “find one range” versions.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30" name="TextBox 29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12</a:t>
            </a:r>
          </a:p>
        </p:txBody>
      </p:sp>
      <p:sp>
        <p:nvSpPr>
          <p:cNvPr id="32" name="TextBox 31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Quick Check — Pause &amp; 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Interactive checkpoint: choose A, B, or C before revealing.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6400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05B48"/>
                </a:solidFill>
                <a:latin typeface="Comic Sans MS"/>
              </a:rPr>
              <a:t>For nums = [1, 2, 1], K = 3,</a:t>
            </a:r>
            <a:br/>
            <a:r>
              <a:t>how many subarrays have sum 3?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234440"/>
            <a:ext cx="28346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371600"/>
            <a:ext cx="25054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1764792"/>
            <a:ext cx="2505456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468880"/>
            <a:ext cx="28346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606040"/>
            <a:ext cx="25054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999232"/>
            <a:ext cx="2505456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703320"/>
            <a:ext cx="28346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840480"/>
            <a:ext cx="25054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4233672"/>
            <a:ext cx="2505456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323"/>
                </a:solidFill>
                <a:latin typeface="Comic Sans M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5F5F5F"/>
                </a:solidFill>
                <a:latin typeface="Comic Sans MS"/>
              </a:rPr>
              <a:t>Hint: list the contiguous ranges instead of guessing.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52120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36699"/>
                </a:solidFill>
                <a:latin typeface="Arial"/>
              </a:rPr>
              <a:t>Answer on the next slide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24" name="TextBox 23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13</a:t>
            </a:r>
          </a:p>
        </p:txBody>
      </p:sp>
      <p:sp>
        <p:nvSpPr>
          <p:cNvPr id="26" name="TextBox 25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Quick Check — Reveal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The answer is B =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[1, 2]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[2, 1]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25246"/>
                </a:solidFill>
                <a:latin typeface="Comic Sans MS"/>
              </a:rPr>
              <a:t>[1, 2, 1] = 4  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42976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600200"/>
            <a:ext cx="3968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WHAT THE HASHMAP SEES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993392"/>
            <a:ext cx="3968496" cy="1444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At prefix = 3, need = 0.</a:t>
            </a:r>
            <a:br/>
            <a:r>
              <a:t>At prefix = 4, need = 1.</a:t>
            </a:r>
            <a:br/>
            <a:r>
              <a:t>The repeated prefix relationships count the ranges.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D25B"/>
                </a:solidFill>
                <a:latin typeface="Comic Sans MS"/>
              </a:rPr>
              <a:t>Interactive idea: explain the two valid ranges out loud.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14</a:t>
            </a:r>
          </a:p>
        </p:txBody>
      </p:sp>
      <p:sp>
        <p:nvSpPr>
          <p:cNvPr id="21" name="TextBox 20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Interview / LeetCode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Try these after understanding the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234440"/>
            <a:ext cx="10561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371600"/>
            <a:ext cx="10232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LeetCode 560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764792"/>
            <a:ext cx="102321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Subarray Sum Equals K</a:t>
            </a:r>
            <a:br/>
            <a:r>
              <a:t>Count subarrays whose sum equals K.</a:t>
            </a:r>
          </a:p>
        </p:txBody>
      </p:sp>
      <p:sp>
        <p:nvSpPr>
          <p:cNvPr id="14" name="TextBox 13">
            <a:hlinkClick r:id="rId2"/>
          </p:cNvPr>
          <p:cNvSpPr txBox="1"/>
          <p:nvPr/>
        </p:nvSpPr>
        <p:spPr>
          <a:xfrm>
            <a:off x="9875520" y="164592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36699"/>
                </a:solidFill>
                <a:latin typeface="Arial"/>
              </a:rPr>
              <a:t>Open problem 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51760"/>
            <a:ext cx="10561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788920"/>
            <a:ext cx="10232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LeetCode 525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182112"/>
            <a:ext cx="102321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Contiguous Array</a:t>
            </a:r>
            <a:br/>
            <a:r>
              <a:t>Prefix-balance idea for equal 0s and 1s.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9875520" y="306324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36699"/>
                </a:solidFill>
                <a:latin typeface="Arial"/>
              </a:rPr>
              <a:t>Open problem 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105613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206240"/>
            <a:ext cx="10232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LeetCode 974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599432"/>
            <a:ext cx="102321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mic Sans MS"/>
              </a:rPr>
              <a:t>Subarray Sums Divisible by K</a:t>
            </a:r>
            <a:br/>
            <a:r>
              <a:t>Use prefix remainder frequencies.</a:t>
            </a:r>
          </a:p>
        </p:txBody>
      </p:sp>
      <p:sp>
        <p:nvSpPr>
          <p:cNvPr id="22" name="TextBox 21">
            <a:hlinkClick r:id="rId4"/>
          </p:cNvPr>
          <p:cNvSpPr txBox="1"/>
          <p:nvPr/>
        </p:nvSpPr>
        <p:spPr>
          <a:xfrm>
            <a:off x="9875520" y="448056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36699"/>
                </a:solidFill>
                <a:latin typeface="Arial"/>
              </a:rPr>
              <a:t>Open problem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15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A Small but Important Distinction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Count vs find vs longest.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33832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63039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48"/>
                </a:solidFill>
                <a:latin typeface="Comic Sans MS"/>
              </a:rPr>
              <a:t>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856231"/>
            <a:ext cx="3054096" cy="2450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Store frequency.</a:t>
            </a:r>
            <a:br/>
            <a:br/>
            <a:r>
              <a:t>ans += freq[prefix-k]</a:t>
            </a:r>
            <a:br/>
            <a:br/>
            <a:r>
              <a:t>Multiple previous prefixes may match.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463039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FIND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856231"/>
            <a:ext cx="3054096" cy="2450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Store an index for each prefix.</a:t>
            </a:r>
            <a:br/>
            <a:br/>
            <a:r>
              <a:t>Usually keep the earliest index when you want a longest range.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3832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463039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25246"/>
                </a:solidFill>
                <a:latin typeface="Comic Sans MS"/>
              </a:rPr>
              <a:t>LONGEST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856231"/>
            <a:ext cx="3054096" cy="2450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Use prefix → earliest index.</a:t>
            </a:r>
            <a:br/>
            <a:br/>
            <a:r>
              <a:t>Current index − earliest matching index gives length.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05B48"/>
                </a:solidFill>
                <a:latin typeface="Comic Sans MS"/>
              </a:rPr>
              <a:t>Same prefix-sum backbone. The stored value changes with the question.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22" name="TextBox 21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16</a:t>
            </a:r>
          </a:p>
        </p:txBody>
      </p:sp>
      <p:sp>
        <p:nvSpPr>
          <p:cNvPr id="24" name="TextBox 23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05B48"/>
                </a:solidFill>
                <a:latin typeface="Comic Sans MS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8686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Comic Sans MS"/>
              </a:rPr>
              <a:t>Write these five lines in your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258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omic Sans MS"/>
              </a:defRPr>
            </a:pPr>
            <a:r>
              <a:t>• Subarray = contiguous part of an array.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omic Sans MS"/>
              </a:defRPr>
            </a:pPr>
            <a:r>
              <a:t>• Prefix sum turns a range sum into a difference.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omic Sans MS"/>
              </a:defRPr>
            </a:pPr>
            <a:r>
              <a:t>• For target K: look for previous prefix = currentPrefix − K.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omic Sans MS"/>
              </a:defRPr>
            </a:pPr>
            <a:r>
              <a:t>• HashMap stores prefix frequencies for average O(1) lookup.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  <a:latin typeface="Comic Sans MS"/>
              </a:defRPr>
            </a:pPr>
            <a:r>
              <a:t>• With negative numbers, prefix sum + HashMap is often the key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C25246"/>
                </a:solidFill>
                <a:latin typeface="Comic Sans MS"/>
              </a:rPr>
              <a:t>Pattern to remember:  PREFIX + MAP  →  SUBARRAY 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4" name="TextBox 13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17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515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8288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60604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6052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55680" cy="7315"/>
          </a:xfrm>
          <a:prstGeom prst="rect">
            <a:avLst/>
          </a:prstGeom>
          <a:solidFill>
            <a:srgbClr val="E1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144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05B48"/>
                </a:solidFill>
                <a:latin typeface="Comic Sans MS"/>
              </a:rPr>
              <a:t>DAY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F5F5F"/>
                </a:solidFill>
                <a:latin typeface="Comic Sans MS"/>
              </a:rPr>
              <a:t>NEXT UP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6766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323"/>
                </a:solidFill>
                <a:latin typeface="Comic Sans MS"/>
              </a:rPr>
              <a:t>LONGEST SUBARRAY</a:t>
            </a:r>
            <a:br/>
            <a:r>
              <a:t>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325880"/>
            <a:ext cx="30175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463039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6699"/>
                </a:solidFill>
                <a:latin typeface="Comic Sans MS"/>
              </a:rPr>
              <a:t>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1856231"/>
            <a:ext cx="268833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Comic Sans MS"/>
              </a:rPr>
              <a:t>How prefix information helps find the longest valid range.</a:t>
            </a:r>
            <a:br/>
            <a:br/>
            <a:r>
              <a:t>We’ll focus on “store the earliest index” and why it matters.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05B48"/>
                </a:solidFill>
                <a:latin typeface="Comic Sans MS"/>
              </a:rPr>
              <a:t>Keep learning. Keep solving. Keep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36699"/>
                </a:solidFill>
                <a:latin typeface="Arial"/>
              </a:rPr>
              <a:t>https://github.com/ritesh2687/dsa_ppt_post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Arial"/>
              </a:rPr>
              <a:t>DAY 37  •  DSA From Scratch → Advanced</a:t>
            </a:r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6400800" y="641908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36699"/>
                </a:solidFill>
                <a:latin typeface="Arial"/>
              </a:rPr>
              <a:t>GitHub: https://github.com/ritesh2687/dsa_ppt_post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320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Arial"/>
              </a:rPr>
              <a:t>18</a:t>
            </a:r>
          </a:p>
        </p:txBody>
      </p:sp>
      <p:sp>
        <p:nvSpPr>
          <p:cNvPr id="20" name="TextBox 19">
            <a:hlinkClick action="ppaction://hlinksldjump" r:id="rId3"/>
          </p:cNvPr>
          <p:cNvSpPr txBox="1"/>
          <p:nvPr/>
        </p:nvSpPr>
        <p:spPr>
          <a:xfrm>
            <a:off x="320040" y="2743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05B48"/>
                </a:solidFill>
                <a:latin typeface="Arial"/>
              </a:rPr>
              <a:t>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