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DAY 29 — SUBSTRINGS &amp; SUBSEQUENCES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Two ways to choose pieces of a string — and why the difference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0586E"/>
                </a:solidFill>
                <a:latin typeface="Comic Sans MS"/>
              </a:rPr>
              <a:t>“Same characters. Different rules.”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475488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586E"/>
                </a:solidFill>
                <a:latin typeface="Comic Sans MS"/>
              </a:rPr>
              <a:t>SUBSTRING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74720"/>
            <a:ext cx="4114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62B"/>
                </a:solidFill>
                <a:latin typeface="Comic Sans MS"/>
              </a:rPr>
              <a:t>Characters stay
CONTIGUOUS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475488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971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586E"/>
                </a:solidFill>
                <a:latin typeface="Comic Sans MS"/>
              </a:rPr>
              <a:t>SUBSEQUENCE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74720"/>
            <a:ext cx="4114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62B"/>
                </a:solidFill>
                <a:latin typeface="Comic Sans MS"/>
              </a:rPr>
              <a:t>Order stays
IN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01  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Start with one question: must chosen characters touch each other?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29768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586E"/>
                </a:solidFill>
                <a:latin typeface="Comic Sans MS"/>
              </a:rPr>
              <a:t>SUBSTRING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62B"/>
                </a:solidFill>
                <a:latin typeface="Comic Sans MS"/>
              </a:rPr>
              <a:t>A substring is a contiguous part of a string.
s =  a  b  c  d 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262B"/>
                </a:solidFill>
                <a:latin typeface="Comic Sans MS"/>
              </a:rPr>
              <a:t>Examples:  “bcd”, “abc”, 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62B"/>
                </a:solidFill>
                <a:latin typeface="Comic Sans MS"/>
              </a:rPr>
              <a:t>Gap allowed? 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212080" cy="429768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0586E"/>
                </a:solidFill>
                <a:latin typeface="Comic Sans MS"/>
              </a:rPr>
              <a:t>SUBSEQUENCE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2316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3262B"/>
                </a:solidFill>
                <a:latin typeface="Comic Sans MS"/>
              </a:rPr>
              <a:t>Pick or skip characters,
but never change their order.
s =  a  b  c  d 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3262B"/>
                </a:solidFill>
                <a:latin typeface="Comic Sans MS"/>
              </a:rPr>
              <a:t>Examples:  “ace”, “bd”, “abcde”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54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62B"/>
                </a:solidFill>
                <a:latin typeface="Comic Sans MS"/>
              </a:rPr>
              <a:t>Gap allowed? 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02  One string, two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Use “abcde” to see the distinction instantly.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40586E"/>
                </a:solidFill>
                <a:latin typeface="Consolas"/>
              </a:rPr>
              <a:t>a  b  c  d 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5120640" cy="256032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62B"/>
                </a:solidFill>
                <a:latin typeface="Comic Sans MS"/>
              </a:rPr>
              <a:t>Substring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3262B"/>
                </a:solidFill>
                <a:latin typeface="Comic Sans MS"/>
              </a:rPr>
              <a:t>“bcd”  ✓
“ace”  ✗  (not contiguous)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77440"/>
            <a:ext cx="512064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62B"/>
                </a:solidFill>
                <a:latin typeface="Comic Sans MS"/>
              </a:rPr>
              <a:t>Subsequence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4612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3262B"/>
                </a:solidFill>
                <a:latin typeface="Comic Sans MS"/>
              </a:rPr>
              <a:t>“bcd”  ✓
“ace”  ✓  (order preserved)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96C70"/>
                </a:solidFill>
                <a:latin typeface="Comic Sans MS"/>
              </a:rPr>
              <a:t>Memory hook → substring = slice • subsequence = skip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03  Quick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A compact interview reference.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20040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27631"/>
            <a:ext cx="2980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62B"/>
                </a:solidFill>
                <a:latin typeface="Aptos"/>
              </a:rPr>
              <a:t>Contiguous?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508760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627631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62B"/>
                </a:solidFill>
                <a:latin typeface="Aptos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508760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7" y="1627631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62B"/>
                </a:solidFill>
                <a:latin typeface="Aptos"/>
              </a:rP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13432"/>
            <a:ext cx="320040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432303"/>
            <a:ext cx="2980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Order preserved?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313432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2432303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313432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432303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18104"/>
            <a:ext cx="320040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36976"/>
            <a:ext cx="2980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Can skip chars?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118104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1648" y="3236976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118104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7" y="3236976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22776"/>
            <a:ext cx="320040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041648"/>
            <a:ext cx="2980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Count from length 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922776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1648" y="4041648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n(n+1)/2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922776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7" y="4041648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2ⁿ subsequences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27448"/>
            <a:ext cx="320040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46320"/>
            <a:ext cx="298094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Typical tools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4727448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4846320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two pointers / windows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727448"/>
            <a:ext cx="3474720" cy="685800"/>
          </a:xfrm>
          <a:prstGeom prst="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7" y="4846320"/>
            <a:ext cx="325526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62B"/>
                </a:solidFill>
                <a:latin typeface="Aptos"/>
              </a:rPr>
              <a:t>two pointers / DP / backtracking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586E"/>
                </a:solidFill>
                <a:latin typeface="Comic Sans MS"/>
              </a:rPr>
              <a:t>The key difference is not “what characters exist” — it is how they are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04  How many substrings?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Every pair (L, R) defines one non-empty contiguous slice.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0586E"/>
                </a:solidFill>
                <a:latin typeface="Consolas"/>
              </a:rPr>
              <a:t>s =  a   b   c  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23262B"/>
                </a:solidFill>
                <a:latin typeface="Comic Sans MS"/>
              </a:rPr>
              <a:t>Start positions: 4 choices
End positions after start: 4 + 3 + 2 + 1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3657600"/>
            <a:ext cx="8138160" cy="109728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3968496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262B"/>
                </a:solidFill>
                <a:latin typeface="Consolas"/>
              </a:rPr>
              <a:t>Total = n + (n−1) + … + 1 = n(n+1)/2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96C70"/>
                </a:solidFill>
                <a:latin typeface="Aptos"/>
              </a:rPr>
              <a:t>So generating ALL substrings is already O(n²)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05  Generate substrings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Two loops choose the left and right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6035040" cy="3566160"/>
          </a:xfrm>
          <a:prstGeom prst="roundRect">
            <a:avLst/>
          </a:prstGeom>
          <a:solidFill>
            <a:srgbClr val="F2F2EE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5669279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62B"/>
                </a:solidFill>
                <a:latin typeface="Consolas"/>
              </a:rPr>
              <a:t>string s = "abcd";
for (int L = 0; L &lt; s.size(); L++) {
    for (int R = L; R &lt; s.size(); R++) {
        cout &lt;&lt; s.substr(L, R - L + 1) &lt;&lt; "\n";
    }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508760"/>
            <a:ext cx="4297680" cy="35661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586E"/>
                </a:solidFill>
                <a:latin typeface="Comic Sans MS"/>
              </a:rPr>
              <a:t>Dry run: “abc”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2316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L=0 → a, ab, abc
L=1 → b, bc
L=2 →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16052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96C70"/>
                </a:solidFill>
                <a:latin typeface="Comic Sans MS"/>
              </a:rPr>
              <a:t>Note: substr() copies characters.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06  Subsequences = choose / skip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At each character: include it OR leave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40586E"/>
                </a:solidFill>
                <a:latin typeface="Consolas"/>
              </a:rPr>
              <a:t>abc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40280"/>
            <a:ext cx="1014984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3262B"/>
                </a:solidFill>
                <a:latin typeface="Comic Sans MS"/>
              </a:rPr>
              <a:t>                   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40586E"/>
                </a:solidFill>
                <a:latin typeface="Consolas"/>
              </a:rPr>
              <a:t>             /          \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3756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62B"/>
                </a:solidFill>
                <a:latin typeface="Comic Sans MS"/>
              </a:rPr>
              <a:t>          take a       skip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77639"/>
            <a:ext cx="9052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96C70"/>
                </a:solidFill>
                <a:latin typeface="Aptos"/>
              </a:rPr>
              <a:t>Then repeat the same decision for b, then 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262B"/>
                </a:solidFill>
                <a:latin typeface="Aptos"/>
              </a:rPr>
              <a:t>Count: 2ⁿ total subsequences (including empty).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07  C++: generate all subsequences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Backtracking makes the include/skip decision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766560" cy="4434840"/>
          </a:xfrm>
          <a:prstGeom prst="roundRect">
            <a:avLst/>
          </a:prstGeom>
          <a:solidFill>
            <a:srgbClr val="F2F2EE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54480"/>
            <a:ext cx="640080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62B"/>
                </a:solidFill>
                <a:latin typeface="Consolas"/>
              </a:rPr>
              <a:t>void gen(int i, string &amp;s, string &amp;cur) {
    if (i == s.size()) {
        cout &lt;&lt; cur &lt;&lt; "\n";
        return;
    }
    // take
    cur.push_back(s[i]);
    gen(i + 1, s, cur);
    // skip
    cur.pop_back();
    gen(i + 1, s, cur);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17320"/>
            <a:ext cx="3749039" cy="443484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3262B"/>
                </a:solidFill>
                <a:latin typeface="Comic Sans MS"/>
              </a:rPr>
              <a:t>1. Choose
2. Recurse
3. Undo
4. Skip
5. Recurse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9834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96C70"/>
                </a:solidFill>
                <a:latin typeface="Comic Sans MS"/>
              </a:rPr>
              <a:t>“Undo” = backtracking.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08  Complexity — don’t confuse output with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Generation cost depends on how much you actually 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0233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ALL SUBSTRINGS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663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Number: O(n²)
If you only enumerate boundaries:
O(n²)
If you copy every substring:
O(n³) worst-case total characters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40233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ALL SUBSEQUENCES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663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Number: 2ⁿ
Generating them:
O(2ⁿ)
If storing each sequence,
space can also become exponential.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0586E"/>
                </a:solidFill>
                <a:latin typeface="Aptos"/>
              </a:rPr>
              <a:t>Interview habit: state whether you are counting, generating, or storing.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09  Common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Once you identify the object, the technique becomes easier to choose.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103120" cy="10515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586E"/>
                </a:solidFill>
                <a:latin typeface="Comic Sans MS"/>
              </a:rPr>
              <a:t>Substring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417320"/>
            <a:ext cx="274320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262B"/>
                </a:solidFill>
                <a:latin typeface="Aptos"/>
              </a:rPr>
              <a:t>contiguous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417320"/>
            <a:ext cx="52120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3262B"/>
                </a:solidFill>
                <a:latin typeface="Aptos"/>
              </a:rPr>
              <a:t>Sliding Window • Prefix Sum • Hashing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2103120" cy="10515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586E"/>
                </a:solidFill>
                <a:latin typeface="Comic Sans MS"/>
              </a:rPr>
              <a:t>Subsequence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834640"/>
            <a:ext cx="274320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108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262B"/>
                </a:solidFill>
                <a:latin typeface="Aptos"/>
              </a:rPr>
              <a:t>ordered, gaps allowed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834640"/>
            <a:ext cx="52120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3262B"/>
                </a:solidFill>
                <a:latin typeface="Aptos"/>
              </a:rPr>
              <a:t>Two Pointers • DP • Greedy • Backtracking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2103120" cy="10515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586E"/>
                </a:solidFill>
                <a:latin typeface="Comic Sans MS"/>
              </a:rPr>
              <a:t>Subarray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251960"/>
            <a:ext cx="274320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262B"/>
                </a:solidFill>
                <a:latin typeface="Aptos"/>
              </a:rPr>
              <a:t>array version of substring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251960"/>
            <a:ext cx="5212080" cy="10515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5262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3262B"/>
                </a:solidFill>
                <a:latin typeface="Aptos"/>
              </a:rPr>
              <a:t>Sliding Window • Prefix Sum • Kadane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96C70"/>
                </a:solidFill>
                <a:latin typeface="Aptos"/>
              </a:rPr>
              <a:t>Pattern recognition &gt; memorizing isolated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10  Problem 1 — Longest Substring Without Repeating Characters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LeetCode 3 • classic sliding-window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4114800" cy="420624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3474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62B"/>
                </a:solidFill>
                <a:latin typeface="Comic Sans MS"/>
              </a:rPr>
              <a:t>• Expand right.
• If a duplicate appears, move left.
• Track the best window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Example: “abcabcbb” →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417320"/>
            <a:ext cx="6217920" cy="4206240"/>
          </a:xfrm>
          <a:prstGeom prst="roundRect">
            <a:avLst/>
          </a:prstGeom>
          <a:solidFill>
            <a:srgbClr val="F2F2EE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554480"/>
            <a:ext cx="5852159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62B"/>
                </a:solidFill>
                <a:latin typeface="Consolas"/>
              </a:rPr>
              <a:t>int left = 0, ans = 0;
unordered_set&lt;char&gt; st;
for (int right = 0; right &lt; s.size(); right++) {
    while (st.count(s[right])) {
        st.erase(s[left++]);
    }
    st.insert(s[right]);
    ans = max(ans, right - left + 1);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57150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0586E"/>
                </a:solidFill>
                <a:latin typeface="Aptos"/>
              </a:rPr>
              <a:t>Time O(n) • Space O(min(n, charset))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11  Problem 2 — Is Subsequence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LeetCode 392 • two pointers, because order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4206240" cy="416052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3566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s = “abc”
t = “ahbgdc”
Match a character → advance both.
Mismatch → advance only 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62B"/>
                </a:solidFill>
                <a:latin typeface="Comic Sans MS"/>
              </a:rPr>
              <a:t>Answer: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417320"/>
            <a:ext cx="6126480" cy="3200400"/>
          </a:xfrm>
          <a:prstGeom prst="roundRect">
            <a:avLst/>
          </a:prstGeom>
          <a:solidFill>
            <a:srgbClr val="F2F2EE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554480"/>
            <a:ext cx="5760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62B"/>
                </a:solidFill>
                <a:latin typeface="Consolas"/>
              </a:rPr>
              <a:t>int i = 0;
for (char c : t) {
    if (i &lt; s.size() &amp;&amp; s[i] == c)
        i++;
}
return i == s.size();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749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0586E"/>
                </a:solidFill>
                <a:latin typeface="Aptos"/>
              </a:rPr>
              <a:t>Time O(|t|) • Space O(1)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12  Problem 3 — Longest Palindromic Substring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LeetCode 5 • every palindrome is a substring; expand around a center.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4754880" cy="42519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0586E"/>
                </a:solidFill>
                <a:latin typeface="Comic Sans MS"/>
              </a:rPr>
              <a:t>Pattern: Expand Around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023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62B"/>
                </a:solidFill>
                <a:latin typeface="Comic Sans MS"/>
              </a:rPr>
              <a:t>For each index:
• odd center: (i, i)
• even center: (i, i+1)
Expand while characters match.
Keep the longest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417320"/>
            <a:ext cx="5577840" cy="3108960"/>
          </a:xfrm>
          <a:prstGeom prst="roundRect">
            <a:avLst/>
          </a:prstGeom>
          <a:solidFill>
            <a:srgbClr val="F2F2EE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554480"/>
            <a:ext cx="5212079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62B"/>
                </a:solidFill>
                <a:latin typeface="Consolas"/>
              </a:rPr>
              <a:t>int expand(string &amp;s, int l, int r) {
    while (l &gt;= 0 &amp;&amp; r &lt; s.size()
           &amp;&amp; s[l] == s[r]) {
        l--; r++;
    }
    return r - l - 1;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92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0586E"/>
                </a:solidFill>
                <a:latin typeface="Aptos"/>
              </a:rPr>
              <a:t>Time O(n²) • Space O(1)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13  A tiny dry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Let’s test substring vs subsequence thinking before coding.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0586E"/>
                </a:solidFill>
                <a:latin typeface="Consolas"/>
              </a:rPr>
              <a:t>s = “abcde”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5029200" cy="26517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586E"/>
                </a:solidFill>
                <a:latin typeface="Comic Sans MS"/>
              </a:rPr>
              <a:t>Question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Is “bcd” a substring?
YES — positions 1..3 touch.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029200" cy="265176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0586E"/>
                </a:solidFill>
                <a:latin typeface="Comic Sans MS"/>
              </a:rPr>
              <a:t>Question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3262B"/>
                </a:solidFill>
                <a:latin typeface="Comic Sans MS"/>
              </a:rPr>
              <a:t>Is “ace” a subsequence?
YES — skip b and d, keep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696C70"/>
                </a:solidFill>
                <a:latin typeface="Aptos"/>
              </a:rPr>
              <a:t>Fast check → “Can I delete characters without changing the order?”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14  Interview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Before writing code, classify the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94360" cy="5943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35607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586E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533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What is being selected?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35331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C70"/>
                </a:solidFill>
                <a:latin typeface="Aptos"/>
              </a:rPr>
              <a:t>contiguous → substring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594360" cy="5943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68296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586E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85999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Can characters be skipped?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85999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C70"/>
                </a:solidFill>
                <a:latin typeface="Aptos"/>
              </a:rPr>
              <a:t>yes → subsequence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594360" cy="5943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00984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586E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186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Does order matter?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1868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C70"/>
                </a:solidFill>
                <a:latin typeface="Aptos"/>
              </a:rPr>
              <a:t>usually yes for subsequence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23944"/>
            <a:ext cx="594360" cy="5943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33672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586E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51376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Do I need ALL possibilities?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151376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C70"/>
                </a:solidFill>
                <a:latin typeface="Aptos"/>
              </a:rPr>
              <a:t>watch for O(n²) / O(2ⁿ)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56632"/>
            <a:ext cx="594360" cy="59436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16636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586E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84064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62B"/>
                </a:solidFill>
                <a:latin typeface="Comic Sans MS"/>
              </a:rPr>
              <a:t>Can I optimize the search?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0840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6C70"/>
                </a:solidFill>
                <a:latin typeface="Aptos"/>
              </a:rPr>
              <a:t>window / pointers / 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40586E"/>
                </a:solidFill>
                <a:latin typeface="Aptos"/>
              </a:rPr>
              <a:t>Tip: Don’t jump to DP just because you hear “subsequence.” First inspect the constraints.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15 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These are small wording errors that become big bugs.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04646"/>
                </a:solidFill>
                <a:latin typeface="Aptos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71600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23262B"/>
                </a:solidFill>
                <a:latin typeface="Comic Sans MS"/>
              </a:rPr>
              <a:t>Calling “ace” a substring of “abcde”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C70"/>
                </a:solidFill>
                <a:latin typeface="Aptos"/>
              </a:rPr>
              <a:t>→ It is a subsequence, not contiguous.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219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04646"/>
                </a:solidFill>
                <a:latin typeface="Aptos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1992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23262B"/>
                </a:solidFill>
                <a:latin typeface="Comic Sans MS"/>
              </a:rPr>
              <a:t>Forgetting the empty subsequence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21992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C70"/>
                </a:solidFill>
                <a:latin typeface="Aptos"/>
              </a:rPr>
              <a:t>→ There are 2ⁿ total if empty is included.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7238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04646"/>
                </a:solidFill>
                <a:latin typeface="Aptos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72384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23262B"/>
                </a:solidFill>
                <a:latin typeface="Comic Sans MS"/>
              </a:rPr>
              <a:t>Using O(2ⁿ) when n is 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72384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C70"/>
                </a:solidFill>
                <a:latin typeface="Aptos"/>
              </a:rPr>
              <a:t>→ Look for DP / greedy / two-pointer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227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04646"/>
                </a:solidFill>
                <a:latin typeface="Apto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22776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23262B"/>
                </a:solidFill>
                <a:latin typeface="Comic Sans MS"/>
              </a:rPr>
              <a:t>Ignoring copy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922776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C70"/>
                </a:solidFill>
                <a:latin typeface="Aptos"/>
              </a:rPr>
              <a:t>→ Repeated substr() can add extra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73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A04646"/>
                </a:solidFill>
                <a:latin typeface="Apto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73168"/>
            <a:ext cx="4937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23262B"/>
                </a:solidFill>
                <a:latin typeface="Comic Sans MS"/>
              </a:rPr>
              <a:t>Mixing substring and subarray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7316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C70"/>
                </a:solidFill>
                <a:latin typeface="Aptos"/>
              </a:rPr>
              <a:t>→ Same idea, different data type.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16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The notebook summary.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10515600" cy="434340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9164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91640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Substring = contiguous characters.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04288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Subsequence = ordered characters; gaps are allowed.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16936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16936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All substrings → O(n²) candidates.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958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29584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All subsequences → O(2ⁿ) candidates.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42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42232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Use sliding window / two pointers when the structure allows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0586E"/>
                </a:solidFill>
                <a:latin typeface="Aptos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54880"/>
            <a:ext cx="9052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3262B"/>
                </a:solidFill>
                <a:latin typeface="Aptos"/>
              </a:rPr>
              <a:t>Always state whether complexity includes generating or storing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40586E"/>
                </a:solidFill>
                <a:latin typeface="Aptos"/>
              </a:rPr>
              <a:t>Concept → Example → Implementation → Complexity → Pattern → Problem → Solution → Takeaway 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17  Tomorrow → TWO POINTER TECHNIQUE ON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We’ll turn “left + right” into a reusable string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40586E"/>
                </a:solidFill>
                <a:latin typeface="Consolas"/>
              </a:rPr>
              <a:t>i →                          ←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262B"/>
                </a:solidFill>
                <a:latin typeface="Comic Sans MS"/>
              </a:rPr>
              <a:t>Compare • move • shrink • expand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108960"/>
            <a:ext cx="9418320" cy="1463040"/>
          </a:xfrm>
          <a:prstGeom prst="roundRect">
            <a:avLst/>
          </a:prstGeom>
          <a:solidFill>
            <a:srgbClr val="E7E1CD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493008"/>
            <a:ext cx="8869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3262B"/>
                </a:solidFill>
                <a:latin typeface="Aptos"/>
              </a:rPr>
              <a:t>Preview: palindrome checks • reversing strings • valid palindrome
and other “two ends, one decision” problems.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40586E"/>
                </a:solidFill>
                <a:latin typeface="Comic Sans MS"/>
              </a:rPr>
              <a:t>Keep learning. Keep solving. Keep explaining. 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62B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502920"/>
            <a:ext cx="32004" cy="5669280"/>
          </a:xfrm>
          <a:prstGeom prst="rect">
            <a:avLst/>
          </a:prstGeom>
          <a:solidFill>
            <a:srgbClr val="DC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62B"/>
                </a:solidFill>
                <a:latin typeface="Comic Sans MS"/>
              </a:rPr>
              <a:t>BONUS — 30-second self-check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96C70"/>
                </a:solidFill>
                <a:latin typeface="Aptos"/>
              </a:rPr>
              <a:t>Interactive pause: answer before revealing the notes below.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3262B"/>
          </a:solidFill>
          <a:ln>
            <a:solidFill>
              <a:srgbClr val="232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11521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DSA From Scratch → Advanced   •   DAY 29   •   github.com/ritesh2687/dsa_ppt_post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2011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96C70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10515600" cy="4389120"/>
          </a:xfrm>
          <a:prstGeom prst="roundRect">
            <a:avLst/>
          </a:prstGeom>
          <a:solidFill>
            <a:srgbClr val="FFFDF8"/>
          </a:solidFill>
          <a:ln>
            <a:solidFill>
              <a:srgbClr val="CDC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62B"/>
                </a:solidFill>
                <a:latin typeface="Comic Sans MS"/>
              </a:rPr>
              <a:t>1) Is “bd” a substring of “abcd”?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87168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62B"/>
                </a:solidFill>
                <a:latin typeface="Comic Sans MS"/>
              </a:rPr>
              <a:t>2) Is “bd” a subsequence of “abcd”?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36976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62B"/>
                </a:solidFill>
                <a:latin typeface="Comic Sans MS"/>
              </a:rPr>
              <a:t>3) How many non-empty substrings does a length-5 string have?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86783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62B"/>
                </a:solidFill>
                <a:latin typeface="Comic Sans MS"/>
              </a:rPr>
              <a:t>4) How many subsequences does a length-5 string have, including empty?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07492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0586E"/>
                </a:solidFill>
                <a:latin typeface="Comic Sans MS"/>
              </a:rPr>
              <a:t>Answers: 1) No   2) Yes   3) 15   4)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5099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96C70"/>
                </a:solidFill>
                <a:latin typeface="Aptos"/>
              </a:rPr>
              <a:t>Pause • think • then check. That’s the point of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