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37BEFF"/>
                </a:solidFill>
              </a:rPr>
              <a:t>DAY 4</a:t>
            </a:r>
          </a:p>
          <a:p>
            <a:pPr algn="ctr"/>
            <a:r>
              <a:rPr sz="4200" b="1">
                <a:solidFill>
                  <a:srgbClr val="F5F7FA"/>
                </a:solidFill>
              </a:rPr>
              <a:t>Best, Average &amp; Worst Case</a:t>
            </a:r>
          </a:p>
          <a:p>
            <a:pPr algn="ctr"/>
            <a:r>
              <a:rPr sz="2000">
                <a:solidFill>
                  <a:srgbClr val="AFB9C8"/>
                </a:solidFill>
              </a:rPr>
              <a:t>DSA From Scratch to Advanced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</a:rPr>
              <a:t>🧠 What is Best, Average &amp; Worst Case?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AFB9C8"/>
                </a:solidFill>
              </a:rPr>
              <a:t>Three ways to analyze an algorithm's running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Best Case → Minimum time an algorithm can take for input size n.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Average Case → Expected / typical time across inputs of size n.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Worst Case → Maximum time an algorithm can take for input size n.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Big-O is commonly used for upper bounds; Θ describes a tight bound when appropriate.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</a:rPr>
              <a:t>❓ Why do we need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One input size can produce very different running times.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Best case tells us the most favorable situation.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Average case helps estimate expected behavior.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Worst case gives a performance guarantee.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Interviewers often test whether you can analyze code beyond simply writing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</a:rPr>
              <a:t>⚙️ How does it work?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AFB9C8"/>
                </a:solidFill>
              </a:rPr>
              <a:t>Analyze how the number of operations changes with input arrangement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1. Define input size n.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2. Identify the dominant operation.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3. Minimize operations → Best Case.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4. Consider typical/probabilistic inputs → Average Case.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5. Maximize operations → Worst Case.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6. Express the growth using O, Θ, or Ω.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</a:rPr>
              <a:t>💻 C++ Example — Linear 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10835640" cy="4297680"/>
          </a:xfrm>
          <a:prstGeom prst="roundRect">
            <a:avLst/>
          </a:prstGeom>
          <a:solidFill>
            <a:srgbClr val="141928"/>
          </a:solidFill>
          <a:ln>
            <a:solidFill>
              <a:srgbClr val="2D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1024128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2EBDC"/>
                </a:solidFill>
                <a:latin typeface="Consolas"/>
              </a:rPr>
              <a:t>int linearSearch(vector&lt;int&gt;&amp; a, int target) {
    for (int i = 0; i &lt; a.size(); i++) {
        if (a[i] == target)
            return i;
    }
    return -1;
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150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F5F7FA"/>
                </a:solidFill>
              </a:defRPr>
            </a:pPr>
            <a:r>
              <a:t>The loop stops immediately when the target is found.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</a:rPr>
              <a:t>🔍 Example — Linear Search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7FA"/>
                </a:solidFill>
              </a:defRPr>
            </a:pPr>
            <a:r>
              <a:t>Best Case: target at index 0 → 1 comparison → O(1).</a:t>
            </a:r>
          </a:p>
          <a:p>
            <a:pPr>
              <a:spcAft>
                <a:spcPts val="1200"/>
              </a:spcAft>
              <a:defRPr sz="1900">
                <a:solidFill>
                  <a:srgbClr val="F5F7FA"/>
                </a:solidFill>
              </a:defRPr>
            </a:pPr>
            <a:r>
              <a:t>Worst Case: target at last index or absent → n comparisons → O(n).</a:t>
            </a:r>
          </a:p>
          <a:p>
            <a:pPr>
              <a:spcAft>
                <a:spcPts val="1200"/>
              </a:spcAft>
              <a:defRPr sz="1900">
                <a:solidFill>
                  <a:srgbClr val="F5F7FA"/>
                </a:solidFill>
              </a:defRPr>
            </a:pPr>
            <a:r>
              <a:t>Average Case: target equally likely at any position → about (n+1)/2 comparisons → Θ(n).</a:t>
            </a:r>
          </a:p>
          <a:p>
            <a:pPr>
              <a:spcAft>
                <a:spcPts val="1200"/>
              </a:spcAft>
              <a:defRPr sz="1900">
                <a:solidFill>
                  <a:srgbClr val="F5F7FA"/>
                </a:solidFill>
              </a:defRPr>
            </a:pPr>
            <a:r>
              <a:t>Constants disappear in asymptotic notation, so Θ((n+1)/2) = Θ(n).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</a:rPr>
              <a:t>🔍 Example — Binary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Best Case: target is the middle element on the first check → O(1).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Worst Case: repeatedly halve the search space → O(log n).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Average Case: generally Θ(log n) under standard assumptions.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Requirement: the data must be sorted.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</a:rPr>
              <a:t>⏱️ Time &amp; Space Complexity — Quick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Linear Search: Best O(1) | Average Θ(n) | Worst O(n) | Extra Space O(1).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Binary Search (iterative): Best O(1) | Average Θ(log n) | Worst O(log n) | Extra Space O(1).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Recursive Binary Search: Worst O(log n) time | O(log n) auxiliary stack space.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Time cases and space complexity are analyzed separately.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</a:rPr>
              <a:t>📊 One More Example — Insertion Sort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7FA"/>
                </a:solidFill>
              </a:defRPr>
            </a:pPr>
            <a:r>
              <a:t>Best Case: already sorted → Θ(n).</a:t>
            </a:r>
          </a:p>
          <a:p>
            <a:pPr>
              <a:spcAft>
                <a:spcPts val="1200"/>
              </a:spcAft>
              <a:defRPr sz="1900">
                <a:solidFill>
                  <a:srgbClr val="F5F7FA"/>
                </a:solidFill>
              </a:defRPr>
            </a:pPr>
            <a:r>
              <a:t>Average Case: random/partially arranged → Θ(n²).</a:t>
            </a:r>
          </a:p>
          <a:p>
            <a:pPr>
              <a:spcAft>
                <a:spcPts val="1200"/>
              </a:spcAft>
              <a:defRPr sz="1900">
                <a:solidFill>
                  <a:srgbClr val="F5F7FA"/>
                </a:solidFill>
              </a:defRPr>
            </a:pPr>
            <a:r>
              <a:t>Worst Case: reverse sorted → Θ(n²).</a:t>
            </a:r>
          </a:p>
          <a:p>
            <a:pPr>
              <a:spcAft>
                <a:spcPts val="1200"/>
              </a:spcAft>
              <a:defRPr sz="1900">
                <a:solidFill>
                  <a:srgbClr val="F5F7FA"/>
                </a:solidFill>
              </a:defRPr>
            </a:pPr>
            <a:r>
              <a:t>Extra space: O(1) for the standard in-place version.</a:t>
            </a:r>
          </a:p>
          <a:p>
            <a:pPr>
              <a:spcAft>
                <a:spcPts val="1200"/>
              </a:spcAft>
              <a:defRPr sz="1900">
                <a:solidFill>
                  <a:srgbClr val="F5F7FA"/>
                </a:solidFill>
              </a:defRPr>
            </a:pPr>
            <a:r>
              <a:t>Same algorithm, different input arrangement → different running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</a:rPr>
              <a:t>🧩 LeetCode Practice — 3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7FA"/>
                </a:solidFill>
              </a:defRPr>
            </a:pPr>
            <a:r>
              <a:t>1. Two Sum — #1 → Analyze one-pass hashing and search behavior.</a:t>
            </a:r>
          </a:p>
          <a:p>
            <a:pPr>
              <a:spcAft>
                <a:spcPts val="1200"/>
              </a:spcAft>
              <a:defRPr sz="1900">
                <a:solidFill>
                  <a:srgbClr val="F5F7FA"/>
                </a:solidFill>
              </a:defRPr>
            </a:pPr>
            <a:r>
              <a:t>2. Binary Search — #704 → Compare best and worst search paths.</a:t>
            </a:r>
          </a:p>
          <a:p>
            <a:pPr>
              <a:spcAft>
                <a:spcPts val="1200"/>
              </a:spcAft>
              <a:defRPr sz="1900">
                <a:solidFill>
                  <a:srgbClr val="F5F7FA"/>
                </a:solidFill>
              </a:defRPr>
            </a:pPr>
            <a:r>
              <a:t>3. Best Time to Buy and Sell Stock — #121 → One-pass tracking.</a:t>
            </a:r>
          </a:p>
          <a:p>
            <a:pPr>
              <a:spcAft>
                <a:spcPts val="1200"/>
              </a:spcAft>
              <a:defRPr sz="1900">
                <a:solidFill>
                  <a:srgbClr val="F5F7FA"/>
                </a:solidFill>
              </a:defRPr>
            </a:pPr>
            <a:r>
              <a:t>Practice rule: before coding, predict the best, average (when meaningful), and worst case.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</a:rPr>
              <a:t>💡 Interview Tip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Don't say only “O(n)” without naming the case.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Example: “Best case is O(1), worst case is O(n), because the loop may stop immediately or scan the whole array.”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Always separate time complexity from auxiliary space complexity.</a:t>
            </a:r>
          </a:p>
          <a:p>
            <a:pPr>
              <a:spcAft>
                <a:spcPts val="1200"/>
              </a:spcAft>
              <a:defRPr sz="2000">
                <a:solidFill>
                  <a:srgbClr val="F5F7FA"/>
                </a:solidFill>
              </a:defRPr>
            </a:pPr>
            <a:r>
              <a:t>If asked for average case, state the assumption behind your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</a:rPr>
              <a:t>🧠 Remember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F5F7FA"/>
                </a:solidFill>
              </a:defRPr>
            </a:pPr>
            <a:r>
              <a:t>Best Case → minimum work.</a:t>
            </a:r>
          </a:p>
          <a:p>
            <a:pPr>
              <a:spcAft>
                <a:spcPts val="1200"/>
              </a:spcAft>
              <a:defRPr sz="2300">
                <a:solidFill>
                  <a:srgbClr val="F5F7FA"/>
                </a:solidFill>
              </a:defRPr>
            </a:pPr>
            <a:r>
              <a:t>Average Case → expected work.</a:t>
            </a:r>
          </a:p>
          <a:p>
            <a:pPr>
              <a:spcAft>
                <a:spcPts val="1200"/>
              </a:spcAft>
              <a:defRPr sz="2300">
                <a:solidFill>
                  <a:srgbClr val="F5F7FA"/>
                </a:solidFill>
              </a:defRPr>
            </a:pPr>
            <a:r>
              <a:t>Worst Case → maximum work.</a:t>
            </a:r>
          </a:p>
          <a:p>
            <a:pPr>
              <a:spcAft>
                <a:spcPts val="1200"/>
              </a:spcAft>
              <a:defRPr sz="2300">
                <a:solidFill>
                  <a:srgbClr val="F5F7FA"/>
                </a:solidFill>
              </a:defRPr>
            </a:pPr>
            <a:r>
              <a:t>Input arrangement matters.</a:t>
            </a:r>
          </a:p>
          <a:p>
            <a:pPr>
              <a:spcAft>
                <a:spcPts val="1200"/>
              </a:spcAft>
              <a:defRPr sz="2300">
                <a:solidFill>
                  <a:srgbClr val="F5F7FA"/>
                </a:solidFill>
              </a:defRPr>
            </a:pPr>
            <a:r>
              <a:t>Complexity analysis lets us compare algorithms before running them.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</a:rPr>
              <a:t>📚 What I'll Learn Tomorrow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AFB9C8"/>
                </a:solidFill>
              </a:rPr>
              <a:t>DAY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</a:defRPr>
            </a:pPr>
            <a:r>
              <a:t>Searching Algorithms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</a:defRPr>
            </a:pPr>
            <a:r>
              <a:t>• Linear Search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</a:defRPr>
            </a:pPr>
            <a:r>
              <a:t>• Binary Search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</a:defRPr>
            </a:pPr>
            <a:r>
              <a:t>• When to use each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</a:defRPr>
            </a:pPr>
            <a:r>
              <a:t>• C++ implementation + complexity</a:t>
            </a:r>
          </a:p>
          <a:p>
            <a:pPr>
              <a:spcAft>
                <a:spcPts val="1200"/>
              </a:spcAft>
              <a:defRPr sz="2100">
                <a:solidFill>
                  <a:srgbClr val="F5F7FA"/>
                </a:solidFill>
              </a:defRPr>
            </a:pPr>
            <a:r>
              <a:t>• Interview &amp; LeetCode practice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7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5F7FA"/>
                </a:solidFill>
              </a:rPr>
              <a:t>🚀 Day 4 Complete!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AFB9C8"/>
                </a:solidFill>
              </a:rPr>
              <a:t>Understand the case → analyze the operations → choose the right 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F5F7FA"/>
                </a:solidFill>
              </a:defRPr>
            </a:pPr>
            <a:r>
              <a:t>Keep practicing: write the code, then analyze Best / Average / Worst Case.</a:t>
            </a:r>
          </a:p>
          <a:p>
            <a:pPr>
              <a:spcAft>
                <a:spcPts val="1200"/>
              </a:spcAft>
              <a:defRPr sz="2300">
                <a:solidFill>
                  <a:srgbClr val="F5F7FA"/>
                </a:solidFill>
              </a:defRPr>
            </a:pPr>
            <a:r>
              <a:t>Next: Searching Algorithms 🔎</a:t>
            </a:r>
          </a:p>
          <a:p>
            <a:pPr>
              <a:spcAft>
                <a:spcPts val="1200"/>
              </a:spcAft>
              <a:defRPr sz="2300">
                <a:solidFill>
                  <a:srgbClr val="F5F7FA"/>
                </a:solidFill>
              </a:defRPr>
            </a:pPr>
            <a:r>
              <a:t>DSA From Scratch to Advanced — Day by 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