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31520"/>
            <a:ext cx="11064240" cy="438912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3100" b="1">
                <a:solidFill>
                  <a:srgbClr val="202428"/>
                </a:solidFill>
              </a:defRPr>
            </a:pPr>
            <a:r>
              <a:t>DAY 43</a:t>
            </a:r>
            <a:br/>
            <a:r>
              <a:t>LINKED LIST</a:t>
            </a:r>
            <a:br/>
            <a:r>
              <a:t>INSERTION &amp; DELETION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5780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8607A"/>
                </a:solidFill>
              </a:defRPr>
            </a:pPr>
            <a:r>
              <a:t>Pointer rewiring • visual dry runs • C++ • interview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Today’s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D6368"/>
                </a:solidFill>
              </a:defRPr>
            </a:pPr>
            <a:r>
              <a:t>Think in links, not positions.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428"/>
                </a:solidFill>
              </a:defRPr>
            </a:pPr>
            <a:r>
              <a:t>• Insertion: beginning → middle → end</a:t>
            </a:r>
          </a:p>
          <a:p>
            <a:pPr>
              <a:spcAft>
                <a:spcPts val="800"/>
              </a:spcAft>
              <a:defRPr sz="1800">
                <a:solidFill>
                  <a:srgbClr val="202428"/>
                </a:solidFill>
              </a:defRPr>
            </a:pPr>
            <a:r>
              <a:t>• Deletion: beginning → middle → end</a:t>
            </a:r>
          </a:p>
          <a:p>
            <a:pPr>
              <a:spcAft>
                <a:spcPts val="800"/>
              </a:spcAft>
              <a:defRPr sz="1800">
                <a:solidFill>
                  <a:srgbClr val="202428"/>
                </a:solidFill>
              </a:defRPr>
            </a:pPr>
            <a:r>
              <a:t>• The key operation: change `next` safely</a:t>
            </a:r>
          </a:p>
          <a:p>
            <a:pPr>
              <a:spcAft>
                <a:spcPts val="800"/>
              </a:spcAft>
              <a:defRPr sz="1800">
                <a:solidFill>
                  <a:srgbClr val="202428"/>
                </a:solidFill>
              </a:defRPr>
            </a:pPr>
            <a:r>
              <a:t>• Dry run every pointer before coding</a:t>
            </a:r>
          </a:p>
          <a:p>
            <a:pPr>
              <a:spcAft>
                <a:spcPts val="800"/>
              </a:spcAft>
              <a:defRPr sz="1800">
                <a:solidFill>
                  <a:srgbClr val="202428"/>
                </a:solidFill>
              </a:defRPr>
            </a:pPr>
            <a:r>
              <a:t>• Complexity + common interview traps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4754880" cy="3474720"/>
          </a:xfrm>
          <a:prstGeom prst="roundRect">
            <a:avLst/>
          </a:prstGeom>
          <a:solidFill>
            <a:srgbClr val="F1EFE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800" b="1">
                <a:solidFill>
                  <a:srgbClr val="202428"/>
                </a:solidFill>
              </a:defRPr>
            </a:pPr>
            <a:r>
              <a:t>RULE OF THUMB</a:t>
            </a:r>
            <a:br/>
            <a:br/>
            <a:r>
              <a:t>1. Save what you need.</a:t>
            </a:r>
            <a:br/>
            <a:r>
              <a:t>2. Rewire the link.</a:t>
            </a:r>
            <a:br/>
            <a:r>
              <a:t>3. Move the pointer.</a:t>
            </a:r>
            <a:br/>
            <a:r>
              <a:t>4. Never lose the remaining 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Linked List: The Pointer Picture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051560" cy="59436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200" b="1">
                <a:solidFill>
                  <a:srgbClr val="202428"/>
                </a:solidFill>
              </a:defRPr>
            </a:pPr>
            <a:r>
              <a:t>10  |  next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65960" y="2395728"/>
            <a:ext cx="1188720" cy="0"/>
          </a:xfrm>
          <a:prstGeom prst="line">
            <a:avLst/>
          </a:prstGeom>
          <a:ln w="25400">
            <a:solidFill>
              <a:srgbClr val="486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00400" y="2103120"/>
            <a:ext cx="1051560" cy="59436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200" b="1">
                <a:solidFill>
                  <a:srgbClr val="202428"/>
                </a:solidFill>
              </a:defRPr>
            </a:pPr>
            <a:r>
              <a:t>20  |  next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51960" y="2395728"/>
            <a:ext cx="1188720" cy="0"/>
          </a:xfrm>
          <a:prstGeom prst="line">
            <a:avLst/>
          </a:prstGeom>
          <a:ln w="25400">
            <a:solidFill>
              <a:srgbClr val="486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0" y="2103120"/>
            <a:ext cx="1051560" cy="59436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200" b="1">
                <a:solidFill>
                  <a:srgbClr val="202428"/>
                </a:solidFill>
              </a:defRPr>
            </a:pPr>
            <a:r>
              <a:t>30  | 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9875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202428"/>
                </a:solidFill>
                <a:latin typeface="Consolas"/>
              </a:defRPr>
            </a:pPr>
            <a:r>
              <a:t>head → 10 → 20 → 30 → NULL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417320"/>
            <a:ext cx="2377440" cy="100584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600" b="1">
                <a:solidFill>
                  <a:srgbClr val="202428"/>
                </a:solidFill>
              </a:defRPr>
            </a:pPr>
            <a:r>
              <a:t>head</a:t>
            </a:r>
            <a:br/>
            <a:r>
              <a:t>= first node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Insertion at the Beginning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926080" cy="68580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700" b="1">
                <a:solidFill>
                  <a:srgbClr val="202428"/>
                </a:solidFill>
              </a:defRPr>
            </a:pPr>
            <a:r>
              <a:t>Before: 10 → 20 →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2926080" cy="68580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700" b="1">
                <a:solidFill>
                  <a:srgbClr val="202428"/>
                </a:solidFill>
              </a:defRPr>
            </a:pPr>
            <a:r>
              <a:t>New node: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325880"/>
            <a:ext cx="7132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428"/>
                </a:solidFill>
              </a:defRPr>
            </a:pPr>
            <a:r>
              <a:t>• newNode-&gt;next = head</a:t>
            </a:r>
          </a:p>
          <a:p>
            <a:pPr>
              <a:spcAft>
                <a:spcPts val="800"/>
              </a:spcAft>
              <a:defRPr sz="1700">
                <a:solidFill>
                  <a:srgbClr val="202428"/>
                </a:solidFill>
              </a:defRPr>
            </a:pPr>
            <a:r>
              <a:t>• head = newNode</a:t>
            </a:r>
          </a:p>
          <a:p>
            <a:pPr>
              <a:spcAft>
                <a:spcPts val="800"/>
              </a:spcAft>
              <a:defRPr sz="1700">
                <a:solidFill>
                  <a:srgbClr val="202428"/>
                </a:solidFill>
              </a:defRPr>
            </a:pPr>
            <a:r>
              <a:t>• Old head remains connected</a:t>
            </a:r>
          </a:p>
          <a:p>
            <a:pPr>
              <a:spcAft>
                <a:spcPts val="800"/>
              </a:spcAft>
              <a:defRPr sz="1700">
                <a:solidFill>
                  <a:srgbClr val="202428"/>
                </a:solidFill>
              </a:defRPr>
            </a:pPr>
            <a:r>
              <a:t>• Only the head reference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4069080"/>
            <a:ext cx="6858000" cy="91440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000" b="1">
                <a:solidFill>
                  <a:srgbClr val="202428"/>
                </a:solidFill>
              </a:defRPr>
            </a:pPr>
            <a:r>
              <a:t>After: 5 → 10 → 20 → 30 → NULL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Insertion in the Middle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931920" cy="64008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800" b="1">
                <a:solidFill>
                  <a:srgbClr val="202428"/>
                </a:solidFill>
              </a:defRPr>
            </a:pPr>
            <a:r>
              <a:t>10 → 20 →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931920" cy="64008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700" b="1">
                <a:solidFill>
                  <a:srgbClr val="202428"/>
                </a:solidFill>
              </a:defRPr>
            </a:pPr>
            <a:r>
              <a:t>Insert 25 after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34440"/>
            <a:ext cx="5943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428"/>
                </a:solidFill>
              </a:defRPr>
            </a:pPr>
            <a:r>
              <a:t>• Find the node before insertion: `prev = 20`</a:t>
            </a:r>
          </a:p>
          <a:p>
            <a:pPr>
              <a:spcAft>
                <a:spcPts val="800"/>
              </a:spcAft>
              <a:defRPr sz="1600">
                <a:solidFill>
                  <a:srgbClr val="202428"/>
                </a:solidFill>
              </a:defRPr>
            </a:pPr>
            <a:r>
              <a:t>• Save: `nextNode = prev-&gt;next`</a:t>
            </a:r>
          </a:p>
          <a:p>
            <a:pPr>
              <a:spcAft>
                <a:spcPts val="800"/>
              </a:spcAft>
              <a:defRPr sz="1600">
                <a:solidFill>
                  <a:srgbClr val="202428"/>
                </a:solidFill>
              </a:defRPr>
            </a:pPr>
            <a:r>
              <a:t>• Link new node to saved node</a:t>
            </a:r>
          </a:p>
          <a:p>
            <a:pPr>
              <a:spcAft>
                <a:spcPts val="800"/>
              </a:spcAft>
              <a:defRPr sz="1600">
                <a:solidFill>
                  <a:srgbClr val="202428"/>
                </a:solidFill>
              </a:defRPr>
            </a:pPr>
            <a:r>
              <a:t>• Then link prev to new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657600"/>
            <a:ext cx="9875520" cy="1463040"/>
          </a:xfrm>
          <a:prstGeom prst="roundRect">
            <a:avLst/>
          </a:prstGeom>
          <a:solidFill>
            <a:srgbClr val="23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100">
                <a:solidFill>
                  <a:srgbClr val="F0F0EB"/>
                </a:solidFill>
                <a:latin typeface="Consolas"/>
              </a:defRPr>
            </a:pPr>
            <a:r>
              <a:t>newNode-&gt;next = prev-&gt;next;</a:t>
            </a:r>
            <a:br/>
            <a:r>
              <a:t>prev-&gt;next = newNode;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Middle Insertion — Pointer Dry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1051560" cy="59436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200" b="1">
                <a:solidFill>
                  <a:srgbClr val="202428"/>
                </a:solidFill>
              </a:defRPr>
            </a:pPr>
            <a:r>
              <a:t>10  | 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920240"/>
            <a:ext cx="1051560" cy="59436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200" b="1">
                <a:solidFill>
                  <a:srgbClr val="202428"/>
                </a:solidFill>
              </a:defRPr>
            </a:pPr>
            <a:r>
              <a:t>20  | 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920240"/>
            <a:ext cx="1051560" cy="59436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200" b="1">
                <a:solidFill>
                  <a:srgbClr val="202428"/>
                </a:solidFill>
              </a:defRPr>
            </a:pPr>
            <a:r>
              <a:t>30  |  next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65960" y="2212848"/>
            <a:ext cx="1097280" cy="0"/>
          </a:xfrm>
          <a:prstGeom prst="line">
            <a:avLst/>
          </a:prstGeom>
          <a:ln w="25400">
            <a:solidFill>
              <a:srgbClr val="486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60520" y="2212848"/>
            <a:ext cx="1097280" cy="0"/>
          </a:xfrm>
          <a:prstGeom prst="line">
            <a:avLst/>
          </a:prstGeom>
          <a:ln w="25400">
            <a:solidFill>
              <a:srgbClr val="486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26080" y="3063240"/>
            <a:ext cx="1280160" cy="64008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800" b="1">
                <a:solidFill>
                  <a:srgbClr val="202428"/>
                </a:solidFill>
              </a:defRPr>
            </a:pPr>
            <a:r>
              <a:t>25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6240" y="3383280"/>
            <a:ext cx="914400" cy="0"/>
          </a:xfrm>
          <a:prstGeom prst="line">
            <a:avLst/>
          </a:prstGeom>
          <a:ln w="25400">
            <a:solidFill>
              <a:srgbClr val="486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97679" y="310896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8607A"/>
                </a:solidFill>
              </a:defRPr>
            </a:pPr>
            <a:r>
              <a:t>new→30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0520" y="2697480"/>
            <a:ext cx="0" cy="320040"/>
          </a:xfrm>
          <a:prstGeom prst="line">
            <a:avLst/>
          </a:prstGeom>
          <a:ln w="25400">
            <a:solidFill>
              <a:srgbClr val="486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94759" y="258318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48607A"/>
                </a:solidFill>
              </a:defRPr>
            </a:pPr>
            <a:r>
              <a:t>rewire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72000"/>
            <a:ext cx="8961120" cy="731520"/>
          </a:xfrm>
          <a:prstGeom prst="roundRect">
            <a:avLst/>
          </a:prstGeom>
          <a:solidFill>
            <a:srgbClr val="F1EFE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000" b="1">
                <a:solidFill>
                  <a:srgbClr val="202428"/>
                </a:solidFill>
              </a:defRPr>
            </a:pPr>
            <a:r>
              <a:t>Final: 10 → 20 → 25 → 30 → NULL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Insertion at the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428"/>
                </a:solidFill>
              </a:defRPr>
            </a:pPr>
            <a:r>
              <a:t>• Traverse until `curr-&gt;next == nullptr`</a:t>
            </a:r>
          </a:p>
          <a:p>
            <a:pPr>
              <a:spcAft>
                <a:spcPts val="800"/>
              </a:spcAft>
              <a:defRPr sz="1700">
                <a:solidFill>
                  <a:srgbClr val="202428"/>
                </a:solidFill>
              </a:defRPr>
            </a:pPr>
            <a:r>
              <a:t>• Create the new node</a:t>
            </a:r>
          </a:p>
          <a:p>
            <a:pPr>
              <a:spcAft>
                <a:spcPts val="800"/>
              </a:spcAft>
              <a:defRPr sz="1700">
                <a:solidFill>
                  <a:srgbClr val="202428"/>
                </a:solidFill>
              </a:defRPr>
            </a:pPr>
            <a:r>
              <a:t>• Set `curr-&gt;next = newNode`</a:t>
            </a:r>
          </a:p>
          <a:p>
            <a:pPr>
              <a:spcAft>
                <a:spcPts val="800"/>
              </a:spcAft>
              <a:defRPr sz="1700">
                <a:solidFill>
                  <a:srgbClr val="202428"/>
                </a:solidFill>
              </a:defRPr>
            </a:pPr>
            <a:r>
              <a:t>• If list is empty, insertion becomes head insertion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417320"/>
            <a:ext cx="5486400" cy="2194560"/>
          </a:xfrm>
          <a:prstGeom prst="roundRect">
            <a:avLst/>
          </a:prstGeom>
          <a:solidFill>
            <a:srgbClr val="23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100">
                <a:solidFill>
                  <a:srgbClr val="F0F0EB"/>
                </a:solidFill>
                <a:latin typeface="Consolas"/>
              </a:defRPr>
            </a:pPr>
            <a:r>
              <a:t>while (curr-&gt;next != nullptr)</a:t>
            </a:r>
            <a:br/>
            <a:r>
              <a:t>    curr = curr-&gt;next;</a:t>
            </a:r>
            <a:br/>
            <a:br/>
            <a:r>
              <a:t>curr-&gt;next = newNode;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4069080"/>
            <a:ext cx="5486400" cy="82296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900" b="1">
                <a:solidFill>
                  <a:srgbClr val="202428"/>
                </a:solidFill>
              </a:defRPr>
            </a:pPr>
            <a:r>
              <a:t>10 → 20 → 30 → 40 → NULL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Deletion at the Beginning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8778240" cy="73152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000" b="1">
                <a:solidFill>
                  <a:srgbClr val="202428"/>
                </a:solidFill>
              </a:defRPr>
            </a:pPr>
            <a:r>
              <a:t>10 → 20 → 30 → NULL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9326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428"/>
                </a:solidFill>
              </a:defRPr>
            </a:pPr>
            <a:r>
              <a:t>• Save the old head if you want to `delete` it</a:t>
            </a:r>
          </a:p>
          <a:p>
            <a:pPr>
              <a:spcAft>
                <a:spcPts val="800"/>
              </a:spcAft>
              <a:defRPr sz="1700">
                <a:solidFill>
                  <a:srgbClr val="202428"/>
                </a:solidFill>
              </a:defRPr>
            </a:pPr>
            <a:r>
              <a:t>• Move `head` to `head-&gt;next`</a:t>
            </a:r>
          </a:p>
          <a:p>
            <a:pPr>
              <a:spcAft>
                <a:spcPts val="800"/>
              </a:spcAft>
              <a:defRPr sz="1700">
                <a:solidFill>
                  <a:srgbClr val="202428"/>
                </a:solidFill>
              </a:defRPr>
            </a:pPr>
            <a:r>
              <a:t>• Delete old head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663440"/>
            <a:ext cx="8961120" cy="914400"/>
          </a:xfrm>
          <a:prstGeom prst="roundRect">
            <a:avLst/>
          </a:prstGeom>
          <a:solidFill>
            <a:srgbClr val="23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100">
                <a:solidFill>
                  <a:srgbClr val="F0F0EB"/>
                </a:solidFill>
                <a:latin typeface="Consolas"/>
              </a:defRPr>
            </a:pPr>
            <a:r>
              <a:t>Node* temp = head;</a:t>
            </a:r>
            <a:br/>
            <a:r>
              <a:t>head = head-&gt;next;</a:t>
            </a:r>
            <a:br/>
            <a:r>
              <a:t>delete temp;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Deletion in the Middle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4023360" cy="68580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800" b="1">
                <a:solidFill>
                  <a:srgbClr val="202428"/>
                </a:solidFill>
              </a:defRPr>
            </a:pPr>
            <a:r>
              <a:t>10 → 20 → 30 → 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4023360" cy="685800"/>
          </a:xfrm>
          <a:prstGeom prst="roundRect">
            <a:avLst/>
          </a:prstGeom>
          <a:solidFill>
            <a:srgbClr val="FAEEEC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800" b="1">
                <a:solidFill>
                  <a:srgbClr val="9B4F48"/>
                </a:solidFill>
              </a:defRPr>
            </a:pPr>
            <a:r>
              <a:t>Delete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234440"/>
            <a:ext cx="5669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428"/>
                </a:solidFill>
              </a:defRPr>
            </a:pPr>
            <a:r>
              <a:t>• Find `prev = 20`</a:t>
            </a:r>
          </a:p>
          <a:p>
            <a:pPr>
              <a:spcAft>
                <a:spcPts val="800"/>
              </a:spcAft>
              <a:defRPr sz="1600">
                <a:solidFill>
                  <a:srgbClr val="202428"/>
                </a:solidFill>
              </a:defRPr>
            </a:pPr>
            <a:r>
              <a:t>• Save `temp = prev-&gt;next` (30)</a:t>
            </a:r>
          </a:p>
          <a:p>
            <a:pPr>
              <a:spcAft>
                <a:spcPts val="800"/>
              </a:spcAft>
              <a:defRPr sz="1600">
                <a:solidFill>
                  <a:srgbClr val="202428"/>
                </a:solidFill>
              </a:defRPr>
            </a:pPr>
            <a:r>
              <a:t>• Skip it: `prev-&gt;next = temp-&gt;next`</a:t>
            </a:r>
          </a:p>
          <a:p>
            <a:pPr>
              <a:spcAft>
                <a:spcPts val="800"/>
              </a:spcAft>
              <a:defRPr sz="1600">
                <a:solidFill>
                  <a:srgbClr val="202428"/>
                </a:solidFill>
              </a:defRPr>
            </a:pPr>
            <a:r>
              <a:t>• Delete `temp`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9326880" cy="77724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000" b="1">
                <a:solidFill>
                  <a:srgbClr val="202428"/>
                </a:solidFill>
              </a:defRPr>
            </a:pPr>
            <a:r>
              <a:t>Result: 10 → 20 → 40 → NULL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Deletion at the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428"/>
                </a:solidFill>
              </a:defRPr>
            </a:pPr>
            <a:r>
              <a:t>• Need the second-last node</a:t>
            </a:r>
          </a:p>
          <a:p>
            <a:pPr>
              <a:spcAft>
                <a:spcPts val="800"/>
              </a:spcAft>
              <a:defRPr sz="1600">
                <a:solidFill>
                  <a:srgbClr val="202428"/>
                </a:solidFill>
              </a:defRPr>
            </a:pPr>
            <a:r>
              <a:t>• Traverse while `curr-&gt;next-&gt;next != nullptr`</a:t>
            </a:r>
          </a:p>
          <a:p>
            <a:pPr>
              <a:spcAft>
                <a:spcPts val="800"/>
              </a:spcAft>
              <a:defRPr sz="1600">
                <a:solidFill>
                  <a:srgbClr val="202428"/>
                </a:solidFill>
              </a:defRPr>
            </a:pPr>
            <a:r>
              <a:t>• Save last node</a:t>
            </a:r>
          </a:p>
          <a:p>
            <a:pPr>
              <a:spcAft>
                <a:spcPts val="800"/>
              </a:spcAft>
              <a:defRPr sz="1600">
                <a:solidFill>
                  <a:srgbClr val="202428"/>
                </a:solidFill>
              </a:defRPr>
            </a:pPr>
            <a:r>
              <a:t>• Set second-last `next = nullptr`</a:t>
            </a:r>
          </a:p>
          <a:p>
            <a:pPr>
              <a:spcAft>
                <a:spcPts val="800"/>
              </a:spcAft>
              <a:defRPr sz="1600">
                <a:solidFill>
                  <a:srgbClr val="202428"/>
                </a:solidFill>
              </a:defRPr>
            </a:pPr>
            <a:r>
              <a:t>• Delete saved last node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371600"/>
            <a:ext cx="5486400" cy="2377440"/>
          </a:xfrm>
          <a:prstGeom prst="roundRect">
            <a:avLst/>
          </a:prstGeom>
          <a:solidFill>
            <a:srgbClr val="23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100">
                <a:solidFill>
                  <a:srgbClr val="F0F0EB"/>
                </a:solidFill>
                <a:latin typeface="Consolas"/>
              </a:defRPr>
            </a:pPr>
            <a:r>
              <a:t>while (curr-&gt;next-&gt;next)</a:t>
            </a:r>
            <a:br/>
            <a:r>
              <a:t>    curr = curr-&gt;next;</a:t>
            </a:r>
            <a:br/>
            <a:br/>
            <a:r>
              <a:t>Node* temp = curr-&gt;next;</a:t>
            </a:r>
            <a:br/>
            <a:r>
              <a:t>curr-&gt;next = nullptr;</a:t>
            </a:r>
            <a:br/>
            <a:r>
              <a:t>delete temp;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4251960"/>
            <a:ext cx="5486400" cy="73152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900" b="1">
                <a:solidFill>
                  <a:srgbClr val="202428"/>
                </a:solidFill>
              </a:defRPr>
            </a:pPr>
            <a:r>
              <a:t>10 → 20 → 30 → NULL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One Full Example — Insert + Delete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10698480" cy="73152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900" b="1">
                <a:solidFill>
                  <a:srgbClr val="202428"/>
                </a:solidFill>
              </a:defRPr>
            </a:pPr>
            <a:r>
              <a:t>Start: 10 → 20 → 40 → NULL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4754880" cy="68580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700" b="1">
                <a:solidFill>
                  <a:srgbClr val="202428"/>
                </a:solidFill>
              </a:defRPr>
            </a:pPr>
            <a:r>
              <a:t>Insert 30 after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4754880" cy="68580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700" b="1">
                <a:solidFill>
                  <a:srgbClr val="202428"/>
                </a:solidFill>
              </a:defRPr>
            </a:pPr>
            <a:r>
              <a:t>10 → 20 → 30 → 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331720"/>
            <a:ext cx="5029200" cy="685800"/>
          </a:xfrm>
          <a:prstGeom prst="roundRect">
            <a:avLst/>
          </a:prstGeom>
          <a:solidFill>
            <a:srgbClr val="FAEEEC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700" b="1">
                <a:solidFill>
                  <a:srgbClr val="9B4F48"/>
                </a:solidFill>
              </a:defRPr>
            </a:pPr>
            <a:r>
              <a:t>Delete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3291840"/>
            <a:ext cx="5029200" cy="68580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700" b="1">
                <a:solidFill>
                  <a:srgbClr val="202428"/>
                </a:solidFill>
              </a:defRPr>
            </a:pPr>
            <a:r>
              <a:t>10 → 30 → 40 → NULL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04241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48607A"/>
                </a:solidFill>
              </a:defRPr>
            </a:pPr>
            <a:r>
              <a:t>Interview habit: draw the `next` arrows BEFORE writing code.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C++ — Core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881360" cy="4389120"/>
          </a:xfrm>
          <a:prstGeom prst="roundRect">
            <a:avLst/>
          </a:prstGeom>
          <a:solidFill>
            <a:srgbClr val="23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100">
                <a:solidFill>
                  <a:srgbClr val="F0F0EB"/>
                </a:solidFill>
                <a:latin typeface="Consolas"/>
              </a:defRPr>
            </a:pPr>
            <a:r>
              <a:t>struct Node {</a:t>
            </a:r>
            <a:br/>
            <a:r>
              <a:t>    int data;</a:t>
            </a:r>
            <a:br/>
            <a:r>
              <a:t>    Node* next;</a:t>
            </a:r>
            <a:br/>
            <a:r>
              <a:t>    Node(int x) : data(x), next(nullptr) {}</a:t>
            </a:r>
            <a:br/>
            <a:r>
              <a:t>};</a:t>
            </a:r>
            <a:br/>
            <a:br/>
            <a:r>
              <a:t>void insertFront(Node*&amp; head, int x) {</a:t>
            </a:r>
            <a:br/>
            <a:r>
              <a:t>    Node* n = new Node(x);</a:t>
            </a:r>
            <a:br/>
            <a:r>
              <a:t>    n-&gt;next = head;</a:t>
            </a:r>
            <a:br/>
            <a:r>
              <a:t>    head = n;</a:t>
            </a:r>
            <a:br/>
            <a:r>
              <a:t>}</a:t>
            </a:r>
            <a:br/>
            <a:br/>
            <a:r>
              <a:t>void deleteFront(Node*&amp; head) {</a:t>
            </a:r>
            <a:br/>
            <a:r>
              <a:t>    if (!head) return;</a:t>
            </a:r>
            <a:br/>
            <a:r>
              <a:t>    Node* temp = head;</a:t>
            </a:r>
            <a:br/>
            <a:r>
              <a:t>    head = head-&gt;next;</a:t>
            </a:r>
            <a:br/>
            <a:r>
              <a:t>    delete temp;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C++ — Middle / End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881360" cy="4480560"/>
          </a:xfrm>
          <a:prstGeom prst="roundRect">
            <a:avLst/>
          </a:prstGeom>
          <a:solidFill>
            <a:srgbClr val="232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1100">
                <a:solidFill>
                  <a:srgbClr val="F0F0EB"/>
                </a:solidFill>
                <a:latin typeface="Consolas"/>
              </a:defRPr>
            </a:pPr>
            <a:r>
              <a:t>// Insert after prev</a:t>
            </a:r>
            <a:br/>
            <a:r>
              <a:t>void insertAfter(Node* prev, int x) {</a:t>
            </a:r>
            <a:br/>
            <a:r>
              <a:t>    if (!prev) return;</a:t>
            </a:r>
            <a:br/>
            <a:r>
              <a:t>    Node* n = new Node(x);</a:t>
            </a:r>
            <a:br/>
            <a:r>
              <a:t>    n-&gt;next = prev-&gt;next;</a:t>
            </a:r>
            <a:br/>
            <a:r>
              <a:t>    prev-&gt;next = n;</a:t>
            </a:r>
            <a:br/>
            <a:r>
              <a:t>}</a:t>
            </a:r>
            <a:br/>
            <a:br/>
            <a:r>
              <a:t>// Delete node after prev</a:t>
            </a:r>
            <a:br/>
            <a:r>
              <a:t>void deleteAfter(Node* prev) {</a:t>
            </a:r>
            <a:br/>
            <a:r>
              <a:t>    if (!prev || !prev-&gt;next) return;</a:t>
            </a:r>
            <a:br/>
            <a:r>
              <a:t>    Node* temp = prev-&gt;next;</a:t>
            </a:r>
            <a:br/>
            <a:r>
              <a:t>    prev-&gt;next = temp-&gt;next;</a:t>
            </a:r>
            <a:br/>
            <a:r>
              <a:t>    delete temp;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Complexity Cheat 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34440"/>
            <a:ext cx="4480560" cy="54864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1">
                <a:solidFill>
                  <a:srgbClr val="202428"/>
                </a:solidFill>
              </a:defRPr>
            </a:pPr>
            <a:r>
              <a:t>Operation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234440"/>
            <a:ext cx="2103120" cy="54864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1">
                <a:solidFill>
                  <a:srgbClr val="202428"/>
                </a:solidFill>
              </a:defRPr>
            </a:pPr>
            <a:r>
              <a:t>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234440"/>
            <a:ext cx="2560320" cy="54864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1">
                <a:solidFill>
                  <a:srgbClr val="202428"/>
                </a:solidFill>
              </a:defRPr>
            </a:pPr>
            <a:r>
              <a:t>Extra 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4480560" cy="54864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0">
                <a:solidFill>
                  <a:srgbClr val="202428"/>
                </a:solidFill>
              </a:defRPr>
            </a:pPr>
            <a:r>
              <a:t>Insert front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920240"/>
            <a:ext cx="2103120" cy="54864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0">
                <a:solidFill>
                  <a:srgbClr val="202428"/>
                </a:solidFill>
              </a:defRPr>
            </a:pPr>
            <a:r>
              <a:t>O(1)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920240"/>
            <a:ext cx="2560320" cy="54864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0">
                <a:solidFill>
                  <a:srgbClr val="202428"/>
                </a:solidFill>
              </a:defRPr>
            </a:pPr>
            <a:r>
              <a:t>O(1)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606040"/>
            <a:ext cx="4480560" cy="54864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0">
                <a:solidFill>
                  <a:srgbClr val="202428"/>
                </a:solidFill>
              </a:defRPr>
            </a:pPr>
            <a:r>
              <a:t>Delete front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2606040"/>
            <a:ext cx="2103120" cy="54864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0">
                <a:solidFill>
                  <a:srgbClr val="202428"/>
                </a:solidFill>
              </a:defRPr>
            </a:pPr>
            <a:r>
              <a:t>O(1)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606040"/>
            <a:ext cx="2560320" cy="54864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0">
                <a:solidFill>
                  <a:srgbClr val="202428"/>
                </a:solidFill>
              </a:defRPr>
            </a:pPr>
            <a:r>
              <a:t>O(1)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91840"/>
            <a:ext cx="4480560" cy="54864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0">
                <a:solidFill>
                  <a:srgbClr val="202428"/>
                </a:solidFill>
              </a:defRPr>
            </a:pPr>
            <a:r>
              <a:t>Insert at 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3291840"/>
            <a:ext cx="2103120" cy="54864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0">
                <a:solidFill>
                  <a:srgbClr val="202428"/>
                </a:solidFill>
              </a:defRPr>
            </a:pPr>
            <a:r>
              <a:t>O(n)*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291840"/>
            <a:ext cx="2560320" cy="54864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0">
                <a:solidFill>
                  <a:srgbClr val="202428"/>
                </a:solidFill>
              </a:defRPr>
            </a:pPr>
            <a:r>
              <a:t>O(1)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77639"/>
            <a:ext cx="4480560" cy="54864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0">
                <a:solidFill>
                  <a:srgbClr val="202428"/>
                </a:solidFill>
              </a:defRPr>
            </a:pPr>
            <a:r>
              <a:t>Delete at 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3977639"/>
            <a:ext cx="2103120" cy="54864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0">
                <a:solidFill>
                  <a:srgbClr val="202428"/>
                </a:solidFill>
              </a:defRPr>
            </a:pPr>
            <a:r>
              <a:t>O(n)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3977639"/>
            <a:ext cx="2560320" cy="54864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0">
                <a:solidFill>
                  <a:srgbClr val="202428"/>
                </a:solidFill>
              </a:defRPr>
            </a:pPr>
            <a:r>
              <a:t>O(1)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663440"/>
            <a:ext cx="4480560" cy="54864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0">
                <a:solidFill>
                  <a:srgbClr val="202428"/>
                </a:solidFill>
              </a:defRPr>
            </a:pPr>
            <a:r>
              <a:t>Insert/delete after known node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4663440"/>
            <a:ext cx="2103120" cy="54864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0">
                <a:solidFill>
                  <a:srgbClr val="202428"/>
                </a:solidFill>
              </a:defRPr>
            </a:pPr>
            <a:r>
              <a:t>O(1)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4663440"/>
            <a:ext cx="2560320" cy="54864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0">
                <a:solidFill>
                  <a:srgbClr val="202428"/>
                </a:solidFill>
              </a:defRPr>
            </a:pPr>
            <a:r>
              <a:t>O(1)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486400"/>
            <a:ext cx="9235440" cy="548640"/>
          </a:xfrm>
          <a:prstGeom prst="roundRect">
            <a:avLst/>
          </a:prstGeom>
          <a:solidFill>
            <a:srgbClr val="F1EFE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400" b="1">
                <a:solidFill>
                  <a:srgbClr val="202428"/>
                </a:solidFill>
              </a:defRPr>
            </a:pPr>
            <a:r>
              <a:t>* O(1) if a tail pointer is maintained.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Common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428"/>
                </a:solidFill>
              </a:defRPr>
            </a:pPr>
            <a:r>
              <a:t>• ❌ Overwriting `next` before saving the remaining list</a:t>
            </a:r>
          </a:p>
          <a:p>
            <a:pPr>
              <a:spcAft>
                <a:spcPts val="800"/>
              </a:spcAft>
              <a:defRPr sz="1700">
                <a:solidFill>
                  <a:srgbClr val="202428"/>
                </a:solidFill>
              </a:defRPr>
            </a:pPr>
            <a:r>
              <a:t>• ❌ Forgetting that deleting the head changes `head`</a:t>
            </a:r>
          </a:p>
          <a:p>
            <a:pPr>
              <a:spcAft>
                <a:spcPts val="800"/>
              </a:spcAft>
              <a:defRPr sz="1700">
                <a:solidFill>
                  <a:srgbClr val="202428"/>
                </a:solidFill>
              </a:defRPr>
            </a:pPr>
            <a:r>
              <a:t>• ❌ Dereferencing `nullptr` on an empty / single-node list</a:t>
            </a:r>
          </a:p>
          <a:p>
            <a:pPr>
              <a:spcAft>
                <a:spcPts val="800"/>
              </a:spcAft>
              <a:defRPr sz="1700">
                <a:solidFill>
                  <a:srgbClr val="202428"/>
                </a:solidFill>
              </a:defRPr>
            </a:pPr>
            <a:r>
              <a:t>• ❌ Losing the node to be deleted before rewiring</a:t>
            </a:r>
          </a:p>
          <a:p>
            <a:pPr>
              <a:spcAft>
                <a:spcPts val="800"/>
              </a:spcAft>
              <a:defRPr sz="1700">
                <a:solidFill>
                  <a:srgbClr val="202428"/>
                </a:solidFill>
              </a:defRPr>
            </a:pPr>
            <a:r>
              <a:t>• ❌ Forgetting `delete` in manual C++ memory management</a:t>
            </a:r>
          </a:p>
          <a:p>
            <a:pPr>
              <a:spcAft>
                <a:spcPts val="800"/>
              </a:spcAft>
              <a:defRPr sz="1700">
                <a:solidFill>
                  <a:srgbClr val="202428"/>
                </a:solidFill>
              </a:defRPr>
            </a:pPr>
            <a:r>
              <a:t>• ❌ Using the wrong predecessor when deleting a middle/end node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Interview / LeetCode Practice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743200" cy="105156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202428"/>
                </a:solidFill>
              </a:defRPr>
            </a:pPr>
            <a:r>
              <a:t>206 — Reverse Linked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234440"/>
            <a:ext cx="5577840" cy="105156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300" b="0">
                <a:solidFill>
                  <a:srgbClr val="202428"/>
                </a:solidFill>
              </a:defRPr>
            </a:pPr>
            <a:r>
              <a:t>Reverse a singly linked list; iterative and recursive approaches are common.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72600" y="1234440"/>
            <a:ext cx="1828800" cy="1051560"/>
          </a:xfrm>
          <a:prstGeom prst="roundRect">
            <a:avLst/>
          </a:prstGeom>
          <a:solidFill>
            <a:srgbClr val="F1EFE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200" b="1">
                <a:solidFill>
                  <a:srgbClr val="202428"/>
                </a:solidFill>
              </a:defRPr>
            </a:pPr>
            <a:r>
              <a:t>O(n), O(1) iterative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2743200" cy="105156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202428"/>
                </a:solidFill>
              </a:defRPr>
            </a:pPr>
            <a:r>
              <a:t>21 — Merge Two Sorted Lists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743200"/>
            <a:ext cx="5577840" cy="105156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300" b="0">
                <a:solidFill>
                  <a:srgbClr val="202428"/>
                </a:solidFill>
              </a:defRPr>
            </a:pPr>
            <a:r>
              <a:t>Splice two sorted lists by repeatedly taking the smaller head.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2743200"/>
            <a:ext cx="1828800" cy="1051560"/>
          </a:xfrm>
          <a:prstGeom prst="roundRect">
            <a:avLst/>
          </a:prstGeom>
          <a:solidFill>
            <a:srgbClr val="F1EFE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200" b="1">
                <a:solidFill>
                  <a:srgbClr val="202428"/>
                </a:solidFill>
              </a:defRPr>
            </a:pPr>
            <a:r>
              <a:t>O(m+n), O(1) iterative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51960"/>
            <a:ext cx="2743200" cy="105156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500" b="1">
                <a:solidFill>
                  <a:srgbClr val="202428"/>
                </a:solidFill>
              </a:defRPr>
            </a:pPr>
            <a:r>
              <a:t>19 — Remove Nth Node From 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4251960"/>
            <a:ext cx="5577840" cy="105156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300" b="0">
                <a:solidFill>
                  <a:srgbClr val="202428"/>
                </a:solidFill>
              </a:defRPr>
            </a:pPr>
            <a:r>
              <a:t>Use a two-pointer gap to remove a node without indexing.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4251960"/>
            <a:ext cx="1828800" cy="1051560"/>
          </a:xfrm>
          <a:prstGeom prst="roundRect">
            <a:avLst/>
          </a:prstGeom>
          <a:solidFill>
            <a:srgbClr val="F1EFE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200" b="1">
                <a:solidFill>
                  <a:srgbClr val="202428"/>
                </a:solidFill>
              </a:defRPr>
            </a:pPr>
            <a:r>
              <a:t>O(n), O(1)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0644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D6368"/>
                </a:solidFill>
              </a:defRPr>
            </a:pPr>
            <a:r>
              <a:t>LeetCode #206 and #21 are documented here: see official problem pages.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Quick Recap — The 5 Things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9875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428"/>
                </a:solidFill>
              </a:defRPr>
            </a:pPr>
            <a:r>
              <a:t>• 1. Head insertion/deletion can change the head.</a:t>
            </a:r>
          </a:p>
          <a:p>
            <a:pPr>
              <a:spcAft>
                <a:spcPts val="800"/>
              </a:spcAft>
              <a:defRPr sz="1800">
                <a:solidFill>
                  <a:srgbClr val="202428"/>
                </a:solidFill>
              </a:defRPr>
            </a:pPr>
            <a:r>
              <a:t>• 2. Middle insertion: connect new → next, then prev → new.</a:t>
            </a:r>
          </a:p>
          <a:p>
            <a:pPr>
              <a:spcAft>
                <a:spcPts val="800"/>
              </a:spcAft>
              <a:defRPr sz="1800">
                <a:solidFill>
                  <a:srgbClr val="202428"/>
                </a:solidFill>
              </a:defRPr>
            </a:pPr>
            <a:r>
              <a:t>• 3. Deletion: bypass the target, then release it.</a:t>
            </a:r>
          </a:p>
          <a:p>
            <a:pPr>
              <a:spcAft>
                <a:spcPts val="800"/>
              </a:spcAft>
              <a:defRPr sz="1800">
                <a:solidFill>
                  <a:srgbClr val="202428"/>
                </a:solidFill>
              </a:defRPr>
            </a:pPr>
            <a:r>
              <a:t>• 4. Always protect the remaining chain before rewiring.</a:t>
            </a:r>
          </a:p>
          <a:p>
            <a:pPr>
              <a:spcAft>
                <a:spcPts val="800"/>
              </a:spcAft>
              <a:defRPr sz="1800">
                <a:solidFill>
                  <a:srgbClr val="202428"/>
                </a:solidFill>
              </a:defRPr>
            </a:pPr>
            <a:r>
              <a:t>• 5. If a pointer diagram is clear, the code becomes mechanical.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303520"/>
            <a:ext cx="9601200" cy="64008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800" b="1">
                <a:solidFill>
                  <a:srgbClr val="202428"/>
                </a:solidFill>
              </a:defRPr>
            </a:pPr>
            <a:r>
              <a:t>NEXT: Day 44 → Linked List Reversal &amp; Pointer Technique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Day 44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32688"/>
            <a:ext cx="10698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D6368"/>
                </a:solidFill>
              </a:defRPr>
            </a:pPr>
            <a:r>
              <a:t>From changing links → reversing links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515600" cy="347472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200" b="1">
                <a:solidFill>
                  <a:srgbClr val="202428"/>
                </a:solidFill>
              </a:defRPr>
            </a:pPr>
            <a:r>
              <a:t>LINKED LIST REVERSAL</a:t>
            </a:r>
            <a:br/>
            <a:br/>
            <a:r>
              <a:t>• `prev`, `curr`, `next`</a:t>
            </a:r>
            <a:br/>
            <a:r>
              <a:t>• Step-by-step pointer movement</a:t>
            </a:r>
            <a:br/>
            <a:r>
              <a:t>• Iterative reversal in C++</a:t>
            </a:r>
            <a:br/>
            <a:r>
              <a:t>• Dry run + edge cases</a:t>
            </a:r>
            <a:br/>
            <a:r>
              <a:t>• Why losing `next` loses the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5257800"/>
            <a:ext cx="8046720" cy="640080"/>
          </a:xfrm>
          <a:prstGeom prst="roundRect">
            <a:avLst/>
          </a:prstGeom>
          <a:solidFill>
            <a:srgbClr val="F1EFE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800" b="1">
                <a:solidFill>
                  <a:srgbClr val="202428"/>
                </a:solidFill>
              </a:defRPr>
            </a:pPr>
            <a:r>
              <a:t>Keep learning. Keep drawing the pointers.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Mini Challenge — Try Before You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07040" cy="73152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000" b="1">
                <a:solidFill>
                  <a:srgbClr val="202428"/>
                </a:solidFill>
              </a:defRPr>
            </a:pPr>
            <a:r>
              <a:t>Given: 10 → 20 → 30 →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428"/>
                </a:solidFill>
              </a:defRPr>
            </a:pPr>
            <a:r>
              <a:t>• A) Insert 25 after 20</a:t>
            </a:r>
          </a:p>
          <a:p>
            <a:pPr>
              <a:spcAft>
                <a:spcPts val="800"/>
              </a:spcAft>
              <a:defRPr sz="1800">
                <a:solidFill>
                  <a:srgbClr val="202428"/>
                </a:solidFill>
              </a:defRPr>
            </a:pPr>
            <a:r>
              <a:t>• B) Delete 30</a:t>
            </a:r>
          </a:p>
          <a:p>
            <a:pPr>
              <a:spcAft>
                <a:spcPts val="800"/>
              </a:spcAft>
              <a:defRPr sz="1800">
                <a:solidFill>
                  <a:srgbClr val="202428"/>
                </a:solidFill>
              </a:defRPr>
            </a:pPr>
            <a:r>
              <a:t>• C) Insert 5 at the beginning</a:t>
            </a:r>
          </a:p>
          <a:p>
            <a:pPr>
              <a:spcAft>
                <a:spcPts val="800"/>
              </a:spcAft>
              <a:defRPr sz="1800">
                <a:solidFill>
                  <a:srgbClr val="202428"/>
                </a:solidFill>
              </a:defRPr>
            </a:pPr>
            <a:r>
              <a:t>• D) Delete the last node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166360"/>
            <a:ext cx="9875520" cy="685800"/>
          </a:xfrm>
          <a:prstGeom prst="roundRect">
            <a:avLst/>
          </a:prstGeom>
          <a:solidFill>
            <a:srgbClr val="EFF4F9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600" b="1">
                <a:solidFill>
                  <a:srgbClr val="202428"/>
                </a:solidFill>
              </a:defRPr>
            </a:pPr>
            <a:r>
              <a:t>For each: draw the old arrows → identify the pointer to change → draw the new arrows.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86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473952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D6368"/>
                </a:solidFill>
              </a:defRPr>
            </a:pPr>
            <a:r>
              <a:t>DSA From Scratch → Advanced  •  Day 43     |     https://github.com/ritesh2687/dsa_ppt_post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02428"/>
                </a:solidFill>
              </a:defRPr>
            </a:pPr>
            <a:r>
              <a:t>End Note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9875520" cy="3108960"/>
          </a:xfrm>
          <a:prstGeom prst="roundRect">
            <a:avLst/>
          </a:prstGeom>
          <a:solidFill>
            <a:srgbClr val="FFFDF7"/>
          </a:solidFill>
          <a:ln>
            <a:solidFill>
              <a:srgbClr val="D2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2500" b="1">
                <a:solidFill>
                  <a:srgbClr val="202428"/>
                </a:solidFill>
              </a:defRPr>
            </a:pPr>
            <a:r>
              <a:t>LINKED LISTS ARE NOT ABOUT INDEXES.</a:t>
            </a:r>
            <a:br/>
            <a:br/>
            <a:r>
              <a:t>They are about safely changing connections.</a:t>
            </a:r>
            <a:br/>
            <a:br/>
            <a:r>
              <a:t>Draw → save → rewire → move →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92040"/>
            <a:ext cx="9509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48607A"/>
                </a:solidFill>
              </a:defRPr>
            </a:pPr>
            <a:r>
              <a:t>DSA From Scratch → Advanced  |  Day 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