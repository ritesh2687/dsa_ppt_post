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C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7572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A5B5C9"/>
                </a:solidFill>
              </a:defRPr>
            </a:pPr>
            <a:r>
              <a:t>01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594360"/>
            <a:ext cx="1325880" cy="329184"/>
          </a:xfrm>
          <a:prstGeom prst="roundRect">
            <a:avLst/>
          </a:prstGeom>
          <a:solidFill>
            <a:srgbClr val="121F30"/>
          </a:solidFill>
          <a:ln w="12700">
            <a:solidFill>
              <a:srgbClr val="3C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644652"/>
            <a:ext cx="11795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CDCFF"/>
                </a:solidFill>
                <a:latin typeface="Aptos"/>
              </a:defRPr>
            </a:pPr>
            <a:r>
              <a:t>DSA DAILY SERIES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CDCFF"/>
                </a:solidFill>
                <a:latin typeface="Aptos"/>
              </a:defRPr>
            </a:pPr>
            <a:r>
              <a:t>Day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74519"/>
            <a:ext cx="8961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5F8FC"/>
                </a:solidFill>
                <a:latin typeface="Aptos"/>
              </a:defRPr>
            </a:pPr>
            <a:r>
              <a:t>String Traversal</a:t>
            </a:r>
            <a:br/>
            <a:r>
              <a:t>&amp; Manipulation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063240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5B5C9"/>
                </a:solidFill>
                <a:latin typeface="Aptos"/>
              </a:defRPr>
            </a:pPr>
            <a:r>
              <a:t>Learn how to efficiently read, process, modify and transform strings in C++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160520"/>
            <a:ext cx="10744200" cy="1417320"/>
          </a:xfrm>
          <a:prstGeom prst="roundRect">
            <a:avLst/>
          </a:prstGeom>
          <a:solidFill>
            <a:srgbClr val="0B1320"/>
          </a:solidFill>
          <a:ln w="12700">
            <a:solidFill>
              <a:srgbClr val="20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407408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F8FC"/>
                </a:solidFill>
                <a:latin typeface="Consolas"/>
              </a:defRPr>
            </a:pPr>
            <a:r>
              <a:t>"HELLO WORLD"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4828032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5B5C9"/>
                </a:solidFill>
                <a:latin typeface="Consolas"/>
              </a:defRPr>
            </a:pPr>
            <a:r>
              <a:t>0   1   2   3   4   5   6   7   8   9   10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5193792"/>
            <a:ext cx="9966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CDCFF"/>
                </a:solidFill>
                <a:latin typeface="Consolas"/>
              </a:defRPr>
            </a:pPr>
            <a:r>
              <a:t>H   E   L   L   O       W   O   R   L   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C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7572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A5B5C9"/>
                </a:solidFill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F5F8FC"/>
                </a:solidFill>
                <a:latin typeface="Aptos"/>
              </a:defRPr>
            </a:pPr>
            <a:r>
              <a:t>What is String Traversal?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3268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B5C9"/>
                </a:solidFill>
                <a:latin typeface="Aptos"/>
              </a:defRPr>
            </a:pPr>
            <a:r>
              <a:t>Visit each character one by 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5F8FC"/>
                </a:solidFill>
                <a:latin typeface="Aptos"/>
              </a:defRPr>
            </a:pPr>
            <a:r>
              <a:t>String traversal means visiting each character of a string one by one.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788920"/>
            <a:ext cx="2743200" cy="1234440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20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953512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CDCFF"/>
                </a:solidFill>
                <a:latin typeface="Aptos"/>
              </a:defRPr>
            </a:pPr>
            <a:r>
              <a:t>Sequence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355848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5F8FC"/>
                </a:solidFill>
                <a:latin typeface="Aptos"/>
              </a:defRPr>
            </a:pPr>
            <a:r>
              <a:t>A string is a sequence of characters.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2788920"/>
            <a:ext cx="2743200" cy="1234440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20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0" y="2953512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67DFF"/>
                </a:solidFill>
                <a:latin typeface="Aptos"/>
              </a:defRPr>
            </a:pPr>
            <a:r>
              <a:t>Index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3355848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5F8FC"/>
                </a:solidFill>
                <a:latin typeface="Aptos"/>
              </a:defRPr>
            </a:pPr>
            <a:r>
              <a:t>Each character is accessed using an index.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297679"/>
            <a:ext cx="2743200" cy="1234440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20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462271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5E6AA"/>
                </a:solidFill>
                <a:latin typeface="Aptos"/>
              </a:defRPr>
            </a:pPr>
            <a:r>
              <a:t>Start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864607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5F8FC"/>
                </a:solidFill>
                <a:latin typeface="Aptos"/>
              </a:defRPr>
            </a:pPr>
            <a:r>
              <a:t>C++ string indexing starts from 0.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0" y="4297679"/>
            <a:ext cx="2743200" cy="1234440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20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0" y="4462271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D5A"/>
                </a:solidFill>
                <a:latin typeface="Aptos"/>
              </a:defRPr>
            </a:pPr>
            <a:r>
              <a:t>Direction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4864607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5F8FC"/>
                </a:solidFill>
                <a:latin typeface="Aptos"/>
              </a:defRPr>
            </a:pPr>
            <a:r>
              <a:t>Usually left → right, but right → left is also possible.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12280" y="1371600"/>
            <a:ext cx="4617720" cy="4526280"/>
          </a:xfrm>
          <a:prstGeom prst="roundRect">
            <a:avLst/>
          </a:prstGeom>
          <a:solidFill>
            <a:srgbClr val="0A121E"/>
          </a:solidFill>
          <a:ln w="12700">
            <a:solidFill>
              <a:srgbClr val="20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0" y="169164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CDCFF"/>
                </a:solidFill>
                <a:latin typeface="Consolas"/>
              </a:defRPr>
            </a:pPr>
            <a:r>
              <a:t>string s = "HELLO";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22402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5B5C9"/>
                </a:solidFill>
                <a:latin typeface="Consolas"/>
              </a:defRPr>
            </a:pPr>
            <a:r>
              <a:t>Index      0   1   2   3  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26060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F8FC"/>
                </a:solidFill>
                <a:latin typeface="Consolas"/>
              </a:defRPr>
            </a:pPr>
            <a:r>
              <a:t>Character  H   E   L   L   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3429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3CDCFF"/>
                </a:solidFill>
                <a:latin typeface="Consolas"/>
              </a:defRPr>
            </a:pPr>
            <a:r>
              <a:t>H  →  E  →  L  →  L  →  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C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7572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A5B5C9"/>
                </a:solidFill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F5F8FC"/>
                </a:solidFill>
                <a:latin typeface="Aptos"/>
              </a:defRPr>
            </a:pPr>
            <a:r>
              <a:t>Why Do We Need String Traversal?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3268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B5C9"/>
                </a:solidFill>
                <a:latin typeface="Aptos"/>
              </a:defRPr>
            </a:pPr>
            <a:r>
              <a:t>Most basic string problems start with traversal.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2514600" cy="1097280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20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73351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CDCFF"/>
                </a:solidFill>
                <a:latin typeface="Aptos"/>
              </a:defRPr>
            </a:pPr>
            <a:r>
              <a:t>Count characters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75688"/>
            <a:ext cx="214884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5F8FC"/>
                </a:solidFill>
                <a:latin typeface="Aptos"/>
              </a:defRPr>
            </a:pPr>
            <a:r>
              <a:t>Scan characters → take action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508760"/>
            <a:ext cx="2514600" cy="1097280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20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673351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67DFF"/>
                </a:solidFill>
                <a:latin typeface="Aptos"/>
              </a:defRPr>
            </a:pPr>
            <a:r>
              <a:t>Search for a character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075688"/>
            <a:ext cx="214884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5F8FC"/>
                </a:solidFill>
                <a:latin typeface="Aptos"/>
              </a:defRPr>
            </a:pPr>
            <a:r>
              <a:t>Scan characters → take action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08760"/>
            <a:ext cx="2514600" cy="1097280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20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673351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CDCFF"/>
                </a:solidFill>
                <a:latin typeface="Aptos"/>
              </a:defRPr>
            </a:pPr>
            <a:r>
              <a:t>Count vowels / consonants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075688"/>
            <a:ext cx="214884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5F8FC"/>
                </a:solidFill>
                <a:latin typeface="Aptos"/>
              </a:defRPr>
            </a:pPr>
            <a:r>
              <a:t>Scan characters → take action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59" y="1508760"/>
            <a:ext cx="2514600" cy="1097280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20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39" y="1673351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67DFF"/>
                </a:solidFill>
                <a:latin typeface="Aptos"/>
              </a:defRPr>
            </a:pPr>
            <a:r>
              <a:t>Check conditions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39" y="2075688"/>
            <a:ext cx="214884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5F8FC"/>
                </a:solidFill>
                <a:latin typeface="Aptos"/>
              </a:defRPr>
            </a:pPr>
            <a:r>
              <a:t>Scan characters → take action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2926080"/>
            <a:ext cx="2514600" cy="1097280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20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090672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CDCFF"/>
                </a:solidFill>
                <a:latin typeface="Aptos"/>
              </a:defRPr>
            </a:pPr>
            <a:r>
              <a:t>Modify characters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493008"/>
            <a:ext cx="214884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5F8FC"/>
                </a:solidFill>
                <a:latin typeface="Aptos"/>
              </a:defRPr>
            </a:pPr>
            <a:r>
              <a:t>Scan characters → take action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74720" y="2926080"/>
            <a:ext cx="2514600" cy="1097280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20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3090672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67DFF"/>
                </a:solidFill>
                <a:latin typeface="Aptos"/>
              </a:defRPr>
            </a:pPr>
            <a:r>
              <a:t>Build a new string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3493008"/>
            <a:ext cx="214884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5F8FC"/>
                </a:solidFill>
                <a:latin typeface="Aptos"/>
              </a:defRPr>
            </a:pPr>
            <a:r>
              <a:t>Scan characters → take action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2926080"/>
            <a:ext cx="2514600" cy="1097280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20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3090672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CDCFF"/>
                </a:solidFill>
                <a:latin typeface="Aptos"/>
              </a:defRPr>
            </a:pPr>
            <a:r>
              <a:t>Validate strings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493008"/>
            <a:ext cx="214884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5F8FC"/>
                </a:solidFill>
                <a:latin typeface="Aptos"/>
              </a:defRPr>
            </a:pPr>
            <a:r>
              <a:t>Scan characters → take action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52559" y="2926080"/>
            <a:ext cx="2514600" cy="1097280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20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35439" y="3090672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67DFF"/>
                </a:solidFill>
                <a:latin typeface="Aptos"/>
              </a:defRPr>
            </a:pPr>
            <a:r>
              <a:t>Solve interview problems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39" y="3493008"/>
            <a:ext cx="214884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5F8FC"/>
                </a:solidFill>
                <a:latin typeface="Aptos"/>
              </a:defRPr>
            </a:pPr>
            <a:r>
              <a:t>Scan characters → take action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709160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F5F8FC"/>
                </a:solidFill>
                <a:latin typeface="Aptos"/>
              </a:defRPr>
            </a:pPr>
            <a:r>
              <a:t>"Most basic string problems start with traversal."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C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7572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A5B5C9"/>
                </a:solidFill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F5F8FC"/>
                </a:solidFill>
                <a:latin typeface="Aptos"/>
              </a:defRPr>
            </a:pPr>
            <a:r>
              <a:t>How Does String Traversal Work?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3268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B5C9"/>
                </a:solidFill>
                <a:latin typeface="Aptos"/>
              </a:defRPr>
            </a:pPr>
            <a:r>
              <a:t>The basic loop behind many string problems.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1508760" cy="914400"/>
          </a:xfrm>
          <a:prstGeom prst="roundRect">
            <a:avLst/>
          </a:prstGeom>
          <a:solidFill>
            <a:srgbClr val="0F1B2C"/>
          </a:solidFill>
          <a:ln w="12700">
            <a:solidFill>
              <a:srgbClr val="20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19" y="2267712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5F8FC"/>
                </a:solidFill>
                <a:latin typeface="Aptos"/>
              </a:defRPr>
            </a:pPr>
            <a:r>
              <a:t>START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76272" y="225856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A5B5C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14600" y="2011680"/>
            <a:ext cx="1508760" cy="914400"/>
          </a:xfrm>
          <a:prstGeom prst="roundRect">
            <a:avLst/>
          </a:prstGeom>
          <a:solidFill>
            <a:srgbClr val="0F1B2C"/>
          </a:solidFill>
          <a:ln w="12700">
            <a:solidFill>
              <a:srgbClr val="20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06040" y="2267712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CDCFF"/>
                </a:solidFill>
                <a:latin typeface="Aptos"/>
              </a:defRPr>
            </a:pPr>
            <a:r>
              <a:t>Read s[i]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50791" y="225856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A5B5C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011680"/>
            <a:ext cx="1508760" cy="914400"/>
          </a:xfrm>
          <a:prstGeom prst="roundRect">
            <a:avLst/>
          </a:prstGeom>
          <a:solidFill>
            <a:srgbClr val="0F1B2C"/>
          </a:solidFill>
          <a:ln w="12700">
            <a:solidFill>
              <a:srgbClr val="20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59" y="2267712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CDCFF"/>
                </a:solidFill>
                <a:latin typeface="Aptos"/>
              </a:defRPr>
            </a:pPr>
            <a:r>
              <a:t>Check / Process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25312" y="225856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A5B5C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011680"/>
            <a:ext cx="1508760" cy="914400"/>
          </a:xfrm>
          <a:prstGeom prst="roundRect">
            <a:avLst/>
          </a:prstGeom>
          <a:solidFill>
            <a:srgbClr val="0F1B2C"/>
          </a:solidFill>
          <a:ln w="12700">
            <a:solidFill>
              <a:srgbClr val="20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79" y="2267712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CDCFF"/>
                </a:solidFill>
                <a:latin typeface="Aptos"/>
              </a:defRPr>
            </a:pPr>
            <a:r>
              <a:t>Update Answer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99831" y="225856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A5B5C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59" y="2011680"/>
            <a:ext cx="1508760" cy="914400"/>
          </a:xfrm>
          <a:prstGeom prst="roundRect">
            <a:avLst/>
          </a:prstGeom>
          <a:solidFill>
            <a:srgbClr val="0F1B2C"/>
          </a:solidFill>
          <a:ln w="12700">
            <a:solidFill>
              <a:srgbClr val="20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9" y="2267712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5F8FC"/>
                </a:solidFill>
                <a:latin typeface="Aptos"/>
              </a:defRPr>
            </a:pPr>
            <a:r>
              <a:t>i++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74351" y="225856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A5B5C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12680" y="2011680"/>
            <a:ext cx="1508760" cy="914400"/>
          </a:xfrm>
          <a:prstGeom prst="roundRect">
            <a:avLst/>
          </a:prstGeom>
          <a:solidFill>
            <a:srgbClr val="0F1B2C"/>
          </a:solidFill>
          <a:ln w="12700">
            <a:solidFill>
              <a:srgbClr val="20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04119" y="2267712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5F8FC"/>
                </a:solidFill>
                <a:latin typeface="Aptos"/>
              </a:defRPr>
            </a:pPr>
            <a:r>
              <a:t>End?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011680" y="3931920"/>
            <a:ext cx="8138160" cy="1325880"/>
          </a:xfrm>
          <a:prstGeom prst="roundRect">
            <a:avLst/>
          </a:prstGeom>
          <a:solidFill>
            <a:srgbClr val="0A111D"/>
          </a:solidFill>
          <a:ln w="12700">
            <a:solidFill>
              <a:srgbClr val="20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94560" y="4050791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CDCFF"/>
                </a:solidFill>
                <a:latin typeface="Aptos"/>
              </a:defRPr>
            </a:pPr>
            <a:r>
              <a:t>C++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12848" y="4370831"/>
            <a:ext cx="773582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5F8FC"/>
                </a:solidFill>
                <a:latin typeface="Consolas"/>
              </a:defRPr>
            </a:pPr>
            <a:r>
              <a:t>for (int i = 0; i &lt; s.size(); i++) {</a:t>
            </a:r>
            <a:br/>
            <a:r>
              <a:t>    // process s[i]</a:t>
            </a:r>
            <a:br/>
            <a:r>
              <a:t>}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057400" y="5440680"/>
            <a:ext cx="1371600" cy="329184"/>
          </a:xfrm>
          <a:prstGeom prst="roundRect">
            <a:avLst/>
          </a:prstGeom>
          <a:solidFill>
            <a:srgbClr val="121F30"/>
          </a:solidFill>
          <a:ln w="12700">
            <a:solidFill>
              <a:srgbClr val="46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30552" y="5490972"/>
            <a:ext cx="12252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467DFF"/>
                </a:solidFill>
                <a:latin typeface="Aptos"/>
              </a:defRPr>
            </a:pPr>
            <a:r>
              <a:t>i = index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0" y="5440680"/>
            <a:ext cx="1737360" cy="329184"/>
          </a:xfrm>
          <a:prstGeom prst="roundRect">
            <a:avLst/>
          </a:prstGeom>
          <a:solidFill>
            <a:srgbClr val="121F30"/>
          </a:solidFill>
          <a:ln w="12700">
            <a:solidFill>
              <a:srgbClr val="3C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30752" y="5490972"/>
            <a:ext cx="15910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CDCFF"/>
                </a:solidFill>
                <a:latin typeface="Aptos"/>
              </a:defRPr>
            </a:pPr>
            <a:r>
              <a:t>s[i] = character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23560" y="5440680"/>
            <a:ext cx="1828800" cy="329184"/>
          </a:xfrm>
          <a:prstGeom prst="roundRect">
            <a:avLst/>
          </a:prstGeom>
          <a:solidFill>
            <a:srgbClr val="121F30"/>
          </a:solidFill>
          <a:ln w="12700">
            <a:solidFill>
              <a:srgbClr val="55E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96712" y="5490972"/>
            <a:ext cx="16824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55E6AA"/>
                </a:solidFill>
                <a:latin typeface="Aptos"/>
              </a:defRPr>
            </a:pPr>
            <a:r>
              <a:t>s.size() = length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C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7572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A5B5C9"/>
                </a:solidFill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F5F8FC"/>
                </a:solidFill>
                <a:latin typeface="Aptos"/>
              </a:defRPr>
            </a:pPr>
            <a:r>
              <a:t>Core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3268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B5C9"/>
                </a:solidFill>
                <a:latin typeface="Aptos"/>
              </a:defRPr>
            </a:pPr>
            <a:r>
              <a:t>Read → Decide → Update → Move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63040"/>
            <a:ext cx="5120640" cy="3337560"/>
          </a:xfrm>
          <a:prstGeom prst="roundRect">
            <a:avLst/>
          </a:prstGeom>
          <a:solidFill>
            <a:srgbClr val="0A111D"/>
          </a:solidFill>
          <a:ln w="12700">
            <a:solidFill>
              <a:srgbClr val="20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81912"/>
            <a:ext cx="47548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CDCFF"/>
                </a:solidFill>
                <a:latin typeface="Aptos"/>
              </a:defRPr>
            </a:pPr>
            <a:r>
              <a:t>C++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901952"/>
            <a:ext cx="4718303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5F8FC"/>
                </a:solidFill>
                <a:latin typeface="Consolas"/>
              </a:defRPr>
            </a:pPr>
            <a:r>
              <a:t>for (char ch : s) {</a:t>
            </a:r>
            <a:br/>
            <a:r>
              <a:t>    if (condition) {</a:t>
            </a:r>
            <a:br/>
            <a:r>
              <a:t>        // update answer</a:t>
            </a:r>
            <a:br/>
            <a:r>
              <a:t>    }</a:t>
            </a:r>
            <a:br/>
            <a: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417320"/>
            <a:ext cx="4983480" cy="914400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20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581912"/>
            <a:ext cx="4617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CDCFF"/>
                </a:solidFill>
                <a:latin typeface="Aptos"/>
              </a:defRPr>
            </a:pPr>
            <a:r>
              <a:t>READ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984248"/>
            <a:ext cx="4617720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5F8FC"/>
                </a:solidFill>
                <a:latin typeface="Aptos"/>
              </a:defRPr>
            </a:pPr>
            <a:r>
              <a:t>Take the current character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2514600"/>
            <a:ext cx="4983480" cy="914400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20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2679192"/>
            <a:ext cx="4617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67DFF"/>
                </a:solidFill>
                <a:latin typeface="Aptos"/>
              </a:defRPr>
            </a:pPr>
            <a:r>
              <a:t>DECIDE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3081528"/>
            <a:ext cx="4617720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5F8FC"/>
                </a:solidFill>
                <a:latin typeface="Aptos"/>
              </a:defRPr>
            </a:pPr>
            <a:r>
              <a:t>Check the condition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3611880"/>
            <a:ext cx="4983480" cy="914400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20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3776472"/>
            <a:ext cx="4617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5E6AA"/>
                </a:solidFill>
                <a:latin typeface="Aptos"/>
              </a:defRPr>
            </a:pPr>
            <a:r>
              <a:t>UPDATE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4178808"/>
            <a:ext cx="4617720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5F8FC"/>
                </a:solidFill>
                <a:latin typeface="Aptos"/>
              </a:defRPr>
            </a:pPr>
            <a:r>
              <a:t>Change count / result / state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4709159"/>
            <a:ext cx="4983480" cy="914400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20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4873751"/>
            <a:ext cx="4617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D5A"/>
                </a:solidFill>
                <a:latin typeface="Aptos"/>
              </a:defRPr>
            </a:pPr>
            <a:r>
              <a:t>MOVE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5276088"/>
            <a:ext cx="4617720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5F8FC"/>
                </a:solidFill>
                <a:latin typeface="Aptos"/>
              </a:defRPr>
            </a:pPr>
            <a:r>
              <a:t>Continue to the next character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5806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B5C9"/>
                </a:solidFill>
                <a:latin typeface="Aptos"/>
              </a:defRPr>
            </a:pPr>
            <a:r>
              <a:t>This pattern appears in many string interview problems.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C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7572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A5B5C9"/>
                </a:solidFill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F5F8FC"/>
                </a:solidFill>
                <a:latin typeface="Aptos"/>
              </a:defRPr>
            </a:pPr>
            <a:r>
              <a:t>C++ Implementation: Index-Based Traversal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6583680" cy="4892040"/>
          </a:xfrm>
          <a:prstGeom prst="roundRect">
            <a:avLst/>
          </a:prstGeom>
          <a:solidFill>
            <a:srgbClr val="0A111D"/>
          </a:solidFill>
          <a:ln w="12700">
            <a:solidFill>
              <a:srgbClr val="20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44752"/>
            <a:ext cx="621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CDCFF"/>
                </a:solidFill>
                <a:latin typeface="Aptos"/>
              </a:defRPr>
            </a:pPr>
            <a:r>
              <a:t>C++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764792"/>
            <a:ext cx="6181344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5F8FC"/>
                </a:solidFill>
                <a:latin typeface="Consolas"/>
              </a:defRPr>
            </a:pPr>
            <a:r>
              <a:t>#include &lt;iostream&gt;</a:t>
            </a:r>
            <a:br/>
            <a:r>
              <a:t>#include &lt;string&gt;</a:t>
            </a:r>
            <a:br/>
            <a:r>
              <a:t>using namespace std;</a:t>
            </a:r>
            <a:br/>
            <a:br/>
            <a:r>
              <a:t>int main() {</a:t>
            </a:r>
            <a:br/>
            <a:r>
              <a:t>    string s = "Hello World";</a:t>
            </a:r>
            <a:br/>
            <a:br/>
            <a:r>
              <a:t>    for (int i = 0; i &lt; s.size(); i++) {</a:t>
            </a:r>
            <a:br/>
            <a:r>
              <a:t>        cout &lt;&lt; s[i] &lt;&lt; ' ';</a:t>
            </a:r>
            <a:br/>
            <a:r>
              <a:t>    }</a:t>
            </a:r>
            <a:br/>
            <a:br/>
            <a:r>
              <a:t>    return 0;</a:t>
            </a:r>
            <a:br/>
            <a: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1417320"/>
            <a:ext cx="3794760" cy="4343400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20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79" y="17373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CDCFF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224028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5F8FC"/>
                </a:solidFill>
                <a:latin typeface="Consolas"/>
              </a:defRPr>
            </a:pPr>
            <a:r>
              <a:t>H e l l o</a:t>
            </a:r>
            <a:br/>
            <a:r>
              <a:t>  W o r l 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3429000"/>
            <a:ext cx="3063240" cy="914400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20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59" y="3593592"/>
            <a:ext cx="2697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67DFF"/>
                </a:solidFill>
                <a:latin typeface="Aptos"/>
              </a:defRPr>
            </a:pPr>
            <a:r>
              <a:t>s[i]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59" y="3995928"/>
            <a:ext cx="2697480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5F8FC"/>
                </a:solidFill>
                <a:latin typeface="Aptos"/>
              </a:defRPr>
            </a:pPr>
            <a:r>
              <a:t>Current character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4526280"/>
            <a:ext cx="3063240" cy="914400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20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59" y="4690872"/>
            <a:ext cx="2697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5E6AA"/>
                </a:solidFill>
                <a:latin typeface="Aptos"/>
              </a:defRPr>
            </a:pPr>
            <a:r>
              <a:t>i++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59" y="5093208"/>
            <a:ext cx="2697480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5F8FC"/>
                </a:solidFill>
                <a:latin typeface="Aptos"/>
              </a:defRPr>
            </a:pPr>
            <a:r>
              <a:t>Move to next index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C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7572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A5B5C9"/>
                </a:solidFill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F5F8FC"/>
                </a:solidFill>
                <a:latin typeface="Aptos"/>
              </a:defRPr>
            </a:pPr>
            <a:r>
              <a:t>C++ Implementation: Range-Based Traversal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63040"/>
            <a:ext cx="5394960" cy="2514600"/>
          </a:xfrm>
          <a:prstGeom prst="roundRect">
            <a:avLst/>
          </a:prstGeom>
          <a:solidFill>
            <a:srgbClr val="0A111D"/>
          </a:solidFill>
          <a:ln w="12700">
            <a:solidFill>
              <a:srgbClr val="20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8191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CDCFF"/>
                </a:solidFill>
                <a:latin typeface="Aptos"/>
              </a:defRPr>
            </a:pPr>
            <a:r>
              <a:t>C++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901952"/>
            <a:ext cx="499262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5F8FC"/>
                </a:solidFill>
                <a:latin typeface="Consolas"/>
              </a:defRPr>
            </a:pPr>
            <a:r>
              <a:t>string s = "Hello";</a:t>
            </a:r>
            <a:br/>
            <a:br/>
            <a:r>
              <a:t>for (char ch : s) {</a:t>
            </a:r>
            <a:br/>
            <a:r>
              <a:t>    cout &lt;&lt; ch &lt;&lt; ' ';</a:t>
            </a:r>
            <a:br/>
            <a: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2519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8FC"/>
                </a:solidFill>
                <a:latin typeface="Consolas"/>
              </a:defRPr>
            </a:pPr>
            <a:r>
              <a:t>Output:  H e l l 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1417320"/>
            <a:ext cx="2331720" cy="1188720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20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581912"/>
            <a:ext cx="1965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CDCFF"/>
                </a:solidFill>
                <a:latin typeface="Aptos"/>
              </a:defRPr>
            </a:pPr>
            <a:r>
              <a:t>Cleaner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1984248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5F8FC"/>
                </a:solidFill>
                <a:latin typeface="Aptos"/>
              </a:defRPr>
            </a:pPr>
            <a:r>
              <a:t>No manual index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06840" y="1417320"/>
            <a:ext cx="2331720" cy="1188720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20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89719" y="1581912"/>
            <a:ext cx="1965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67DFF"/>
                </a:solidFill>
                <a:latin typeface="Aptos"/>
              </a:defRPr>
            </a:pPr>
            <a:r>
              <a:t>Simple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89719" y="1984248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5F8FC"/>
                </a:solidFill>
                <a:latin typeface="Aptos"/>
              </a:defRPr>
            </a:pPr>
            <a:r>
              <a:t>Great when index isn't needed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2880360"/>
            <a:ext cx="2331720" cy="1188720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20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3044952"/>
            <a:ext cx="1965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5E6AA"/>
                </a:solidFill>
                <a:latin typeface="Aptos"/>
              </a:defRPr>
            </a:pPr>
            <a:r>
              <a:t>Direct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447288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5F8FC"/>
                </a:solidFill>
                <a:latin typeface="Aptos"/>
              </a:defRPr>
            </a:pPr>
            <a:r>
              <a:t>Works with each character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2880360"/>
            <a:ext cx="2331720" cy="1188720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20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9719" y="3044952"/>
            <a:ext cx="1965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D5A"/>
                </a:solidFill>
                <a:latin typeface="Aptos"/>
              </a:defRPr>
            </a:pPr>
            <a:r>
              <a:t>Limit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19" y="3447288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5F8FC"/>
                </a:solidFill>
                <a:latin typeface="Aptos"/>
              </a:defRPr>
            </a:pPr>
            <a:r>
              <a:t>Does not directly provide index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46520" y="4572000"/>
            <a:ext cx="4892040" cy="960120"/>
          </a:xfrm>
          <a:prstGeom prst="roundRect">
            <a:avLst/>
          </a:prstGeom>
          <a:solidFill>
            <a:srgbClr val="0C1522"/>
          </a:solidFill>
          <a:ln w="12700">
            <a:solidFill>
              <a:srgbClr val="20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4828032"/>
            <a:ext cx="4434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F8FC"/>
                </a:solidFill>
                <a:latin typeface="Consolas"/>
              </a:defRPr>
            </a:pPr>
            <a:r>
              <a:t>Index-based → character + index</a:t>
            </a:r>
            <a:br/>
            <a:r>
              <a:t>Range-based → character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C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7572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A5B5C9"/>
                </a:solidFill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F5F8FC"/>
                </a:solidFill>
                <a:latin typeface="Aptos"/>
              </a:defRPr>
            </a:pPr>
            <a:r>
              <a:t>String Manipulation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3268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B5C9"/>
                </a:solidFill>
                <a:latin typeface="Aptos"/>
              </a:defRPr>
            </a:pPr>
            <a:r>
              <a:t>Manipulation means changing or transforming a string.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383280" cy="1143000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20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81912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CDCFF"/>
                </a:solidFill>
                <a:latin typeface="Aptos"/>
              </a:defRPr>
            </a:pPr>
            <a:r>
              <a:t>Change characters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84248"/>
            <a:ext cx="301752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5F8FC"/>
                </a:solidFill>
                <a:latin typeface="Aptos"/>
              </a:defRPr>
            </a:pPr>
            <a:r>
              <a:t>Transform the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383280" cy="1143000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20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581912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67DFF"/>
                </a:solidFill>
                <a:latin typeface="Aptos"/>
              </a:defRPr>
            </a:pPr>
            <a:r>
              <a:t>Reverse string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984248"/>
            <a:ext cx="301752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5F8FC"/>
                </a:solidFill>
                <a:latin typeface="Aptos"/>
              </a:defRPr>
            </a:pPr>
            <a:r>
              <a:t>Transform the 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417320"/>
            <a:ext cx="3383280" cy="1143000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20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19" y="1581912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5E6AA"/>
                </a:solidFill>
                <a:latin typeface="Aptos"/>
              </a:defRPr>
            </a:pPr>
            <a:r>
              <a:t>Remove characters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19" y="1984248"/>
            <a:ext cx="301752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5F8FC"/>
                </a:solidFill>
                <a:latin typeface="Aptos"/>
              </a:defRPr>
            </a:pPr>
            <a:r>
              <a:t>Transform the 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834640"/>
            <a:ext cx="3383280" cy="1143000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20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2999232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D5A"/>
                </a:solidFill>
                <a:latin typeface="Aptos"/>
              </a:defRPr>
            </a:pPr>
            <a:r>
              <a:t>Insert characters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401568"/>
            <a:ext cx="301752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5F8FC"/>
                </a:solidFill>
                <a:latin typeface="Aptos"/>
              </a:defRPr>
            </a:pPr>
            <a:r>
              <a:t>Transform the data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2834640"/>
            <a:ext cx="3383280" cy="1143000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20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2999232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CDCFF"/>
                </a:solidFill>
                <a:latin typeface="Aptos"/>
              </a:defRPr>
            </a:pPr>
            <a:r>
              <a:t>Convert case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401568"/>
            <a:ext cx="301752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5F8FC"/>
                </a:solidFill>
                <a:latin typeface="Aptos"/>
              </a:defRPr>
            </a:pPr>
            <a:r>
              <a:t>Transform the data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2440" y="2834640"/>
            <a:ext cx="3383280" cy="1143000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20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19" y="2999232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67DFF"/>
                </a:solidFill>
                <a:latin typeface="Aptos"/>
              </a:defRPr>
            </a:pPr>
            <a:r>
              <a:t>Build another string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19" y="3401568"/>
            <a:ext cx="301752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5F8FC"/>
                </a:solidFill>
                <a:latin typeface="Aptos"/>
              </a:defRPr>
            </a:pPr>
            <a:r>
              <a:t>Transform the data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4434840"/>
            <a:ext cx="5577840" cy="1325880"/>
          </a:xfrm>
          <a:prstGeom prst="roundRect">
            <a:avLst/>
          </a:prstGeom>
          <a:solidFill>
            <a:srgbClr val="0A111D"/>
          </a:solidFill>
          <a:ln w="12700">
            <a:solidFill>
              <a:srgbClr val="20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4553712"/>
            <a:ext cx="52120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CDCFF"/>
                </a:solidFill>
                <a:latin typeface="Aptos"/>
              </a:defRPr>
            </a:pPr>
            <a:r>
              <a:t>C++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" y="4873752"/>
            <a:ext cx="5175503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5F8FC"/>
                </a:solidFill>
                <a:latin typeface="Consolas"/>
              </a:defRPr>
            </a:pPr>
            <a:r>
              <a:t>string s = "hello";</a:t>
            </a:r>
            <a:br/>
            <a:br/>
            <a:r>
              <a:t>for (int i = 0; i &lt; s.size(); i++) {</a:t>
            </a:r>
            <a:br/>
            <a:r>
              <a:t>    if (s[i] == 'h') s[i] = 'H';</a:t>
            </a:r>
            <a:br/>
            <a:r>
              <a:t>}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47091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3CDCFF"/>
                </a:solidFill>
                <a:latin typeface="Consolas"/>
              </a:defRPr>
            </a:pPr>
            <a:r>
              <a:t>h  →  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52120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F8FC"/>
                </a:solidFill>
                <a:latin typeface="Consolas"/>
              </a:defRPr>
            </a:pPr>
            <a:r>
              <a:t>Output: "Hello"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C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7572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A5B5C9"/>
                </a:solidFill>
              </a:defRPr>
            </a:pPr>
            <a: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F5F8FC"/>
                </a:solidFill>
                <a:latin typeface="Aptos"/>
              </a:defRPr>
            </a:pPr>
            <a:r>
              <a:t>Building a New String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3268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B5C9"/>
                </a:solidFill>
                <a:latin typeface="Aptos"/>
              </a:defRPr>
            </a:pPr>
            <a:r>
              <a:t>Useful when filtering or transforming characters.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5943600" cy="3566160"/>
          </a:xfrm>
          <a:prstGeom prst="roundRect">
            <a:avLst/>
          </a:prstGeom>
          <a:solidFill>
            <a:srgbClr val="0A111D"/>
          </a:solidFill>
          <a:ln w="12700">
            <a:solidFill>
              <a:srgbClr val="20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36192"/>
            <a:ext cx="5577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CDCFF"/>
                </a:solidFill>
                <a:latin typeface="Aptos"/>
              </a:defRPr>
            </a:pPr>
            <a:r>
              <a:t>C++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856232"/>
            <a:ext cx="5541264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F8FC"/>
                </a:solidFill>
                <a:latin typeface="Consolas"/>
              </a:defRPr>
            </a:pPr>
            <a:r>
              <a:t>string s = "a1b2c3";</a:t>
            </a:r>
            <a:br/>
            <a:r>
              <a:t>string result;</a:t>
            </a:r>
            <a:br/>
            <a:br/>
            <a:r>
              <a:t>for (char ch : s) {</a:t>
            </a:r>
            <a:br/>
            <a:r>
              <a:t>    if (isalpha(ch))</a:t>
            </a:r>
            <a:br/>
            <a:r>
              <a:t>        result += ch;</a:t>
            </a:r>
            <a:br/>
            <a:r>
              <a:t>}</a:t>
            </a:r>
            <a:br/>
            <a:br/>
            <a:r>
              <a:t>cout &lt;&lt; result;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95160" y="1417320"/>
            <a:ext cx="4343400" cy="3566160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20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0" y="1737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CDCFF"/>
                </a:solidFill>
                <a:latin typeface="Aptos"/>
              </a:defRPr>
            </a:pPr>
            <a:r>
              <a:t>Filter the 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33172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F8FC"/>
                </a:solidFill>
                <a:latin typeface="Consolas"/>
              </a:defRPr>
            </a:pPr>
            <a:r>
              <a:t>a  1  b  2  c 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288036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5E6AA"/>
                </a:solidFill>
                <a:latin typeface="Aptos"/>
              </a:defRPr>
            </a:pPr>
            <a:r>
              <a:t>KEEP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324612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55E6AA"/>
                </a:solidFill>
                <a:latin typeface="Consolas"/>
              </a:defRPr>
            </a:pPr>
            <a:r>
              <a:t>a     b     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3977639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67DFF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429768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3CDCFF"/>
                </a:solidFill>
                <a:latin typeface="Consolas"/>
              </a:defRPr>
            </a:pPr>
            <a:r>
              <a:t>abc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48640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B5C9"/>
                </a:solidFill>
                <a:latin typeface="Aptos"/>
              </a:defRPr>
            </a:pPr>
            <a:r>
              <a:t>Original stays unchanged; result stores only the characters we want.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C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7572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A5B5C9"/>
                </a:solidFill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F5F8FC"/>
                </a:solidFill>
                <a:latin typeface="Aptos"/>
              </a:defRPr>
            </a:pPr>
            <a:r>
              <a:t>Example 1: Count Vowels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3268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B5C9"/>
                </a:solidFill>
                <a:latin typeface="Aptos"/>
              </a:defRPr>
            </a:pPr>
            <a:r>
              <a:t>Problem: Given a string, count the number of vowels.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3794760" cy="4297680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20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5B5C9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5F8FC"/>
                </a:solidFill>
                <a:latin typeface="Consolas"/>
              </a:defRPr>
            </a:pPr>
            <a:r>
              <a:t>"Education"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743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5B5C9"/>
                </a:solidFill>
                <a:latin typeface="Aptos"/>
              </a:defRPr>
            </a:pPr>
            <a:r>
              <a:t>Vowels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108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3CDCFF"/>
                </a:solidFill>
                <a:latin typeface="Consolas"/>
              </a:defRPr>
            </a:pPr>
            <a:r>
              <a:t>E  u  a  i  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97763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5B5C9"/>
                </a:solidFill>
                <a:latin typeface="Aptos"/>
              </a:defRPr>
            </a:pPr>
            <a:r>
              <a:t>Answer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31596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55E6AA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00600" y="1371600"/>
            <a:ext cx="6492240" cy="4297680"/>
          </a:xfrm>
          <a:prstGeom prst="roundRect">
            <a:avLst/>
          </a:prstGeom>
          <a:solidFill>
            <a:srgbClr val="0A111D"/>
          </a:solidFill>
          <a:ln w="12700">
            <a:solidFill>
              <a:srgbClr val="20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1490472"/>
            <a:ext cx="61264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CDCFF"/>
                </a:solidFill>
                <a:latin typeface="Aptos"/>
              </a:defRPr>
            </a:pPr>
            <a:r>
              <a:t>C++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01768" y="1810512"/>
            <a:ext cx="6089903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F8FC"/>
                </a:solidFill>
                <a:latin typeface="Consolas"/>
              </a:defRPr>
            </a:pPr>
            <a:r>
              <a:t>int count = 0;</a:t>
            </a:r>
            <a:br/>
            <a:br/>
            <a:r>
              <a:t>for (char ch : s) {</a:t>
            </a:r>
            <a:br/>
            <a:r>
              <a:t>    ch = tolower(ch);</a:t>
            </a:r>
            <a:br/>
            <a:br/>
            <a:r>
              <a:t>    if (ch == 'a' || ch == 'e' ||</a:t>
            </a:r>
            <a:br/>
            <a:r>
              <a:t>        ch == 'i' || ch == 'o' ||</a:t>
            </a:r>
            <a:br/>
            <a:r>
              <a:t>        ch == 'u') {</a:t>
            </a:r>
            <a:br/>
            <a:r>
              <a:t>        count++;</a:t>
            </a:r>
            <a:br/>
            <a:r>
              <a:t>    }</a:t>
            </a:r>
            <a:br/>
            <a:r>
              <a:t>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5486400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A5B5C9"/>
                </a:solidFill>
                <a:latin typeface="Aptos"/>
              </a:defRPr>
            </a:pPr>
            <a:r>
              <a:t>Character → lowercase → check vowel → count++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C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7572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A5B5C9"/>
                </a:solidFill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F5F8FC"/>
                </a:solidFill>
                <a:latin typeface="Aptos"/>
              </a:defRPr>
            </a:pPr>
            <a:r>
              <a:t>Example 2: Reverse a String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3268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B5C9"/>
                </a:solidFill>
                <a:latin typeface="Aptos"/>
              </a:defRPr>
            </a:pPr>
            <a:r>
              <a:t>Two pointers move toward the center.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4663440" cy="4343400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20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F8FC"/>
                </a:solidFill>
                <a:latin typeface="Consolas"/>
              </a:defRPr>
            </a:pPr>
            <a:r>
              <a:t>"hello"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42316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CDCFF"/>
                </a:solidFill>
                <a:latin typeface="Consolas"/>
              </a:defRPr>
            </a:pPr>
            <a:r>
              <a:t>L                 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78892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F8FC"/>
                </a:solidFill>
                <a:latin typeface="Consolas"/>
              </a:defRPr>
            </a:pPr>
            <a:r>
              <a:t>h   e   l   l   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4290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B5C9"/>
                </a:solidFill>
                <a:latin typeface="Aptos"/>
              </a:defRPr>
            </a:pPr>
            <a:r>
              <a:t>swap → move inward → repeat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1605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55E6AA"/>
                </a:solidFill>
                <a:latin typeface="Consolas"/>
              </a:defRPr>
            </a:pPr>
            <a:r>
              <a:t>"olleh"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1417320"/>
            <a:ext cx="5669280" cy="4343400"/>
          </a:xfrm>
          <a:prstGeom prst="roundRect">
            <a:avLst/>
          </a:prstGeom>
          <a:solidFill>
            <a:srgbClr val="0A111D"/>
          </a:solidFill>
          <a:ln w="12700">
            <a:solidFill>
              <a:srgbClr val="20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0" y="1536192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CDCFF"/>
                </a:solidFill>
                <a:latin typeface="Aptos"/>
              </a:defRPr>
            </a:pPr>
            <a:r>
              <a:t>C++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70448" y="1856232"/>
            <a:ext cx="5266944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5F8FC"/>
                </a:solidFill>
                <a:latin typeface="Consolas"/>
              </a:defRPr>
            </a:pPr>
            <a:r>
              <a:t>int left = 0;</a:t>
            </a:r>
            <a:br/>
            <a:r>
              <a:t>int right = s.size() - 1;</a:t>
            </a:r>
            <a:br/>
            <a:br/>
            <a:r>
              <a:t>while (left &lt; right) {</a:t>
            </a:r>
            <a:br/>
            <a:r>
              <a:t>    swap(s[left], s[right]);</a:t>
            </a:r>
            <a:br/>
            <a:r>
              <a:t>    left++;</a:t>
            </a:r>
            <a:br/>
            <a:r>
              <a:t>    right--;</a:t>
            </a:r>
            <a:br/>
            <a:r>
              <a:t>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52578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A5B5C9"/>
                </a:solidFill>
                <a:latin typeface="Aptos"/>
              </a:defRPr>
            </a:pPr>
            <a:r>
              <a:t>No built-in reverse function needed.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C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7572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A5B5C9"/>
                </a:solidFill>
              </a:defRPr>
            </a:pPr>
            <a: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F5F8FC"/>
                </a:solidFill>
                <a:latin typeface="Aptos"/>
              </a:defRPr>
            </a:pPr>
            <a:r>
              <a:t>Example 3: Remove Spaces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3268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B5C9"/>
                </a:solidFill>
                <a:latin typeface="Aptos"/>
              </a:defRPr>
            </a:pPr>
            <a:r>
              <a:t>Keep only the characters we want.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4800600" cy="4160520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20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8FC"/>
                </a:solidFill>
                <a:latin typeface="Consolas"/>
              </a:defRPr>
            </a:pPr>
            <a:r>
              <a:t>"a [space] b [space] c [space] d"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517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5E6AA"/>
                </a:solidFill>
                <a:latin typeface="Consolas"/>
              </a:defRPr>
            </a:pPr>
            <a:r>
              <a:t>KEEP → a     b     c     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4747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CDCFF"/>
                </a:solidFill>
                <a:latin typeface="Consolas"/>
              </a:defRPr>
            </a:pPr>
            <a:r>
              <a:t>RESULT → abcd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06440" y="1417320"/>
            <a:ext cx="5486400" cy="4160520"/>
          </a:xfrm>
          <a:prstGeom prst="roundRect">
            <a:avLst/>
          </a:prstGeom>
          <a:solidFill>
            <a:srgbClr val="0A111D"/>
          </a:solidFill>
          <a:ln w="12700">
            <a:solidFill>
              <a:srgbClr val="20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89320" y="1536192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CDCFF"/>
                </a:solidFill>
                <a:latin typeface="Aptos"/>
              </a:defRPr>
            </a:pPr>
            <a:r>
              <a:t>C++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07607" y="1856232"/>
            <a:ext cx="5084064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5F8FC"/>
                </a:solidFill>
                <a:latin typeface="Consolas"/>
              </a:defRPr>
            </a:pPr>
            <a:r>
              <a:t>string result;</a:t>
            </a:r>
            <a:br/>
            <a:br/>
            <a:r>
              <a:t>for (char ch : s) {</a:t>
            </a:r>
            <a:br/>
            <a:r>
              <a:t>    if (ch != ' ')</a:t>
            </a:r>
            <a:br/>
            <a:r>
              <a:t>        result += ch;</a:t>
            </a:r>
            <a:br/>
            <a:r>
              <a:t>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50749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A5B5C9"/>
                </a:solidFill>
                <a:latin typeface="Aptos"/>
              </a:defRPr>
            </a:pPr>
            <a:r>
              <a:t>Filter out unwanted characters.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C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7572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A5B5C9"/>
                </a:solidFill>
              </a:defRPr>
            </a:pPr>
            <a: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F5F8FC"/>
                </a:solidFill>
                <a:latin typeface="Aptos"/>
              </a:defRPr>
            </a:pPr>
            <a:r>
              <a:t>Common String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3268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B5C9"/>
                </a:solidFill>
                <a:latin typeface="Aptos"/>
              </a:defRPr>
            </a:pPr>
            <a:r>
              <a:t>Manual traversal vs useful STL/string functions.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5257800" cy="822960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20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527048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CDCFF"/>
                </a:solidFill>
                <a:latin typeface="Aptos"/>
              </a:defRPr>
            </a:pPr>
            <a:r>
              <a:t>Access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1499616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F8FC"/>
                </a:solidFill>
                <a:latin typeface="Consolas"/>
              </a:defRPr>
            </a:pPr>
            <a:r>
              <a:t>s[i]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1527048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5B5C9"/>
                </a:solidFill>
                <a:latin typeface="Aptos"/>
              </a:defRPr>
            </a:pPr>
            <a:r>
              <a:t>Get character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371600"/>
            <a:ext cx="5257800" cy="822960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20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527048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CDCFF"/>
                </a:solidFill>
                <a:latin typeface="Aptos"/>
              </a:defRPr>
            </a:pPr>
            <a:r>
              <a:t>Length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1499616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F8FC"/>
                </a:solidFill>
                <a:latin typeface="Consolas"/>
              </a:defRPr>
            </a:pPr>
            <a:r>
              <a:t>s.size()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0" y="1527048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5B5C9"/>
                </a:solidFill>
                <a:latin typeface="Aptos"/>
              </a:defRPr>
            </a:pPr>
            <a:r>
              <a:t>Get length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423160"/>
            <a:ext cx="5257800" cy="822960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20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2578608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CDCFF"/>
                </a:solidFill>
                <a:latin typeface="Aptos"/>
              </a:defRPr>
            </a:pPr>
            <a:r>
              <a:t>Add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2551176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F8FC"/>
                </a:solidFill>
                <a:latin typeface="Consolas"/>
              </a:defRPr>
            </a:pPr>
            <a:r>
              <a:t>s += 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578608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5B5C9"/>
                </a:solidFill>
                <a:latin typeface="Aptos"/>
              </a:defRPr>
            </a:pPr>
            <a:r>
              <a:t>Append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2423160"/>
            <a:ext cx="5257800" cy="822960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20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2578608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CDCFF"/>
                </a:solidFill>
                <a:latin typeface="Aptos"/>
              </a:defRPr>
            </a:pPr>
            <a:r>
              <a:t>Compare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2551176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F8FC"/>
                </a:solidFill>
                <a:latin typeface="Consolas"/>
              </a:defRPr>
            </a:pPr>
            <a:r>
              <a:t>s1 == s2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49840" y="2578608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5B5C9"/>
                </a:solidFill>
                <a:latin typeface="Aptos"/>
              </a:defRPr>
            </a:pPr>
            <a:r>
              <a:t>Compare strings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474720"/>
            <a:ext cx="5257800" cy="822960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20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59" y="3630168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CDCFF"/>
                </a:solidFill>
                <a:latin typeface="Aptos"/>
              </a:defRPr>
            </a:pPr>
            <a:r>
              <a:t>Reverse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57400" y="3602736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F8FC"/>
                </a:solidFill>
                <a:latin typeface="Consolas"/>
              </a:defRPr>
            </a:pPr>
            <a:r>
              <a:t>reverse(s.begin(), s.end())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3630168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5B5C9"/>
                </a:solidFill>
                <a:latin typeface="Aptos"/>
              </a:defRPr>
            </a:pPr>
            <a:r>
              <a:t>Reverse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3474720"/>
            <a:ext cx="5257800" cy="822960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20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3630168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CDCFF"/>
                </a:solidFill>
                <a:latin typeface="Aptos"/>
              </a:defRPr>
            </a:pPr>
            <a:r>
              <a:t>Find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3602736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F8FC"/>
                </a:solidFill>
                <a:latin typeface="Consolas"/>
              </a:defRPr>
            </a:pPr>
            <a:r>
              <a:t>s.find("abc")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49840" y="3630168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5B5C9"/>
                </a:solidFill>
                <a:latin typeface="Aptos"/>
              </a:defRPr>
            </a:pPr>
            <a:r>
              <a:t>Search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526279"/>
            <a:ext cx="5257800" cy="822960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20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59" y="4681727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CDCFF"/>
                </a:solidFill>
                <a:latin typeface="Aptos"/>
              </a:defRPr>
            </a:pPr>
            <a:r>
              <a:t>Substring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57400" y="4654295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F8FC"/>
                </a:solidFill>
                <a:latin typeface="Consolas"/>
              </a:defRPr>
            </a:pPr>
            <a:r>
              <a:t>s.substr(start, length)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26280" y="4681727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5B5C9"/>
                </a:solidFill>
                <a:latin typeface="Aptos"/>
              </a:defRPr>
            </a:pPr>
            <a:r>
              <a:t>Extract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4526279"/>
            <a:ext cx="5257800" cy="822960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20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4681727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CDCFF"/>
                </a:solidFill>
                <a:latin typeface="Aptos"/>
              </a:defRPr>
            </a:pPr>
            <a:r>
              <a:t>Case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80960" y="4654295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F8FC"/>
                </a:solidFill>
                <a:latin typeface="Consolas"/>
              </a:defRPr>
            </a:pPr>
            <a:r>
              <a:t>tolower(ch) / toupper(ch)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49840" y="4681727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5B5C9"/>
                </a:solidFill>
                <a:latin typeface="Aptos"/>
              </a:defRPr>
            </a:pPr>
            <a:r>
              <a:t>Convert case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571500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A5B5C9"/>
                </a:solidFill>
                <a:latin typeface="Aptos"/>
              </a:defRPr>
            </a:pPr>
            <a:r>
              <a:t>Use manual traversal when the problem needs custom logic; use STL/string functions when they fit directly.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C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7572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A5B5C9"/>
                </a:solidFill>
              </a:defRPr>
            </a:pPr>
            <a: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F5F8FC"/>
                </a:solidFill>
                <a:latin typeface="Aptos"/>
              </a:defRPr>
            </a:pPr>
            <a:r>
              <a:t>Time &amp; Space Complexity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3268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B5C9"/>
                </a:solidFill>
                <a:latin typeface="Aptos"/>
              </a:defRPr>
            </a:pPr>
            <a:r>
              <a:t>Let n = number of characters.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10652760" cy="713232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20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F8FC"/>
                </a:solidFill>
                <a:latin typeface="Aptos"/>
              </a:defRPr>
            </a:pPr>
            <a:r>
              <a:t>Single traversal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74920" y="16002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CDCFF"/>
                </a:solidFill>
                <a:latin typeface="Consolas"/>
              </a:defRPr>
            </a:pPr>
            <a:r>
              <a:t>O(n)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160020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5B5C9"/>
                </a:solidFill>
                <a:latin typeface="Aptos"/>
              </a:defRPr>
            </a:pPr>
            <a:r>
              <a:t>O(1) auxiliary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331720"/>
            <a:ext cx="10652760" cy="713232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20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514600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F8FC"/>
                </a:solidFill>
                <a:latin typeface="Aptos"/>
              </a:defRPr>
            </a:pPr>
            <a:r>
              <a:t>Reverse: two pointers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25146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CDCFF"/>
                </a:solidFill>
                <a:latin typeface="Consolas"/>
              </a:defRPr>
            </a:pPr>
            <a:r>
              <a:t>O(n)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251460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5B5C9"/>
                </a:solidFill>
                <a:latin typeface="Aptos"/>
              </a:defRPr>
            </a:pPr>
            <a:r>
              <a:t>O(1) auxiliary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46120"/>
            <a:ext cx="10652760" cy="713232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20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429000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F8FC"/>
                </a:solidFill>
                <a:latin typeface="Aptos"/>
              </a:defRPr>
            </a:pPr>
            <a:r>
              <a:t>Build another string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34290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CDCFF"/>
                </a:solidFill>
                <a:latin typeface="Consolas"/>
              </a:defRPr>
            </a:pPr>
            <a:r>
              <a:t>O(n)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342900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5B5C9"/>
                </a:solidFill>
                <a:latin typeface="Aptos"/>
              </a:defRPr>
            </a:pPr>
            <a:r>
              <a:t>O(n)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160520"/>
            <a:ext cx="10652760" cy="713232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20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343400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F8FC"/>
                </a:solidFill>
                <a:latin typeface="Aptos"/>
              </a:defRPr>
            </a:pPr>
            <a:r>
              <a:t>Nested traversal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43434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CDCFF"/>
                </a:solidFill>
                <a:latin typeface="Consolas"/>
              </a:defRPr>
            </a:pPr>
            <a:r>
              <a:t>Potentially O(n²)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434340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5B5C9"/>
                </a:solidFill>
                <a:latin typeface="Aptos"/>
              </a:defRPr>
            </a:pPr>
            <a:r>
              <a:t>Depends on implementation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25780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55E6AA"/>
                </a:solidFill>
                <a:latin typeface="Aptos"/>
              </a:defRPr>
            </a:pPr>
            <a:r>
              <a:t>Target for basic problems:  O(n) time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926080" y="5760720"/>
            <a:ext cx="2286000" cy="329184"/>
          </a:xfrm>
          <a:prstGeom prst="roundRect">
            <a:avLst/>
          </a:prstGeom>
          <a:solidFill>
            <a:srgbClr val="121F30"/>
          </a:solidFill>
          <a:ln w="12700">
            <a:solidFill>
              <a:srgbClr val="55E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99232" y="5811012"/>
            <a:ext cx="21396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55E6AA"/>
                </a:solidFill>
                <a:latin typeface="Aptos"/>
              </a:defRPr>
            </a:pPr>
            <a:r>
              <a:t>O(1) extra space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0" y="5760720"/>
            <a:ext cx="2103120" cy="329184"/>
          </a:xfrm>
          <a:prstGeom prst="roundRect">
            <a:avLst/>
          </a:prstGeom>
          <a:solidFill>
            <a:srgbClr val="121F30"/>
          </a:solidFill>
          <a:ln w="12700">
            <a:solidFill>
              <a:srgbClr val="46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59552" y="5811012"/>
            <a:ext cx="195681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467DFF"/>
                </a:solidFill>
                <a:latin typeface="Aptos"/>
              </a:defRPr>
            </a:pPr>
            <a:r>
              <a:t>O(n) result space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63840" y="5760720"/>
            <a:ext cx="2103120" cy="329184"/>
          </a:xfrm>
          <a:prstGeom prst="roundRect">
            <a:avLst/>
          </a:prstGeom>
          <a:solidFill>
            <a:srgbClr val="121F30"/>
          </a:solidFill>
          <a:ln w="12700">
            <a:solidFill>
              <a:srgbClr val="FFC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36992" y="5811012"/>
            <a:ext cx="195681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CD5A"/>
                </a:solidFill>
                <a:latin typeface="Aptos"/>
              </a:defRPr>
            </a:pPr>
            <a:r>
              <a:t>O(n²) caution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C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7572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A5B5C9"/>
                </a:solidFill>
              </a:defRPr>
            </a:pPr>
            <a: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F5F8FC"/>
                </a:solidFill>
                <a:latin typeface="Aptos"/>
              </a:defRPr>
            </a:pPr>
            <a:r>
              <a:t>LeetCode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3268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B5C9"/>
                </a:solidFill>
                <a:latin typeface="Aptos"/>
              </a:defRPr>
            </a:pPr>
            <a:r>
              <a:t>Try solving them before looking at the solution.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10698480" cy="1078992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20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1848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3CDCFF"/>
                </a:solidFill>
                <a:latin typeface="Consolas"/>
              </a:defRPr>
            </a:pPr>
            <a:r>
              <a:t>344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572768"/>
            <a:ext cx="3886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8FC"/>
                </a:solidFill>
                <a:latin typeface="Aptos"/>
              </a:defRPr>
            </a:pPr>
            <a:r>
              <a:t>Reverse String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645920"/>
            <a:ext cx="3200400" cy="329184"/>
          </a:xfrm>
          <a:prstGeom prst="roundRect">
            <a:avLst/>
          </a:prstGeom>
          <a:solidFill>
            <a:srgbClr val="121F30"/>
          </a:solidFill>
          <a:ln w="12700">
            <a:solidFill>
              <a:srgbClr val="3C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53912" y="1696212"/>
            <a:ext cx="30540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CDCFF"/>
                </a:solidFill>
                <a:latin typeface="Aptos"/>
              </a:defRPr>
            </a:pPr>
            <a:r>
              <a:t>Two Pointers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46920" y="1673352"/>
            <a:ext cx="1051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CDCFF"/>
                </a:solidFill>
                <a:latin typeface="Aptos"/>
              </a:defRPr>
            </a:pPr>
            <a:r>
              <a:t>Easy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743200"/>
            <a:ext cx="10698480" cy="1078992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20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94436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467DFF"/>
                </a:solidFill>
                <a:latin typeface="Consolas"/>
              </a:defRPr>
            </a:pPr>
            <a:r>
              <a:t>125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898648"/>
            <a:ext cx="3886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8FC"/>
                </a:solidFill>
                <a:latin typeface="Aptos"/>
              </a:defRPr>
            </a:pPr>
            <a:r>
              <a:t>Valid Palindrome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0760" y="2971800"/>
            <a:ext cx="3200400" cy="329184"/>
          </a:xfrm>
          <a:prstGeom prst="roundRect">
            <a:avLst/>
          </a:prstGeom>
          <a:solidFill>
            <a:srgbClr val="121F30"/>
          </a:solidFill>
          <a:ln w="12700">
            <a:solidFill>
              <a:srgbClr val="46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53912" y="3022092"/>
            <a:ext cx="30540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467DFF"/>
                </a:solidFill>
                <a:latin typeface="Aptos"/>
              </a:defRPr>
            </a:pPr>
            <a:r>
              <a:t>Traversal + Two Pointers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46920" y="2999232"/>
            <a:ext cx="1051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67DFF"/>
                </a:solidFill>
                <a:latin typeface="Aptos"/>
              </a:defRPr>
            </a:pPr>
            <a:r>
              <a:t>Easy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69080"/>
            <a:ext cx="10698480" cy="1078992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20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27024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55E6AA"/>
                </a:solidFill>
                <a:latin typeface="Consolas"/>
              </a:defRPr>
            </a:pPr>
            <a:r>
              <a:t>387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4224528"/>
            <a:ext cx="3886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8FC"/>
                </a:solidFill>
                <a:latin typeface="Aptos"/>
              </a:defRPr>
            </a:pPr>
            <a:r>
              <a:t>First Unique Character in a String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4297680"/>
            <a:ext cx="3200400" cy="329184"/>
          </a:xfrm>
          <a:prstGeom prst="roundRect">
            <a:avLst/>
          </a:prstGeom>
          <a:solidFill>
            <a:srgbClr val="121F30"/>
          </a:solidFill>
          <a:ln w="12700">
            <a:solidFill>
              <a:srgbClr val="55E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53912" y="4347972"/>
            <a:ext cx="30540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55E6AA"/>
                </a:solidFill>
                <a:latin typeface="Aptos"/>
              </a:defRPr>
            </a:pPr>
            <a:r>
              <a:t>Traversal + Frequency Counting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46920" y="4325112"/>
            <a:ext cx="1051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55E6AA"/>
                </a:solidFill>
                <a:latin typeface="Aptos"/>
              </a:defRPr>
            </a:pPr>
            <a:r>
              <a:t>Easy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C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7572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A5B5C9"/>
                </a:solidFill>
              </a:defRPr>
            </a:pPr>
            <a: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F5F8FC"/>
                </a:solidFill>
                <a:latin typeface="Aptos"/>
              </a:defRPr>
            </a:pPr>
            <a:r>
              <a:t>Interview Tip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71600"/>
            <a:ext cx="10607040" cy="1325880"/>
          </a:xfrm>
          <a:prstGeom prst="roundRect">
            <a:avLst/>
          </a:prstGeom>
          <a:solidFill>
            <a:srgbClr val="0B1625"/>
          </a:solidFill>
          <a:ln w="12700">
            <a:solidFill>
              <a:srgbClr val="20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1907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>
                <a:solidFill>
                  <a:srgbClr val="3CDCFF"/>
                </a:solidFill>
                <a:latin typeface="Aptos"/>
              </a:defRPr>
            </a:pPr>
            <a:r>
              <a:t>“Before coding, ask: Can I solve this in ONE PASS?”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063240"/>
            <a:ext cx="5029200" cy="960120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20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227832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CDC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630168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5F8FC"/>
                </a:solidFill>
                <a:latin typeface="Aptos"/>
              </a:defRPr>
            </a:pPr>
            <a:r>
              <a:t>Identify what must be tracked.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3063240"/>
            <a:ext cx="5029200" cy="960120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20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3227832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67D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3630168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5F8FC"/>
                </a:solidFill>
                <a:latin typeface="Aptos"/>
              </a:defRPr>
            </a:pPr>
            <a:r>
              <a:t>Decide whether one traversal is enough.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251960"/>
            <a:ext cx="5029200" cy="960120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20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416552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5E6AA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818888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5F8FC"/>
                </a:solidFill>
                <a:latin typeface="Aptos"/>
              </a:defRPr>
            </a:pPr>
            <a:r>
              <a:t>Choose the right state: count • index • previous character • result string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4251960"/>
            <a:ext cx="5029200" cy="960120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20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4416552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D5A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4818888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5F8FC"/>
                </a:solidFill>
                <a:latin typeface="Aptos"/>
              </a:defRPr>
            </a:pPr>
            <a:r>
              <a:t>Aim for O(n) when possible.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71500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A5B5C9"/>
                </a:solidFill>
                <a:latin typeface="Aptos"/>
              </a:defRPr>
            </a:pPr>
            <a:r>
              <a:t>Don't start coding immediately. First identify the traversal pattern.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C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7572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A5B5C9"/>
                </a:solidFill>
              </a:defRPr>
            </a:pPr>
            <a: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F5F8FC"/>
                </a:solidFill>
                <a:latin typeface="Aptos"/>
              </a:defRPr>
            </a:pPr>
            <a:r>
              <a:t>Quick Revision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3268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B5C9"/>
                </a:solidFill>
                <a:latin typeface="Aptos"/>
              </a:defRPr>
            </a:pPr>
            <a:r>
              <a:t>Master the pattern, not just the problem.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5166360" cy="685800"/>
          </a:xfrm>
          <a:prstGeom prst="roundRect">
            <a:avLst/>
          </a:prstGeom>
          <a:solidFill>
            <a:srgbClr val="0C1624"/>
          </a:solidFill>
          <a:ln w="12700">
            <a:solidFill>
              <a:srgbClr val="20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F8FC"/>
                </a:solidFill>
                <a:latin typeface="Aptos"/>
              </a:defRPr>
            </a:pPr>
            <a:r>
              <a:t>✓  String = sequence of characters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59" y="1417320"/>
            <a:ext cx="5166360" cy="685800"/>
          </a:xfrm>
          <a:prstGeom prst="roundRect">
            <a:avLst/>
          </a:prstGeom>
          <a:solidFill>
            <a:srgbClr val="0C1624"/>
          </a:solidFill>
          <a:ln w="12700">
            <a:solidFill>
              <a:srgbClr val="20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00200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F8FC"/>
                </a:solidFill>
                <a:latin typeface="Aptos"/>
              </a:defRPr>
            </a:pPr>
            <a:r>
              <a:t>✓  Traversal = visit characters one by one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331720"/>
            <a:ext cx="5166360" cy="685800"/>
          </a:xfrm>
          <a:prstGeom prst="roundRect">
            <a:avLst/>
          </a:prstGeom>
          <a:solidFill>
            <a:srgbClr val="0C1624"/>
          </a:solidFill>
          <a:ln w="12700">
            <a:solidFill>
              <a:srgbClr val="20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514600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F8FC"/>
                </a:solidFill>
                <a:latin typeface="Aptos"/>
              </a:defRPr>
            </a:pPr>
            <a:r>
              <a:t>✓  Index starts from 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2331720"/>
            <a:ext cx="5166360" cy="685800"/>
          </a:xfrm>
          <a:prstGeom prst="roundRect">
            <a:avLst/>
          </a:prstGeom>
          <a:solidFill>
            <a:srgbClr val="0C1624"/>
          </a:solidFill>
          <a:ln w="12700">
            <a:solidFill>
              <a:srgbClr val="20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514600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F8FC"/>
                </a:solidFill>
                <a:latin typeface="Aptos"/>
              </a:defRPr>
            </a:pPr>
            <a:r>
              <a:t>✓  Use s[i] for indexed access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246120"/>
            <a:ext cx="5166360" cy="685800"/>
          </a:xfrm>
          <a:prstGeom prst="roundRect">
            <a:avLst/>
          </a:prstGeom>
          <a:solidFill>
            <a:srgbClr val="0C1624"/>
          </a:solidFill>
          <a:ln w="12700">
            <a:solidFill>
              <a:srgbClr val="20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429000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F8FC"/>
                </a:solidFill>
                <a:latin typeface="Aptos"/>
              </a:defRPr>
            </a:pPr>
            <a:r>
              <a:t>✓  Range-based loop is cleaner when index isn't needed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59" y="3246120"/>
            <a:ext cx="5166360" cy="685800"/>
          </a:xfrm>
          <a:prstGeom prst="roundRect">
            <a:avLst/>
          </a:prstGeom>
          <a:solidFill>
            <a:srgbClr val="0C1624"/>
          </a:solidFill>
          <a:ln w="12700">
            <a:solidFill>
              <a:srgbClr val="20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429000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F8FC"/>
                </a:solidFill>
                <a:latin typeface="Aptos"/>
              </a:defRPr>
            </a:pPr>
            <a:r>
              <a:t>✓  Manipulation = modifying / filtering / transforming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160520"/>
            <a:ext cx="5166360" cy="685800"/>
          </a:xfrm>
          <a:prstGeom prst="roundRect">
            <a:avLst/>
          </a:prstGeom>
          <a:solidFill>
            <a:srgbClr val="0C1624"/>
          </a:solidFill>
          <a:ln w="12700">
            <a:solidFill>
              <a:srgbClr val="20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343400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F8FC"/>
                </a:solidFill>
                <a:latin typeface="Aptos"/>
              </a:defRPr>
            </a:pPr>
            <a:r>
              <a:t>✓  Most simple string problems can be solved in O(n)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59" y="4160520"/>
            <a:ext cx="5166360" cy="685800"/>
          </a:xfrm>
          <a:prstGeom prst="roundRect">
            <a:avLst/>
          </a:prstGeom>
          <a:solidFill>
            <a:srgbClr val="0C1624"/>
          </a:solidFill>
          <a:ln w="12700">
            <a:solidFill>
              <a:srgbClr val="20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4343400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F8FC"/>
                </a:solidFill>
                <a:latin typeface="Aptos"/>
              </a:defRPr>
            </a:pPr>
            <a:r>
              <a:t>✓  Read → Decide → Update → Move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C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7572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A5B5C9"/>
                </a:solidFill>
              </a:defRPr>
            </a:pPr>
            <a:r>
              <a:t>18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594360"/>
            <a:ext cx="1417320" cy="329184"/>
          </a:xfrm>
          <a:prstGeom prst="roundRect">
            <a:avLst/>
          </a:prstGeom>
          <a:solidFill>
            <a:srgbClr val="121F30"/>
          </a:solidFill>
          <a:ln w="12700">
            <a:solidFill>
              <a:srgbClr val="55E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644652"/>
            <a:ext cx="12710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55E6AA"/>
                </a:solidFill>
                <a:latin typeface="Aptos"/>
              </a:defRPr>
            </a:pPr>
            <a:r>
              <a:t>DAY 22 COMPLETE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5F8FC"/>
                </a:solidFill>
                <a:latin typeface="Aptos"/>
              </a:defRPr>
            </a:pPr>
            <a:r>
              <a:t>What's Next?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74519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3CDCFF"/>
                </a:solidFill>
                <a:latin typeface="Aptos"/>
              </a:defRPr>
            </a:pPr>
            <a:r>
              <a:t>Day 23: String Frequency</a:t>
            </a:r>
            <a:br/>
            <a:r>
              <a:t>&amp; Hashing Patterns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246120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5B5C9"/>
                </a:solidFill>
                <a:latin typeface="Aptos"/>
              </a:defRPr>
            </a:pPr>
            <a:r>
              <a:t>Move from basic traversal to efficient character-frequency techniques.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160520"/>
            <a:ext cx="10698480" cy="914400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20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370832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5B5C9"/>
                </a:solidFill>
                <a:latin typeface="Aptos"/>
              </a:defRPr>
            </a:pPr>
            <a:r>
              <a:t>DSA Series GitHub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4343400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8FC"/>
                </a:solidFill>
                <a:latin typeface="Consolas"/>
              </a:defRPr>
            </a:pPr>
            <a:r>
              <a:t>github.com/ritesh2687/dsa_ppt_post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53212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5F8FC"/>
                </a:solidFill>
                <a:latin typeface="Aptos"/>
              </a:defRPr>
            </a:pPr>
            <a:r>
              <a:t>Save this post • Practice today's examples • Try the LeetCode problems • Come back tomorrow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08076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A5B5C9"/>
                </a:solidFill>
                <a:latin typeface="Aptos"/>
              </a:defRPr>
            </a:pPr>
            <a:r>
              <a:t>DSA Daily Series • Day 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