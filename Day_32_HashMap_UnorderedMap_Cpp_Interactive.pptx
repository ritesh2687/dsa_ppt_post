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ritesh2687/dsa_ppt_post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ritesh2687/dsa_ppt_post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ritesh2687/dsa_ppt_post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ritesh2687/dsa_ppt_post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ritesh2687/dsa_ppt_post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ritesh2687/dsa_ppt_post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ritesh2687/dsa_ppt_post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ritesh2687/dsa_ppt_post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ritesh2687/dsa_ppt_post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ritesh2687/dsa_ppt_post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ritesh2687/dsa_ppt_post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ritesh2687/dsa_ppt_post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ritesh2687/dsa_ppt_post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ritesh2687/dsa_ppt_post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ritesh2687/dsa_ppt_post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ritesh2687/dsa_ppt_post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ritesh2687/dsa_ppt_post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ritesh2687/dsa_ppt_post" TargetMode="Externa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ritesh2687/dsa_ppt_post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65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65B6E"/>
                </a:solidFill>
                <a:latin typeface="Segoe Print"/>
              </a:rPr>
              <a:t>DSA From Scratch → Advanced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262A30"/>
                </a:solidFill>
                <a:latin typeface="Segoe Print"/>
              </a:rPr>
              <a:t>DAY 32 — HASHMAP / unordered_map IN C++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9844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6269"/>
                </a:solidFill>
                <a:latin typeface="Segoe Print"/>
              </a:rPr>
              <a:t>Concept → Example → Implementation → Complexity → Pattern → Problem → Takeaway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8869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u="sng">
                <a:solidFill>
                  <a:srgbClr val="265B6E"/>
                </a:solidFill>
                <a:latin typeface="Aptos"/>
                <a:hlinkClick r:id="rId2"/>
              </a:rPr>
              <a:t>https://github.com/ritesh2687/dsa_ppt_post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6455664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C6269"/>
                </a:solidFill>
                <a:latin typeface="Aptos"/>
              </a:rPr>
              <a:t>DAY 32  • 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10607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65B6E"/>
                </a:solidFill>
                <a:latin typeface="Segoe Print"/>
              </a:rPr>
              <a:t>Fast lookup with key → value thinking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20240" y="2880360"/>
            <a:ext cx="2331720" cy="1143000"/>
          </a:xfrm>
          <a:prstGeom prst="roundRect">
            <a:avLst/>
          </a:prstGeom>
          <a:solidFill>
            <a:srgbClr val="DEEDF7"/>
          </a:solidFill>
          <a:ln w="15240">
            <a:solidFill>
              <a:srgbClr val="CDC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57400" y="3090672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65B6E"/>
                </a:solidFill>
                <a:latin typeface="Segoe Print"/>
              </a:rPr>
              <a:t>KEY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312724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500" b="1">
                <a:solidFill>
                  <a:srgbClr val="265B6E"/>
                </a:solidFill>
                <a:latin typeface="Segoe Print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66360" y="2880360"/>
            <a:ext cx="2331720" cy="1143000"/>
          </a:xfrm>
          <a:prstGeom prst="roundRect">
            <a:avLst/>
          </a:prstGeom>
          <a:solidFill>
            <a:srgbClr val="DAEFDC"/>
          </a:solidFill>
          <a:ln w="15240">
            <a:solidFill>
              <a:srgbClr val="CDC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0" y="3090672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65B6E"/>
                </a:solidFill>
                <a:latin typeface="Segoe Print"/>
              </a:rPr>
              <a:t>VALUE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306324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262A30"/>
                </a:solidFill>
                <a:latin typeface="Consolas"/>
              </a:rPr>
              <a:t>Example:  "apple"  →  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4572000"/>
            <a:ext cx="8138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5C6269"/>
                </a:solidFill>
                <a:latin typeface="Segoe Print"/>
              </a:rPr>
              <a:t>A practical notebook for interviews + everyday C++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65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65B6E"/>
                </a:solidFill>
                <a:latin typeface="Segoe Print"/>
              </a:rPr>
              <a:t>DSA From Scratch → Advanced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262A30"/>
                </a:solidFill>
                <a:latin typeface="Segoe Print"/>
              </a:rPr>
              <a:t>01 • What is a HashMap?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8869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u="sng">
                <a:solidFill>
                  <a:srgbClr val="265B6E"/>
                </a:solidFill>
                <a:latin typeface="Aptos"/>
                <a:hlinkClick r:id="rId2"/>
              </a:rPr>
              <a:t>https://github.com/ritesh2687/dsa_ppt_post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49840" y="6455664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C6269"/>
                </a:solidFill>
                <a:latin typeface="Aptos"/>
              </a:rPr>
              <a:t>DAY 32  •  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783080"/>
            <a:ext cx="10561320" cy="640080"/>
          </a:xfrm>
          <a:prstGeom prst="roundRect">
            <a:avLst/>
          </a:prstGeom>
          <a:solidFill>
            <a:srgbClr val="FFF4B8"/>
          </a:solidFill>
          <a:ln w="15240">
            <a:solidFill>
              <a:srgbClr val="CDC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892807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65B6E"/>
                </a:solidFill>
                <a:latin typeface="Segoe Print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874519"/>
            <a:ext cx="9555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62A30"/>
                </a:solidFill>
                <a:latin typeface="Aptos"/>
              </a:rPr>
              <a:t>Stores data as key–value pairs: key → value.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560320"/>
            <a:ext cx="10561320" cy="640080"/>
          </a:xfrm>
          <a:prstGeom prst="roundRect">
            <a:avLst/>
          </a:prstGeom>
          <a:solidFill>
            <a:srgbClr val="FFF4B8"/>
          </a:solidFill>
          <a:ln w="15240">
            <a:solidFill>
              <a:srgbClr val="CDC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67004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65B6E"/>
                </a:solidFill>
                <a:latin typeface="Segoe Print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651760"/>
            <a:ext cx="9555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62A30"/>
                </a:solidFill>
                <a:latin typeface="Aptos"/>
              </a:rPr>
              <a:t>In C++, the common HashMap-style container is std::unordered_map.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337560"/>
            <a:ext cx="10561320" cy="640080"/>
          </a:xfrm>
          <a:prstGeom prst="roundRect">
            <a:avLst/>
          </a:prstGeom>
          <a:solidFill>
            <a:srgbClr val="FFF4B8"/>
          </a:solidFill>
          <a:ln w="15240">
            <a:solidFill>
              <a:srgbClr val="CDC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44728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65B6E"/>
                </a:solidFill>
                <a:latin typeface="Segoe Print"/>
              </a:rPr>
              <a:t>3.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429000"/>
            <a:ext cx="9555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62A30"/>
                </a:solidFill>
                <a:latin typeface="Aptos"/>
              </a:rPr>
              <a:t>Keys are unique; each key maps to one value.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114800"/>
            <a:ext cx="10561320" cy="640080"/>
          </a:xfrm>
          <a:prstGeom prst="roundRect">
            <a:avLst/>
          </a:prstGeom>
          <a:solidFill>
            <a:srgbClr val="FFF4B8"/>
          </a:solidFill>
          <a:ln w="15240">
            <a:solidFill>
              <a:srgbClr val="CDC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422452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65B6E"/>
                </a:solidFill>
                <a:latin typeface="Segoe Print"/>
              </a:rPr>
              <a:t>4.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4206240"/>
            <a:ext cx="9555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62A30"/>
                </a:solidFill>
                <a:latin typeface="Aptos"/>
              </a:rPr>
              <a:t>Lookup is usually very fast: average O(1).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76072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6269"/>
                </a:solidFill>
                <a:latin typeface="Segoe Print"/>
              </a:rPr>
              <a:t>Think: “I know the key; give me the value.”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65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65B6E"/>
                </a:solidFill>
                <a:latin typeface="Segoe Print"/>
              </a:rPr>
              <a:t>DSA From Scratch → Advanced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262A30"/>
                </a:solidFill>
                <a:latin typeface="Segoe Print"/>
              </a:rPr>
              <a:t>02 • Key → Value: the mental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8869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u="sng">
                <a:solidFill>
                  <a:srgbClr val="265B6E"/>
                </a:solidFill>
                <a:latin typeface="Aptos"/>
                <a:hlinkClick r:id="rId2"/>
              </a:rPr>
              <a:t>https://github.com/ritesh2687/dsa_ppt_post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49840" y="6455664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C6269"/>
                </a:solidFill>
                <a:latin typeface="Aptos"/>
              </a:rPr>
              <a:t>DAY 32  •  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920240"/>
            <a:ext cx="246888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DC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488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65B6E"/>
                </a:solidFill>
                <a:latin typeface="Consolas"/>
              </a:rPr>
              <a:t>rollNo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48716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5C6269"/>
                </a:solidFill>
                <a:latin typeface="Segoe Print"/>
              </a:rPr>
              <a:t>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1635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62A30"/>
                </a:solidFill>
                <a:latin typeface="Consolas"/>
              </a:rPr>
              <a:t>101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1920240"/>
            <a:ext cx="246888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DC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03320" y="21488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65B6E"/>
                </a:solidFill>
                <a:latin typeface="Consolas"/>
              </a:rPr>
              <a:t>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48716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5C6269"/>
                </a:solidFill>
                <a:latin typeface="Segoe Print"/>
              </a:rPr>
              <a:t>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281635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62A30"/>
                </a:solidFill>
                <a:latin typeface="Consolas"/>
              </a:rPr>
              <a:t>20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79" y="1920240"/>
            <a:ext cx="246888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DC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21488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65B6E"/>
                </a:solidFill>
                <a:latin typeface="Consolas"/>
              </a:rPr>
              <a:t>score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248716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5C6269"/>
                </a:solidFill>
                <a:latin typeface="Segoe Print"/>
              </a:rPr>
              <a:t>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81635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62A30"/>
                </a:solidFill>
                <a:latin typeface="Consolas"/>
              </a:rPr>
              <a:t>95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3999" y="1920240"/>
            <a:ext cx="246888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DC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81159" y="21488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65B6E"/>
                </a:solidFill>
                <a:latin typeface="Consolas"/>
              </a:rPr>
              <a:t>city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95559" y="248716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5C6269"/>
                </a:solidFill>
                <a:latin typeface="Segoe Print"/>
              </a:rPr>
              <a:t>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1159" y="281635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62A30"/>
                </a:solidFill>
                <a:latin typeface="Consolas"/>
              </a:rPr>
              <a:t>Delhi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11480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262A30"/>
                </a:solidFill>
                <a:latin typeface="Segoe Print"/>
              </a:rPr>
              <a:t>Keys identify entries. Values are the information attached to those keys.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0" y="4892040"/>
            <a:ext cx="6675120" cy="685800"/>
          </a:xfrm>
          <a:prstGeom prst="roundRect">
            <a:avLst/>
          </a:prstGeom>
          <a:solidFill>
            <a:srgbClr val="FFF4B8"/>
          </a:solidFill>
          <a:ln w="15240">
            <a:solidFill>
              <a:srgbClr val="CDC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26080" y="5074920"/>
            <a:ext cx="6309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62A30"/>
                </a:solidFill>
                <a:latin typeface="Aptos"/>
              </a:rPr>
              <a:t>Important: a key cannot appear twice in the same unordered_map.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65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65B6E"/>
                </a:solidFill>
                <a:latin typeface="Segoe Print"/>
              </a:rPr>
              <a:t>DSA From Scratch → Advanced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262A30"/>
                </a:solidFill>
                <a:latin typeface="Segoe Print"/>
              </a:rPr>
              <a:t>03 • How does unordered_map work internally?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9844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6269"/>
                </a:solidFill>
                <a:latin typeface="Segoe Print"/>
              </a:rPr>
              <a:t>High-level view — enough for interviews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8869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u="sng">
                <a:solidFill>
                  <a:srgbClr val="265B6E"/>
                </a:solidFill>
                <a:latin typeface="Aptos"/>
                <a:hlinkClick r:id="rId2"/>
              </a:rPr>
              <a:t>https://github.com/ritesh2687/dsa_ppt_post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6455664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C6269"/>
                </a:solidFill>
                <a:latin typeface="Aptos"/>
              </a:rPr>
              <a:t>DAY 32  •  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057400"/>
            <a:ext cx="2423160" cy="1371600"/>
          </a:xfrm>
          <a:prstGeom prst="roundRect">
            <a:avLst/>
          </a:prstGeom>
          <a:solidFill>
            <a:srgbClr val="DEEDF7"/>
          </a:solidFill>
          <a:ln w="15240">
            <a:solidFill>
              <a:srgbClr val="CDC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21284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65B6E"/>
                </a:solidFill>
                <a:latin typeface="Segoe Print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240280"/>
            <a:ext cx="1600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62A30"/>
                </a:solidFill>
                <a:latin typeface="Aptos"/>
              </a:rPr>
              <a:t>Hash the key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251460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65B6E"/>
                </a:solidFill>
                <a:latin typeface="Segoe Print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2057400"/>
            <a:ext cx="2423160" cy="1371600"/>
          </a:xfrm>
          <a:prstGeom prst="roundRect">
            <a:avLst/>
          </a:prstGeom>
          <a:solidFill>
            <a:srgbClr val="DAEFDC"/>
          </a:solidFill>
          <a:ln w="15240">
            <a:solidFill>
              <a:srgbClr val="CDC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79" y="221284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65B6E"/>
                </a:solidFill>
                <a:latin typeface="Segoe Print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69080" y="2240280"/>
            <a:ext cx="1600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62A30"/>
                </a:solidFill>
                <a:latin typeface="Aptos"/>
              </a:rPr>
              <a:t>Get a bucket index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251460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65B6E"/>
                </a:solidFill>
                <a:latin typeface="Segoe Print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2057400"/>
            <a:ext cx="2423160" cy="1371600"/>
          </a:xfrm>
          <a:prstGeom prst="roundRect">
            <a:avLst/>
          </a:prstGeom>
          <a:solidFill>
            <a:srgbClr val="FFF4B8"/>
          </a:solidFill>
          <a:ln w="15240">
            <a:solidFill>
              <a:srgbClr val="CDC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221284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65B6E"/>
                </a:solidFill>
                <a:latin typeface="Segoe Print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2240280"/>
            <a:ext cx="1600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62A30"/>
                </a:solidFill>
                <a:latin typeface="Aptos"/>
              </a:rPr>
              <a:t>Store / find the entry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0" y="251460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65B6E"/>
                </a:solidFill>
                <a:latin typeface="Segoe Print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0" y="2057400"/>
            <a:ext cx="2423160" cy="1371600"/>
          </a:xfrm>
          <a:prstGeom prst="roundRect">
            <a:avLst/>
          </a:prstGeom>
          <a:solidFill>
            <a:srgbClr val="F9E0E0"/>
          </a:solidFill>
          <a:ln w="15240">
            <a:solidFill>
              <a:srgbClr val="CDC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81160" y="221284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65B6E"/>
                </a:solidFill>
                <a:latin typeface="Segoe Print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38360" y="2240280"/>
            <a:ext cx="1600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62A30"/>
                </a:solidFill>
                <a:latin typeface="Aptos"/>
              </a:rPr>
              <a:t>Handle collisions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" y="3977639"/>
            <a:ext cx="10378440" cy="1097280"/>
          </a:xfrm>
          <a:prstGeom prst="roundRect">
            <a:avLst/>
          </a:prstGeom>
          <a:solidFill>
            <a:srgbClr val="F2F2EE"/>
          </a:solidFill>
          <a:ln w="15240">
            <a:solidFill>
              <a:srgbClr val="CDC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4160520"/>
            <a:ext cx="992124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62A30"/>
                </a:solidFill>
                <a:latin typeface="Consolas"/>
              </a:rPr>
              <a:t>key → hash function → bucket index → entry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34924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C6269"/>
                </a:solidFill>
                <a:latin typeface="Segoe Print"/>
              </a:rPr>
              <a:t>Collision = different keys land in the same bucket. The container has mechanisms to manage this.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65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65B6E"/>
                </a:solidFill>
                <a:latin typeface="Segoe Print"/>
              </a:rPr>
              <a:t>DSA From Scratch → Advanced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262A30"/>
                </a:solidFill>
                <a:latin typeface="Segoe Print"/>
              </a:rPr>
              <a:t>04 • Create an unordered_map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8869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u="sng">
                <a:solidFill>
                  <a:srgbClr val="265B6E"/>
                </a:solidFill>
                <a:latin typeface="Aptos"/>
                <a:hlinkClick r:id="rId2"/>
              </a:rPr>
              <a:t>https://github.com/ritesh2687/dsa_ppt_post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49840" y="6455664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C6269"/>
                </a:solidFill>
                <a:latin typeface="Aptos"/>
              </a:rPr>
              <a:t>DAY 32  •  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10515600" cy="3749039"/>
          </a:xfrm>
          <a:prstGeom prst="roundRect">
            <a:avLst/>
          </a:prstGeom>
          <a:solidFill>
            <a:srgbClr val="F2F2EE"/>
          </a:solidFill>
          <a:ln w="15240">
            <a:solidFill>
              <a:srgbClr val="CDC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011680"/>
            <a:ext cx="10058400" cy="3383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62A30"/>
                </a:solidFill>
                <a:latin typeface="Consolas"/>
              </a:rPr>
              <a:t>#include &lt;unordered_map&gt;
using namespace std;
unordered_map&lt;string, int&gt; marks;
marks["Riya"] = 92;
marks["Aman"] = 85;
marks["Neha"] = 90;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76072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65B6E"/>
                </a:solidFill>
                <a:latin typeface="Segoe Print"/>
              </a:rPr>
              <a:t>Type: unordered_map&lt;KeyType, ValueType&gt;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65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65B6E"/>
                </a:solidFill>
                <a:latin typeface="Segoe Print"/>
              </a:rPr>
              <a:t>DSA From Scratch → Advanced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262A30"/>
                </a:solidFill>
                <a:latin typeface="Segoe Print"/>
              </a:rPr>
              <a:t>05 • Core operations: insert &amp; []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8869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u="sng">
                <a:solidFill>
                  <a:srgbClr val="265B6E"/>
                </a:solidFill>
                <a:latin typeface="Aptos"/>
                <a:hlinkClick r:id="rId2"/>
              </a:rPr>
              <a:t>https://github.com/ritesh2687/dsa_ppt_post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49840" y="6455664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C6269"/>
                </a:solidFill>
                <a:latin typeface="Aptos"/>
              </a:rPr>
              <a:t>DAY 32  •  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10607040" cy="4160520"/>
          </a:xfrm>
          <a:prstGeom prst="roundRect">
            <a:avLst/>
          </a:prstGeom>
          <a:solidFill>
            <a:srgbClr val="F2F2EE"/>
          </a:solidFill>
          <a:ln w="15240">
            <a:solidFill>
              <a:srgbClr val="CDC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65960"/>
            <a:ext cx="10149840" cy="3794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62A30"/>
                </a:solidFill>
                <a:latin typeface="Consolas"/>
              </a:rPr>
              <a:t>unordered_map&lt;string, int&gt; m;
m["apple"] = 5;                  // insert / update
m.insert({"banana", 3});          // insert pair
m["apple"] = 8;                  // update existing key
// [] creates the key with a default value if it does not exist.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94360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62A30"/>
                </a:solidFill>
                <a:latin typeface="Segoe Print"/>
              </a:rPr>
              <a:t>Watch the [] behavior: reading a missing key can create 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65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65B6E"/>
                </a:solidFill>
                <a:latin typeface="Segoe Print"/>
              </a:rPr>
              <a:t>DSA From Scratch → Advanced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262A30"/>
                </a:solidFill>
                <a:latin typeface="Segoe Print"/>
              </a:rPr>
              <a:t>06 • find() and count()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8869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u="sng">
                <a:solidFill>
                  <a:srgbClr val="265B6E"/>
                </a:solidFill>
                <a:latin typeface="Aptos"/>
                <a:hlinkClick r:id="rId2"/>
              </a:rPr>
              <a:t>https://github.com/ritesh2687/dsa_ppt_post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49840" y="6455664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C6269"/>
                </a:solidFill>
                <a:latin typeface="Aptos"/>
              </a:rPr>
              <a:t>DAY 32  •  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10607040" cy="4160520"/>
          </a:xfrm>
          <a:prstGeom prst="roundRect">
            <a:avLst/>
          </a:prstGeom>
          <a:solidFill>
            <a:srgbClr val="F2F2EE"/>
          </a:solidFill>
          <a:ln w="15240">
            <a:solidFill>
              <a:srgbClr val="CDC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65960"/>
            <a:ext cx="10149840" cy="3794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62A30"/>
                </a:solidFill>
                <a:latin typeface="Consolas"/>
              </a:rPr>
              <a:t>auto it = m.find("apple");
if (it != m.end()) {
    cout &lt;&lt; it-&gt;first &lt;&lt; " " &lt;&lt; it-&gt;second;
}
if (m.count("banana")) {
    cout &lt;&lt; "present";
}
// find → iterator | count → 0 or 1 for unique keys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94360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65B6E"/>
                </a:solidFill>
                <a:latin typeface="Segoe Print"/>
              </a:rPr>
              <a:t>Interview habit: use find() when you also need the stored value.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65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65B6E"/>
                </a:solidFill>
                <a:latin typeface="Segoe Print"/>
              </a:rPr>
              <a:t>DSA From Scratch → Advanced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262A30"/>
                </a:solidFill>
                <a:latin typeface="Segoe Print"/>
              </a:rPr>
              <a:t>07 • erase() + useful iteration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8869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u="sng">
                <a:solidFill>
                  <a:srgbClr val="265B6E"/>
                </a:solidFill>
                <a:latin typeface="Aptos"/>
                <a:hlinkClick r:id="rId2"/>
              </a:rPr>
              <a:t>https://github.com/ritesh2687/dsa_ppt_post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49840" y="6455664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C6269"/>
                </a:solidFill>
                <a:latin typeface="Aptos"/>
              </a:rPr>
              <a:t>DAY 32  •  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10607040" cy="3931920"/>
          </a:xfrm>
          <a:prstGeom prst="roundRect">
            <a:avLst/>
          </a:prstGeom>
          <a:solidFill>
            <a:srgbClr val="F2F2EE"/>
          </a:solidFill>
          <a:ln w="15240">
            <a:solidFill>
              <a:srgbClr val="CDC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011680"/>
            <a:ext cx="101498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62A30"/>
                </a:solidFill>
                <a:latin typeface="Consolas"/>
              </a:rPr>
              <a:t>m.erase("banana");               // erase by key
for (auto &amp;p : m) {
    cout &lt;&lt; p.first &lt;&lt; " -&gt; " &lt;&lt; p.second &lt;&lt; "\n";
}
// p.first  = key
// p.second = value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80644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62A30"/>
                </a:solidFill>
                <a:latin typeface="Segoe Print"/>
              </a:rPr>
              <a:t>Iteration order is NOT sorted in unordered_map.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65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65B6E"/>
                </a:solidFill>
                <a:latin typeface="Segoe Print"/>
              </a:rPr>
              <a:t>DSA From Scratch → Advanced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262A30"/>
                </a:solidFill>
                <a:latin typeface="Segoe Print"/>
              </a:rPr>
              <a:t>08 • Complexity: what should you say in an interview?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8869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u="sng">
                <a:solidFill>
                  <a:srgbClr val="265B6E"/>
                </a:solidFill>
                <a:latin typeface="Aptos"/>
                <a:hlinkClick r:id="rId2"/>
              </a:rPr>
              <a:t>https://github.com/ritesh2687/dsa_ppt_post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49840" y="6455664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C6269"/>
                </a:solidFill>
                <a:latin typeface="Aptos"/>
              </a:rPr>
              <a:t>DAY 32  •  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011680"/>
            <a:ext cx="4297680" cy="960120"/>
          </a:xfrm>
          <a:prstGeom prst="roundRect">
            <a:avLst/>
          </a:prstGeom>
          <a:solidFill>
            <a:srgbClr val="DEEDF7"/>
          </a:solidFill>
          <a:ln w="15240">
            <a:solidFill>
              <a:srgbClr val="CDC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257800" y="2011680"/>
            <a:ext cx="2743200" cy="960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DC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138160" y="2011680"/>
            <a:ext cx="3246120" cy="960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DC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267712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62A30"/>
                </a:solidFill>
                <a:latin typeface="Aptos"/>
              </a:rPr>
              <a:t>insert / [] / find / count / erase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0" y="226771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65B6E"/>
                </a:solidFill>
                <a:latin typeface="Aptos"/>
              </a:rPr>
              <a:t>Average: O(1)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2267712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C6269"/>
                </a:solidFill>
                <a:latin typeface="Aptos"/>
              </a:rPr>
              <a:t>Worst case: O(n)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337560"/>
            <a:ext cx="4297680" cy="960120"/>
          </a:xfrm>
          <a:prstGeom prst="roundRect">
            <a:avLst/>
          </a:prstGeom>
          <a:solidFill>
            <a:srgbClr val="DAEFDC"/>
          </a:solidFill>
          <a:ln w="15240">
            <a:solidFill>
              <a:srgbClr val="CDC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257800" y="3337560"/>
            <a:ext cx="2743200" cy="960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DC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38160" y="3337560"/>
            <a:ext cx="3246120" cy="960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DC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593592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62A30"/>
                </a:solidFill>
                <a:latin typeface="Aptos"/>
              </a:rPr>
              <a:t>Space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4960" y="359359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65B6E"/>
                </a:solidFill>
                <a:latin typeface="Aptos"/>
              </a:rPr>
              <a:t>O(n)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3593592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C6269"/>
                </a:solidFill>
                <a:latin typeface="Aptos"/>
              </a:rPr>
              <a:t>n = number of stored elements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1663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262A30"/>
                </a:solidFill>
                <a:latin typeface="Segoe Print"/>
              </a:rPr>
              <a:t>Why “average”? Hash collisions can degrade performance.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65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65B6E"/>
                </a:solidFill>
                <a:latin typeface="Segoe Print"/>
              </a:rPr>
              <a:t>DSA From Scratch → Advanced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262A30"/>
                </a:solidFill>
                <a:latin typeface="Segoe Print"/>
              </a:rPr>
              <a:t>09 • unordered_map vs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8869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u="sng">
                <a:solidFill>
                  <a:srgbClr val="265B6E"/>
                </a:solidFill>
                <a:latin typeface="Aptos"/>
                <a:hlinkClick r:id="rId2"/>
              </a:rPr>
              <a:t>https://github.com/ritesh2687/dsa_ppt_post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49840" y="6455664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C6269"/>
                </a:solidFill>
                <a:latin typeface="Aptos"/>
              </a:rPr>
              <a:t>DAY 32  • 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2743200" cy="640080"/>
          </a:xfrm>
          <a:prstGeom prst="roundRect">
            <a:avLst/>
          </a:prstGeom>
          <a:solidFill>
            <a:srgbClr val="265B6E"/>
          </a:solidFill>
          <a:ln w="15240">
            <a:solidFill>
              <a:srgbClr val="265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9339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/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49039" y="1828800"/>
            <a:ext cx="3383280" cy="640080"/>
          </a:xfrm>
          <a:prstGeom prst="roundRect">
            <a:avLst/>
          </a:prstGeom>
          <a:solidFill>
            <a:srgbClr val="265B6E"/>
          </a:solidFill>
          <a:ln w="15240">
            <a:solidFill>
              <a:srgbClr val="265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79" y="199339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unordered_map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06640" y="1828800"/>
            <a:ext cx="3931920" cy="640080"/>
          </a:xfrm>
          <a:prstGeom prst="roundRect">
            <a:avLst/>
          </a:prstGeom>
          <a:solidFill>
            <a:srgbClr val="265B6E"/>
          </a:solidFill>
          <a:ln w="15240">
            <a:solidFill>
              <a:srgbClr val="265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79" y="1993392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map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542032"/>
            <a:ext cx="2743200" cy="640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DC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706624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62A30"/>
                </a:solidFill>
                <a:latin typeface="Aptos"/>
              </a:rPr>
              <a:t>Underlying idea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49039" y="2542032"/>
            <a:ext cx="3383280" cy="640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DC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79" y="2706624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62A30"/>
                </a:solidFill>
                <a:latin typeface="Aptos"/>
              </a:rPr>
              <a:t>Hash table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06640" y="2542032"/>
            <a:ext cx="3931920" cy="640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DC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79" y="2706624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62A30"/>
                </a:solidFill>
                <a:latin typeface="Aptos"/>
              </a:rPr>
              <a:t>Balanced BST (ordered)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255263"/>
            <a:ext cx="2743200" cy="640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DC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419856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62A30"/>
                </a:solidFill>
                <a:latin typeface="Aptos"/>
              </a:rPr>
              <a:t>Typical lookup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49039" y="3255263"/>
            <a:ext cx="3383280" cy="640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DC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79" y="3419856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62A30"/>
                </a:solidFill>
                <a:latin typeface="Aptos"/>
              </a:rPr>
              <a:t>Average O(1)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06640" y="3255263"/>
            <a:ext cx="3931920" cy="640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DC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79" y="3419856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62A30"/>
                </a:solidFill>
                <a:latin typeface="Aptos"/>
              </a:rPr>
              <a:t>O(log n)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3968496"/>
            <a:ext cx="2743200" cy="640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DC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4133087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62A30"/>
                </a:solidFill>
                <a:latin typeface="Aptos"/>
              </a:rPr>
              <a:t>Order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749039" y="3968496"/>
            <a:ext cx="3383280" cy="640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DC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40479" y="4133087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62A30"/>
                </a:solidFill>
                <a:latin typeface="Aptos"/>
              </a:rPr>
              <a:t>No sorted order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06640" y="3968496"/>
            <a:ext cx="3931920" cy="640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DC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98079" y="4133087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62A30"/>
                </a:solidFill>
                <a:latin typeface="Aptos"/>
              </a:rPr>
              <a:t>Keys kept sorted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4681727"/>
            <a:ext cx="2743200" cy="640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DC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4846319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62A30"/>
                </a:solidFill>
                <a:latin typeface="Aptos"/>
              </a:rPr>
              <a:t>Good when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749039" y="4681727"/>
            <a:ext cx="3383280" cy="640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DC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840479" y="4846319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62A30"/>
                </a:solidFill>
                <a:latin typeface="Aptos"/>
              </a:rPr>
              <a:t>Fast key lookup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406640" y="4681727"/>
            <a:ext cx="3931920" cy="640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DC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98079" y="4846319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62A30"/>
                </a:solidFill>
                <a:latin typeface="Aptos"/>
              </a:rPr>
              <a:t>Need ordering / range queries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65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65B6E"/>
                </a:solidFill>
                <a:latin typeface="Segoe Print"/>
              </a:rPr>
              <a:t>DSA From Scratch → Advanced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262A30"/>
                </a:solidFill>
                <a:latin typeface="Segoe Print"/>
              </a:rPr>
              <a:t>10 • Pattern: frequency counting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8869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u="sng">
                <a:solidFill>
                  <a:srgbClr val="265B6E"/>
                </a:solidFill>
                <a:latin typeface="Aptos"/>
                <a:hlinkClick r:id="rId2"/>
              </a:rPr>
              <a:t>https://github.com/ritesh2687/dsa_ppt_post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49840" y="6455664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C6269"/>
                </a:solidFill>
                <a:latin typeface="Aptos"/>
              </a:rPr>
              <a:t>DAY 32  • 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65B6E"/>
                </a:solidFill>
                <a:latin typeface="Segoe Print"/>
              </a:rPr>
              <a:t>Turn “how many times?” into O(1)-average updates.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560320"/>
            <a:ext cx="10515600" cy="2926080"/>
          </a:xfrm>
          <a:prstGeom prst="roundRect">
            <a:avLst/>
          </a:prstGeom>
          <a:solidFill>
            <a:srgbClr val="F2F2EE"/>
          </a:solidFill>
          <a:ln w="15240">
            <a:solidFill>
              <a:srgbClr val="CDC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743200"/>
            <a:ext cx="10058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62A30"/>
                </a:solidFill>
                <a:latin typeface="Consolas"/>
              </a:rPr>
              <a:t>string s = "banana";
unordered_map&lt;char, int&gt; freq;
for (char c : s) {
    freq[c]++;
}
// b → 1, a → 3, n →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6072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C6269"/>
                </a:solidFill>
                <a:latin typeface="Segoe Print"/>
              </a:rPr>
              <a:t>This pattern appears everywhere: duplicates, frequencies, first unique item, anagrams.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65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65B6E"/>
                </a:solidFill>
                <a:latin typeface="Segoe Print"/>
              </a:rPr>
              <a:t>DSA From Scratch → Advanced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262A30"/>
                </a:solidFill>
                <a:latin typeface="Segoe Print"/>
              </a:rPr>
              <a:t>11 • Problem 1 — Two Sum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8869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u="sng">
                <a:solidFill>
                  <a:srgbClr val="265B6E"/>
                </a:solidFill>
                <a:latin typeface="Aptos"/>
                <a:hlinkClick r:id="rId2"/>
              </a:rPr>
              <a:t>https://github.com/ritesh2687/dsa_ppt_post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49840" y="6455664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C6269"/>
                </a:solidFill>
                <a:latin typeface="Aptos"/>
              </a:rPr>
              <a:t>DAY 32  • 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3736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262A30"/>
                </a:solidFill>
                <a:latin typeface="Segoe Print"/>
              </a:rPr>
              <a:t>Goal: find two indices whose values add to target.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331720"/>
            <a:ext cx="10698480" cy="3611880"/>
          </a:xfrm>
          <a:prstGeom prst="roundRect">
            <a:avLst/>
          </a:prstGeom>
          <a:solidFill>
            <a:srgbClr val="F2F2EE"/>
          </a:solidFill>
          <a:ln w="15240">
            <a:solidFill>
              <a:srgbClr val="CDC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14600"/>
            <a:ext cx="1024128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62A30"/>
                </a:solidFill>
                <a:latin typeface="Consolas"/>
              </a:rPr>
              <a:t>vector&lt;int&gt; twoSum(vector&lt;int&gt;&amp; a, int target) {
    unordered_map&lt;int, int&gt; seen;
    for (int i = 0; i &lt; a.size(); i++) {
        int need = target - a[i];
        if (seen.count(need)) return {seen[need], i};
        seen[a[i]] = i;
    }
    return {};
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6080760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65B6E"/>
                </a:solidFill>
                <a:latin typeface="Segoe Print"/>
              </a:rPr>
              <a:t>Pattern: complement lookup → average O(n) time, O(n) space.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65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65B6E"/>
                </a:solidFill>
                <a:latin typeface="Segoe Print"/>
              </a:rPr>
              <a:t>DSA From Scratch → Advanced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262A30"/>
                </a:solidFill>
                <a:latin typeface="Segoe Print"/>
              </a:rPr>
              <a:t>12 • Problem 2 — Valid Anagram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8869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u="sng">
                <a:solidFill>
                  <a:srgbClr val="265B6E"/>
                </a:solidFill>
                <a:latin typeface="Aptos"/>
                <a:hlinkClick r:id="rId2"/>
              </a:rPr>
              <a:t>https://github.com/ritesh2687/dsa_ppt_post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49840" y="6455664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C6269"/>
                </a:solidFill>
                <a:latin typeface="Aptos"/>
              </a:rPr>
              <a:t>DAY 32  • 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262A30"/>
                </a:solidFill>
                <a:latin typeface="Segoe Print"/>
              </a:rPr>
              <a:t>Two strings are anagrams when every character has the same frequency.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331720"/>
            <a:ext cx="10698480" cy="3611880"/>
          </a:xfrm>
          <a:prstGeom prst="roundRect">
            <a:avLst/>
          </a:prstGeom>
          <a:solidFill>
            <a:srgbClr val="F2F2EE"/>
          </a:solidFill>
          <a:ln w="15240">
            <a:solidFill>
              <a:srgbClr val="CDC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14600"/>
            <a:ext cx="1024128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62A30"/>
                </a:solidFill>
                <a:latin typeface="Consolas"/>
              </a:rPr>
              <a:t>bool isAnagram(string s, string t) {
    if (s.size() != t.size()) return false;
    unordered_map&lt;char, int&gt; freq;
    for (char c : s) freq[c]++;
    for (char c : t) {
        if (--freq[c] &lt; 0) return false;
    }
    return true;
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6080760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65B6E"/>
                </a:solidFill>
                <a:latin typeface="Segoe Print"/>
              </a:rPr>
              <a:t>Average: O(n) time, O(k) space — k = distinct characters.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65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65B6E"/>
                </a:solidFill>
                <a:latin typeface="Segoe Print"/>
              </a:rPr>
              <a:t>DSA From Scratch → Advanced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262A30"/>
                </a:solidFill>
                <a:latin typeface="Segoe Print"/>
              </a:rPr>
              <a:t>13 • Problem 3 — First Unique Character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8869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u="sng">
                <a:solidFill>
                  <a:srgbClr val="265B6E"/>
                </a:solidFill>
                <a:latin typeface="Aptos"/>
                <a:hlinkClick r:id="rId2"/>
              </a:rPr>
              <a:t>https://github.com/ritesh2687/dsa_ppt_post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49840" y="6455664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C6269"/>
                </a:solidFill>
                <a:latin typeface="Aptos"/>
              </a:rPr>
              <a:t>DAY 32  • 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262A30"/>
                </a:solidFill>
                <a:latin typeface="Segoe Print"/>
              </a:rPr>
              <a:t>Count first, then scan again to find the first frequency-1 character.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331720"/>
            <a:ext cx="10698480" cy="3611880"/>
          </a:xfrm>
          <a:prstGeom prst="roundRect">
            <a:avLst/>
          </a:prstGeom>
          <a:solidFill>
            <a:srgbClr val="F2F2EE"/>
          </a:solidFill>
          <a:ln w="15240">
            <a:solidFill>
              <a:srgbClr val="CDC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14600"/>
            <a:ext cx="1024128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62A30"/>
                </a:solidFill>
                <a:latin typeface="Consolas"/>
              </a:rPr>
              <a:t>int firstUniqChar(string s) {
    unordered_map&lt;char, int&gt; freq;
    for (char c : s) freq[c]++;
    for (int i = 0; i &lt; s.size(); i++)
        if (freq[s[i]] == 1) return i;
    return -1;
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6080760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65B6E"/>
                </a:solidFill>
                <a:latin typeface="Segoe Print"/>
              </a:rPr>
              <a:t>Classic two-pass frequency-map pattern.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65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65B6E"/>
                </a:solidFill>
                <a:latin typeface="Segoe Print"/>
              </a:rPr>
              <a:t>DSA From Scratch → Advanced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262A30"/>
                </a:solidFill>
                <a:latin typeface="Segoe Print"/>
              </a:rPr>
              <a:t>14 • Dry run: Two Sum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8869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u="sng">
                <a:solidFill>
                  <a:srgbClr val="265B6E"/>
                </a:solidFill>
                <a:latin typeface="Aptos"/>
                <a:hlinkClick r:id="rId2"/>
              </a:rPr>
              <a:t>https://github.com/ritesh2687/dsa_ppt_post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49840" y="6455664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C6269"/>
                </a:solidFill>
                <a:latin typeface="Aptos"/>
              </a:rPr>
              <a:t>DAY 32  • 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10698480" cy="3383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DC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265B6E"/>
                </a:solidFill>
                <a:latin typeface="Consolas"/>
              </a:rPr>
              <a:t>a = [2, 7, 11, 15]   target = 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80160" y="2880360"/>
            <a:ext cx="9601200" cy="566928"/>
          </a:xfrm>
          <a:prstGeom prst="roundRect">
            <a:avLst/>
          </a:prstGeom>
          <a:solidFill>
            <a:srgbClr val="FFF4B8"/>
          </a:solidFill>
          <a:ln w="15240">
            <a:solidFill>
              <a:srgbClr val="CDC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303580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262A30"/>
                </a:solidFill>
                <a:latin typeface="Consolas"/>
              </a:rPr>
              <a:t>i=0: need 7 → not found → store 2→0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80160" y="3703320"/>
            <a:ext cx="9601200" cy="566928"/>
          </a:xfrm>
          <a:prstGeom prst="roundRect">
            <a:avLst/>
          </a:prstGeom>
          <a:solidFill>
            <a:srgbClr val="DAEFDC"/>
          </a:solidFill>
          <a:ln w="15240">
            <a:solidFill>
              <a:srgbClr val="CDC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08760" y="385876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262A30"/>
                </a:solidFill>
                <a:latin typeface="Consolas"/>
              </a:rPr>
              <a:t>i=1: need 2 → found → answer [0,1]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57784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5C6269"/>
                </a:solidFill>
                <a:latin typeface="Segoe Print"/>
              </a:rPr>
              <a:t>The map turns “have I seen the complement?” into a fast lookup.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65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65B6E"/>
                </a:solidFill>
                <a:latin typeface="Segoe Print"/>
              </a:rPr>
              <a:t>DSA From Scratch → Advanced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262A30"/>
                </a:solidFill>
                <a:latin typeface="Segoe Print"/>
              </a:rPr>
              <a:t>15 • Real-world use case — frequency &amp; indexing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8869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u="sng">
                <a:solidFill>
                  <a:srgbClr val="265B6E"/>
                </a:solidFill>
                <a:latin typeface="Aptos"/>
                <a:hlinkClick r:id="rId2"/>
              </a:rPr>
              <a:t>https://github.com/ritesh2687/dsa_ppt_post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49840" y="6455664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C6269"/>
                </a:solidFill>
                <a:latin typeface="Aptos"/>
              </a:rPr>
              <a:t>DAY 32  • 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783080"/>
            <a:ext cx="2377440" cy="713232"/>
          </a:xfrm>
          <a:prstGeom prst="roundRect">
            <a:avLst/>
          </a:prstGeom>
          <a:solidFill>
            <a:srgbClr val="DEEDF7"/>
          </a:solidFill>
          <a:ln w="15240">
            <a:solidFill>
              <a:srgbClr val="CDC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9659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65B6E"/>
                </a:solidFill>
                <a:latin typeface="Segoe Print"/>
              </a:rPr>
              <a:t>Word counter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193852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65B6E"/>
                </a:solidFill>
                <a:latin typeface="Segoe Print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77639" y="1783080"/>
            <a:ext cx="7132320" cy="7132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DC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1960" y="1965960"/>
            <a:ext cx="6583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262A30"/>
                </a:solidFill>
                <a:latin typeface="Aptos"/>
              </a:rPr>
              <a:t>word → number of occurrences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2807208"/>
            <a:ext cx="2377440" cy="713232"/>
          </a:xfrm>
          <a:prstGeom prst="roundRect">
            <a:avLst/>
          </a:prstGeom>
          <a:solidFill>
            <a:srgbClr val="DEEDF7"/>
          </a:solidFill>
          <a:ln w="15240">
            <a:solidFill>
              <a:srgbClr val="CDC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99008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65B6E"/>
                </a:solidFill>
                <a:latin typeface="Segoe Print"/>
              </a:rPr>
              <a:t>Caching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2962656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65B6E"/>
                </a:solidFill>
                <a:latin typeface="Segoe Print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77639" y="2807208"/>
            <a:ext cx="7132320" cy="7132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DC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51960" y="2990088"/>
            <a:ext cx="6583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262A30"/>
                </a:solidFill>
                <a:latin typeface="Aptos"/>
              </a:rPr>
              <a:t>key → stored result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3831336"/>
            <a:ext cx="2377440" cy="713232"/>
          </a:xfrm>
          <a:prstGeom prst="roundRect">
            <a:avLst/>
          </a:prstGeom>
          <a:solidFill>
            <a:srgbClr val="DEEDF7"/>
          </a:solidFill>
          <a:ln w="15240">
            <a:solidFill>
              <a:srgbClr val="CDC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4014216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65B6E"/>
                </a:solidFill>
                <a:latin typeface="Segoe Print"/>
              </a:rPr>
              <a:t>User lookup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3986784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65B6E"/>
                </a:solidFill>
                <a:latin typeface="Segoe Print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77639" y="3831336"/>
            <a:ext cx="7132320" cy="7132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DC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51960" y="4014216"/>
            <a:ext cx="6583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262A30"/>
                </a:solidFill>
                <a:latin typeface="Aptos"/>
              </a:rPr>
              <a:t>ID → user record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4855464"/>
            <a:ext cx="2377440" cy="713232"/>
          </a:xfrm>
          <a:prstGeom prst="roundRect">
            <a:avLst/>
          </a:prstGeom>
          <a:solidFill>
            <a:srgbClr val="DEEDF7"/>
          </a:solidFill>
          <a:ln w="15240">
            <a:solidFill>
              <a:srgbClr val="CDC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503834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65B6E"/>
                </a:solidFill>
                <a:latin typeface="Segoe Print"/>
              </a:rPr>
              <a:t>Grouping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29000" y="501091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65B6E"/>
                </a:solidFill>
                <a:latin typeface="Segoe Print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977639" y="4855464"/>
            <a:ext cx="7132320" cy="7132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DC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51960" y="5038344"/>
            <a:ext cx="6583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262A30"/>
                </a:solidFill>
                <a:latin typeface="Aptos"/>
              </a:rPr>
              <a:t>category → collection of items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98932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62A30"/>
                </a:solidFill>
                <a:latin typeface="Segoe Print"/>
              </a:rPr>
              <a:t>Common idea: choose a key that lets you retrieve the information quickly.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65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65B6E"/>
                </a:solidFill>
                <a:latin typeface="Segoe Print"/>
              </a:rPr>
              <a:t>DSA From Scratch → Advanced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262A30"/>
                </a:solidFill>
                <a:latin typeface="Segoe Print"/>
              </a:rPr>
              <a:t>16 • Common mistakes to avoid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8869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u="sng">
                <a:solidFill>
                  <a:srgbClr val="265B6E"/>
                </a:solidFill>
                <a:latin typeface="Aptos"/>
                <a:hlinkClick r:id="rId2"/>
              </a:rPr>
              <a:t>https://github.com/ritesh2687/dsa_ppt_post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49840" y="6455664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C6269"/>
                </a:solidFill>
                <a:latin typeface="Aptos"/>
              </a:rPr>
              <a:t>DAY 32  • 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737360"/>
            <a:ext cx="10424160" cy="585216"/>
          </a:xfrm>
          <a:prstGeom prst="roundRect">
            <a:avLst/>
          </a:prstGeom>
          <a:solidFill>
            <a:srgbClr val="F9E0E0"/>
          </a:solidFill>
          <a:ln w="15240">
            <a:solidFill>
              <a:srgbClr val="CDC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1874519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65B6E"/>
                </a:solidFill>
                <a:latin typeface="Segoe Print"/>
              </a:rPr>
              <a:t>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847088"/>
            <a:ext cx="9372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62A30"/>
                </a:solidFill>
                <a:latin typeface="Aptos"/>
              </a:rPr>
              <a:t>Assuming iteration is sorted — unordered_map does not guarantee order.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496312"/>
            <a:ext cx="10424160" cy="585216"/>
          </a:xfrm>
          <a:prstGeom prst="roundRect">
            <a:avLst/>
          </a:prstGeom>
          <a:solidFill>
            <a:srgbClr val="F9E0E0"/>
          </a:solidFill>
          <a:ln w="15240">
            <a:solidFill>
              <a:srgbClr val="CDC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263347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65B6E"/>
                </a:solidFill>
                <a:latin typeface="Segoe Print"/>
              </a:rPr>
              <a:t>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606040"/>
            <a:ext cx="9372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62A30"/>
                </a:solidFill>
                <a:latin typeface="Aptos"/>
              </a:rPr>
              <a:t>Using [] just to check presence — it may insert a missing key.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255263"/>
            <a:ext cx="10424160" cy="585216"/>
          </a:xfrm>
          <a:prstGeom prst="roundRect">
            <a:avLst/>
          </a:prstGeom>
          <a:solidFill>
            <a:srgbClr val="FFF4B8"/>
          </a:solidFill>
          <a:ln w="15240">
            <a:solidFill>
              <a:srgbClr val="CDC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3392424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65B6E"/>
                </a:solidFill>
                <a:latin typeface="Segoe Print"/>
              </a:rPr>
              <a:t>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364991"/>
            <a:ext cx="9372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62A30"/>
                </a:solidFill>
                <a:latin typeface="Aptos"/>
              </a:rPr>
              <a:t>Forgetting that keys are unique.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4014215"/>
            <a:ext cx="10424160" cy="585216"/>
          </a:xfrm>
          <a:prstGeom prst="roundRect">
            <a:avLst/>
          </a:prstGeom>
          <a:solidFill>
            <a:srgbClr val="FFF4B8"/>
          </a:solidFill>
          <a:ln w="15240">
            <a:solidFill>
              <a:srgbClr val="CDC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" y="4151375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65B6E"/>
                </a:solidFill>
                <a:latin typeface="Segoe Print"/>
              </a:rPr>
              <a:t>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4123944"/>
            <a:ext cx="9372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62A30"/>
                </a:solidFill>
                <a:latin typeface="Aptos"/>
              </a:rPr>
              <a:t>Claiming strict O(1) in every case — say average O(1).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4773168"/>
            <a:ext cx="10424160" cy="585216"/>
          </a:xfrm>
          <a:prstGeom prst="roundRect">
            <a:avLst/>
          </a:prstGeom>
          <a:solidFill>
            <a:srgbClr val="FFF4B8"/>
          </a:solidFill>
          <a:ln w="15240">
            <a:solidFill>
              <a:srgbClr val="CDC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78992" y="4910327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65B6E"/>
                </a:solidFill>
                <a:latin typeface="Segoe Print"/>
              </a:rPr>
              <a:t>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4882896"/>
            <a:ext cx="9372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62A30"/>
                </a:solidFill>
                <a:latin typeface="Aptos"/>
              </a:rPr>
              <a:t>Choosing unordered_map when sorted order or range queries are required.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65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65B6E"/>
                </a:solidFill>
                <a:latin typeface="Segoe Print"/>
              </a:rPr>
              <a:t>DSA From Scratch → Advanced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262A30"/>
                </a:solidFill>
                <a:latin typeface="Segoe Print"/>
              </a:rPr>
              <a:t>17 • Interview tip — choose the right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8869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u="sng">
                <a:solidFill>
                  <a:srgbClr val="265B6E"/>
                </a:solidFill>
                <a:latin typeface="Aptos"/>
                <a:hlinkClick r:id="rId2"/>
              </a:rPr>
              <a:t>https://github.com/ritesh2687/dsa_ppt_post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49840" y="6455664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C6269"/>
                </a:solidFill>
                <a:latin typeface="Aptos"/>
              </a:rPr>
              <a:t>DAY 32  •  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828800"/>
            <a:ext cx="10241280" cy="1051560"/>
          </a:xfrm>
          <a:prstGeom prst="roundRect">
            <a:avLst/>
          </a:prstGeom>
          <a:solidFill>
            <a:srgbClr val="DEEDF7"/>
          </a:solidFill>
          <a:ln w="15240">
            <a:solidFill>
              <a:srgbClr val="CDC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1031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65B6E"/>
                </a:solidFill>
                <a:latin typeface="Segoe Print"/>
              </a:rPr>
              <a:t>Ask one question first: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084831"/>
            <a:ext cx="7086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62A30"/>
                </a:solidFill>
                <a:latin typeface="Segoe Print"/>
              </a:rPr>
              <a:t>“Do I need fast lookup, or do I need sorted keys?”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246120"/>
            <a:ext cx="4892040" cy="1417320"/>
          </a:xfrm>
          <a:prstGeom prst="roundRect">
            <a:avLst/>
          </a:prstGeom>
          <a:solidFill>
            <a:srgbClr val="DAEFDC"/>
          </a:solidFill>
          <a:ln w="15240">
            <a:solidFill>
              <a:srgbClr val="CDC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611880"/>
            <a:ext cx="4434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62A30"/>
                </a:solidFill>
                <a:latin typeface="Aptos"/>
              </a:rPr>
              <a:t>Fast average lookup
→ unordered_map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60" y="3246120"/>
            <a:ext cx="5074920" cy="1417320"/>
          </a:xfrm>
          <a:prstGeom prst="roundRect">
            <a:avLst/>
          </a:prstGeom>
          <a:solidFill>
            <a:srgbClr val="FFF4B8"/>
          </a:solidFill>
          <a:ln w="15240">
            <a:solidFill>
              <a:srgbClr val="CDC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3611880"/>
            <a:ext cx="4617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62A30"/>
                </a:solidFill>
                <a:latin typeface="Aptos"/>
              </a:rPr>
              <a:t>Sorted order / range queries
→ map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25780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5C6269"/>
                </a:solidFill>
                <a:latin typeface="Segoe Print"/>
              </a:rPr>
              <a:t>The data structure should follow the requirement.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65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65B6E"/>
                </a:solidFill>
                <a:latin typeface="Segoe Print"/>
              </a:rPr>
              <a:t>DSA From Scratch → Advanced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262A30"/>
                </a:solidFill>
                <a:latin typeface="Segoe Print"/>
              </a:rPr>
              <a:t>18 • Takeaway + Day 33 preview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8869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u="sng">
                <a:solidFill>
                  <a:srgbClr val="265B6E"/>
                </a:solidFill>
                <a:latin typeface="Aptos"/>
                <a:hlinkClick r:id="rId2"/>
              </a:rPr>
              <a:t>https://github.com/ritesh2687/dsa_ppt_post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49840" y="6455664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C6269"/>
                </a:solidFill>
                <a:latin typeface="Aptos"/>
              </a:rPr>
              <a:t>DAY 32  •  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737360"/>
            <a:ext cx="4983480" cy="3566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DC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011680"/>
            <a:ext cx="4434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65B6E"/>
                </a:solidFill>
                <a:latin typeface="Segoe Print"/>
              </a:rPr>
              <a:t>TODAY I LEARNED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60604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62A30"/>
                </a:solidFill>
                <a:latin typeface="Aptos"/>
              </a:rPr>
              <a:t>• Key → value storage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10896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62A30"/>
                </a:solidFill>
                <a:latin typeface="Aptos"/>
              </a:rPr>
              <a:t>• Average O(1) lookup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61188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62A30"/>
                </a:solidFill>
                <a:latin typeface="Aptos"/>
              </a:rPr>
              <a:t>• Core APIs: insert/find/count/erase/[]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11480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62A30"/>
                </a:solidFill>
                <a:latin typeface="Aptos"/>
              </a:rPr>
              <a:t>• Frequency-map patterns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461772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62A30"/>
                </a:solidFill>
                <a:latin typeface="Aptos"/>
              </a:rPr>
              <a:t>• map vs unordered_map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737360"/>
            <a:ext cx="5166360" cy="3566160"/>
          </a:xfrm>
          <a:prstGeom prst="roundRect">
            <a:avLst/>
          </a:prstGeom>
          <a:solidFill>
            <a:srgbClr val="DEEDF7"/>
          </a:solidFill>
          <a:ln w="15240">
            <a:solidFill>
              <a:srgbClr val="CDC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011680"/>
            <a:ext cx="4617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65B6E"/>
                </a:solidFill>
                <a:latin typeface="Segoe Print"/>
              </a:rPr>
              <a:t>TOMORROW → DAY 33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743200"/>
            <a:ext cx="4434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62A30"/>
                </a:solidFill>
                <a:latin typeface="Segoe Print"/>
              </a:rPr>
              <a:t>HASH SET / unordered_set
Next step: store unique values,
check membership quickly,
and recognize set-based patterns.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5715000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65B6E"/>
                </a:solidFill>
                <a:latin typeface="Segoe Print"/>
              </a:rPr>
              <a:t>Save • Practice • Explain it yourself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