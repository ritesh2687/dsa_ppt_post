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297180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548640"/>
            <a:ext cx="286207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21031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C47636"/>
                </a:solidFill>
                <a:latin typeface="Segoe Print"/>
              </a:rPr>
              <a:t>DAY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80467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4400" b="1">
                <a:solidFill>
                  <a:srgbClr val="262626"/>
                </a:solidFill>
                <a:latin typeface="Segoe Print"/>
              </a:rPr>
              <a:t>String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15184"/>
            <a:ext cx="77724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5F5F5F"/>
                </a:solidFill>
                <a:latin typeface="Segoe Print"/>
              </a:rPr>
              <a:t>Turn strings into numbers — then compare patterns fast.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07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1188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Segoe Print"/>
              </a:rPr>
              <a:t>"code"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4087368"/>
            <a:ext cx="1417320" cy="0"/>
          </a:xfrm>
          <a:prstGeom prst="line">
            <a:avLst/>
          </a:prstGeom>
          <a:ln w="38100">
            <a:solidFill>
              <a:srgbClr val="C47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94760" y="3767328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E6852"/>
                </a:solidFill>
                <a:latin typeface="Segoe Print"/>
              </a:rPr>
              <a:t>polynomial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169663"/>
            <a:ext cx="21945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62626"/>
                </a:solidFill>
                <a:latin typeface="Cascadia Mono"/>
              </a:rPr>
              <a:t>→  h("code")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4087368"/>
            <a:ext cx="1051560" cy="0"/>
          </a:xfrm>
          <a:prstGeom prst="line">
            <a:avLst/>
          </a:prstGeom>
          <a:ln w="38100">
            <a:solidFill>
              <a:srgbClr val="C47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98079" y="3767328"/>
            <a:ext cx="640080" cy="640080"/>
          </a:xfrm>
          <a:prstGeom prst="ellipse">
            <a:avLst/>
          </a:prstGeom>
          <a:solidFill>
            <a:srgbClr val="2E6852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913632"/>
            <a:ext cx="6400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scadia Mono"/>
              </a:rP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94760"/>
            <a:ext cx="25603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Segoe Print"/>
              </a:rPr>
              <a:t>fast equality / substring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Today’s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2E6852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42032"/>
            <a:ext cx="1188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Segoe Print"/>
              </a:rPr>
              <a:t>Need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53312" y="2112264"/>
            <a:ext cx="950976" cy="0"/>
          </a:xfrm>
          <a:prstGeom prst="line">
            <a:avLst/>
          </a:prstGeom>
          <a:ln w="25400">
            <a:solidFill>
              <a:srgbClr val="C47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60320" y="1828800"/>
            <a:ext cx="566928" cy="566928"/>
          </a:xfrm>
          <a:prstGeom prst="ellipse">
            <a:avLst/>
          </a:prstGeom>
          <a:solidFill>
            <a:srgbClr val="2E6852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993392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79" y="2542032"/>
            <a:ext cx="1188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Segoe Print"/>
              </a:rPr>
              <a:t>Hash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2112" y="2112264"/>
            <a:ext cx="950975" cy="0"/>
          </a:xfrm>
          <a:prstGeom prst="line">
            <a:avLst/>
          </a:prstGeom>
          <a:ln w="25400">
            <a:solidFill>
              <a:srgbClr val="C47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389120" y="1828800"/>
            <a:ext cx="566928" cy="566928"/>
          </a:xfrm>
          <a:prstGeom prst="ellipse">
            <a:avLst/>
          </a:prstGeom>
          <a:solidFill>
            <a:srgbClr val="2E6852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993392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542032"/>
            <a:ext cx="1188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Segoe Print"/>
              </a:rPr>
              <a:t>Roll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0912" y="2112264"/>
            <a:ext cx="950976" cy="0"/>
          </a:xfrm>
          <a:prstGeom prst="line">
            <a:avLst/>
          </a:prstGeom>
          <a:ln w="25400">
            <a:solidFill>
              <a:srgbClr val="C47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17920" y="1828800"/>
            <a:ext cx="566928" cy="566928"/>
          </a:xfrm>
          <a:prstGeom prst="ellipse">
            <a:avLst/>
          </a:prstGeom>
          <a:solidFill>
            <a:srgbClr val="2E6852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993392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542032"/>
            <a:ext cx="1188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Segoe Print"/>
              </a:rPr>
              <a:t>Extract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39712" y="2112264"/>
            <a:ext cx="950976" cy="0"/>
          </a:xfrm>
          <a:prstGeom prst="line">
            <a:avLst/>
          </a:prstGeom>
          <a:ln w="25400">
            <a:solidFill>
              <a:srgbClr val="C47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46720" y="1828800"/>
            <a:ext cx="566928" cy="566928"/>
          </a:xfrm>
          <a:prstGeom prst="ellipse">
            <a:avLst/>
          </a:prstGeom>
          <a:solidFill>
            <a:srgbClr val="2E6852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993392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542032"/>
            <a:ext cx="1188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Segoe Print"/>
              </a:rPr>
              <a:t>Solve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8512" y="2112264"/>
            <a:ext cx="950976" cy="0"/>
          </a:xfrm>
          <a:prstGeom prst="line">
            <a:avLst/>
          </a:prstGeom>
          <a:ln w="25400">
            <a:solidFill>
              <a:srgbClr val="C47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875520" y="1828800"/>
            <a:ext cx="566928" cy="566928"/>
          </a:xfrm>
          <a:prstGeom prst="ellipse">
            <a:avLst/>
          </a:prstGeom>
          <a:solidFill>
            <a:srgbClr val="C47636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993392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542032"/>
            <a:ext cx="1188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Segoe Print"/>
              </a:rPr>
              <a:t>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657600"/>
            <a:ext cx="10149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3904487"/>
            <a:ext cx="10972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E6852"/>
                </a:solidFill>
                <a:latin typeface="Segoe Print"/>
              </a:rPr>
              <a:t>Core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813048"/>
            <a:ext cx="8321040" cy="6400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Segoe Print"/>
              </a:rPr>
              <a:t>Concept → Example → Implementation → Complexity → Pattern → Problem → Solution → Takeaway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Why hash a string?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103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AA4141"/>
                </a:solidFill>
                <a:latin typeface="Segoe Print"/>
              </a:rPr>
              <a:t>Without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38912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Comparing long strings can be expensive.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Checking many substrings may repeat work.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Brute-force pattern checks can become O(n·m).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2103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E6852"/>
                </a:solidFill>
                <a:latin typeface="Segoe Print"/>
              </a:rPr>
              <a:t>With hashing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38912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Map a string to a numeric fingerprint.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Precompute once; reuse for many comparisons.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Substring hash can be extracted in O(1).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100584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C47636"/>
                </a:solidFill>
                <a:latin typeface="Segoe Print"/>
              </a:rPr>
              <a:t>Think: “compare fingerprints first; verify if needed.”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From characters → one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822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822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262626"/>
                </a:solidFill>
                <a:latin typeface="Segoe Print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2039112"/>
            <a:ext cx="320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C47636"/>
                </a:solidFill>
                <a:latin typeface="Segoe Print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828800"/>
            <a:ext cx="822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048256"/>
            <a:ext cx="822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262626"/>
                </a:solidFill>
                <a:latin typeface="Segoe Prin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039112"/>
            <a:ext cx="320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C47636"/>
                </a:solidFill>
                <a:latin typeface="Segoe Print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822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048256"/>
            <a:ext cx="822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262626"/>
                </a:solidFill>
                <a:latin typeface="Segoe Print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Segoe Print"/>
              </a:rPr>
              <a:t>A simple polynomial hash: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93008"/>
            <a:ext cx="6400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E6852"/>
                </a:solidFill>
                <a:latin typeface="Cascadia Mono"/>
              </a:rPr>
              <a:t>h(s) = (s[0]·p⁰ + s[1]·p¹ + …) mod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60020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874519"/>
            <a:ext cx="23774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Segoe Print"/>
              </a:rPr>
              <a:t>Typical 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423160"/>
            <a:ext cx="265176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p ≈ 31 / 53 / 911382323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M = large prime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Use long long for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160520"/>
            <a:ext cx="2606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4141"/>
                </a:solidFill>
                <a:latin typeface="Segoe Print"/>
              </a:rPr>
              <a:t>It is a fingerprint, not a proof.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Collisions: the 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3152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Segoe Print"/>
              </a:rPr>
              <a:t>Different strings can produce the same hash.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4023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33832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scadia Mono"/>
              </a:rPr>
              <a:t>"ab"  →  hash =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148840"/>
            <a:ext cx="4023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2606040"/>
            <a:ext cx="33832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scadia Mono"/>
              </a:rPr>
              <a:t>"ba"  →  hash =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3035808"/>
            <a:ext cx="1737360" cy="0"/>
          </a:xfrm>
          <a:prstGeom prst="line">
            <a:avLst/>
          </a:prstGeom>
          <a:ln w="31750">
            <a:solidFill>
              <a:srgbClr val="AA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2040" y="2578608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AA4141"/>
                </a:solidFill>
                <a:latin typeface="Segoe Print"/>
              </a:rPr>
              <a:t>COLLISION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6852"/>
                </a:solidFill>
                <a:latin typeface="Segoe Print"/>
              </a:rPr>
              <a:t>Reduce risk: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315968"/>
            <a:ext cx="813816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Large modulus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Good base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Double hashing for high-confidence checks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Verify actual substring when correctness is critical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Rolling 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6809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Segoe Print"/>
              </a:rPr>
              <a:t>Move the window without rebuilding its hash.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777240" cy="685800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2286000"/>
            <a:ext cx="777240" cy="685800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286000"/>
            <a:ext cx="777240" cy="685800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286000"/>
            <a:ext cx="777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286000"/>
            <a:ext cx="777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9067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Segoe Print"/>
              </a:rPr>
              <a:t>window 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2633472"/>
            <a:ext cx="914400" cy="0"/>
          </a:xfrm>
          <a:prstGeom prst="line">
            <a:avLst/>
          </a:prstGeom>
          <a:ln w="38100">
            <a:solidFill>
              <a:srgbClr val="C47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0" y="2286000"/>
            <a:ext cx="777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286000"/>
            <a:ext cx="777240" cy="685800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286000"/>
            <a:ext cx="777240" cy="685800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2286000"/>
            <a:ext cx="777240" cy="685800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286000"/>
            <a:ext cx="777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459736"/>
            <a:ext cx="777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Cascadia Mono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09067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Segoe Print"/>
              </a:rPr>
              <a:t>window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6852"/>
                </a:solidFill>
                <a:latin typeface="Segoe Print"/>
              </a:rPr>
              <a:t>Typical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913632"/>
            <a:ext cx="81381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Cascadia Mono"/>
              </a:rPr>
              <a:t>newHash = (oldHash − oldChar·p^k)·p⁻¹ + newChar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09160"/>
            <a:ext cx="99669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Segoe Print"/>
              </a:rPr>
              <a:t>In modular arithmetic, implementations often use a forward polynomial form or prefix hashes to avoid modular division.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A tiny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50292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Segoe Print"/>
              </a:rPr>
              <a:t>Example: s = “abc”, base p =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5120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scadia Mono"/>
              </a:rPr>
              <a:t>value(a)=1, value(b)=2, value(c)=3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52120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6852"/>
                </a:solidFill>
                <a:latin typeface="Cascadia Mono"/>
              </a:rPr>
              <a:t>h = 1·31² + 2·31 + 3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36576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Cascadia Mono"/>
              </a:rPr>
              <a:t>= 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53035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F5F5F"/>
                </a:solidFill>
                <a:latin typeface="Segoe Print"/>
              </a:rPr>
              <a:t>Now compare another string by comparing its fingerprint.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2057400"/>
            <a:ext cx="658368" cy="658368"/>
          </a:xfrm>
          <a:prstGeom prst="ellipse">
            <a:avLst/>
          </a:prstGeom>
          <a:solidFill>
            <a:srgbClr val="2E6852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2"/>
            <a:ext cx="65836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scadia Mono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80360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62626"/>
                </a:solidFill>
                <a:latin typeface="Cascadia Mono"/>
              </a:rPr>
              <a:t>× 31^2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212848"/>
            <a:ext cx="3657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C47636"/>
                </a:solidFill>
                <a:latin typeface="Segoe Print"/>
              </a:rPr>
              <a:t>+</a:t>
            </a:r>
          </a:p>
        </p:txBody>
      </p:sp>
      <p:sp>
        <p:nvSpPr>
          <p:cNvPr id="15" name="Oval 14"/>
          <p:cNvSpPr/>
          <p:nvPr/>
        </p:nvSpPr>
        <p:spPr>
          <a:xfrm>
            <a:off x="7818119" y="2057400"/>
            <a:ext cx="658368" cy="658368"/>
          </a:xfrm>
          <a:prstGeom prst="ellipse">
            <a:avLst/>
          </a:prstGeom>
          <a:solidFill>
            <a:srgbClr val="2E6852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2221992"/>
            <a:ext cx="65836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scadia Mono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880360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62626"/>
                </a:solidFill>
                <a:latin typeface="Cascadia Mono"/>
              </a:rPr>
              <a:t>× 31^1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1" y="2212848"/>
            <a:ext cx="3657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C47636"/>
                </a:solidFill>
                <a:latin typeface="Segoe Print"/>
              </a:rPr>
              <a:t>+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0" y="2057400"/>
            <a:ext cx="658368" cy="658368"/>
          </a:xfrm>
          <a:prstGeom prst="ellipse">
            <a:avLst/>
          </a:prstGeom>
          <a:solidFill>
            <a:srgbClr val="2E6852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221992"/>
            <a:ext cx="65836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scadia Mono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880360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62626"/>
                </a:solidFill>
                <a:latin typeface="Cascadia Mono"/>
              </a:rPr>
              <a:t>× 31^0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Prefix hashes: the speed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73152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Segoe Print"/>
              </a:rPr>
              <a:t>Prefix hashes let us ask: hash(i…j) =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5577840" cy="2423160"/>
          </a:xfrm>
          <a:prstGeom prst="roundRect">
            <a:avLst/>
          </a:prstGeom>
          <a:solidFill>
            <a:srgbClr val="232527"/>
          </a:solidFill>
          <a:ln w="12700">
            <a:solidFill>
              <a:srgbClr val="2325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85416"/>
            <a:ext cx="5248655" cy="2167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scadia Mono"/>
              </a:rPr>
              <a:t>H[i+1] = (H[i] * base + value(s[i])) % MOD
hash(l, r) =
    H[r+1] - H[l] * power[r-l+1]
    (mod MOD)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057400"/>
            <a:ext cx="4069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2377440"/>
            <a:ext cx="3017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E6852"/>
                </a:solidFill>
                <a:latin typeface="Segoe Print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880360"/>
            <a:ext cx="320040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Precompute O(n)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Each substring hash: O(1)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Binary search + hashing can turn some O(n²) searches into O(n log 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9875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AA4141"/>
                </a:solidFill>
                <a:latin typeface="Segoe Print"/>
              </a:rPr>
              <a:t>Always normalize the modulo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C++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7452360" cy="4892040"/>
          </a:xfrm>
          <a:prstGeom prst="roundRect">
            <a:avLst/>
          </a:prstGeom>
          <a:solidFill>
            <a:srgbClr val="232527"/>
          </a:solidFill>
          <a:ln w="12700">
            <a:solidFill>
              <a:srgbClr val="2325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453895"/>
            <a:ext cx="7123176" cy="46360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>
                <a:solidFill>
                  <a:srgbClr val="FFFFFF"/>
                </a:solidFill>
                <a:latin typeface="Cascadia Mono"/>
              </a:rPr>
              <a:t>using ll = long long;
const ll MOD = 1'000'000'007;
const ll BASE = 911382323;
vector&lt;ll&gt; pref(n + 1), power(n + 1, 1);
for (int i = 0; i &lt; n; ++i) {
    pref[i + 1] =
        (pref[i] * BASE + (s[i] - 'a' + 1)) % MOD;
    power[i + 1] = power[i] * BASE % MOD;
}
ll getHash(int l, int r) { // inclusive
    ll res = (pref[r + 1]
            - pref[l] * power[r - l + 1]) % MOD;
    if (res &lt; 0) res += MOD;
    return res;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54480"/>
            <a:ext cx="2788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828800"/>
            <a:ext cx="22860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6852"/>
                </a:solidFill>
                <a:latin typeface="Segoe Print"/>
              </a:rPr>
              <a:t>Implementation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423160"/>
            <a:ext cx="21488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Use long long.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Keep BASE and MOD fixed.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Precompute powers.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getHash(l,r) is O(1).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For adversarial inputs, consider double hashing or verification.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O(1) substring-hash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784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Segoe Print"/>
              </a:rPr>
              <a:t>Suppose s = “abcdefgh”. Want substring [2..5] = “cdef”.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914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scadia Mono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Cascadia Mono"/>
              </a:rP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2148840"/>
            <a:ext cx="914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23500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scadia Mono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26080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Cascadia Mono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48840"/>
            <a:ext cx="914400" cy="713232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3500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scadia Mono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26080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Cascadia Mono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148840"/>
            <a:ext cx="914400" cy="713232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3500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scadia Mono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926080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Cascadia Mono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148840"/>
            <a:ext cx="914400" cy="713232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3500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scadia Mono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926080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Cascadia Mono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148840"/>
            <a:ext cx="914400" cy="713232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3500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scadia Mono"/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26080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Cascadia Mono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148840"/>
            <a:ext cx="914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3500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scadia Mono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26080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Cascadia Mono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2148840"/>
            <a:ext cx="914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23500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scadia Mono"/>
              </a:rPr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926080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Cascadia Mono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703320"/>
            <a:ext cx="21945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6852"/>
                </a:solidFill>
                <a:latin typeface="Cascadia Mono"/>
              </a:rPr>
              <a:t>getHash(2,5)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54680" y="3913632"/>
            <a:ext cx="1417320" cy="0"/>
          </a:xfrm>
          <a:prstGeom prst="line">
            <a:avLst/>
          </a:prstGeom>
          <a:ln w="31750">
            <a:solidFill>
              <a:srgbClr val="C47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4880" y="3685032"/>
            <a:ext cx="50292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Segoe Print"/>
              </a:rPr>
              <a:t>one prefix subtraction + one power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8595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E6852"/>
                </a:solidFill>
                <a:latin typeface="Segoe Print"/>
              </a:rPr>
              <a:t>That is the key idea behind fast substring comparison.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Complexity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6852"/>
                </a:solidFill>
                <a:latin typeface="Segoe Print"/>
              </a:rPr>
              <a:t>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737360"/>
            <a:ext cx="1371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6852"/>
                </a:solidFill>
                <a:latin typeface="Segoe Print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6852"/>
                </a:solidFill>
                <a:latin typeface="Segoe Print"/>
              </a:rPr>
              <a:t>Extra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3840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Aptos"/>
              </a:rPr>
              <a:t>Build prefix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240280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scadia Mono"/>
              </a:rP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40280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scadia Mono"/>
              </a:rPr>
              <a:t>O(n)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71800"/>
            <a:ext cx="3840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Aptos"/>
              </a:rPr>
              <a:t>Substring 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971800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scadia Mono"/>
              </a:rPr>
              <a:t>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971800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scadia Mono"/>
              </a:rP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03320"/>
            <a:ext cx="3840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Aptos"/>
              </a:rPr>
              <a:t>Compare k substrings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703320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scadia Mono"/>
              </a:rPr>
              <a:t>O(k)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703320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scadia Mono"/>
              </a:rPr>
              <a:t>O(n)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434840"/>
            <a:ext cx="3840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Aptos"/>
              </a:rPr>
              <a:t>Binary search + 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434840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scadia Mono"/>
              </a:rPr>
              <a:t>Often O(n log 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434840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scadia Mono"/>
              </a:rPr>
              <a:t>O(n)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8686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47636"/>
                </a:solidFill>
                <a:latin typeface="Segoe Print"/>
              </a:rPr>
              <a:t>Trade-off: speed comes with a small probability of collision.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Patterns to recognize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709928"/>
            <a:ext cx="173736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55648"/>
            <a:ext cx="16276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Fixed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21991"/>
            <a:ext cx="43434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Segoe Print"/>
              </a:rPr>
              <a:t>Hash every length-k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79191"/>
            <a:ext cx="4343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ptos"/>
              </a:rPr>
              <a:t>substring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709928"/>
            <a:ext cx="173736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2824" y="1755648"/>
            <a:ext cx="16276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Prefix 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21991"/>
            <a:ext cx="43434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Segoe Print"/>
              </a:rPr>
              <a:t>O(1) substring fingerprints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79191"/>
            <a:ext cx="4343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ptos"/>
              </a:rPr>
              <a:t>many comparisons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3858768"/>
            <a:ext cx="173736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3904487"/>
            <a:ext cx="16276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Binary search + 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2"/>
            <a:ext cx="43434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Segoe Print"/>
              </a:rPr>
              <a:t>Check if length L repeats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28032"/>
            <a:ext cx="4343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ptos"/>
              </a:rPr>
              <a:t>longest duplicate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3858768"/>
            <a:ext cx="173736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3904487"/>
            <a:ext cx="16276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Double hash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70832"/>
            <a:ext cx="43434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Segoe Print"/>
              </a:rPr>
              <a:t>Two independent fingerprints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28032"/>
            <a:ext cx="4343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ptos"/>
              </a:rPr>
              <a:t>lower collision 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Interview problem #1 — Repeated DNA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50876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371600"/>
            <a:ext cx="13990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LEETCODE 187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49377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Segoe Print"/>
              </a:rPr>
              <a:t>Repeated DNA 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12064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Aptos"/>
              </a:rPr>
              <a:t>Find all 10-letter-long sequences that occur more than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914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6852"/>
                </a:solidFill>
                <a:latin typeface="Segoe Print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63240"/>
            <a:ext cx="47548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Slide a fixed window of length 10.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Hash / encode each window.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Count occurrences; output when count becomes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08760"/>
            <a:ext cx="44805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810512"/>
            <a:ext cx="10972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E6852"/>
                </a:solidFill>
                <a:latin typeface="Segoe Print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86000"/>
            <a:ext cx="3657600" cy="9601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scadia Mono"/>
              </a:rPr>
              <a:t>AAAAACCCCCAAAAACCCCCCAAAAAGGGTTT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429000"/>
            <a:ext cx="3566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Segoe Print"/>
              </a:rPr>
              <a:t>→ repeated windows include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886200"/>
            <a:ext cx="347472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Cascadia Mono"/>
              </a:rPr>
              <a:t>AAAAACCCCC
CCCCCAAAAA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8869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47636"/>
                </a:solidFill>
                <a:latin typeface="Segoe Print"/>
              </a:rPr>
              <a:t>Pattern: fixed-size window + frequency 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Interview problem #2 — Longest Duplicate Substring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50876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371600"/>
            <a:ext cx="13990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LEETCODE 1044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557784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Segoe Print"/>
              </a:rPr>
              <a:t>Longest Duplicate Substring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6692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Aptos"/>
              </a:rPr>
              <a:t>Find the longest substring that appears at least twice.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5623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64992"/>
            <a:ext cx="18288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E6852"/>
                </a:solidFill>
                <a:latin typeface="Segoe Print"/>
              </a:rPr>
              <a:t>Classic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33832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Cascadia Mono"/>
              </a:rPr>
              <a:t>Binary search on length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785615"/>
            <a:ext cx="3657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C47636"/>
                </a:solidFill>
                <a:latin typeface="Segoe Print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794760"/>
            <a:ext cx="13258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62626"/>
                </a:solidFill>
                <a:latin typeface="Segoe Print"/>
              </a:rPr>
              <a:t>rolling / prefix hashes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44805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Segoe Print"/>
              </a:rPr>
              <a:t>If duplicate exists → try longer
Else → try shorter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063240"/>
            <a:ext cx="4160520" cy="2011680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401568"/>
            <a:ext cx="23774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Segoe Print"/>
              </a:rPr>
              <a:t>Typical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886200"/>
            <a:ext cx="22860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E6852"/>
                </a:solidFill>
                <a:latin typeface="Cascadia Mono"/>
              </a:rPr>
              <a:t>O(n log 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407408"/>
            <a:ext cx="32461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ptos"/>
              </a:rPr>
              <a:t>with O(n) hash checking per binary-search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Interview problem #3 — Shortest Palindrome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50876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371600"/>
            <a:ext cx="13990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LEETCODE 214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47548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Segoe Print"/>
              </a:rPr>
              <a:t>Shortest Palindrome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4864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Aptos"/>
              </a:rPr>
              <a:t>Use forward and reverse hashes to find the longest palindromic prefix.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5486400" cy="1691640"/>
          </a:xfrm>
          <a:prstGeom prst="roundRect">
            <a:avLst/>
          </a:prstGeom>
          <a:solidFill>
            <a:srgbClr val="232527"/>
          </a:solidFill>
          <a:ln w="12700">
            <a:solidFill>
              <a:srgbClr val="2325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6"/>
            <a:ext cx="5157216" cy="1435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scadia Mono"/>
              </a:rPr>
              <a:t>forward = forward * base + value
reverse = reverse + value * power
if forward == reverse:
    longest palindromic prefix found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063240"/>
            <a:ext cx="4343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383280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E6852"/>
                </a:solidFill>
                <a:latin typeface="Segoe Print"/>
              </a:rPr>
              <a:t>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840480"/>
            <a:ext cx="34290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Forward vs reverse fingerprint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Find longest matching prefix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ptos"/>
              </a:defRPr>
            </a:pPr>
            <a:r>
              <a:t>• Prepend the remaining reverse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64592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463040"/>
            <a:ext cx="15361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A4141"/>
                </a:solidFill>
                <a:latin typeface="Segoe Print"/>
              </a:rPr>
              <a:t>Overflow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453896"/>
            <a:ext cx="7863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Aptos"/>
              </a:rPr>
              <a:t>Use long long; multiply under modulo.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164592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86000"/>
            <a:ext cx="15361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Negative modulo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276856"/>
            <a:ext cx="7863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Aptos"/>
              </a:rPr>
              <a:t>Normalize: (x % MOD + MOD) % MOD.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40"/>
            <a:ext cx="164592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08960"/>
            <a:ext cx="15361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A4141"/>
                </a:solidFill>
                <a:latin typeface="Segoe Print"/>
              </a:rPr>
              <a:t>Collisions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099816"/>
            <a:ext cx="7863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Aptos"/>
              </a:rPr>
              <a:t>One hash is probabilistic; use double hash / verify.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64592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31920"/>
            <a:ext cx="15361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Wrong indexing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922776"/>
            <a:ext cx="7863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Aptos"/>
              </a:rPr>
              <a:t>Be explicit: [l, r] inclusive.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9160"/>
            <a:ext cx="164592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754880"/>
            <a:ext cx="15361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E6852"/>
                </a:solidFill>
                <a:latin typeface="Segoe Print"/>
              </a:rPr>
              <a:t>Bad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745736"/>
            <a:ext cx="7863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Aptos"/>
              </a:rPr>
              <a:t>Avoid tiny/poor choices for adversarial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77840"/>
            <a:ext cx="96926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47636"/>
                </a:solidFill>
                <a:latin typeface="Segoe Print"/>
              </a:rPr>
              <a:t>Most bugs are arithmetic or indexing bugs — not “hashing” bugs.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Interview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10287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6400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6852"/>
                </a:solidFill>
                <a:latin typeface="Segoe Print"/>
              </a:rPr>
              <a:t>When should you think of string hashing?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14600"/>
            <a:ext cx="64922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“Compare many substrings quickly.”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“Find repeated / duplicate substrings.”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“Check if two substrings are equal.”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“Binary search the answer length.”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74519"/>
            <a:ext cx="2514600" cy="2560320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176272"/>
            <a:ext cx="1920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47636"/>
                </a:solidFill>
                <a:latin typeface="Segoe Print"/>
              </a:rPr>
              <a:t>Interview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743200"/>
            <a:ext cx="1920240" cy="10972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Segoe Print"/>
              </a:rPr>
              <a:t>“I’ll precompute prefix hashes so each substring comparison is O(1).”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97840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700" b="1">
                <a:solidFill>
                  <a:srgbClr val="2E6852"/>
                </a:solidFill>
                <a:latin typeface="Segoe Print"/>
              </a:rPr>
              <a:t>STRING HASHING = FAST FINGERPRINTING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23160"/>
            <a:ext cx="530352" cy="530352"/>
          </a:xfrm>
          <a:prstGeom prst="ellipse">
            <a:avLst/>
          </a:prstGeom>
          <a:solidFill>
            <a:srgbClr val="C47636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53035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04872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Segoe Print"/>
              </a:rPr>
              <a:t>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34640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5F5F5F"/>
                </a:solidFill>
                <a:latin typeface="Aptos"/>
              </a:rPr>
              <a:t>Convert a string into a numeric fingerprint.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2423160"/>
            <a:ext cx="530352" cy="530352"/>
          </a:xfrm>
          <a:prstGeom prst="ellipse">
            <a:avLst/>
          </a:prstGeom>
          <a:solidFill>
            <a:srgbClr val="C47636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53035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404872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Segoe Print"/>
              </a:rPr>
              <a:t>Precompute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834640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5F5F5F"/>
                </a:solidFill>
                <a:latin typeface="Aptos"/>
              </a:rPr>
              <a:t>Prefix hashes + powers make substring hashes O(1).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931920"/>
            <a:ext cx="530352" cy="530352"/>
          </a:xfrm>
          <a:prstGeom prst="ellipse">
            <a:avLst/>
          </a:prstGeom>
          <a:solidFill>
            <a:srgbClr val="C47636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53035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13632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Segoe Print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43400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5F5F5F"/>
                </a:solidFill>
                <a:latin typeface="Aptos"/>
              </a:rPr>
              <a:t>Fixed window, duplicate search, binary search + hash.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3931920"/>
            <a:ext cx="530352" cy="530352"/>
          </a:xfrm>
          <a:prstGeom prst="ellipse">
            <a:avLst/>
          </a:prstGeom>
          <a:solidFill>
            <a:srgbClr val="C47636"/>
          </a:solidFill>
          <a:ln>
            <a:solidFill>
              <a:srgbClr val="2E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80"/>
            <a:ext cx="53035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scadia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913632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Segoe Print"/>
              </a:rP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343400"/>
            <a:ext cx="4114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5F5F5F"/>
                </a:solidFill>
                <a:latin typeface="Aptos"/>
              </a:rPr>
              <a:t>Remember collisions; double hash or verify when needed.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058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C47636"/>
                </a:solidFill>
                <a:latin typeface="Segoe Print"/>
              </a:rPr>
              <a:t>Takeaway: compare hashes in O(1), but never forget the collision trade-off.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0"/>
            <a:ext cx="16459" cy="6400800"/>
          </a:xfrm>
          <a:prstGeom prst="rect">
            <a:avLst/>
          </a:prstGeom>
          <a:solidFill>
            <a:srgbClr val="D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62626"/>
                </a:solidFill>
                <a:latin typeface="Segoe Print"/>
              </a:rPr>
              <a:t>Tomorrow → String Pattern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6852"/>
                </a:solidFill>
                <a:latin typeface="Segoe Print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143000" cy="329184"/>
          </a:xfrm>
          <a:prstGeom prst="roundRect">
            <a:avLst/>
          </a:prstGeom>
          <a:solidFill>
            <a:srgbClr val="EBE6D8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463040"/>
            <a:ext cx="103327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C47636"/>
                </a:solidFill>
                <a:latin typeface="Segoe Print"/>
              </a:rPr>
              <a:t>DAY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731520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262626"/>
                </a:solidFill>
                <a:latin typeface="Segoe Print"/>
              </a:rPr>
              <a:t>String Pattern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68580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0">
                <a:solidFill>
                  <a:srgbClr val="5F5F5F"/>
                </a:solidFill>
                <a:latin typeface="Segoe Print"/>
              </a:rPr>
              <a:t>From fingerprints → exact pattern-search algorithms.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508760"/>
            <a:ext cx="38862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828800"/>
            <a:ext cx="1097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E6852"/>
                </a:solidFill>
                <a:latin typeface="Segoe Print"/>
              </a:rPr>
              <a:t>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377440"/>
            <a:ext cx="29260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Naive pattern matching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LPS / prefix function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KMP intuition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When hashing is not enough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40233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C47636"/>
                </a:solidFill>
                <a:latin typeface="Segoe Print"/>
              </a:rPr>
              <a:t>See you on Day 29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B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052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385B85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10528"/>
            <a:ext cx="29718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19" b="0">
                <a:solidFill>
                  <a:srgbClr val="5F5F5F"/>
                </a:solidFill>
                <a:latin typeface="Aptos"/>
              </a:rPr>
              <a:t>DSA From Scratch → Advanced  •  Day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From Scratch → Advanced — Day 28: String Hashing</dc:title>
  <dc:subject>LinkedIn DSA learning series</dc:subject>
  <dc:creator>Ritesh Prajapati</dc:creator>
  <cp:keywords>DSA, String Hashing, Rolling Hash, C++, LinkedIn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