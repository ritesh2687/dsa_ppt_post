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607E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29242"/>
                </a:solidFill>
                <a:latin typeface="Aptos"/>
              </a:rPr>
              <a:t>DAY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7498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32323"/>
                </a:solidFill>
                <a:latin typeface="Aptos"/>
              </a:rPr>
              <a:t>REVERSE A
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3756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C5C58"/>
                </a:solidFill>
                <a:latin typeface="Aptos"/>
              </a:rPr>
              <a:t>From pointer confusion → pointer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34440"/>
            <a:ext cx="3566160" cy="33832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9659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391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06840" y="2203704"/>
            <a:ext cx="667511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92640" y="19659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0391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0" y="220370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201400" y="19659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01400" y="20391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024360" y="220370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710159" y="19659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59" y="20391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C5C58"/>
                </a:solidFill>
                <a:latin typeface="Aptos"/>
              </a:rPr>
              <a:t>original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1546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2278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9006840" y="3392424"/>
            <a:ext cx="667511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31546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2278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0515600" y="339242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201400" y="31546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01400" y="32278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2024360" y="339242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710159" y="31546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710159" y="32278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29242"/>
                </a:solidFill>
                <a:latin typeface="Aptos"/>
              </a:rPr>
              <a:t>reversed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70916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“The nodes stay. The links change.”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What does reversing a Linked List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We do NOT rearrange the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5C5C58"/>
                </a:solidFill>
                <a:latin typeface="Aptos"/>
              </a:rPr>
              <a:t>We change the direction of each `next` pointer.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620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3026663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31720" y="27889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8620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79" y="3026663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27889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8620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3026663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49240" y="27889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8620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40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C5C58"/>
                </a:solidFill>
                <a:latin typeface="Aptos"/>
              </a:rPr>
              <a:t>10 → 20 → 30 → 40 → NULL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177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908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40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645920" y="485546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31720" y="46177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908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30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154679" y="485546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840480" y="46177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46908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20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663440" y="485546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349240" y="461772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46908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9242"/>
                </a:solidFill>
                <a:latin typeface="Aptos"/>
              </a:rPr>
              <a:t>NULL ← 40 ← 30 ← 20 ← 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280160"/>
            <a:ext cx="3840480" cy="42062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15727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Mental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05740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Each node keeps its data.
Only the `next` arrow flips.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3832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✓ Same nodes
✓ Same order, reversed
✓ O(n) time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Why do we reverse a Linked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400800" cy="43434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435608"/>
            <a:ext cx="5760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Understand pointer manipulation — a core linked-list skill.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0253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002536"/>
            <a:ext cx="5760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Prepare for palindrome, list reordering, and pointer-based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569464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569464"/>
            <a:ext cx="5760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Practice in-place changes without creating another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3639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136392"/>
            <a:ext cx="5760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Useful pattern for interviews: save → reverse link → advance.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234440"/>
            <a:ext cx="3886200" cy="4343400"/>
          </a:xfrm>
          <a:prstGeom prst="roundRect">
            <a:avLst/>
          </a:prstGeom>
          <a:solidFill>
            <a:srgbClr val="FAF8F2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50876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9242"/>
                </a:solidFill>
                <a:latin typeface="Aptos"/>
              </a:rPr>
              <a:t>Think → Predict →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11680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If we write:
curr-&gt;next = prev;
Which link is being changed?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977639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5C58"/>
                </a:solidFill>
                <a:latin typeface="Aptos"/>
              </a:rPr>
              <a:t>Checkpoint: it changes the direction of the current node’s arrow.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Original vs reversed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C5C58"/>
                </a:solidFill>
                <a:latin typeface="Aptos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2112263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0" y="1874519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9476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112263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59" y="1874519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59" y="19476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2112263"/>
            <a:ext cx="667511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19" y="1874519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19" y="194767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9242"/>
                </a:solidFill>
                <a:latin typeface="Aptos"/>
              </a:rPr>
              <a:t>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947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679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00200" y="403250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86000" y="37947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38679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108960" y="4032504"/>
            <a:ext cx="667512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94759" y="37947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59" y="38679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617720" y="4032504"/>
            <a:ext cx="667511" cy="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3519" y="379476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19" y="386791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1325880"/>
            <a:ext cx="3611880" cy="352044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1600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What changed?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10312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1 → 2 becomes 2 ← 1
2 → 3 becomes 3 ← 2
3 → 4 becomes 4 ← 3
4 → NULL becomes NULL ←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983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9242"/>
                </a:solidFill>
                <a:latin typeface="Aptos"/>
              </a:rPr>
              <a:t>The new head is the old tail: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The 3-pointer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743200" cy="141732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2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prev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already reversed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25880"/>
            <a:ext cx="2743200" cy="141732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554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9607E"/>
                </a:solidFill>
                <a:latin typeface="Aptos"/>
              </a:rPr>
              <a:t>curr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965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node we are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25880"/>
            <a:ext cx="2743200" cy="141732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4D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1554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D7E5C"/>
                </a:solidFill>
                <a:latin typeface="Apto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9659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saved route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12394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23160" y="38862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39593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4123944"/>
            <a:ext cx="667511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931920" y="38862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9593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0" y="412394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40679" y="38862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79" y="39593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2461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9242"/>
                </a:solidFill>
                <a:latin typeface="Aptos"/>
              </a:rPr>
              <a:t>prev = NULL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2461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607E"/>
                </a:solidFill>
                <a:latin typeface="Aptos"/>
              </a:rPr>
              <a:t>curr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2461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D7E5C"/>
                </a:solidFill>
                <a:latin typeface="Aptos"/>
              </a:rPr>
              <a:t>next =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4290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C5C58"/>
                </a:solidFill>
                <a:latin typeface="Aptos"/>
              </a:rPr>
              <a:t>Rule: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3101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Aptos"/>
              </a:rPr>
              <a:t>SAVE → FLIP → MOVE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069080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1. save curr-&gt;next
2. curr-&gt;next = prev
3. prev = curr
4. curr =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Step 0 — set the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47802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31720" y="22402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3134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79" y="247802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22402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134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47802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224028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31343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325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9242"/>
                </a:solidFill>
                <a:latin typeface="Aptos"/>
              </a:rPr>
              <a:t>prev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1627632"/>
            <a:ext cx="0" cy="521208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3240" y="1325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607E"/>
                </a:solidFill>
                <a:latin typeface="Aptos"/>
              </a:rPr>
              <a:t>curr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74720" y="1627632"/>
            <a:ext cx="0" cy="521208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0" y="1325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D7E5C"/>
                </a:solidFill>
                <a:latin typeface="Aptos"/>
              </a:rPr>
              <a:t>next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15000" y="1627632"/>
            <a:ext cx="0" cy="521208"/>
          </a:xfrm>
          <a:prstGeom prst="line">
            <a:avLst/>
          </a:prstGeom>
          <a:ln w="29209">
            <a:solidFill>
              <a:srgbClr val="4D7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1417320"/>
            <a:ext cx="3520440" cy="2926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Initial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4028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prev = NULL
curr = head (1)
next = not set yet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7490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First job: save the road ahead.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Step 1 — reverse 1 →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E2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38658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31720" y="214884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2199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79" y="238658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214884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22199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38658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214884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22199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234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D7E5C"/>
                </a:solidFill>
                <a:latin typeface="Aptos"/>
              </a:rPr>
              <a:t>next = curr-&gt;next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2344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D7E5C"/>
                </a:solidFill>
                <a:latin typeface="Aptos"/>
              </a:rPr>
              <a:t>next = 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" y="2697480"/>
            <a:ext cx="0" cy="109728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11680" y="3017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9242"/>
                </a:solidFill>
                <a:latin typeface="Aptos"/>
              </a:rPr>
              <a:t>curr-&gt;next = prev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015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1 →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C5C58"/>
                </a:solidFill>
                <a:latin typeface="Aptos"/>
              </a:rPr>
              <a:t>Then move: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54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32323"/>
                </a:solidFill>
                <a:latin typeface="Aptos"/>
              </a:rPr>
              <a:t>prev = 1
curr =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51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5C58"/>
                </a:solidFill>
                <a:latin typeface="Aptos"/>
              </a:rPr>
              <a:t>Next pointer keeps 2 reachable.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Step 2 — reverse 2 →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29514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31720" y="20574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E2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1305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79" y="229514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20574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1305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295144"/>
            <a:ext cx="667512" cy="0"/>
          </a:xfrm>
          <a:prstGeom prst="line">
            <a:avLst/>
          </a:prstGeom>
          <a:ln w="29209">
            <a:solidFill>
              <a:srgbClr val="296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2057400"/>
            <a:ext cx="822960" cy="475488"/>
          </a:xfrm>
          <a:prstGeom prst="roundRect">
            <a:avLst/>
          </a:prstGeom>
          <a:solidFill>
            <a:srgbClr val="FAFAF8"/>
          </a:solidFill>
          <a:ln w="2286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30552"/>
            <a:ext cx="822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2344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D7E5C"/>
                </a:solidFill>
                <a:latin typeface="Aptos"/>
              </a:rPr>
              <a:t>next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123444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9242"/>
                </a:solidFill>
                <a:latin typeface="Aptos"/>
              </a:rPr>
              <a:t>2-&gt;next = prev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45920" y="2286000"/>
            <a:ext cx="1051560" cy="1234440"/>
          </a:xfrm>
          <a:prstGeom prst="line">
            <a:avLst/>
          </a:prstGeom>
          <a:ln w="29209">
            <a:solidFill>
              <a:srgbClr val="E2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36576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2 →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234440"/>
            <a:ext cx="4206240" cy="338328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5544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State after the flip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0312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prev = 2
curr = 3
next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29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Reversed part: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7673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29242"/>
                </a:solidFill>
                <a:latin typeface="Aptos"/>
              </a:rPr>
              <a:t>2 → 1 →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Step 3 — reverse 3, then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Aptos"/>
              </a:rPr>
              <a:t>The same 4 moves repeat.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0607040" cy="15087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607E"/>
                </a:solidFill>
                <a:latin typeface="Aptos"/>
              </a:rPr>
              <a:t>Pass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574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curr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3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next =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save → flip → move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10607040" cy="15087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5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607E"/>
                </a:solidFill>
                <a:latin typeface="Aptos"/>
              </a:rPr>
              <a:t>Pass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2335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curr 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5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4 →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5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next = 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2335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save → flip →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897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Final state: prev = 4, curr = NULL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Full pointer dry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514600" cy="4069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607E"/>
                </a:solidFill>
                <a:latin typeface="Aptos"/>
              </a:rPr>
              <a:t>Pass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prev=NULL
curr=1
next=2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flip: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965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29242"/>
                </a:solidFill>
                <a:latin typeface="Aptos"/>
              </a:rPr>
              <a:t>1→NULL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514600" cy="4069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64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607E"/>
                </a:solidFill>
                <a:latin typeface="Aptos"/>
              </a:rPr>
              <a:t>Pass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4028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prev=1
curr=2
next=3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033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flip: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965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29242"/>
                </a:solidFill>
                <a:latin typeface="Aptos"/>
              </a:rPr>
              <a:t>2→1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2514600" cy="4069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64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607E"/>
                </a:solidFill>
                <a:latin typeface="Aptos"/>
              </a:rPr>
              <a:t>Pass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prev=2
curr=3
next=4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033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flip: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965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29242"/>
                </a:solidFill>
                <a:latin typeface="Aptos"/>
              </a:rPr>
              <a:t>3→2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17320"/>
            <a:ext cx="2514600" cy="40690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2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664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607E"/>
                </a:solidFill>
                <a:latin typeface="Aptos"/>
              </a:rPr>
              <a:t>Pass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24028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prev=3
curr=4
next=NULL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7033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flip: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0965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29242"/>
                </a:solidFill>
                <a:latin typeface="Aptos"/>
              </a:rPr>
              <a:t>4→3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C5C58"/>
                </a:solidFill>
                <a:latin typeface="Aptos"/>
              </a:rPr>
              <a:t>Predict before revealing each pass: which node becomes the new `prev`?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C++ — iterative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583680" cy="4526280"/>
          </a:xfrm>
          <a:prstGeom prst="roundRect">
            <a:avLst/>
          </a:prstGeom>
          <a:solidFill>
            <a:srgbClr val="20252A"/>
          </a:solidFill>
          <a:ln w="12700">
            <a:solidFill>
              <a:srgbClr val="3C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90472"/>
            <a:ext cx="608076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ListNode* reverseList(ListNode* head) {
    ListNode* prev = nullptr;
    ListNode* curr = head;
    while (curr != nullptr) {
        ListNode* next = curr-&gt;next; // save
        curr-&gt;next = prev;           // flip
        prev = curr;                 // move prev
        curr = next;                 // move curr
    }
    return prev;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3611880" cy="45262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5544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Read it as a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0312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SAVE the next node
↓
FLIP curr-&gt;next
↓
MOVE prev
↓
MOVE curr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9834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9242"/>
                </a:solidFill>
                <a:latin typeface="Aptos"/>
              </a:rPr>
              <a:t>Return `prev` — it is the new 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Why must `next` be saved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24A43"/>
                </a:solidFill>
                <a:latin typeface="Aptos"/>
              </a:rPr>
              <a:t>Dangerous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4892040" cy="3291840"/>
          </a:xfrm>
          <a:prstGeom prst="roundRect">
            <a:avLst/>
          </a:prstGeom>
          <a:solidFill>
            <a:srgbClr val="FDF4F2"/>
          </a:solidFill>
          <a:ln w="12700">
            <a:solidFill>
              <a:srgbClr val="B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297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32323"/>
                </a:solidFill>
                <a:latin typeface="Consolas"/>
              </a:rPr>
              <a:t>curr-&gt;next = prev;
// now where is the old next node?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24A43"/>
                </a:solidFill>
                <a:latin typeface="Aptos"/>
              </a:rPr>
              <a:t>The forward link was overwritten.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D7E5C"/>
                </a:solidFill>
                <a:latin typeface="Aptos"/>
              </a:rPr>
              <a:t>Safe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4892040" cy="3291840"/>
          </a:xfrm>
          <a:prstGeom prst="roundRect">
            <a:avLst/>
          </a:prstGeom>
          <a:solidFill>
            <a:srgbClr val="F2F9F4"/>
          </a:solidFill>
          <a:ln w="12700">
            <a:solidFill>
              <a:srgbClr val="4D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297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Consolas"/>
              </a:rPr>
              <a:t>next = curr-&gt;next;
curr-&gt;next = prev;
// old next is still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D7E5C"/>
                </a:solidFill>
                <a:latin typeface="Aptos"/>
              </a:rPr>
              <a:t>Save the road before changing the road.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BASIC → OPTIMAL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Brute/basic understanding vs in-place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12080" cy="41148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C5C58"/>
                </a:solidFill>
                <a:latin typeface="Aptos"/>
              </a:rPr>
              <a:t>Basic idea: copy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297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Read: 1 2 3 4
Store: 4 3 2 1
Build / overwrite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24A43"/>
                </a:solidFill>
                <a:latin typeface="Aptos"/>
              </a:rPr>
              <a:t>Extra storage: O(n)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212080" cy="4114800"/>
          </a:xfrm>
          <a:prstGeom prst="roundRect">
            <a:avLst/>
          </a:prstGeom>
          <a:solidFill>
            <a:srgbClr val="F2F9F4"/>
          </a:solidFill>
          <a:ln w="12700">
            <a:solidFill>
              <a:srgbClr val="4D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D7E5C"/>
                </a:solidFill>
                <a:latin typeface="Aptos"/>
              </a:rPr>
              <a:t>Optimal: reverse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Change `next` pointers
in one pass.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03320"/>
            <a:ext cx="3657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Extra space: O(1)
Time: 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091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9242"/>
                </a:solidFill>
                <a:latin typeface="Aptos"/>
              </a:rPr>
              <a:t>Interview target → in-place reversal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RECURSIVE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Recursive approach — reverse from the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607E"/>
                </a:solidFill>
                <a:latin typeface="Aptos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Reverse the smaller list first, then attach `head` at the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486400" cy="24231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9242"/>
                </a:solidFill>
                <a:latin typeface="Aptos"/>
              </a:rPr>
              <a:t>Base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Consolas"/>
              </a:rPr>
              <a:t>if (head == nullptr || head-&gt;next == nullptr)
    return head;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5C58"/>
                </a:solidFill>
                <a:latin typeface="Aptos"/>
              </a:rPr>
              <a:t>Then recurse → flip the returning link.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234440"/>
            <a:ext cx="4572000" cy="3749039"/>
          </a:xfrm>
          <a:prstGeom prst="roundRect">
            <a:avLst/>
          </a:prstGeom>
          <a:solidFill>
            <a:srgbClr val="FAF8F2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607E"/>
                </a:solidFill>
                <a:latin typeface="Aptos"/>
              </a:rPr>
              <a:t>C++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3977639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Consolas"/>
              </a:rPr>
              <a:t>ListNode* reverseList(ListNode* head) {
    if (!head || !head-&gt;next)
        return head;
    ListNode* newHead = reverseList(head-&gt;next);
    head-&gt;next-&gt;next = head;
    head-&gt;next = nullptr;
    return newHead;
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Iterative vs recursive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2194560" cy="640080"/>
          </a:xfrm>
          <a:prstGeom prst="roundRect">
            <a:avLst/>
          </a:prstGeom>
          <a:solidFill>
            <a:srgbClr val="EFF4F6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9607E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234440"/>
            <a:ext cx="3566160" cy="640080"/>
          </a:xfrm>
          <a:prstGeom prst="roundRect">
            <a:avLst/>
          </a:prstGeom>
          <a:solidFill>
            <a:srgbClr val="EFF4F6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898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9607E"/>
                </a:solidFill>
                <a:latin typeface="Aptos"/>
              </a:rPr>
              <a:t>Iterative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234440"/>
            <a:ext cx="3657600" cy="640080"/>
          </a:xfrm>
          <a:prstGeom prst="roundRect">
            <a:avLst/>
          </a:prstGeom>
          <a:solidFill>
            <a:srgbClr val="EFF4F6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38988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9607E"/>
                </a:solidFill>
                <a:latin typeface="Aptos"/>
              </a:rPr>
              <a:t>Recursive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9659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9659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157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Extra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157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71576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O(n) call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65576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Core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46557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prev / curr /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65576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recurse, then 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15383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Practical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15383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in-place, explicit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15383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elegant, call-stack 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6519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Watch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9651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losing `next`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96519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stack depth / base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29242"/>
                </a:solidFill>
                <a:latin typeface="Aptos"/>
              </a:rPr>
              <a:t>Interview tip: know both; be especially comfortable with the iterative pointer pattern.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Empty, one node, two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9607E"/>
                </a:solidFill>
                <a:latin typeface="Aptos"/>
              </a:rPr>
              <a:t>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8191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head =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58191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return NULL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992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9607E"/>
                </a:solidFill>
                <a:latin typeface="Aptos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9923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curr-&gt;next is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99923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return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9607E"/>
                </a:solidFill>
                <a:latin typeface="Aptos"/>
              </a:rPr>
              <a:t>[1,2]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1655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1→2 becomes 2→1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4165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D7E5C"/>
                </a:solidFill>
                <a:latin typeface="Aptos"/>
              </a:rPr>
              <a:t>return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76072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29242"/>
                </a:solidFill>
                <a:latin typeface="Aptos"/>
              </a:rPr>
              <a:t>Checkpoint → What should `return prev;` give for [1,2]?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924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344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ptos"/>
              </a:rPr>
              <a:t>Forgetting to save `curr-&gt;next`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The remaining list can become unreachable.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924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ptos"/>
              </a:rPr>
              <a:t>Returning `head`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377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After reversal, `head` is the old 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924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ptos"/>
              </a:rPr>
              <a:t>Forgetting `curr = next`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520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The loop can get stuck.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9242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634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ptos"/>
              </a:rPr>
              <a:t>Wrong recursive base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663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A single node should return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9607E"/>
                </a:solidFill>
                <a:latin typeface="Aptos"/>
              </a:rPr>
              <a:t>Pointer rule: never destroy the only route to the unreversed part.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INTERVIEW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Related LeetCode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#206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63039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Reverse Linked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50876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The core reversal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9748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#92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803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Reverse Linked List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260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Reverse only a selected portion.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10698480" cy="11430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9242"/>
                </a:solidFill>
                <a:latin typeface="Aptos"/>
              </a:rPr>
              <a:t>#234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297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Palindrome Linked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34340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8"/>
                </a:solidFill>
                <a:latin typeface="Aptos"/>
              </a:rPr>
              <a:t>Uses reversal + two-pointer ideas.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29242"/>
                </a:solidFill>
                <a:latin typeface="Aptos"/>
              </a:rPr>
              <a:t>Mini challenge: reverse 1 → 2 → 3 → 4 → 5 on paper before coding.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607E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Key takeaways +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9607E"/>
                </a:solidFill>
                <a:latin typeface="Aptos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412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5C58"/>
                </a:solidFill>
                <a:latin typeface="Aptos"/>
              </a:rPr>
              <a:t>DSA From Scratch → Advanced  •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6539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5C58"/>
                </a:solidFill>
                <a:latin typeface="Aptos"/>
              </a:rPr>
              <a:t>DAY 44 • REVERSE A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486400" cy="443484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What I learned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✓ Reversal changes links, not node values.
✓ Iterative pattern: save → flip → move.
✓ `prev` becomes the new head.
✓ Iterative: O(n) time, O(1) extra space.
✓ Edge cases matter: 0, 1, 2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4800600" cy="443484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296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9607E"/>
                </a:solidFill>
                <a:latin typeface="Aptos"/>
              </a:rPr>
              <a:t>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  <a:latin typeface="Aptos"/>
              </a:rPr>
              <a:t>206 — Reverse Linked List
92 — Reverse Linked List II
234 — Palindrome Linked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94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9242"/>
                </a:solidFill>
                <a:latin typeface="Aptos"/>
              </a:rPr>
              <a:t>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06240"/>
            <a:ext cx="37490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32323"/>
                </a:solidFill>
                <a:latin typeface="Aptos"/>
              </a:rPr>
              <a:t>DAY 45
FIND MIDDLE OF
LINKED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44068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8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