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ritesh2687/dsa_ppt_post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Relationship Id="rId3" Type="http://schemas.openxmlformats.org/officeDocument/2006/relationships/slide" Target="slide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Relationship Id="rId3" Type="http://schemas.openxmlformats.org/officeDocument/2006/relationships/slide" Target="slide1.xml"/><Relationship Id="rId4" Type="http://schemas.openxmlformats.org/officeDocument/2006/relationships/slide" Target="slide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1.xml"/><Relationship Id="rId4" Type="http://schemas.openxmlformats.org/officeDocument/2006/relationships/slide" Target="slide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4.xml"/><Relationship Id="rId3" Type="http://schemas.openxmlformats.org/officeDocument/2006/relationships/slide" Target="slide1.xml"/><Relationship Id="rId4" Type="http://schemas.openxmlformats.org/officeDocument/2006/relationships/slide" Target="slide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5.xml"/><Relationship Id="rId3" Type="http://schemas.openxmlformats.org/officeDocument/2006/relationships/slide" Target="slide1.xml"/><Relationship Id="rId4" Type="http://schemas.openxmlformats.org/officeDocument/2006/relationships/slide" Target="slide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6.xml"/><Relationship Id="rId3" Type="http://schemas.openxmlformats.org/officeDocument/2006/relationships/slide" Target="slide1.xml"/><Relationship Id="rId4" Type="http://schemas.openxmlformats.org/officeDocument/2006/relationships/slide" Target="slide8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7.xml"/><Relationship Id="rId3" Type="http://schemas.openxmlformats.org/officeDocument/2006/relationships/slide" Target="slide1.xml"/><Relationship Id="rId4" Type="http://schemas.openxmlformats.org/officeDocument/2006/relationships/slide" Target="slide9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8.xml"/><Relationship Id="rId3" Type="http://schemas.openxmlformats.org/officeDocument/2006/relationships/slide" Target="slide1.xml"/><Relationship Id="rId4" Type="http://schemas.openxmlformats.org/officeDocument/2006/relationships/slide" Target="slide10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9.xml"/><Relationship Id="rId3" Type="http://schemas.openxmlformats.org/officeDocument/2006/relationships/slide" Target="slide1.xml"/><Relationship Id="rId4" Type="http://schemas.openxmlformats.org/officeDocument/2006/relationships/slide" Target="slide1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0.xml"/><Relationship Id="rId3" Type="http://schemas.openxmlformats.org/officeDocument/2006/relationships/slide" Target="slide1.xml"/><Relationship Id="rId4" Type="http://schemas.openxmlformats.org/officeDocument/2006/relationships/slide" Target="slide1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1.xml"/><Relationship Id="rId3" Type="http://schemas.openxmlformats.org/officeDocument/2006/relationships/slide" Target="slide1.xml"/><Relationship Id="rId4" Type="http://schemas.openxmlformats.org/officeDocument/2006/relationships/slide" Target="slide1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2.xml"/><Relationship Id="rId3" Type="http://schemas.openxmlformats.org/officeDocument/2006/relationships/slide" Target="slide1.xml"/><Relationship Id="rId4" Type="http://schemas.openxmlformats.org/officeDocument/2006/relationships/slide" Target="slide14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3.xml"/><Relationship Id="rId3" Type="http://schemas.openxmlformats.org/officeDocument/2006/relationships/slide" Target="slide1.xml"/><Relationship Id="rId4" Type="http://schemas.openxmlformats.org/officeDocument/2006/relationships/slide" Target="slide15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4.xml"/><Relationship Id="rId3" Type="http://schemas.openxmlformats.org/officeDocument/2006/relationships/slide" Target="slide1.xml"/><Relationship Id="rId4" Type="http://schemas.openxmlformats.org/officeDocument/2006/relationships/slide" Target="slide1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5.xml"/><Relationship Id="rId3" Type="http://schemas.openxmlformats.org/officeDocument/2006/relationships/slide" Target="slide1.xml"/><Relationship Id="rId4" Type="http://schemas.openxmlformats.org/officeDocument/2006/relationships/slide" Target="slide1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6.xml"/><Relationship Id="rId3" Type="http://schemas.openxmlformats.org/officeDocument/2006/relationships/slide" Target="slide1.xml"/><Relationship Id="rId4" Type="http://schemas.openxmlformats.org/officeDocument/2006/relationships/slide" Target="slide18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ritesh2687/dsa_ppt_post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F30"/>
          </a:solidFill>
          <a:ln>
            <a:solidFill>
              <a:srgbClr val="121F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943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A9191"/>
                </a:solidFill>
                <a:latin typeface="Aptos"/>
              </a:rPr>
              <a:t>DAY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6400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  <a:latin typeface="Aptos"/>
              </a:rPr>
              <a:t>KADANE'S
ALGORITHM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7889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CDD6DC"/>
                </a:solidFill>
                <a:latin typeface="Aptos"/>
              </a:rPr>
              <a:t>Maximum Subarray in O(n)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03720" y="1325880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Aptos"/>
              </a:rPr>
              <a:t>EXTEND   →   OR   →   RESTART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040880" y="2103120"/>
            <a:ext cx="530352" cy="530352"/>
          </a:xfrm>
          <a:prstGeom prst="roundRect">
            <a:avLst/>
          </a:prstGeom>
          <a:solidFill>
            <a:srgbClr val="283949"/>
          </a:solidFill>
          <a:ln>
            <a:solidFill>
              <a:srgbClr val="2839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0" y="2267712"/>
            <a:ext cx="5303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-2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99248" y="2103120"/>
            <a:ext cx="530352" cy="530352"/>
          </a:xfrm>
          <a:prstGeom prst="roundRect">
            <a:avLst/>
          </a:prstGeom>
          <a:solidFill>
            <a:srgbClr val="283949"/>
          </a:solidFill>
          <a:ln>
            <a:solidFill>
              <a:srgbClr val="2839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99248" y="2267712"/>
            <a:ext cx="5303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57616" y="2103120"/>
            <a:ext cx="530352" cy="530352"/>
          </a:xfrm>
          <a:prstGeom prst="roundRect">
            <a:avLst/>
          </a:prstGeom>
          <a:solidFill>
            <a:srgbClr val="283949"/>
          </a:solidFill>
          <a:ln>
            <a:solidFill>
              <a:srgbClr val="2839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57616" y="2267712"/>
            <a:ext cx="5303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-3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15984" y="2103120"/>
            <a:ext cx="530352" cy="530352"/>
          </a:xfrm>
          <a:prstGeom prst="roundRect">
            <a:avLst/>
          </a:prstGeom>
          <a:solidFill>
            <a:srgbClr val="1A9191"/>
          </a:solidFill>
          <a:ln>
            <a:solidFill>
              <a:srgbClr val="1A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15984" y="2267712"/>
            <a:ext cx="5303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674352" y="2103120"/>
            <a:ext cx="530352" cy="530352"/>
          </a:xfrm>
          <a:prstGeom prst="roundRect">
            <a:avLst/>
          </a:prstGeom>
          <a:solidFill>
            <a:srgbClr val="283949"/>
          </a:solidFill>
          <a:ln>
            <a:solidFill>
              <a:srgbClr val="2839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74352" y="2267712"/>
            <a:ext cx="5303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-1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332720" y="2103120"/>
            <a:ext cx="530352" cy="530352"/>
          </a:xfrm>
          <a:prstGeom prst="roundRect">
            <a:avLst/>
          </a:prstGeom>
          <a:solidFill>
            <a:srgbClr val="283949"/>
          </a:solidFill>
          <a:ln>
            <a:solidFill>
              <a:srgbClr val="2839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332720" y="2267712"/>
            <a:ext cx="5303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991088" y="2103120"/>
            <a:ext cx="530352" cy="530352"/>
          </a:xfrm>
          <a:prstGeom prst="roundRect">
            <a:avLst/>
          </a:prstGeom>
          <a:solidFill>
            <a:srgbClr val="283949"/>
          </a:solidFill>
          <a:ln>
            <a:solidFill>
              <a:srgbClr val="2839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91088" y="2267712"/>
            <a:ext cx="5303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0880" y="315468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O(n) TIME        O(1) SPACE</a:t>
            </a:r>
          </a:p>
        </p:txBody>
      </p:sp>
      <p:sp>
        <p:nvSpPr>
          <p:cNvPr id="22" name="TextBox 21">
            <a:hlinkClick r:id="rId2"/>
          </p:cNvPr>
          <p:cNvSpPr txBox="1"/>
          <p:nvPr/>
        </p:nvSpPr>
        <p:spPr>
          <a:xfrm>
            <a:off x="658368" y="589788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4C8CD"/>
                </a:solidFill>
                <a:latin typeface="Aptos"/>
              </a:rPr>
              <a:t>github.com/ritesh2687/dsa_ppt_post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6473952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4BEC6"/>
                </a:solidFill>
                <a:latin typeface="Aptos"/>
              </a:rPr>
              <a:t>DSA Daily Series • Day 15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81360" y="6473952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B4BEC6"/>
                </a:solidFill>
                <a:latin typeface="Aptos"/>
              </a:rPr>
              <a:t>01 / 18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0"/>
          </a:solidFill>
          <a:ln>
            <a:solidFill>
              <a:srgbClr val="F8F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A9191"/>
                </a:solidFill>
                <a:latin typeface="Aptos"/>
              </a:rPr>
              <a:t>DSA DAILY • DAY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202A34"/>
                </a:solidFill>
                <a:latin typeface="Aptos"/>
              </a:rPr>
              <a:t>What You’ll Learn Today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298448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E6974"/>
                </a:solidFill>
                <a:latin typeface="Aptos"/>
              </a:rPr>
              <a:t>A visual roadmap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242316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8E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212848"/>
            <a:ext cx="2057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02A34"/>
                </a:solidFill>
                <a:latin typeface="Aptos"/>
              </a:rPr>
              <a:t>🧠 Concept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20439" y="1920240"/>
            <a:ext cx="242316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8E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03320" y="2212848"/>
            <a:ext cx="2057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02A34"/>
                </a:solidFill>
                <a:latin typeface="Aptos"/>
              </a:rPr>
              <a:t>⚙️ Algorithm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59" y="1920240"/>
            <a:ext cx="242316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8E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2212848"/>
            <a:ext cx="2057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02A34"/>
                </a:solidFill>
                <a:latin typeface="Aptos"/>
              </a:rPr>
              <a:t>🔍 Example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098280" y="1920240"/>
            <a:ext cx="242316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8E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281159" y="2212848"/>
            <a:ext cx="2057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02A34"/>
                </a:solidFill>
                <a:latin typeface="Aptos"/>
              </a:rPr>
              <a:t>💻 C++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337560"/>
            <a:ext cx="242316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8E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630168"/>
            <a:ext cx="2057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02A34"/>
                </a:solidFill>
                <a:latin typeface="Aptos"/>
              </a:rPr>
              <a:t>⏱️ Complexity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520439" y="3337560"/>
            <a:ext cx="242316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8E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03320" y="3630168"/>
            <a:ext cx="2057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02A34"/>
                </a:solidFill>
                <a:latin typeface="Aptos"/>
              </a:rPr>
              <a:t>🧩 Problems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59" y="3337560"/>
            <a:ext cx="242316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8E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3630168"/>
            <a:ext cx="2057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02A34"/>
                </a:solidFill>
                <a:latin typeface="Aptos"/>
              </a:rPr>
              <a:t>💡 Interview Tip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6473952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E6974"/>
                </a:solidFill>
                <a:latin typeface="Aptos"/>
              </a:rPr>
              <a:t>DSA Daily Series • Day 15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81360" y="6473952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5E6974"/>
                </a:solidFill>
                <a:latin typeface="Aptos"/>
              </a:rPr>
              <a:t>02 / 18</a:t>
            </a:r>
          </a:p>
        </p:txBody>
      </p:sp>
      <p:sp>
        <p:nvSpPr>
          <p:cNvPr id="22" name="TextBox 21">
            <a:hlinkClick action="ppaction://hlinksldjump" r:id="rId2"/>
          </p:cNvPr>
          <p:cNvSpPr txBox="1"/>
          <p:nvPr/>
        </p:nvSpPr>
        <p:spPr>
          <a:xfrm>
            <a:off x="594360" y="617220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A9191"/>
                </a:solidFill>
                <a:latin typeface="Aptos"/>
              </a:rPr>
              <a:t>← BACK</a:t>
            </a:r>
          </a:p>
        </p:txBody>
      </p:sp>
      <p:sp>
        <p:nvSpPr>
          <p:cNvPr id="23" name="TextBox 22">
            <a:hlinkClick action="ppaction://hlinksldjump" r:id="rId3"/>
          </p:cNvPr>
          <p:cNvSpPr txBox="1"/>
          <p:nvPr/>
        </p:nvSpPr>
        <p:spPr>
          <a:xfrm>
            <a:off x="10561320" y="6172200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1A9191"/>
                </a:solidFill>
                <a:latin typeface="Aptos"/>
              </a:rPr>
              <a:t>NEXT →</a:t>
            </a:r>
          </a:p>
        </p:txBody>
      </p:sp>
      <p:sp>
        <p:nvSpPr>
          <p:cNvPr id="24" name="TextBox 23">
            <a:hlinkClick action="ppaction://hlinksldjump" r:id="rId2"/>
          </p:cNvPr>
          <p:cNvSpPr txBox="1"/>
          <p:nvPr/>
        </p:nvSpPr>
        <p:spPr>
          <a:xfrm>
            <a:off x="5577840" y="617220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5E6974"/>
                </a:solidFill>
                <a:latin typeface="Aptos"/>
              </a:rPr>
              <a:t>HOME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0"/>
          </a:solidFill>
          <a:ln>
            <a:solidFill>
              <a:srgbClr val="F8F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A9191"/>
                </a:solidFill>
                <a:latin typeface="Aptos"/>
              </a:rPr>
              <a:t>DSA DAILY • DAY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202A34"/>
                </a:solidFill>
                <a:latin typeface="Aptos"/>
              </a:rPr>
              <a:t>What Is Kadane's Algorithm?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298448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E6974"/>
                </a:solidFill>
                <a:latin typeface="Aptos"/>
              </a:rPr>
              <a:t>Maximum contiguous-subarray sum in one pass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828800"/>
            <a:ext cx="1065276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E8E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01168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02A34"/>
                </a:solidFill>
                <a:latin typeface="Aptos"/>
              </a:rPr>
              <a:t>Definition: find the maximum sum of a contiguous subarray in O(n).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670048"/>
            <a:ext cx="1065276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E8E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85292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02A34"/>
                </a:solidFill>
                <a:latin typeface="Aptos"/>
              </a:rPr>
              <a:t>At every element: EXTEND the current subarray OR START fresh.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511296"/>
            <a:ext cx="1065276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E8E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3694176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02A34"/>
                </a:solidFill>
                <a:latin typeface="Aptos"/>
              </a:rPr>
              <a:t>currentSum = max(nums[i], currentSum + nums[i])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507492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1A9191"/>
                </a:solidFill>
                <a:latin typeface="Aptos"/>
              </a:rPr>
              <a:t>currentSum = max(nums[i], currentSum + nums[i])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6473952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E6974"/>
                </a:solidFill>
                <a:latin typeface="Aptos"/>
              </a:rPr>
              <a:t>DSA Daily Series • Day 15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81360" y="6473952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5E6974"/>
                </a:solidFill>
                <a:latin typeface="Aptos"/>
              </a:rPr>
              <a:t>03 / 18</a:t>
            </a:r>
          </a:p>
        </p:txBody>
      </p:sp>
      <p:sp>
        <p:nvSpPr>
          <p:cNvPr id="15" name="TextBox 14">
            <a:hlinkClick action="ppaction://hlinksldjump" r:id="rId2"/>
          </p:cNvPr>
          <p:cNvSpPr txBox="1"/>
          <p:nvPr/>
        </p:nvSpPr>
        <p:spPr>
          <a:xfrm>
            <a:off x="594360" y="617220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A9191"/>
                </a:solidFill>
                <a:latin typeface="Aptos"/>
              </a:rPr>
              <a:t>← BACK</a:t>
            </a:r>
          </a:p>
        </p:txBody>
      </p:sp>
      <p:sp>
        <p:nvSpPr>
          <p:cNvPr id="16" name="TextBox 15">
            <a:hlinkClick action="ppaction://hlinksldjump" r:id="rId4"/>
          </p:cNvPr>
          <p:cNvSpPr txBox="1"/>
          <p:nvPr/>
        </p:nvSpPr>
        <p:spPr>
          <a:xfrm>
            <a:off x="10561320" y="6172200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1A9191"/>
                </a:solidFill>
                <a:latin typeface="Aptos"/>
              </a:rPr>
              <a:t>NEXT →</a:t>
            </a:r>
          </a:p>
        </p:txBody>
      </p:sp>
      <p:sp>
        <p:nvSpPr>
          <p:cNvPr id="17" name="TextBox 16">
            <a:hlinkClick action="ppaction://hlinksldjump" r:id="rId3"/>
          </p:cNvPr>
          <p:cNvSpPr txBox="1"/>
          <p:nvPr/>
        </p:nvSpPr>
        <p:spPr>
          <a:xfrm>
            <a:off x="5577840" y="617220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5E6974"/>
                </a:solidFill>
                <a:latin typeface="Aptos"/>
              </a:rPr>
              <a:t>HOME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0"/>
          </a:solidFill>
          <a:ln>
            <a:solidFill>
              <a:srgbClr val="F8F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A9191"/>
                </a:solidFill>
                <a:latin typeface="Aptos"/>
              </a:rPr>
              <a:t>DSA DAILY • DAY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202A34"/>
                </a:solidFill>
                <a:latin typeface="Aptos"/>
              </a:rPr>
              <a:t>What Is a Subarray?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298448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E6974"/>
                </a:solidFill>
                <a:latin typeface="Aptos"/>
              </a:rPr>
              <a:t>The key word is CONTIGUOUS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828800"/>
            <a:ext cx="1065276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E8E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01168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02A34"/>
                </a:solidFill>
                <a:latin typeface="Aptos"/>
              </a:rPr>
              <a:t>[-2, 1, -3, 4, -1, 2, 1]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670048"/>
            <a:ext cx="1065276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E8E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85292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02A34"/>
                </a:solidFill>
                <a:latin typeface="Aptos"/>
              </a:rPr>
              <a:t>Valid: [4] • [4, -1] • [4, -1, 2, 1]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511296"/>
            <a:ext cx="1065276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E8E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3694176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02A34"/>
                </a:solidFill>
                <a:latin typeface="Aptos"/>
              </a:rPr>
              <a:t>Invalid: [4, 2, 1] ❌ — elements are not contiguous.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6473952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E6974"/>
                </a:solidFill>
                <a:latin typeface="Aptos"/>
              </a:rPr>
              <a:t>DSA Daily Series • Day 15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5E6974"/>
                </a:solidFill>
                <a:latin typeface="Aptos"/>
              </a:rPr>
              <a:t>04 / 18</a:t>
            </a:r>
          </a:p>
        </p:txBody>
      </p:sp>
      <p:sp>
        <p:nvSpPr>
          <p:cNvPr id="14" name="TextBox 13">
            <a:hlinkClick action="ppaction://hlinksldjump" r:id="rId2"/>
          </p:cNvPr>
          <p:cNvSpPr txBox="1"/>
          <p:nvPr/>
        </p:nvSpPr>
        <p:spPr>
          <a:xfrm>
            <a:off x="594360" y="617220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A9191"/>
                </a:solidFill>
                <a:latin typeface="Aptos"/>
              </a:rPr>
              <a:t>← BACK</a:t>
            </a:r>
          </a:p>
        </p:txBody>
      </p:sp>
      <p:sp>
        <p:nvSpPr>
          <p:cNvPr id="15" name="TextBox 14">
            <a:hlinkClick action="ppaction://hlinksldjump" r:id="rId4"/>
          </p:cNvPr>
          <p:cNvSpPr txBox="1"/>
          <p:nvPr/>
        </p:nvSpPr>
        <p:spPr>
          <a:xfrm>
            <a:off x="10561320" y="6172200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1A9191"/>
                </a:solidFill>
                <a:latin typeface="Aptos"/>
              </a:rPr>
              <a:t>NEXT →</a:t>
            </a:r>
          </a:p>
        </p:txBody>
      </p:sp>
      <p:sp>
        <p:nvSpPr>
          <p:cNvPr id="16" name="TextBox 15">
            <a:hlinkClick action="ppaction://hlinksldjump" r:id="rId3"/>
          </p:cNvPr>
          <p:cNvSpPr txBox="1"/>
          <p:nvPr/>
        </p:nvSpPr>
        <p:spPr>
          <a:xfrm>
            <a:off x="5577840" y="617220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5E6974"/>
                </a:solidFill>
                <a:latin typeface="Aptos"/>
              </a:rPr>
              <a:t>HOME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0"/>
          </a:solidFill>
          <a:ln>
            <a:solidFill>
              <a:srgbClr val="F8F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A9191"/>
                </a:solidFill>
                <a:latin typeface="Aptos"/>
              </a:rPr>
              <a:t>DSA DAILY • DAY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202A34"/>
                </a:solidFill>
                <a:latin typeface="Aptos"/>
              </a:rPr>
              <a:t>Why Do We Need Kadane?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298448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E6974"/>
                </a:solidFill>
                <a:latin typeface="Aptos"/>
              </a:rPr>
              <a:t>One scan replaces repeated subarray checks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828800"/>
            <a:ext cx="1065276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E8E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01168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02A34"/>
                </a:solidFill>
                <a:latin typeface="Aptos"/>
              </a:rPr>
              <a:t>BRUTE FORCE → O(n²): check every possible subarray.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670048"/>
            <a:ext cx="1065276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E8E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85292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02A34"/>
                </a:solidFill>
                <a:latin typeface="Aptos"/>
              </a:rPr>
              <a:t>KADANE → O(n): one pass through the array.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511296"/>
            <a:ext cx="1065276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E8E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3694176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02A34"/>
                </a:solidFill>
                <a:latin typeface="Aptos"/>
              </a:rPr>
              <a:t>Extra space → O(1).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6473952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E6974"/>
                </a:solidFill>
                <a:latin typeface="Aptos"/>
              </a:rPr>
              <a:t>DSA Daily Series • Day 15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5E6974"/>
                </a:solidFill>
                <a:latin typeface="Aptos"/>
              </a:rPr>
              <a:t>05 / 18</a:t>
            </a:r>
          </a:p>
        </p:txBody>
      </p:sp>
      <p:sp>
        <p:nvSpPr>
          <p:cNvPr id="14" name="TextBox 13">
            <a:hlinkClick action="ppaction://hlinksldjump" r:id="rId2"/>
          </p:cNvPr>
          <p:cNvSpPr txBox="1"/>
          <p:nvPr/>
        </p:nvSpPr>
        <p:spPr>
          <a:xfrm>
            <a:off x="594360" y="617220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A9191"/>
                </a:solidFill>
                <a:latin typeface="Aptos"/>
              </a:rPr>
              <a:t>← BACK</a:t>
            </a:r>
          </a:p>
        </p:txBody>
      </p:sp>
      <p:sp>
        <p:nvSpPr>
          <p:cNvPr id="15" name="TextBox 14">
            <a:hlinkClick action="ppaction://hlinksldjump" r:id="rId4"/>
          </p:cNvPr>
          <p:cNvSpPr txBox="1"/>
          <p:nvPr/>
        </p:nvSpPr>
        <p:spPr>
          <a:xfrm>
            <a:off x="10561320" y="6172200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1A9191"/>
                </a:solidFill>
                <a:latin typeface="Aptos"/>
              </a:rPr>
              <a:t>NEXT →</a:t>
            </a:r>
          </a:p>
        </p:txBody>
      </p:sp>
      <p:sp>
        <p:nvSpPr>
          <p:cNvPr id="16" name="TextBox 15">
            <a:hlinkClick action="ppaction://hlinksldjump" r:id="rId3"/>
          </p:cNvPr>
          <p:cNvSpPr txBox="1"/>
          <p:nvPr/>
        </p:nvSpPr>
        <p:spPr>
          <a:xfrm>
            <a:off x="5577840" y="617220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5E6974"/>
                </a:solidFill>
                <a:latin typeface="Aptos"/>
              </a:rPr>
              <a:t>HOME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0"/>
          </a:solidFill>
          <a:ln>
            <a:solidFill>
              <a:srgbClr val="F8F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A9191"/>
                </a:solidFill>
                <a:latin typeface="Aptos"/>
              </a:rPr>
              <a:t>DSA DAILY • DAY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202A34"/>
                </a:solidFill>
                <a:latin typeface="Aptos"/>
              </a:rPr>
              <a:t>Extend or Restart?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298448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E6974"/>
                </a:solidFill>
                <a:latin typeface="Aptos"/>
              </a:rPr>
              <a:t>A negative running sum can hurt the future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828800"/>
            <a:ext cx="10652760" cy="658368"/>
          </a:xfrm>
          <a:prstGeom prst="roundRect">
            <a:avLst/>
          </a:prstGeom>
          <a:solidFill>
            <a:srgbClr val="121F30"/>
          </a:solidFill>
          <a:ln>
            <a:solidFill>
              <a:srgbClr val="E8E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01168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currentSum = -5, nums[i] = 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670048"/>
            <a:ext cx="1065276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E8E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85292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02A34"/>
                </a:solidFill>
                <a:latin typeface="Aptos"/>
              </a:rPr>
              <a:t>Extend: -5 + 8 = 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511296"/>
            <a:ext cx="1065276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E8E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3694176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02A34"/>
                </a:solidFill>
                <a:latin typeface="Aptos"/>
              </a:rPr>
              <a:t>Restart: 8 → choose 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6473952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E6974"/>
                </a:solidFill>
                <a:latin typeface="Aptos"/>
              </a:rPr>
              <a:t>DSA Daily Series • Day 15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5E6974"/>
                </a:solidFill>
                <a:latin typeface="Aptos"/>
              </a:rPr>
              <a:t>06 / 18</a:t>
            </a:r>
          </a:p>
        </p:txBody>
      </p:sp>
      <p:sp>
        <p:nvSpPr>
          <p:cNvPr id="14" name="TextBox 13">
            <a:hlinkClick action="ppaction://hlinksldjump" r:id="rId2"/>
          </p:cNvPr>
          <p:cNvSpPr txBox="1"/>
          <p:nvPr/>
        </p:nvSpPr>
        <p:spPr>
          <a:xfrm>
            <a:off x="594360" y="617220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A9191"/>
                </a:solidFill>
                <a:latin typeface="Aptos"/>
              </a:rPr>
              <a:t>← BACK</a:t>
            </a:r>
          </a:p>
        </p:txBody>
      </p:sp>
      <p:sp>
        <p:nvSpPr>
          <p:cNvPr id="15" name="TextBox 14">
            <a:hlinkClick action="ppaction://hlinksldjump" r:id="rId4"/>
          </p:cNvPr>
          <p:cNvSpPr txBox="1"/>
          <p:nvPr/>
        </p:nvSpPr>
        <p:spPr>
          <a:xfrm>
            <a:off x="10561320" y="6172200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1A9191"/>
                </a:solidFill>
                <a:latin typeface="Aptos"/>
              </a:rPr>
              <a:t>NEXT →</a:t>
            </a:r>
          </a:p>
        </p:txBody>
      </p:sp>
      <p:sp>
        <p:nvSpPr>
          <p:cNvPr id="16" name="TextBox 15">
            <a:hlinkClick action="ppaction://hlinksldjump" r:id="rId3"/>
          </p:cNvPr>
          <p:cNvSpPr txBox="1"/>
          <p:nvPr/>
        </p:nvSpPr>
        <p:spPr>
          <a:xfrm>
            <a:off x="5577840" y="617220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5E6974"/>
                </a:solidFill>
                <a:latin typeface="Aptos"/>
              </a:rPr>
              <a:t>HOME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0"/>
          </a:solidFill>
          <a:ln>
            <a:solidFill>
              <a:srgbClr val="F8F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A9191"/>
                </a:solidFill>
                <a:latin typeface="Aptos"/>
              </a:rPr>
              <a:t>DSA DAILY • DAY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202A34"/>
                </a:solidFill>
                <a:latin typeface="Aptos"/>
              </a:rPr>
              <a:t>Why Can We Discard Negative Sums?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298448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E6974"/>
                </a:solidFill>
                <a:latin typeface="Aptos"/>
              </a:rPr>
              <a:t>A negative prefix cannot improve the future answer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828800"/>
            <a:ext cx="10652760" cy="658368"/>
          </a:xfrm>
          <a:prstGeom prst="roundRect">
            <a:avLst/>
          </a:prstGeom>
          <a:solidFill>
            <a:srgbClr val="121F30"/>
          </a:solidFill>
          <a:ln>
            <a:solidFill>
              <a:srgbClr val="E8E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01168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[-5] + [8, 4] = 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670048"/>
            <a:ext cx="1065276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E8E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85292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02A34"/>
                </a:solidFill>
                <a:latin typeface="Aptos"/>
              </a:rPr>
              <a:t>[8, 4] = 12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511296"/>
            <a:ext cx="1065276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E8E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3694176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02A34"/>
                </a:solidFill>
                <a:latin typeface="Aptos"/>
              </a:rPr>
              <a:t>Future values alone are better.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6473952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E6974"/>
                </a:solidFill>
                <a:latin typeface="Aptos"/>
              </a:rPr>
              <a:t>DSA Daily Series • Day 15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5E6974"/>
                </a:solidFill>
                <a:latin typeface="Aptos"/>
              </a:rPr>
              <a:t>07 / 18</a:t>
            </a:r>
          </a:p>
        </p:txBody>
      </p:sp>
      <p:sp>
        <p:nvSpPr>
          <p:cNvPr id="14" name="TextBox 13">
            <a:hlinkClick action="ppaction://hlinksldjump" r:id="rId2"/>
          </p:cNvPr>
          <p:cNvSpPr txBox="1"/>
          <p:nvPr/>
        </p:nvSpPr>
        <p:spPr>
          <a:xfrm>
            <a:off x="594360" y="617220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A9191"/>
                </a:solidFill>
                <a:latin typeface="Aptos"/>
              </a:rPr>
              <a:t>← BACK</a:t>
            </a:r>
          </a:p>
        </p:txBody>
      </p:sp>
      <p:sp>
        <p:nvSpPr>
          <p:cNvPr id="15" name="TextBox 14">
            <a:hlinkClick action="ppaction://hlinksldjump" r:id="rId4"/>
          </p:cNvPr>
          <p:cNvSpPr txBox="1"/>
          <p:nvPr/>
        </p:nvSpPr>
        <p:spPr>
          <a:xfrm>
            <a:off x="10561320" y="6172200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1A9191"/>
                </a:solidFill>
                <a:latin typeface="Aptos"/>
              </a:rPr>
              <a:t>NEXT →</a:t>
            </a:r>
          </a:p>
        </p:txBody>
      </p:sp>
      <p:sp>
        <p:nvSpPr>
          <p:cNvPr id="16" name="TextBox 15">
            <a:hlinkClick action="ppaction://hlinksldjump" r:id="rId3"/>
          </p:cNvPr>
          <p:cNvSpPr txBox="1"/>
          <p:nvPr/>
        </p:nvSpPr>
        <p:spPr>
          <a:xfrm>
            <a:off x="5577840" y="617220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5E6974"/>
                </a:solidFill>
                <a:latin typeface="Aptos"/>
              </a:rPr>
              <a:t>HOME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0"/>
          </a:solidFill>
          <a:ln>
            <a:solidFill>
              <a:srgbClr val="F8F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A9191"/>
                </a:solidFill>
                <a:latin typeface="Aptos"/>
              </a:rPr>
              <a:t>DSA DAILY • DAY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202A34"/>
                </a:solidFill>
                <a:latin typeface="Aptos"/>
              </a:rPr>
              <a:t>Kadane's Algorithm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298448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E6974"/>
                </a:solidFill>
                <a:latin typeface="Aptos"/>
              </a:rPr>
              <a:t>Six reusable steps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828800"/>
            <a:ext cx="1065276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E8E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01168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02A34"/>
                </a:solidFill>
                <a:latin typeface="Aptos"/>
              </a:rPr>
              <a:t>1. currentSum = nums[0]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670048"/>
            <a:ext cx="1065276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E8E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85292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02A34"/>
                </a:solidFill>
                <a:latin typeface="Aptos"/>
              </a:rPr>
              <a:t>2. maxSum = nums[0]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511296"/>
            <a:ext cx="1065276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E8E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3694176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02A34"/>
                </a:solidFill>
                <a:latin typeface="Aptos"/>
              </a:rPr>
              <a:t>3. Traverse the array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4352544"/>
            <a:ext cx="1065276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E8E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4535424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02A34"/>
                </a:solidFill>
                <a:latin typeface="Aptos"/>
              </a:rPr>
              <a:t>4. Extend OR restart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5193792"/>
            <a:ext cx="1065276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E8E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5376672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02A34"/>
                </a:solidFill>
                <a:latin typeface="Aptos"/>
              </a:rPr>
              <a:t>5. Update maxSum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6035040"/>
            <a:ext cx="1065276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E8E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62179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02A34"/>
                </a:solidFill>
                <a:latin typeface="Aptos"/>
              </a:rPr>
              <a:t>6. Return answer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6473952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E6974"/>
                </a:solidFill>
                <a:latin typeface="Aptos"/>
              </a:rPr>
              <a:t>DSA Daily Series • Day 15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81360" y="6473952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5E6974"/>
                </a:solidFill>
                <a:latin typeface="Aptos"/>
              </a:rPr>
              <a:t>08 / 18</a:t>
            </a:r>
          </a:p>
        </p:txBody>
      </p:sp>
      <p:sp>
        <p:nvSpPr>
          <p:cNvPr id="20" name="TextBox 19">
            <a:hlinkClick action="ppaction://hlinksldjump" r:id="rId2"/>
          </p:cNvPr>
          <p:cNvSpPr txBox="1"/>
          <p:nvPr/>
        </p:nvSpPr>
        <p:spPr>
          <a:xfrm>
            <a:off x="594360" y="617220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A9191"/>
                </a:solidFill>
                <a:latin typeface="Aptos"/>
              </a:rPr>
              <a:t>← BACK</a:t>
            </a:r>
          </a:p>
        </p:txBody>
      </p:sp>
      <p:sp>
        <p:nvSpPr>
          <p:cNvPr id="21" name="TextBox 20">
            <a:hlinkClick action="ppaction://hlinksldjump" r:id="rId4"/>
          </p:cNvPr>
          <p:cNvSpPr txBox="1"/>
          <p:nvPr/>
        </p:nvSpPr>
        <p:spPr>
          <a:xfrm>
            <a:off x="10561320" y="6172200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1A9191"/>
                </a:solidFill>
                <a:latin typeface="Aptos"/>
              </a:rPr>
              <a:t>NEXT →</a:t>
            </a:r>
          </a:p>
        </p:txBody>
      </p:sp>
      <p:sp>
        <p:nvSpPr>
          <p:cNvPr id="22" name="TextBox 21">
            <a:hlinkClick action="ppaction://hlinksldjump" r:id="rId3"/>
          </p:cNvPr>
          <p:cNvSpPr txBox="1"/>
          <p:nvPr/>
        </p:nvSpPr>
        <p:spPr>
          <a:xfrm>
            <a:off x="5577840" y="617220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5E6974"/>
                </a:solidFill>
                <a:latin typeface="Aptos"/>
              </a:rPr>
              <a:t>HOME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0"/>
          </a:solidFill>
          <a:ln>
            <a:solidFill>
              <a:srgbClr val="F8F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A9191"/>
                </a:solidFill>
                <a:latin typeface="Aptos"/>
              </a:rPr>
              <a:t>DSA DAILY • DAY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202A34"/>
                </a:solidFill>
                <a:latin typeface="Aptos"/>
              </a:rPr>
              <a:t>Worked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298448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E6974"/>
                </a:solidFill>
                <a:latin typeface="Aptos"/>
              </a:rPr>
              <a:t>[-2, 1, -3, 4, -1, 2, 1, -5, 4]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828800"/>
            <a:ext cx="1065276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E8E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01168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02A34"/>
                </a:solidFill>
                <a:latin typeface="Aptos"/>
              </a:rPr>
              <a:t>Best streak: [4, -1, 2, 1]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670048"/>
            <a:ext cx="1065276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E8E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85292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02A34"/>
                </a:solidFill>
                <a:latin typeface="Aptos"/>
              </a:rPr>
              <a:t>4 + (-1) + 2 + 1 = 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511296"/>
            <a:ext cx="1065276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E8E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3694176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02A34"/>
                </a:solidFill>
                <a:latin typeface="Aptos"/>
              </a:rPr>
              <a:t>FINAL ANSWER = 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5120640"/>
            <a:ext cx="9875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A9191"/>
                </a:solidFill>
                <a:latin typeface="Aptos"/>
              </a:rPr>
              <a:t>[4, -1, 2, 1]  →  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6473952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E6974"/>
                </a:solidFill>
                <a:latin typeface="Aptos"/>
              </a:rPr>
              <a:t>DSA Daily Series • Day 15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81360" y="6473952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5E6974"/>
                </a:solidFill>
                <a:latin typeface="Aptos"/>
              </a:rPr>
              <a:t>09 / 18</a:t>
            </a:r>
          </a:p>
        </p:txBody>
      </p:sp>
      <p:sp>
        <p:nvSpPr>
          <p:cNvPr id="15" name="TextBox 14">
            <a:hlinkClick action="ppaction://hlinksldjump" r:id="rId2"/>
          </p:cNvPr>
          <p:cNvSpPr txBox="1"/>
          <p:nvPr/>
        </p:nvSpPr>
        <p:spPr>
          <a:xfrm>
            <a:off x="594360" y="617220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A9191"/>
                </a:solidFill>
                <a:latin typeface="Aptos"/>
              </a:rPr>
              <a:t>← BACK</a:t>
            </a:r>
          </a:p>
        </p:txBody>
      </p:sp>
      <p:sp>
        <p:nvSpPr>
          <p:cNvPr id="16" name="TextBox 15">
            <a:hlinkClick action="ppaction://hlinksldjump" r:id="rId4"/>
          </p:cNvPr>
          <p:cNvSpPr txBox="1"/>
          <p:nvPr/>
        </p:nvSpPr>
        <p:spPr>
          <a:xfrm>
            <a:off x="10561320" y="6172200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1A9191"/>
                </a:solidFill>
                <a:latin typeface="Aptos"/>
              </a:rPr>
              <a:t>NEXT →</a:t>
            </a:r>
          </a:p>
        </p:txBody>
      </p:sp>
      <p:sp>
        <p:nvSpPr>
          <p:cNvPr id="17" name="TextBox 16">
            <a:hlinkClick action="ppaction://hlinksldjump" r:id="rId3"/>
          </p:cNvPr>
          <p:cNvSpPr txBox="1"/>
          <p:nvPr/>
        </p:nvSpPr>
        <p:spPr>
          <a:xfrm>
            <a:off x="5577840" y="617220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5E6974"/>
                </a:solidFill>
                <a:latin typeface="Aptos"/>
              </a:rPr>
              <a:t>HOME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0"/>
          </a:solidFill>
          <a:ln>
            <a:solidFill>
              <a:srgbClr val="F8F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A9191"/>
                </a:solidFill>
                <a:latin typeface="Aptos"/>
              </a:rPr>
              <a:t>DSA DAILY • DAY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202A34"/>
                </a:solidFill>
                <a:latin typeface="Aptos"/>
              </a:rPr>
              <a:t>Visual Trace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298448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E6974"/>
                </a:solidFill>
                <a:latin typeface="Aptos"/>
              </a:rPr>
              <a:t>Current sum vs global maximum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828800"/>
            <a:ext cx="1065276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E8E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01168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02A34"/>
                </a:solidFill>
                <a:latin typeface="Aptos"/>
              </a:rPr>
              <a:t>0:-2 → current -2 → max -2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670048"/>
            <a:ext cx="1065276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E8E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85292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02A34"/>
                </a:solidFill>
                <a:latin typeface="Aptos"/>
              </a:rPr>
              <a:t>1:1 → current 1 → max 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511296"/>
            <a:ext cx="1065276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E8E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3694176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02A34"/>
                </a:solidFill>
                <a:latin typeface="Aptos"/>
              </a:rPr>
              <a:t>2:-3 → current -2 → max 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4352544"/>
            <a:ext cx="1065276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E8E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4535424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02A34"/>
                </a:solidFill>
                <a:latin typeface="Aptos"/>
              </a:rPr>
              <a:t>3:4 → current 4 → max 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5193792"/>
            <a:ext cx="1065276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E8E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5376672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02A34"/>
                </a:solidFill>
                <a:latin typeface="Aptos"/>
              </a:rPr>
              <a:t>4:-1 → current 3 → max 4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6035040"/>
            <a:ext cx="1065276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E8E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62179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02A34"/>
                </a:solidFill>
                <a:latin typeface="Aptos"/>
              </a:rPr>
              <a:t>5:2 → current 5 → max 5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6876288"/>
            <a:ext cx="1065276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E8E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705916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02A34"/>
                </a:solidFill>
                <a:latin typeface="Aptos"/>
              </a:rPr>
              <a:t>6:1 → current 6 → max 6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7717536"/>
            <a:ext cx="1065276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E8E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1560" y="7900415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02A34"/>
                </a:solidFill>
                <a:latin typeface="Aptos"/>
              </a:rPr>
              <a:t>7:-5 → current 1 → max 6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8558784"/>
            <a:ext cx="1065276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E8E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51560" y="8741663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02A34"/>
                </a:solidFill>
                <a:latin typeface="Aptos"/>
              </a:rPr>
              <a:t>8:4 → current 5 → max 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6473952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E6974"/>
                </a:solidFill>
                <a:latin typeface="Aptos"/>
              </a:rPr>
              <a:t>DSA Daily Series • Day 15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81360" y="6473952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5E6974"/>
                </a:solidFill>
                <a:latin typeface="Aptos"/>
              </a:rPr>
              <a:t>10 / 18</a:t>
            </a:r>
          </a:p>
        </p:txBody>
      </p:sp>
      <p:sp>
        <p:nvSpPr>
          <p:cNvPr id="26" name="TextBox 25">
            <a:hlinkClick action="ppaction://hlinksldjump" r:id="rId2"/>
          </p:cNvPr>
          <p:cNvSpPr txBox="1"/>
          <p:nvPr/>
        </p:nvSpPr>
        <p:spPr>
          <a:xfrm>
            <a:off x="594360" y="617220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A9191"/>
                </a:solidFill>
                <a:latin typeface="Aptos"/>
              </a:rPr>
              <a:t>← BACK</a:t>
            </a:r>
          </a:p>
        </p:txBody>
      </p:sp>
      <p:sp>
        <p:nvSpPr>
          <p:cNvPr id="27" name="TextBox 26">
            <a:hlinkClick action="ppaction://hlinksldjump" r:id="rId4"/>
          </p:cNvPr>
          <p:cNvSpPr txBox="1"/>
          <p:nvPr/>
        </p:nvSpPr>
        <p:spPr>
          <a:xfrm>
            <a:off x="10561320" y="6172200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1A9191"/>
                </a:solidFill>
                <a:latin typeface="Aptos"/>
              </a:rPr>
              <a:t>NEXT →</a:t>
            </a:r>
          </a:p>
        </p:txBody>
      </p:sp>
      <p:sp>
        <p:nvSpPr>
          <p:cNvPr id="28" name="TextBox 27">
            <a:hlinkClick action="ppaction://hlinksldjump" r:id="rId3"/>
          </p:cNvPr>
          <p:cNvSpPr txBox="1"/>
          <p:nvPr/>
        </p:nvSpPr>
        <p:spPr>
          <a:xfrm>
            <a:off x="5577840" y="617220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5E6974"/>
                </a:solidFill>
                <a:latin typeface="Aptos"/>
              </a:rPr>
              <a:t>HOME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0"/>
          </a:solidFill>
          <a:ln>
            <a:solidFill>
              <a:srgbClr val="F8F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A9191"/>
                </a:solidFill>
                <a:latin typeface="Aptos"/>
              </a:rPr>
              <a:t>DSA DAILY • DAY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202A34"/>
                </a:solidFill>
                <a:latin typeface="Aptos"/>
              </a:rPr>
              <a:t>C++ Implementation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298448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E6974"/>
                </a:solidFill>
                <a:latin typeface="Aptos"/>
              </a:rPr>
              <a:t>Interview-friendly standard C++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828800"/>
            <a:ext cx="10652760" cy="658368"/>
          </a:xfrm>
          <a:prstGeom prst="roundRect">
            <a:avLst/>
          </a:prstGeom>
          <a:solidFill>
            <a:srgbClr val="121F30"/>
          </a:solidFill>
          <a:ln>
            <a:solidFill>
              <a:srgbClr val="E8E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01168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int currentSum = nums[0];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670048"/>
            <a:ext cx="1065276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E8E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85292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02A34"/>
                </a:solidFill>
                <a:latin typeface="Aptos"/>
              </a:rPr>
              <a:t>int maxSum = nums[0];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511296"/>
            <a:ext cx="1065276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E8E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3694176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02A34"/>
                </a:solidFill>
                <a:latin typeface="Aptos"/>
              </a:rPr>
              <a:t>currentSum = max(nums[i], currentSum + nums[i]);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4352544"/>
            <a:ext cx="1065276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E8E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4535424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02A34"/>
                </a:solidFill>
                <a:latin typeface="Aptos"/>
              </a:rPr>
              <a:t>maxSum = max(maxSum, currentSum);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5193792"/>
            <a:ext cx="1065276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E8E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5376672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02A34"/>
                </a:solidFill>
                <a:latin typeface="Aptos"/>
              </a:rPr>
              <a:t>return maxSum;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52578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A9191"/>
                </a:solidFill>
                <a:latin typeface="Aptos"/>
              </a:rPr>
              <a:t>Consolas-style code focus: currentSum + maxSum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473952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E6974"/>
                </a:solidFill>
                <a:latin typeface="Aptos"/>
              </a:rPr>
              <a:t>DSA Daily Series • Day 15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81360" y="6473952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5E6974"/>
                </a:solidFill>
                <a:latin typeface="Aptos"/>
              </a:rPr>
              <a:t>11 / 18</a:t>
            </a:r>
          </a:p>
        </p:txBody>
      </p:sp>
      <p:sp>
        <p:nvSpPr>
          <p:cNvPr id="19" name="TextBox 18">
            <a:hlinkClick action="ppaction://hlinksldjump" r:id="rId2"/>
          </p:cNvPr>
          <p:cNvSpPr txBox="1"/>
          <p:nvPr/>
        </p:nvSpPr>
        <p:spPr>
          <a:xfrm>
            <a:off x="594360" y="617220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A9191"/>
                </a:solidFill>
                <a:latin typeface="Aptos"/>
              </a:rPr>
              <a:t>← BACK</a:t>
            </a:r>
          </a:p>
        </p:txBody>
      </p:sp>
      <p:sp>
        <p:nvSpPr>
          <p:cNvPr id="20" name="TextBox 19">
            <a:hlinkClick action="ppaction://hlinksldjump" r:id="rId4"/>
          </p:cNvPr>
          <p:cNvSpPr txBox="1"/>
          <p:nvPr/>
        </p:nvSpPr>
        <p:spPr>
          <a:xfrm>
            <a:off x="10561320" y="6172200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1A9191"/>
                </a:solidFill>
                <a:latin typeface="Aptos"/>
              </a:rPr>
              <a:t>NEXT →</a:t>
            </a:r>
          </a:p>
        </p:txBody>
      </p:sp>
      <p:sp>
        <p:nvSpPr>
          <p:cNvPr id="21" name="TextBox 20">
            <a:hlinkClick action="ppaction://hlinksldjump" r:id="rId3"/>
          </p:cNvPr>
          <p:cNvSpPr txBox="1"/>
          <p:nvPr/>
        </p:nvSpPr>
        <p:spPr>
          <a:xfrm>
            <a:off x="5577840" y="617220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5E6974"/>
                </a:solidFill>
                <a:latin typeface="Aptos"/>
              </a:rPr>
              <a:t>HOME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0"/>
          </a:solidFill>
          <a:ln>
            <a:solidFill>
              <a:srgbClr val="F8F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A9191"/>
                </a:solidFill>
                <a:latin typeface="Aptos"/>
              </a:rPr>
              <a:t>DSA DAILY • DAY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202A34"/>
                </a:solidFill>
                <a:latin typeface="Aptos"/>
              </a:rPr>
              <a:t>Edge Case: The All-Negative Array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298448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E6974"/>
                </a:solidFill>
                <a:latin typeface="Aptos"/>
              </a:rPr>
              <a:t>The answer can be negative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828800"/>
            <a:ext cx="1065276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E8E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01168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02A34"/>
                </a:solidFill>
                <a:latin typeface="Aptos"/>
              </a:rPr>
              <a:t>[-8, -3, -6, -2, -5]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670048"/>
            <a:ext cx="1065276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E8E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85292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02A34"/>
                </a:solidFill>
                <a:latin typeface="Aptos"/>
              </a:rPr>
              <a:t>Correct answer: -2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511296"/>
            <a:ext cx="1065276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E8E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3694176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02A34"/>
                </a:solidFill>
                <a:latin typeface="Aptos"/>
              </a:rPr>
              <a:t>Do NOT initialize maxSum = 0.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4352544"/>
            <a:ext cx="1065276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E8E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4535424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02A34"/>
                </a:solidFill>
                <a:latin typeface="Aptos"/>
              </a:rPr>
              <a:t>Initialize both states from nums[0].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6473952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E6974"/>
                </a:solidFill>
                <a:latin typeface="Aptos"/>
              </a:rPr>
              <a:t>DSA Daily Series • Day 15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81360" y="6473952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5E6974"/>
                </a:solidFill>
                <a:latin typeface="Aptos"/>
              </a:rPr>
              <a:t>12 / 18</a:t>
            </a:r>
          </a:p>
        </p:txBody>
      </p:sp>
      <p:sp>
        <p:nvSpPr>
          <p:cNvPr id="16" name="TextBox 15">
            <a:hlinkClick action="ppaction://hlinksldjump" r:id="rId2"/>
          </p:cNvPr>
          <p:cNvSpPr txBox="1"/>
          <p:nvPr/>
        </p:nvSpPr>
        <p:spPr>
          <a:xfrm>
            <a:off x="594360" y="617220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A9191"/>
                </a:solidFill>
                <a:latin typeface="Aptos"/>
              </a:rPr>
              <a:t>← BACK</a:t>
            </a:r>
          </a:p>
        </p:txBody>
      </p:sp>
      <p:sp>
        <p:nvSpPr>
          <p:cNvPr id="17" name="TextBox 16">
            <a:hlinkClick action="ppaction://hlinksldjump" r:id="rId4"/>
          </p:cNvPr>
          <p:cNvSpPr txBox="1"/>
          <p:nvPr/>
        </p:nvSpPr>
        <p:spPr>
          <a:xfrm>
            <a:off x="10561320" y="6172200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1A9191"/>
                </a:solidFill>
                <a:latin typeface="Aptos"/>
              </a:rPr>
              <a:t>NEXT →</a:t>
            </a:r>
          </a:p>
        </p:txBody>
      </p:sp>
      <p:sp>
        <p:nvSpPr>
          <p:cNvPr id="18" name="TextBox 17">
            <a:hlinkClick action="ppaction://hlinksldjump" r:id="rId3"/>
          </p:cNvPr>
          <p:cNvSpPr txBox="1"/>
          <p:nvPr/>
        </p:nvSpPr>
        <p:spPr>
          <a:xfrm>
            <a:off x="5577840" y="617220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5E6974"/>
                </a:solidFill>
                <a:latin typeface="Aptos"/>
              </a:rPr>
              <a:t>HOME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0"/>
          </a:solidFill>
          <a:ln>
            <a:solidFill>
              <a:srgbClr val="F8F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A9191"/>
                </a:solidFill>
                <a:latin typeface="Aptos"/>
              </a:rPr>
              <a:t>DSA DAILY • DAY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202A34"/>
                </a:solidFill>
                <a:latin typeface="Aptos"/>
              </a:rPr>
              <a:t>Complexity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298448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E6974"/>
                </a:solidFill>
                <a:latin typeface="Aptos"/>
              </a:rPr>
              <a:t>One pass. Constant extra space.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828800"/>
            <a:ext cx="1065276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E8E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01168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02A34"/>
                </a:solidFill>
                <a:latin typeface="Aptos"/>
              </a:rPr>
              <a:t>TIME → O(n)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670048"/>
            <a:ext cx="1065276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E8E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85292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02A34"/>
                </a:solidFill>
                <a:latin typeface="Aptos"/>
              </a:rPr>
              <a:t>SPACE → O(1)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511296"/>
            <a:ext cx="1065276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E8E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3694176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02A34"/>
                </a:solidFill>
                <a:latin typeface="Aptos"/>
              </a:rPr>
              <a:t>Brute Force O(n²) → Kadane O(n)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6473952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E6974"/>
                </a:solidFill>
                <a:latin typeface="Aptos"/>
              </a:rPr>
              <a:t>DSA Daily Series • Day 15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5E6974"/>
                </a:solidFill>
                <a:latin typeface="Aptos"/>
              </a:rPr>
              <a:t>13 / 18</a:t>
            </a:r>
          </a:p>
        </p:txBody>
      </p:sp>
      <p:sp>
        <p:nvSpPr>
          <p:cNvPr id="14" name="TextBox 13">
            <a:hlinkClick action="ppaction://hlinksldjump" r:id="rId2"/>
          </p:cNvPr>
          <p:cNvSpPr txBox="1"/>
          <p:nvPr/>
        </p:nvSpPr>
        <p:spPr>
          <a:xfrm>
            <a:off x="594360" y="617220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A9191"/>
                </a:solidFill>
                <a:latin typeface="Aptos"/>
              </a:rPr>
              <a:t>← BACK</a:t>
            </a:r>
          </a:p>
        </p:txBody>
      </p:sp>
      <p:sp>
        <p:nvSpPr>
          <p:cNvPr id="15" name="TextBox 14">
            <a:hlinkClick action="ppaction://hlinksldjump" r:id="rId4"/>
          </p:cNvPr>
          <p:cNvSpPr txBox="1"/>
          <p:nvPr/>
        </p:nvSpPr>
        <p:spPr>
          <a:xfrm>
            <a:off x="10561320" y="6172200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1A9191"/>
                </a:solidFill>
                <a:latin typeface="Aptos"/>
              </a:rPr>
              <a:t>NEXT →</a:t>
            </a:r>
          </a:p>
        </p:txBody>
      </p:sp>
      <p:sp>
        <p:nvSpPr>
          <p:cNvPr id="16" name="TextBox 15">
            <a:hlinkClick action="ppaction://hlinksldjump" r:id="rId3"/>
          </p:cNvPr>
          <p:cNvSpPr txBox="1"/>
          <p:nvPr/>
        </p:nvSpPr>
        <p:spPr>
          <a:xfrm>
            <a:off x="5577840" y="617220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5E6974"/>
                </a:solidFill>
                <a:latin typeface="Aptos"/>
              </a:rPr>
              <a:t>HOME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0"/>
          </a:solidFill>
          <a:ln>
            <a:solidFill>
              <a:srgbClr val="F8F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A9191"/>
                </a:solidFill>
                <a:latin typeface="Aptos"/>
              </a:rPr>
              <a:t>DSA DAILY • DAY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202A34"/>
                </a:solidFill>
                <a:latin typeface="Aptos"/>
              </a:rPr>
              <a:t>Kadane + Dynamic Programming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298448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E6974"/>
                </a:solidFill>
                <a:latin typeface="Aptos"/>
              </a:rPr>
              <a:t>A space-optimized DP solution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828800"/>
            <a:ext cx="1065276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E8E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01168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02A34"/>
                </a:solidFill>
                <a:latin typeface="Aptos"/>
              </a:rPr>
              <a:t>dp[i] = maximum subarray sum ending at 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670048"/>
            <a:ext cx="1065276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E8E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85292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02A34"/>
                </a:solidFill>
                <a:latin typeface="Aptos"/>
              </a:rPr>
              <a:t>dp[i] = max(nums[i], dp[i-1] + nums[i])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511296"/>
            <a:ext cx="1065276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E8E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3694176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02A34"/>
                </a:solidFill>
                <a:latin typeface="Aptos"/>
              </a:rPr>
              <a:t>Only the previous state is needed → O(1) space.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6473952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E6974"/>
                </a:solidFill>
                <a:latin typeface="Aptos"/>
              </a:rPr>
              <a:t>DSA Daily Series • Day 15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5E6974"/>
                </a:solidFill>
                <a:latin typeface="Aptos"/>
              </a:rPr>
              <a:t>14 / 18</a:t>
            </a:r>
          </a:p>
        </p:txBody>
      </p:sp>
      <p:sp>
        <p:nvSpPr>
          <p:cNvPr id="14" name="TextBox 13">
            <a:hlinkClick action="ppaction://hlinksldjump" r:id="rId2"/>
          </p:cNvPr>
          <p:cNvSpPr txBox="1"/>
          <p:nvPr/>
        </p:nvSpPr>
        <p:spPr>
          <a:xfrm>
            <a:off x="594360" y="617220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A9191"/>
                </a:solidFill>
                <a:latin typeface="Aptos"/>
              </a:rPr>
              <a:t>← BACK</a:t>
            </a:r>
          </a:p>
        </p:txBody>
      </p:sp>
      <p:sp>
        <p:nvSpPr>
          <p:cNvPr id="15" name="TextBox 14">
            <a:hlinkClick action="ppaction://hlinksldjump" r:id="rId4"/>
          </p:cNvPr>
          <p:cNvSpPr txBox="1"/>
          <p:nvPr/>
        </p:nvSpPr>
        <p:spPr>
          <a:xfrm>
            <a:off x="10561320" y="6172200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1A9191"/>
                </a:solidFill>
                <a:latin typeface="Aptos"/>
              </a:rPr>
              <a:t>NEXT →</a:t>
            </a:r>
          </a:p>
        </p:txBody>
      </p:sp>
      <p:sp>
        <p:nvSpPr>
          <p:cNvPr id="16" name="TextBox 15">
            <a:hlinkClick action="ppaction://hlinksldjump" r:id="rId3"/>
          </p:cNvPr>
          <p:cNvSpPr txBox="1"/>
          <p:nvPr/>
        </p:nvSpPr>
        <p:spPr>
          <a:xfrm>
            <a:off x="5577840" y="617220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5E6974"/>
                </a:solidFill>
                <a:latin typeface="Aptos"/>
              </a:rPr>
              <a:t>HOME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0"/>
          </a:solidFill>
          <a:ln>
            <a:solidFill>
              <a:srgbClr val="F8F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A9191"/>
                </a:solidFill>
                <a:latin typeface="Aptos"/>
              </a:rPr>
              <a:t>DSA DAILY • DAY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202A34"/>
                </a:solidFill>
                <a:latin typeface="Aptos"/>
              </a:rPr>
              <a:t>Real-World Intuition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298448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E6974"/>
                </a:solidFill>
                <a:latin typeface="Aptos"/>
              </a:rPr>
              <a:t>A conceptual performance-streak model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828800"/>
            <a:ext cx="1065276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E8E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01168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02A34"/>
                </a:solidFill>
                <a:latin typeface="Aptos"/>
              </a:rPr>
              <a:t>+10, -4, +7, -2, +3, -20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670048"/>
            <a:ext cx="1065276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E8E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85292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02A34"/>
                </a:solidFill>
                <a:latin typeface="Aptos"/>
              </a:rPr>
              <a:t>Which continuous period gives the highest net gain?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511296"/>
            <a:ext cx="1065276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E8E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3694176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02A34"/>
                </a:solidFill>
                <a:latin typeface="Aptos"/>
              </a:rPr>
              <a:t>Think of Kadane as finding the strongest continuous streak.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6473952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E6974"/>
                </a:solidFill>
                <a:latin typeface="Aptos"/>
              </a:rPr>
              <a:t>DSA Daily Series • Day 15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5E6974"/>
                </a:solidFill>
                <a:latin typeface="Aptos"/>
              </a:rPr>
              <a:t>15 / 18</a:t>
            </a:r>
          </a:p>
        </p:txBody>
      </p:sp>
      <p:sp>
        <p:nvSpPr>
          <p:cNvPr id="14" name="TextBox 13">
            <a:hlinkClick action="ppaction://hlinksldjump" r:id="rId2"/>
          </p:cNvPr>
          <p:cNvSpPr txBox="1"/>
          <p:nvPr/>
        </p:nvSpPr>
        <p:spPr>
          <a:xfrm>
            <a:off x="594360" y="617220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A9191"/>
                </a:solidFill>
                <a:latin typeface="Aptos"/>
              </a:rPr>
              <a:t>← BACK</a:t>
            </a:r>
          </a:p>
        </p:txBody>
      </p:sp>
      <p:sp>
        <p:nvSpPr>
          <p:cNvPr id="15" name="TextBox 14">
            <a:hlinkClick action="ppaction://hlinksldjump" r:id="rId4"/>
          </p:cNvPr>
          <p:cNvSpPr txBox="1"/>
          <p:nvPr/>
        </p:nvSpPr>
        <p:spPr>
          <a:xfrm>
            <a:off x="10561320" y="6172200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1A9191"/>
                </a:solidFill>
                <a:latin typeface="Aptos"/>
              </a:rPr>
              <a:t>NEXT →</a:t>
            </a:r>
          </a:p>
        </p:txBody>
      </p:sp>
      <p:sp>
        <p:nvSpPr>
          <p:cNvPr id="16" name="TextBox 15">
            <a:hlinkClick action="ppaction://hlinksldjump" r:id="rId3"/>
          </p:cNvPr>
          <p:cNvSpPr txBox="1"/>
          <p:nvPr/>
        </p:nvSpPr>
        <p:spPr>
          <a:xfrm>
            <a:off x="5577840" y="617220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5E6974"/>
                </a:solidFill>
                <a:latin typeface="Aptos"/>
              </a:rPr>
              <a:t>HOME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0"/>
          </a:solidFill>
          <a:ln>
            <a:solidFill>
              <a:srgbClr val="F8F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A9191"/>
                </a:solidFill>
                <a:latin typeface="Aptos"/>
              </a:rPr>
              <a:t>DSA DAILY • DAY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202A34"/>
                </a:solidFill>
                <a:latin typeface="Aptos"/>
              </a:rPr>
              <a:t>LeetCode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298448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E6974"/>
                </a:solidFill>
                <a:latin typeface="Aptos"/>
              </a:rPr>
              <a:t>Classic → Variant → Advanced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828800"/>
            <a:ext cx="1065276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E8E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01168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02A34"/>
                </a:solidFill>
                <a:latin typeface="Aptos"/>
              </a:rPr>
              <a:t>🟢 53 — Maximum Subarray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670048"/>
            <a:ext cx="1065276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E8E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85292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02A34"/>
                </a:solidFill>
                <a:latin typeface="Aptos"/>
              </a:rPr>
              <a:t>🟡 918 — Maximum Sum Circular Subarray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511296"/>
            <a:ext cx="1065276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E8E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3694176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02A34"/>
                </a:solidFill>
                <a:latin typeface="Aptos"/>
              </a:rPr>
              <a:t>🟡 152 — Maximum Product Subarray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6473952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E6974"/>
                </a:solidFill>
                <a:latin typeface="Aptos"/>
              </a:rPr>
              <a:t>DSA Daily Series • Day 15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5E6974"/>
                </a:solidFill>
                <a:latin typeface="Aptos"/>
              </a:rPr>
              <a:t>16 / 18</a:t>
            </a:r>
          </a:p>
        </p:txBody>
      </p:sp>
      <p:sp>
        <p:nvSpPr>
          <p:cNvPr id="14" name="TextBox 13">
            <a:hlinkClick action="ppaction://hlinksldjump" r:id="rId2"/>
          </p:cNvPr>
          <p:cNvSpPr txBox="1"/>
          <p:nvPr/>
        </p:nvSpPr>
        <p:spPr>
          <a:xfrm>
            <a:off x="594360" y="617220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A9191"/>
                </a:solidFill>
                <a:latin typeface="Aptos"/>
              </a:rPr>
              <a:t>← BACK</a:t>
            </a:r>
          </a:p>
        </p:txBody>
      </p:sp>
      <p:sp>
        <p:nvSpPr>
          <p:cNvPr id="15" name="TextBox 14">
            <a:hlinkClick action="ppaction://hlinksldjump" r:id="rId4"/>
          </p:cNvPr>
          <p:cNvSpPr txBox="1"/>
          <p:nvPr/>
        </p:nvSpPr>
        <p:spPr>
          <a:xfrm>
            <a:off x="10561320" y="6172200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1A9191"/>
                </a:solidFill>
                <a:latin typeface="Aptos"/>
              </a:rPr>
              <a:t>NEXT →</a:t>
            </a:r>
          </a:p>
        </p:txBody>
      </p:sp>
      <p:sp>
        <p:nvSpPr>
          <p:cNvPr id="16" name="TextBox 15">
            <a:hlinkClick action="ppaction://hlinksldjump" r:id="rId3"/>
          </p:cNvPr>
          <p:cNvSpPr txBox="1"/>
          <p:nvPr/>
        </p:nvSpPr>
        <p:spPr>
          <a:xfrm>
            <a:off x="5577840" y="617220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5E6974"/>
                </a:solidFill>
                <a:latin typeface="Aptos"/>
              </a:rPr>
              <a:t>HOME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0"/>
          </a:solidFill>
          <a:ln>
            <a:solidFill>
              <a:srgbClr val="F8F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A9191"/>
                </a:solidFill>
                <a:latin typeface="Aptos"/>
              </a:rPr>
              <a:t>DSA DAILY • DAY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202A34"/>
                </a:solidFill>
                <a:latin typeface="Aptos"/>
              </a:rPr>
              <a:t>Interview Tip + Quick Challenge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298448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E6974"/>
                </a:solidFill>
                <a:latin typeface="Aptos"/>
              </a:rPr>
              <a:t>Explain the recurrence and mention the edge case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828800"/>
            <a:ext cx="10652760" cy="658368"/>
          </a:xfrm>
          <a:prstGeom prst="roundRect">
            <a:avLst/>
          </a:prstGeom>
          <a:solidFill>
            <a:srgbClr val="121F30"/>
          </a:solidFill>
          <a:ln>
            <a:solidFill>
              <a:srgbClr val="E8E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01168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Tip: maintain the maximum subarray sum ending at each index; extend or restart.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670048"/>
            <a:ext cx="1065276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E8E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85292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02A34"/>
                </a:solidFill>
                <a:latin typeface="Aptos"/>
              </a:rPr>
              <a:t>Always mention the all-negative case.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511296"/>
            <a:ext cx="1065276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E8E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3694176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02A34"/>
                </a:solidFill>
                <a:latin typeface="Aptos"/>
              </a:rPr>
              <a:t>Challenge: [5, -2, 3, -10, 4, 6, -1, 2] → [4, 6, -1, 2] → 11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6473952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E6974"/>
                </a:solidFill>
                <a:latin typeface="Aptos"/>
              </a:rPr>
              <a:t>DSA Daily Series • Day 15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5E6974"/>
                </a:solidFill>
                <a:latin typeface="Aptos"/>
              </a:rPr>
              <a:t>17 / 18</a:t>
            </a:r>
          </a:p>
        </p:txBody>
      </p:sp>
      <p:sp>
        <p:nvSpPr>
          <p:cNvPr id="14" name="TextBox 13">
            <a:hlinkClick action="ppaction://hlinksldjump" r:id="rId2"/>
          </p:cNvPr>
          <p:cNvSpPr txBox="1"/>
          <p:nvPr/>
        </p:nvSpPr>
        <p:spPr>
          <a:xfrm>
            <a:off x="594360" y="617220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A9191"/>
                </a:solidFill>
                <a:latin typeface="Aptos"/>
              </a:rPr>
              <a:t>← BACK</a:t>
            </a:r>
          </a:p>
        </p:txBody>
      </p:sp>
      <p:sp>
        <p:nvSpPr>
          <p:cNvPr id="15" name="TextBox 14">
            <a:hlinkClick action="ppaction://hlinksldjump" r:id="rId4"/>
          </p:cNvPr>
          <p:cNvSpPr txBox="1"/>
          <p:nvPr/>
        </p:nvSpPr>
        <p:spPr>
          <a:xfrm>
            <a:off x="10561320" y="6172200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1A9191"/>
                </a:solidFill>
                <a:latin typeface="Aptos"/>
              </a:rPr>
              <a:t>NEXT →</a:t>
            </a:r>
          </a:p>
        </p:txBody>
      </p:sp>
      <p:sp>
        <p:nvSpPr>
          <p:cNvPr id="16" name="TextBox 15">
            <a:hlinkClick action="ppaction://hlinksldjump" r:id="rId3"/>
          </p:cNvPr>
          <p:cNvSpPr txBox="1"/>
          <p:nvPr/>
        </p:nvSpPr>
        <p:spPr>
          <a:xfrm>
            <a:off x="5577840" y="617220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5E6974"/>
                </a:solidFill>
                <a:latin typeface="Aptos"/>
              </a:rPr>
              <a:t>HOME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F30"/>
          </a:solidFill>
          <a:ln>
            <a:solidFill>
              <a:srgbClr val="121F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9191"/>
                </a:solidFill>
                <a:latin typeface="Aptos"/>
              </a:rPr>
              <a:t>DAY 15 COMPLETE 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4572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ptos"/>
              </a:rPr>
              <a:t>Key 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828800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Aptos"/>
              </a:rPr>
              <a:t>1. Subarray must be contiguous.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359152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2. Choose extend or restart.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889504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Aptos"/>
              </a:rPr>
              <a:t>3. Track currentSum.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419856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Aptos"/>
              </a:rPr>
              <a:t>4. Track global maxSum.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950208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5. O(n) time + O(1) space.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051560"/>
            <a:ext cx="4892040" cy="4114800"/>
          </a:xfrm>
          <a:prstGeom prst="roundRect">
            <a:avLst/>
          </a:prstGeom>
          <a:solidFill>
            <a:srgbClr val="1B2B3A"/>
          </a:solidFill>
          <a:ln>
            <a:solidFill>
              <a:srgbClr val="1B2B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0" y="141732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6EE1D7"/>
                </a:solidFill>
                <a:latin typeface="Aptos"/>
              </a:rPr>
              <a:t>📚 TOMORROW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1828800"/>
            <a:ext cx="3931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FFFFFF"/>
                </a:solidFill>
                <a:latin typeface="Aptos"/>
              </a:rPr>
              <a:t>DAY 16 — 2D Arrays /
Matrix Basics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12280" y="2926080"/>
            <a:ext cx="3840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2DCE1"/>
                </a:solidFill>
                <a:latin typeface="Aptos"/>
              </a:rPr>
              <a:t>• Matrix representation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12280" y="3291840"/>
            <a:ext cx="3840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2DCE1"/>
                </a:solidFill>
                <a:latin typeface="Aptos"/>
              </a:rPr>
              <a:t>• Row &amp; column traversal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12280" y="3657600"/>
            <a:ext cx="3840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2DCE1"/>
                </a:solidFill>
                <a:latin typeface="Aptos"/>
              </a:rPr>
              <a:t>• Common patterns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12280" y="4023360"/>
            <a:ext cx="3840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2DCE1"/>
                </a:solidFill>
                <a:latin typeface="Aptos"/>
              </a:rPr>
              <a:t>• C++ implementation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12280" y="4389120"/>
            <a:ext cx="3840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2DCE1"/>
                </a:solidFill>
                <a:latin typeface="Aptos"/>
              </a:rPr>
              <a:t>• Practice problems</a:t>
            </a:r>
          </a:p>
        </p:txBody>
      </p:sp>
      <p:sp>
        <p:nvSpPr>
          <p:cNvPr id="18" name="TextBox 17">
            <a:hlinkClick r:id="rId2"/>
          </p:cNvPr>
          <p:cNvSpPr txBox="1"/>
          <p:nvPr/>
        </p:nvSpPr>
        <p:spPr>
          <a:xfrm>
            <a:off x="685800" y="5925312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4C8CD"/>
                </a:solidFill>
                <a:latin typeface="Aptos"/>
              </a:rPr>
              <a:t>github.com/ritesh2687/dsa_ppt_post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6473952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4BEC6"/>
                </a:solidFill>
                <a:latin typeface="Aptos"/>
              </a:rPr>
              <a:t>DSA Daily Series • Day 15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81360" y="6473952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B4BEC6"/>
                </a:solidFill>
                <a:latin typeface="Aptos"/>
              </a:rPr>
              <a:t>18 /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