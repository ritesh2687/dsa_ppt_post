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CD64"/>
                </a:solidFill>
                <a:latin typeface="Segoe Print"/>
              </a:rPr>
              <a:t>DAY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8961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5F6FA"/>
                </a:solidFill>
                <a:latin typeface="Segoe Print"/>
              </a:rPr>
              <a:t>PALINDROME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B4BAC9"/>
                </a:solidFill>
                <a:latin typeface="Segoe Print"/>
              </a:rPr>
              <a:t>A simple idea → an important Two Pointer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10698480" cy="132588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370832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5F6FA"/>
                </a:solidFill>
                <a:latin typeface="Segoe Print"/>
              </a:rPr>
              <a:t>M   A   D   A  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864608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6EA5FF"/>
                </a:solidFill>
                <a:latin typeface="Segoe Print"/>
              </a:rPr>
              <a:t>↖                         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257800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4BAC9"/>
                </a:solidFill>
                <a:latin typeface="Segoe Print"/>
              </a:rPr>
              <a:t>left                        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🧠 What is a Palindrome?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AC9"/>
                </a:solidFill>
                <a:latin typeface="Segoe Print"/>
              </a:rPr>
              <a:t>A sequence that reads the same forward and backward.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303520" cy="329184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5F6FA"/>
                </a:solidFill>
                <a:latin typeface="Segoe Print"/>
              </a:rPr>
              <a:t>M A D A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AC9"/>
                </a:solidFill>
                <a:latin typeface="Segoe Print"/>
              </a:rPr>
              <a:t>→ 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4290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AC9"/>
                </a:solidFill>
                <a:latin typeface="Segoe Print"/>
              </a:rPr>
              <a:t>← backward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ED6B4"/>
                </a:solidFill>
                <a:latin typeface="Segoe Print"/>
              </a:rPr>
              <a:t>same sequence 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303520" cy="329184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402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EA5FF"/>
                </a:solidFill>
                <a:latin typeface="Segoe Print"/>
              </a:rPr>
              <a:t>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88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5F6FA"/>
                </a:solidFill>
                <a:latin typeface="Segoe Print"/>
              </a:rPr>
              <a:t>LEVEL   •   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520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5F6FA"/>
                </a:solidFill>
                <a:latin typeface="Segoe Print"/>
              </a:rPr>
              <a:t>121   •   1331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343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57373"/>
                </a:solidFill>
                <a:latin typeface="Segoe Print"/>
              </a:rPr>
              <a:t>HELLO   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❓ Why are Palindromes Important in DSA?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669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5F6FA"/>
                </a:solidFill>
                <a:latin typeface="Segoe Print"/>
              </a:defRPr>
            </a:pPr>
            <a:r>
              <a:t>• They teach comparison from opposite directions.</a:t>
            </a:r>
          </a:p>
          <a:p>
            <a:pPr>
              <a:spcAft>
                <a:spcPts val="1000"/>
              </a:spcAft>
              <a:defRPr sz="1900">
                <a:solidFill>
                  <a:srgbClr val="F5F6FA"/>
                </a:solidFill>
                <a:latin typeface="Segoe Print"/>
              </a:defRPr>
            </a:pPr>
            <a:r>
              <a:t>• They introduce the Two Pointer pattern.</a:t>
            </a:r>
          </a:p>
          <a:p>
            <a:pPr>
              <a:spcAft>
                <a:spcPts val="1000"/>
              </a:spcAft>
              <a:defRPr sz="1900">
                <a:solidFill>
                  <a:srgbClr val="F5F6FA"/>
                </a:solidFill>
                <a:latin typeface="Segoe Print"/>
              </a:defRPr>
            </a:pPr>
            <a:r>
              <a:t>• They appear in string, array and number problems.</a:t>
            </a:r>
          </a:p>
          <a:p>
            <a:pPr>
              <a:spcAft>
                <a:spcPts val="1000"/>
              </a:spcAft>
              <a:defRPr sz="1900">
                <a:solidFill>
                  <a:srgbClr val="F5F6FA"/>
                </a:solidFill>
                <a:latin typeface="Segoe Print"/>
              </a:defRPr>
            </a:pPr>
            <a:r>
              <a:t>• They test edge-case handling and clean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965960"/>
            <a:ext cx="4389120" cy="320040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2286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CD64"/>
                </a:solidFill>
                <a:latin typeface="Segoe Print"/>
              </a:rPr>
              <a:t>INTERVIEW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880360"/>
            <a:ext cx="1143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6FA"/>
                </a:solidFill>
                <a:latin typeface="Segoe Print"/>
              </a:rPr>
              <a:t>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880360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4BAC9"/>
                </a:solidFill>
                <a:latin typeface="Segoe Print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880360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6FA"/>
                </a:solidFill>
                <a:latin typeface="Segoe Print"/>
              </a:rPr>
              <a:t>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474720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4BAC9"/>
                </a:solidFill>
                <a:latin typeface="Segoe Print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0690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6FA"/>
                </a:solidFill>
                <a:latin typeface="Segoe Print"/>
              </a:rPr>
              <a:t>Edge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🔍 How to Identify a Palindrome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AC9"/>
                </a:solidFill>
                <a:latin typeface="Segoe Print"/>
              </a:rPr>
              <a:t>Think in mirrored pairs.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356616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5F6FA"/>
                </a:solidFill>
                <a:latin typeface="Segoe Print"/>
              </a:rPr>
              <a:t>M   A   D   A  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2724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EA5FF"/>
                </a:solidFill>
                <a:latin typeface="Segoe Print"/>
              </a:rPr>
              <a:t>↑                      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493008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4BAC9"/>
                </a:solidFill>
                <a:latin typeface="Segoe Print"/>
              </a:rPr>
              <a:t>left                    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0690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ED6B4"/>
                </a:solidFill>
                <a:latin typeface="Segoe Print"/>
              </a:rPr>
              <a:t>1. Compare both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0690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ED6B4"/>
                </a:solidFill>
                <a:latin typeface="Segoe Print"/>
              </a:rPr>
              <a:t>2. If equal → move inward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069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7373"/>
                </a:solidFill>
                <a:latin typeface="Segoe Print"/>
              </a:rPr>
              <a:t>3. If mismatch →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754880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CD64"/>
                </a:solidFill>
                <a:latin typeface="Segoe Print"/>
              </a:rPr>
              <a:t>Repeat until the pointers meet.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💡 Core Pattern — Two Pointers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074920" cy="3749039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LEFT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6FA"/>
                </a:solidFill>
                <a:latin typeface="Segoe Print"/>
              </a:rPr>
              <a:t>starts at beginning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EA5FF"/>
                </a:solidFill>
                <a:latin typeface="Segoe Print"/>
              </a:rPr>
              <a:t>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49039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6FA"/>
                </a:solidFill>
                <a:latin typeface="Segoe Print"/>
              </a:rPr>
              <a:t>starts at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57200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CD64"/>
                </a:solidFill>
                <a:latin typeface="Segoe Print"/>
              </a:rPr>
              <a:t>Both move toward center.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74519"/>
            <a:ext cx="5394960" cy="3749039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CD64"/>
                </a:solidFill>
                <a:latin typeface="Segoe Print"/>
              </a:rPr>
              <a:t>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803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6FA"/>
                </a:solidFill>
                <a:latin typeface="Segoe Print"/>
              </a:rPr>
              <a:t>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337560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ED6B4"/>
                </a:solidFill>
                <a:latin typeface="Segoe Print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947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6FA"/>
                </a:solidFill>
                <a:latin typeface="Segoe Print"/>
              </a:rPr>
              <a:t>move inward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4251960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ED6B4"/>
                </a:solidFill>
                <a:latin typeface="Segoe Print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634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6FA"/>
                </a:solidFill>
                <a:latin typeface="Segoe Print"/>
              </a:rPr>
              <a:t>repeat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✏️ Example — “MADAM”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AC9"/>
                </a:solidFill>
                <a:latin typeface="Segoe Print"/>
              </a:rPr>
              <a:t>Watch the pointers move toward the center.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356616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F5F6FA"/>
                </a:solidFill>
                <a:latin typeface="Segoe Print"/>
              </a:rPr>
              <a:t>M   A   D   A  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6EA5FF"/>
                </a:solidFill>
                <a:latin typeface="Segoe Print"/>
              </a:rPr>
              <a:t>↑                      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ED6B4"/>
                </a:solidFill>
                <a:latin typeface="Segoe Print"/>
              </a:rPr>
              <a:t>M = M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47472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ED6B4"/>
                </a:solidFill>
                <a:latin typeface="Segoe Print"/>
              </a:rPr>
              <a:t>A = A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47472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ED6B4"/>
                </a:solidFill>
                <a:latin typeface="Segoe Print"/>
              </a:rPr>
              <a:t>D = D 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89120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5CD64"/>
                </a:solidFill>
                <a:latin typeface="Segoe Print"/>
              </a:rPr>
              <a:t>All mirrored pairs match → PALINDROME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⚙️ Approach 1 — Reverse &amp;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5F6FA"/>
                </a:solidFill>
                <a:latin typeface="Segoe Print"/>
              </a:defRPr>
            </a:pPr>
            <a:r>
              <a:t>• Keep the original string.</a:t>
            </a:r>
          </a:p>
          <a:p>
            <a:pPr>
              <a:spcAft>
                <a:spcPts val="1000"/>
              </a:spcAft>
              <a:defRPr sz="1900">
                <a:solidFill>
                  <a:srgbClr val="F5F6FA"/>
                </a:solidFill>
                <a:latin typeface="Segoe Print"/>
              </a:defRPr>
            </a:pPr>
            <a:r>
              <a:t>• Create a reversed copy.</a:t>
            </a:r>
          </a:p>
          <a:p>
            <a:pPr>
              <a:spcAft>
                <a:spcPts val="1000"/>
              </a:spcAft>
              <a:defRPr sz="1900">
                <a:solidFill>
                  <a:srgbClr val="F5F6FA"/>
                </a:solidFill>
                <a:latin typeface="Segoe Print"/>
              </a:defRPr>
            </a:pPr>
            <a:r>
              <a:t>• Compare original and reversed strings.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920240"/>
            <a:ext cx="4800600" cy="324612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246888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5F6FA"/>
                </a:solidFill>
                <a:latin typeface="Segoe Print"/>
              </a:rPr>
              <a:t>MADAM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30632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EA5FF"/>
                </a:solidFill>
                <a:latin typeface="Segoe Print"/>
              </a:rPr>
              <a:t>↓ reverse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365760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5F6FA"/>
                </a:solidFill>
                <a:latin typeface="Segoe Print"/>
              </a:rPr>
              <a:t>MADAM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438912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ED6B4"/>
                </a:solidFill>
                <a:latin typeface="Segoe Print"/>
              </a:rPr>
              <a:t>equal →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4BAC9"/>
                </a:solidFill>
                <a:latin typeface="Segoe Print"/>
              </a:rPr>
              <a:t>Simple to write, but needs a copy.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💻 C++ — Reverse &amp; Compare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6537960" cy="3611880"/>
          </a:xfrm>
          <a:prstGeom prst="roundRect">
            <a:avLst/>
          </a:prstGeom>
          <a:solidFill>
            <a:srgbClr val="1B1E28"/>
          </a:solidFill>
          <a:ln>
            <a:solidFill>
              <a:srgbClr val="23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020824"/>
            <a:ext cx="6135624" cy="3319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6FA"/>
                </a:solidFill>
                <a:latin typeface="Cascadia Code"/>
              </a:rPr>
              <a:t>bool isPalindrome(string s) {
    string rev = s;
    reverse(rev.begin(), rev.end());
    return s == rev;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874519"/>
            <a:ext cx="3840480" cy="361188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1945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ED6B4"/>
                </a:solidFill>
                <a:latin typeface="Segoe Print"/>
              </a:rPr>
              <a:t>KEY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74320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6FA"/>
                </a:solidFill>
                <a:latin typeface="Segoe Print"/>
              </a:rPr>
              <a:t>rev =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1546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4BAC9"/>
                </a:solidFill>
                <a:latin typeface="Segoe Print"/>
              </a:rPr>
              <a:t>make a 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70332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6FA"/>
                </a:solidFill>
                <a:latin typeface="Segoe Print"/>
              </a:rPr>
              <a:t>reverse(...)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1148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4BAC9"/>
                </a:solidFill>
                <a:latin typeface="Segoe Print"/>
              </a:rPr>
              <a:t>reverse the 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6634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CD64"/>
                </a:solidFill>
                <a:latin typeface="Segoe Print"/>
              </a:rPr>
              <a:t>s == rev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⏱️ Complexity — Reverse &amp; Compare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5166360" cy="315468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3317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5F6FA"/>
                </a:solidFill>
                <a:latin typeface="Segoe Print"/>
              </a:rPr>
              <a:t>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4BAC9"/>
                </a:solidFill>
                <a:latin typeface="Segoe Print"/>
              </a:rPr>
              <a:t>reverse + compare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65960"/>
            <a:ext cx="5166360" cy="315468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EA5FF"/>
                </a:solidFill>
                <a:latin typeface="Segoe Print"/>
              </a:rPr>
              <a:t>EXTRA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5F6FA"/>
                </a:solidFill>
                <a:latin typeface="Segoe Print"/>
              </a:rP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11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4BAC9"/>
                </a:solidFill>
                <a:latin typeface="Segoe Print"/>
              </a:rPr>
              <a:t>reversed 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440680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CD64"/>
                </a:solidFill>
                <a:latin typeface="Segoe Print"/>
              </a:rPr>
              <a:t>Good beginner approach. Can we remove the extra copy?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⚙️ Approach 2 — Two Pointer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AC9"/>
                </a:solidFill>
                <a:latin typeface="Segoe Print"/>
              </a:rPr>
              <a:t>Compare without creating another string.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384048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5F6FA"/>
                </a:solidFill>
                <a:latin typeface="Segoe Print"/>
              </a:rPr>
              <a:t>M   A   D   A  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6EA5FF"/>
                </a:solidFill>
                <a:latin typeface="Segoe Print"/>
              </a:rPr>
              <a:t>↑                      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38328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4BAC9"/>
                </a:solidFill>
                <a:latin typeface="Segoe Print"/>
              </a:rPr>
              <a:t>left                      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77639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5ED6B4"/>
                </a:solidFill>
                <a:latin typeface="Segoe Print"/>
              </a:rPr>
              <a:t>if equal → left++ and right--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526280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57373"/>
                </a:solidFill>
                <a:latin typeface="Segoe Print"/>
              </a:rPr>
              <a:t>if different → return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074920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CD64"/>
                </a:solidFill>
                <a:latin typeface="Segoe Print"/>
              </a:rPr>
              <a:t>stop when left &gt;=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💻 C++ — Two Pointer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7315200" cy="4434840"/>
          </a:xfrm>
          <a:prstGeom prst="roundRect">
            <a:avLst/>
          </a:prstGeom>
          <a:solidFill>
            <a:srgbClr val="1B1E28"/>
          </a:solidFill>
          <a:ln>
            <a:solidFill>
              <a:srgbClr val="23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29384"/>
            <a:ext cx="6912864" cy="4142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6FA"/>
                </a:solidFill>
                <a:latin typeface="Cascadia Code"/>
              </a:rPr>
              <a:t>bool isPalindrome(string s) {
    int left = 0;
    int right = s.length() - 1;
    while (left &lt; right) {
        if (s[left] != s[right])
            return false;
        left++;
        right--;
    }
    return true;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154680" cy="434340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1488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ED6B4"/>
                </a:solidFill>
                <a:latin typeface="Segoe Print"/>
              </a:rPr>
              <a:t>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74320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6FA"/>
                </a:solidFill>
                <a:latin typeface="Segoe Print"/>
              </a:rPr>
              <a:t>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31821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ED6B4"/>
                </a:solidFill>
                <a:latin typeface="Segoe Print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118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6FA"/>
                </a:solidFill>
                <a:latin typeface="Segoe Print"/>
              </a:rPr>
              <a:t>move inward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40690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ED6B4"/>
                </a:solidFill>
                <a:latin typeface="Segoe Print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8056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6FA"/>
                </a:solidFill>
                <a:latin typeface="Segoe Print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⏱️ Complexity — Two Pointer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AC9"/>
                </a:solidFill>
                <a:latin typeface="Segoe Print"/>
              </a:rPr>
              <a:t>Same time. Better extra-space usage.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20440" cy="342900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4BAC9"/>
                </a:solidFill>
                <a:latin typeface="Segoe Print"/>
              </a:rPr>
              <a:t>REVERSE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F5F6FA"/>
                </a:solidFill>
                <a:latin typeface="Segoe Print"/>
              </a:rPr>
              <a:t>O(n)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7373"/>
                </a:solidFill>
                <a:latin typeface="Segoe Print"/>
              </a:rPr>
              <a:t>O(n) 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342900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24028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ED6B4"/>
                </a:solidFill>
                <a:latin typeface="Segoe Print"/>
              </a:rPr>
              <a:t>TWO POINTER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4320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F5F6FA"/>
                </a:solidFill>
                <a:latin typeface="Segoe Print"/>
              </a:rPr>
              <a:t>O(n)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47472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ED6B4"/>
                </a:solidFill>
                <a:latin typeface="Segoe Print"/>
              </a:rPr>
              <a:t>O(1) 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520440" cy="342900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4028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CD64"/>
                </a:solidFill>
                <a:latin typeface="Segoe Print"/>
              </a:rPr>
              <a:t>VERDICT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5F6FA"/>
                </a:solidFill>
                <a:latin typeface="Segoe Print"/>
              </a:rPr>
              <a:t>Two Pointer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61188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4BAC9"/>
                </a:solidFill>
                <a:latin typeface="Segoe Print"/>
              </a:rPr>
              <a:t>more space-efficient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🔍 Dry Run — “RACECAR”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0972800" cy="406908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2057400" cy="2377440"/>
          </a:xfrm>
          <a:prstGeom prst="roundRect">
            <a:avLst/>
          </a:prstGeom>
          <a:solidFill>
            <a:srgbClr val="232734"/>
          </a:solidFill>
          <a:ln>
            <a:solidFill>
              <a:srgbClr val="23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7860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6FA"/>
                </a:solidFill>
                <a:latin typeface="Segoe Print"/>
              </a:rPr>
              <a:t>R ==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ED6B4"/>
                </a:solidFill>
                <a:latin typeface="Segoe Print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32461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B4BAC9"/>
                </a:solidFill>
                <a:latin typeface="Segoe Prin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423160"/>
            <a:ext cx="2057400" cy="2377440"/>
          </a:xfrm>
          <a:prstGeom prst="roundRect">
            <a:avLst/>
          </a:prstGeom>
          <a:solidFill>
            <a:srgbClr val="232734"/>
          </a:solidFill>
          <a:ln>
            <a:solidFill>
              <a:srgbClr val="23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57860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06324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6FA"/>
                </a:solidFill>
                <a:latin typeface="Segoe Print"/>
              </a:rPr>
              <a:t>A ==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70332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ED6B4"/>
                </a:solidFill>
                <a:latin typeface="Segoe Prin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2461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B4BAC9"/>
                </a:solidFill>
                <a:latin typeface="Segoe Prin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423160"/>
            <a:ext cx="2057400" cy="2377440"/>
          </a:xfrm>
          <a:prstGeom prst="roundRect">
            <a:avLst/>
          </a:prstGeom>
          <a:solidFill>
            <a:srgbClr val="232734"/>
          </a:solidFill>
          <a:ln>
            <a:solidFill>
              <a:srgbClr val="23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57860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6324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6FA"/>
                </a:solidFill>
                <a:latin typeface="Segoe Print"/>
              </a:rPr>
              <a:t>C ==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70332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ED6B4"/>
                </a:solidFill>
                <a:latin typeface="Segoe Prin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2461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B4BAC9"/>
                </a:solidFill>
                <a:latin typeface="Segoe Print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2423160"/>
            <a:ext cx="2057400" cy="2377440"/>
          </a:xfrm>
          <a:prstGeom prst="roundRect">
            <a:avLst/>
          </a:prstGeom>
          <a:solidFill>
            <a:srgbClr val="232734"/>
          </a:solidFill>
          <a:ln>
            <a:solidFill>
              <a:srgbClr val="23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57860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06324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6FA"/>
                </a:solidFill>
                <a:latin typeface="Segoe Print"/>
              </a:rPr>
              <a:t>E == 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70332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CD64"/>
                </a:solidFill>
                <a:latin typeface="Segoe Print"/>
              </a:rPr>
              <a:t>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166360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5CD64"/>
                </a:solidFill>
                <a:latin typeface="Segoe Print"/>
              </a:rPr>
              <a:t>All mirrored comparisons pass → PALINDROME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🧩 Common Palindrome Problems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0698480" cy="96012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75688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CD64"/>
                </a:solidFill>
                <a:latin typeface="Segoe Print"/>
              </a:rPr>
              <a:t>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039112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6FA"/>
                </a:solidFill>
                <a:latin typeface="Segoe Print"/>
              </a:rPr>
              <a:t>Palindrome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203911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5ED6B4"/>
                </a:solidFill>
                <a:latin typeface="Segoe Print"/>
              </a:rPr>
              <a:t>Reverse / math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698480" cy="96012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10128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CD64"/>
                </a:solidFill>
                <a:latin typeface="Segoe Print"/>
              </a:rPr>
              <a:t>#125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273552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6FA"/>
                </a:solidFill>
                <a:latin typeface="Segoe Print"/>
              </a:rPr>
              <a:t>Valid Palindrome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27355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5ED6B4"/>
                </a:solidFill>
                <a:latin typeface="Segoe Print"/>
              </a:rPr>
              <a:t>Two Pointers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10698480" cy="96012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44568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CD64"/>
                </a:solidFill>
                <a:latin typeface="Segoe Print"/>
              </a:rPr>
              <a:t>#680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507992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6FA"/>
                </a:solidFill>
                <a:latin typeface="Segoe Print"/>
              </a:rPr>
              <a:t>Valid Palindrome 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50799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5ED6B4"/>
                </a:solidFill>
                <a:latin typeface="Segoe Print"/>
              </a:rPr>
              <a:t>Two Pointers +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7150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4BAC9"/>
                </a:solidFill>
                <a:latin typeface="Segoe Print"/>
              </a:rPr>
              <a:t>Practice in this order: basic → valid characters → one deletion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🧠 Problem-Solving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AC9"/>
                </a:solidFill>
                <a:latin typeface="Segoe Print"/>
              </a:rPr>
              <a:t>Recognize the wording before choosing the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257800" cy="388620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LOOK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45262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6FA"/>
                </a:solidFill>
                <a:latin typeface="Segoe Print"/>
              </a:defRPr>
            </a:pPr>
            <a:r>
              <a:t>• same forward and backward</a:t>
            </a:r>
          </a:p>
          <a:p>
            <a:pPr>
              <a:spcAft>
                <a:spcPts val="1000"/>
              </a:spcAft>
              <a:defRPr sz="1700">
                <a:solidFill>
                  <a:srgbClr val="F5F6FA"/>
                </a:solidFill>
                <a:latin typeface="Segoe Print"/>
              </a:defRPr>
            </a:pPr>
            <a:r>
              <a:t>• compare first and last</a:t>
            </a:r>
          </a:p>
          <a:p>
            <a:pPr>
              <a:spcAft>
                <a:spcPts val="1000"/>
              </a:spcAft>
              <a:defRPr sz="1700">
                <a:solidFill>
                  <a:srgbClr val="F5F6FA"/>
                </a:solidFill>
                <a:latin typeface="Segoe Print"/>
              </a:defRPr>
            </a:pPr>
            <a:r>
              <a:t>• mirror characters / elements</a:t>
            </a:r>
          </a:p>
          <a:p>
            <a:pPr>
              <a:spcAft>
                <a:spcPts val="1000"/>
              </a:spcAft>
              <a:defRPr sz="1700">
                <a:solidFill>
                  <a:srgbClr val="F5F6FA"/>
                </a:solidFill>
                <a:latin typeface="Segoe Print"/>
              </a:defRPr>
            </a:pPr>
            <a:r>
              <a:t>• move toward the center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257800" cy="388620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CD64"/>
                </a:solidFill>
                <a:latin typeface="Segoe Print"/>
              </a:rPr>
              <a:t>THINK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8892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5F6FA"/>
                </a:solidFill>
                <a:latin typeface="Segoe Print"/>
              </a:rPr>
              <a:t>Can I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38328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ED6B4"/>
                </a:solidFill>
                <a:latin typeface="Segoe Print"/>
              </a:rPr>
              <a:t>TWO POINTERS?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25196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4BAC9"/>
                </a:solidFill>
                <a:latin typeface="Segoe Print"/>
              </a:rPr>
              <a:t>left = 0   •   right = n - 1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⚠️ Common Mistakes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150876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7373"/>
                </a:solidFill>
                <a:latin typeface="Segoe Prin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6FA"/>
                </a:solidFill>
                <a:latin typeface="Segoe Print"/>
              </a:rPr>
              <a:t>Wrong pointer movement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42032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AC9"/>
                </a:solidFill>
                <a:latin typeface="Segoe Print"/>
              </a:rPr>
              <a:t>left++ and right--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20640" cy="150876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7373"/>
                </a:solidFill>
                <a:latin typeface="Segoe Prin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1168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6FA"/>
                </a:solidFill>
                <a:latin typeface="Segoe Print"/>
              </a:rPr>
              <a:t>Wrong loop condition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542032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AC9"/>
                </a:solidFill>
                <a:latin typeface="Segoe Print"/>
              </a:rPr>
              <a:t>usually left &lt; 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5120640" cy="150876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7373"/>
                </a:solidFill>
                <a:latin typeface="Segoe Prin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8620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6FA"/>
                </a:solidFill>
                <a:latin typeface="Segoe Print"/>
              </a:rPr>
              <a:t>Ignoring case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416552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AC9"/>
                </a:solidFill>
                <a:latin typeface="Segoe Print"/>
              </a:rPr>
              <a:t>read the problem carefully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03320"/>
            <a:ext cx="5120640" cy="150876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7373"/>
                </a:solidFill>
                <a:latin typeface="Segoe Prin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88620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6FA"/>
                </a:solidFill>
                <a:latin typeface="Segoe Print"/>
              </a:rPr>
              <a:t>Ignoring spaces / symbols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416552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AC9"/>
                </a:solidFill>
                <a:latin typeface="Segoe Print"/>
              </a:rPr>
              <a:t>only when the problem says 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💡 Interview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AC9"/>
                </a:solidFill>
                <a:latin typeface="Segoe Print"/>
              </a:rPr>
              <a:t>Explain the pattern before writing the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361188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5F6FA"/>
                </a:solidFill>
                <a:latin typeface="Segoe Print"/>
              </a:rPr>
              <a:t>“I’ll place one pointer at each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5F6FA"/>
                </a:solidFill>
                <a:latin typeface="Segoe Print"/>
              </a:rPr>
              <a:t>I’ll compare the characters and move both pointers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5F6FA"/>
                </a:solidFill>
                <a:latin typeface="Segoe Print"/>
              </a:rPr>
              <a:t>toward the center. A mismatch means it isn’t a palindrome.”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43484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ED6B4"/>
                </a:solidFill>
                <a:latin typeface="Segoe Print"/>
              </a:rPr>
              <a:t>Time: O(n)     •     Extra Space: O(1)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07492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4BAC9"/>
                </a:solidFill>
                <a:latin typeface="Segoe Print"/>
              </a:rPr>
              <a:t>Clear reasoning + complexity = a stronger interview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🏆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D6B4"/>
                </a:solidFill>
                <a:latin typeface="Segoe Prin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6FA"/>
                </a:solidFill>
                <a:latin typeface="Segoe Print"/>
              </a:rPr>
              <a:t>Palindrome = same forward and backward.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7860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D6B4"/>
                </a:solidFill>
                <a:latin typeface="Segoe Prin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551176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6FA"/>
                </a:solidFill>
                <a:latin typeface="Segoe Print"/>
              </a:rPr>
              <a:t>Compare mirrored elements from both ends.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28415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D6B4"/>
                </a:solidFill>
                <a:latin typeface="Segoe Prin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300984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6FA"/>
                </a:solidFill>
                <a:latin typeface="Segoe Print"/>
              </a:rPr>
              <a:t>Two Pointers move inward toward the center.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7822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D6B4"/>
                </a:solidFill>
                <a:latin typeface="Segoe Print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050791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6FA"/>
                </a:solidFill>
                <a:latin typeface="Segoe Print"/>
              </a:rPr>
              <a:t>Two Pointer solution uses O(1) extra 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28031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D6B4"/>
                </a:solidFill>
                <a:latin typeface="Segoe Print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800599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6FA"/>
                </a:solidFill>
                <a:latin typeface="Segoe Print"/>
              </a:rPr>
              <a:t>Recognize the pattern from the problem wording.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6FA"/>
                </a:solidFill>
                <a:latin typeface="Segoe Print"/>
              </a:rPr>
              <a:t>📚 Practice — Beginner → Intermediate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86868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D6B4"/>
                </a:solidFill>
                <a:latin typeface="Segoe Print"/>
              </a:rPr>
              <a:t>BEGINNER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95681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6FA"/>
                </a:solidFill>
                <a:latin typeface="Segoe Print"/>
              </a:rPr>
              <a:t>Palindrome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9842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B4BAC9"/>
                </a:solidFill>
                <a:latin typeface="Segoe Print"/>
              </a:rPr>
              <a:t>LeetCode #9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0698480" cy="86868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D6B4"/>
                </a:solidFill>
                <a:latin typeface="Segoe Print"/>
              </a:rPr>
              <a:t>BEGINNER+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09981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6FA"/>
                </a:solidFill>
                <a:latin typeface="Segoe Print"/>
              </a:rPr>
              <a:t>Valid Palindrome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1272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B4BAC9"/>
                </a:solidFill>
                <a:latin typeface="Segoe Print"/>
              </a:rPr>
              <a:t>LeetCode #125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698480" cy="86868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9768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CD64"/>
                </a:solidFill>
                <a:latin typeface="Segoe Print"/>
              </a:rPr>
              <a:t>INTERMEDIATE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24281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6FA"/>
                </a:solidFill>
                <a:latin typeface="Segoe Print"/>
              </a:rPr>
              <a:t>Valid Palindrome 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2702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B4BAC9"/>
                </a:solidFill>
                <a:latin typeface="Segoe Print"/>
              </a:rPr>
              <a:t>LeetCode #680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864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4BAC9"/>
                </a:solidFill>
                <a:latin typeface="Segoe Print"/>
              </a:rPr>
              <a:t>Goal: understand the pattern, then solve without looking at the solution.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ED6B4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CD64"/>
                </a:solidFill>
                <a:latin typeface="Segoe Print"/>
              </a:rPr>
              <a:t>NEXT → DAY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5F6FA"/>
                </a:solidFill>
                <a:latin typeface="Segoe Print"/>
              </a:rPr>
              <a:t>ANAGRAMS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97180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4BAC9"/>
                </a:solidFill>
                <a:latin typeface="Segoe Print"/>
              </a:rPr>
              <a:t>From mirrored comparison → character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10698480" cy="1325880"/>
          </a:xfrm>
          <a:prstGeom prst="roundRect">
            <a:avLst/>
          </a:prstGeom>
          <a:solidFill>
            <a:srgbClr val="1B1E28"/>
          </a:solidFill>
          <a:ln>
            <a:solidFill>
              <a:srgbClr val="1B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5F6FA"/>
                </a:solidFill>
                <a:latin typeface="Segoe Print"/>
              </a:rPr>
              <a:t>frequency  •  sorting  •  hashing  •  string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66360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ED6B4"/>
                </a:solidFill>
                <a:latin typeface="Segoe Print"/>
              </a:rPr>
              <a:t>LEARN  →  IMPLEMENT  →  ANALYZE  → 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AC9"/>
                </a:solidFill>
                <a:latin typeface="Segoe Print"/>
              </a:rPr>
              <a:t>DAY 24  •  PALINDROME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4BAC9"/>
                </a:solidFill>
                <a:latin typeface="Segoe Print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