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8.xml"/><Relationship Id="rId4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Relationship Id="rId3" Type="http://schemas.openxmlformats.org/officeDocument/2006/relationships/slide" Target="slide9.xml"/><Relationship Id="rId4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Relationship Id="rId3" Type="http://schemas.openxmlformats.org/officeDocument/2006/relationships/slide" Target="slide11.xml"/><Relationship Id="rId4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12.xml"/><Relationship Id="rId4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3.xml"/><Relationship Id="rId4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4.xml"/><Relationship Id="rId4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.xml"/><Relationship Id="rId3" Type="http://schemas.openxmlformats.org/officeDocument/2006/relationships/slide" Target="slide15.xml"/><Relationship Id="rId4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7.xml"/><Relationship Id="rId4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Relationship Id="rId3" Type="http://schemas.openxmlformats.org/officeDocument/2006/relationships/slide" Target="slide18.xml"/><Relationship Id="rId4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ADE80"/>
                </a:solidFill>
              </a:defRPr>
            </a:pPr>
            <a:r>
              <a:t>DSA DAILY • DAY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4200" b="1">
                <a:solidFill>
                  <a:srgbClr val="F5F7FA"/>
                </a:solidFill>
                <a:latin typeface="Aptos"/>
              </a:defRPr>
            </a:pPr>
            <a:r>
              <a:t>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Aptos"/>
              </a:defRPr>
            </a:pPr>
            <a:r>
              <a:t>Fundamentals → Operations → C++ → Patterns →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71800"/>
            <a:ext cx="3383280" cy="13716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081528"/>
            <a:ext cx="30540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47288"/>
            <a:ext cx="305409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Build a strong foundation for string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971800"/>
            <a:ext cx="3383280" cy="13716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3081528"/>
            <a:ext cx="30540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Aptos"/>
              </a:defRPr>
            </a:pPr>
            <a:r>
              <a:t>YOU'LL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3447288"/>
            <a:ext cx="305409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Indexing • traversal • comparison • modification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971800"/>
            <a:ext cx="3383280" cy="13716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3081528"/>
            <a:ext cx="30540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3447288"/>
            <a:ext cx="305409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Quiz + dry run + problem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ABB8CD"/>
                </a:solidFill>
                <a:latin typeface="Aptos"/>
              </a:defRPr>
            </a:pPr>
            <a:r>
              <a:t>Save this carousel. Try the quiz before checking the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1500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1/18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A compact roadmap for mastering string fundamentals.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01  What is a String?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6712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Characters arranged in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0136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02  Why Strings?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16712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Text processing is everywhere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9164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0136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Aptos"/>
              </a:defRPr>
            </a:pPr>
            <a:r>
              <a:t>03  Core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16712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Access • traverse • search • compare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69164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80136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Aptos"/>
              </a:defRPr>
            </a:pPr>
            <a:r>
              <a:t>04  C++ STL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16712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string + useful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675887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05  Dry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4164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See operations step-by-step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56616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3675887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06 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04164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Know the cost before 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356616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675887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Aptos"/>
              </a:defRPr>
            </a:pPr>
            <a:r>
              <a:t>07 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4164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LeetCode + interview thinking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3566160"/>
            <a:ext cx="2542032" cy="148132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3675887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Aptos"/>
              </a:defRPr>
            </a:pPr>
            <a:r>
              <a:t>08  Tomorrow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041648"/>
            <a:ext cx="2212848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Next pattern to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2/18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1. 🧠 What is a String?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Think of a string as a sequence of characters.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12080" cy="35661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48828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4882896" cy="2971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String = ordered characters</a:t>
            </a:r>
            <a:br/>
            <a:br/>
            <a:r>
              <a:t>Example:</a:t>
            </a:r>
            <a:br/>
            <a:r>
              <a:t>"HELLO"</a:t>
            </a:r>
            <a:br/>
            <a:br/>
            <a:r>
              <a:t>Index:   0  1  2  3  4</a:t>
            </a:r>
            <a:br/>
            <a:r>
              <a:t>Char:    H  E  L  L  O</a:t>
            </a:r>
            <a:br/>
            <a:br/>
            <a:r>
              <a:t>Each character has a 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737360"/>
            <a:ext cx="530352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47088"/>
            <a:ext cx="497433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Aptos"/>
              </a:defRPr>
            </a:pPr>
            <a:r>
              <a:t>IN 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212848"/>
            <a:ext cx="497433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F5F7FA"/>
                </a:solidFill>
                <a:latin typeface="Aptos"/>
              </a:defRPr>
            </a:pPr>
            <a:r>
              <a:t>std::string s = "HELLO";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3383280"/>
            <a:ext cx="2514600" cy="19202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493008"/>
            <a:ext cx="21854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858768"/>
            <a:ext cx="2185416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s[0] → H</a:t>
            </a:r>
            <a:br/>
            <a:r>
              <a:t>s[3] → L</a:t>
            </a:r>
            <a:br/>
            <a:r>
              <a:t>s[4] → 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383280"/>
            <a:ext cx="2532888" cy="19202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3493008"/>
            <a:ext cx="220370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ptos"/>
              </a:defRPr>
            </a:pPr>
            <a:r>
              <a:t>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858768"/>
            <a:ext cx="2203704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s.length() → 5</a:t>
            </a:r>
            <a:br/>
            <a:r>
              <a:t>s.size() →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3/18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2. ❓ Why do we need Strings?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Because real-world data is full of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0136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Names, usernames, passwords,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9164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80136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167128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Find words, patterns and substrings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9164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0136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Logs, URLs, JSON, files, messages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5760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INTERVIEWS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33087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Palindromes, anagrams, frequency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65760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133087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Parsing and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657600"/>
            <a:ext cx="3337560" cy="15727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AI /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33087"/>
            <a:ext cx="3008376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Text preprocessing and tokenization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4/18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3. ⚙️ Core String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Most beginner string questions reduce to a small set of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75688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s[i]</a:t>
            </a:r>
            <a:br/>
            <a:br/>
            <a:r>
              <a:t>Read one character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002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099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Traverse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75688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for(char c : s)</a:t>
            </a:r>
            <a:br/>
            <a:br/>
            <a:r>
              <a:t>Visit every character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002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099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75688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s.size()</a:t>
            </a:r>
            <a:br/>
            <a:br/>
            <a:r>
              <a:t>Number of characters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576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33087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s.find("abc")</a:t>
            </a:r>
            <a:br/>
            <a:br/>
            <a:r>
              <a:t>Locate a substring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6576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Modify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133087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s[i] = 'X'</a:t>
            </a:r>
            <a:br/>
            <a:br/>
            <a:r>
              <a:t>Change a character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657600"/>
            <a:ext cx="3337560" cy="16916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6732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33087"/>
            <a:ext cx="3008376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s == t</a:t>
            </a:r>
            <a:br/>
            <a:br/>
            <a:r>
              <a:t>Check equality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5/18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Indexing &amp;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Two fundamentals you should be able to write without thinking.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303520" cy="4160520"/>
          </a:xfrm>
          <a:prstGeom prst="roundRect">
            <a:avLst/>
          </a:prstGeom>
          <a:solidFill>
            <a:srgbClr val="080C16"/>
          </a:solidFill>
          <a:ln>
            <a:solidFill>
              <a:srgbClr val="2C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497433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string s = "CODE";</a:t>
            </a:r>
            <a:br/>
            <a:br/>
            <a:r>
              <a:t>// Indexing</a:t>
            </a:r>
            <a:br/>
            <a:r>
              <a:t>cout &lt;&lt; s[0];     // C</a:t>
            </a:r>
            <a:br/>
            <a:r>
              <a:t>cout &lt;&lt; s[2];     // D</a:t>
            </a:r>
            <a:br/>
            <a:br/>
            <a:r>
              <a:t>// Forward traversal</a:t>
            </a:r>
            <a:br/>
            <a:r>
              <a:t>for (int i = 0; i &lt; s.size(); i++) {</a:t>
            </a:r>
            <a:br/>
            <a:r>
              <a:t>    cout &lt;&lt; s[i] &lt;&lt; ' ';</a:t>
            </a:r>
            <a:br/>
            <a:r>
              <a:t>}</a:t>
            </a:r>
            <a:br/>
            <a:br/>
            <a:r>
              <a:t>// Range-based loop</a:t>
            </a:r>
            <a:br/>
            <a:r>
              <a:t>for (char c : s) {</a:t>
            </a:r>
            <a:br/>
            <a:r>
              <a:t>    cout &lt;&lt; c &lt;&lt; ' ';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15087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755648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ptos"/>
              </a:defRPr>
            </a:pPr>
            <a:r>
              <a:t>PATTERN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121408"/>
            <a:ext cx="4837176" cy="9143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Need every character?</a:t>
            </a:r>
            <a:br/>
            <a:r>
              <a:t>→ Traverse the string.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01568"/>
            <a:ext cx="5166360" cy="15087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3511296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Aptos"/>
              </a:defRPr>
            </a:pPr>
            <a:r>
              <a:t>PATTERN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3877056"/>
            <a:ext cx="4837176" cy="9143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Need one position?</a:t>
            </a:r>
            <a:br/>
            <a:r>
              <a:t>→ Use s[i].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148072"/>
            <a:ext cx="5166360" cy="65836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5257800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5623560"/>
            <a:ext cx="4837176" cy="640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Valid index: 0 ≤ i &lt; s.size()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6/18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Useful C++ String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Memorize the idea, not every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size() / length()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75688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number of characters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00200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1709928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push_back(c)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2075688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add one character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70632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pop_back()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46120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remove last character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770632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2880360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substr(pos, len)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246120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extract 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41064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50792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find(x)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416552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find substring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941064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4050792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erase(pos, len)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4416552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remove part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11496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221224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ptos"/>
              </a:defRPr>
            </a:pPr>
            <a:r>
              <a:t>insert(pos, 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586983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insert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5111496"/>
            <a:ext cx="5166360" cy="93268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5221224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ptos"/>
              </a:defRPr>
            </a:pPr>
            <a:r>
              <a:t>compare(x)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5586983"/>
            <a:ext cx="4837176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Aptos"/>
              </a:defRPr>
            </a:pPr>
            <a:r>
              <a:t>lexicographic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7/18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4. 💻 C++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A clean starter template for string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400800" cy="4434840"/>
          </a:xfrm>
          <a:prstGeom prst="roundRect">
            <a:avLst/>
          </a:prstGeom>
          <a:solidFill>
            <a:srgbClr val="080C16"/>
          </a:solidFill>
          <a:ln>
            <a:solidFill>
              <a:srgbClr val="2C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607161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#include &lt;bits/stdc++.h&gt;</a:t>
            </a:r>
            <a:br/>
            <a:r>
              <a:t>using namespace std;</a:t>
            </a:r>
            <a:br/>
            <a:br/>
            <a:r>
              <a:t>int main() {</a:t>
            </a:r>
            <a:br/>
            <a:r>
              <a:t>    string s;</a:t>
            </a:r>
            <a:br/>
            <a:r>
              <a:t>    cin &gt;&gt; s;</a:t>
            </a:r>
            <a:br/>
            <a:br/>
            <a:r>
              <a:t>    cout &lt;&lt; "Length: " &lt;&lt; s.size() &lt;&lt; '\n';</a:t>
            </a:r>
            <a:br/>
            <a:br/>
            <a:r>
              <a:t>    for (char c : s)</a:t>
            </a:r>
            <a:br/>
            <a:r>
              <a:t>        cout &lt;&lt; c &lt;&lt; ' ';</a:t>
            </a:r>
            <a:br/>
            <a:br/>
            <a:r>
              <a:t>    cout &lt;&lt; '\n';</a:t>
            </a:r>
            <a:br/>
            <a:br/>
            <a:r>
              <a:t>    if (!s.empty())</a:t>
            </a:r>
            <a:br/>
            <a:r>
              <a:t>        s[0] = toupper(s[0]);</a:t>
            </a:r>
            <a:br/>
            <a:br/>
            <a:r>
              <a:t>    cout &lt;&lt; s &lt;&lt; '\n';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72768"/>
            <a:ext cx="4114800" cy="135331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682495"/>
            <a:ext cx="378561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INPUT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2048256"/>
            <a:ext cx="3785615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cin &gt;&gt; s reads one 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182112"/>
            <a:ext cx="4114800" cy="135331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3291840"/>
            <a:ext cx="378561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SPACES?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657600"/>
            <a:ext cx="3785615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Use getline(cin, s) for full 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791456"/>
            <a:ext cx="4114800" cy="121615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901184"/>
            <a:ext cx="378561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INTERVIEW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5266944"/>
            <a:ext cx="3785615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ptos"/>
              </a:defRPr>
            </a:pPr>
            <a:r>
              <a:t>Choose input based on the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8/18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String vs Character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Know the difference at a high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257800" cy="35661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49286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ptos"/>
              </a:defRPr>
            </a:pPr>
            <a:r>
              <a:t>std::string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21408"/>
            <a:ext cx="4928616" cy="2971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• Dynamic and convenient</a:t>
            </a:r>
            <a:br/>
            <a:r>
              <a:t>• Built-in methods</a:t>
            </a:r>
            <a:br/>
            <a:r>
              <a:t>• Easy concatenation</a:t>
            </a:r>
            <a:br/>
            <a:r>
              <a:t>• Safer abstraction for most problems</a:t>
            </a:r>
            <a:br/>
            <a:br/>
            <a:r>
              <a:t>Example:</a:t>
            </a:r>
            <a:br/>
            <a:r>
              <a:t>string s = "hello";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57800" cy="35661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55648"/>
            <a:ext cx="49286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Aptos"/>
              </a:defRPr>
            </a:pPr>
            <a:r>
              <a:t>char[]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121408"/>
            <a:ext cx="4928616" cy="2971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• C-style representation</a:t>
            </a:r>
            <a:br/>
            <a:r>
              <a:t>• Ends with '\0' for C strings</a:t>
            </a:r>
            <a:br/>
            <a:r>
              <a:t>• Useful for low-level APIs</a:t>
            </a:r>
            <a:br/>
            <a:r>
              <a:t>• More manual handling</a:t>
            </a:r>
            <a:br/>
            <a:br/>
            <a:r>
              <a:t>Example:</a:t>
            </a:r>
            <a:br/>
            <a:r>
              <a:t>char s[] = "hello";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3212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Aptos"/>
              </a:defRPr>
            </a:pPr>
            <a:r>
              <a:t>For most DSA interview problems: start with std::string.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9/18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5. 🔍 Example — Character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A classic beginner pattern that appears again and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806440" cy="4343400"/>
          </a:xfrm>
          <a:prstGeom prst="roundRect">
            <a:avLst/>
          </a:prstGeom>
          <a:solidFill>
            <a:srgbClr val="080C16"/>
          </a:solidFill>
          <a:ln>
            <a:solidFill>
              <a:srgbClr val="2C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547725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  <a:latin typeface="Consolas"/>
              </a:defRPr>
            </a:pPr>
            <a:r>
              <a:t>string s = "banana";</a:t>
            </a:r>
            <a:br/>
            <a:r>
              <a:t>int freq[26] = {0};</a:t>
            </a:r>
            <a:br/>
            <a:br/>
            <a:r>
              <a:t>for (char c : s) {</a:t>
            </a:r>
            <a:br/>
            <a:r>
              <a:t>    freq[c - 'a']++;</a:t>
            </a:r>
            <a:br/>
            <a:r>
              <a:t>}</a:t>
            </a:r>
            <a:br/>
            <a:br/>
            <a:r>
              <a:t>// b → 1</a:t>
            </a:r>
            <a:br/>
            <a:r>
              <a:t>// a → 3</a:t>
            </a:r>
            <a:br/>
            <a:r>
              <a:t>// n →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572768"/>
            <a:ext cx="470916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1682495"/>
            <a:ext cx="43799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2048256"/>
            <a:ext cx="437997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Start with all frequencies =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218688"/>
            <a:ext cx="470916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3328416"/>
            <a:ext cx="43799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3694176"/>
            <a:ext cx="437997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Map each lowercase letter to 0–25 using c - 'a'.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864608"/>
            <a:ext cx="4709160" cy="10515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4974336"/>
            <a:ext cx="43799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5340096"/>
            <a:ext cx="4379976" cy="4571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 = 3   b = 1   n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10/18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Dry Run: "banana"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Follow the loop instead of guessing.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874519"/>
            <a:ext cx="658368" cy="658368"/>
          </a:xfrm>
          <a:prstGeom prst="roundRect">
            <a:avLst/>
          </a:prstGeom>
          <a:solidFill>
            <a:srgbClr val="1B25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984248"/>
            <a:ext cx="65836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8775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ABB8C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461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3558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ptos"/>
              </a:defRPr>
            </a:pPr>
            <a:r>
              <a:t>PASS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7216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b → freq[b] =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2461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3558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Aptos"/>
              </a:defRPr>
            </a:pPr>
            <a:r>
              <a:t>PASS 2–4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7216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 → 3 total occurrences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32461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33558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Aptos"/>
              </a:defRPr>
            </a:pPr>
            <a:r>
              <a:t>PASS 5–6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7216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n → 2 total occurrences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99669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Takeaway → Strings + arrays/frequency tables form many interview patterns.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11/18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Rounded Rectangle 38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6. ⏱️ Time &amp;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Complexity depends on what you do with the string.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383280" cy="3520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30540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75688"/>
            <a:ext cx="3054096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0">
                <a:solidFill>
                  <a:srgbClr val="F5F7FA"/>
                </a:solidFill>
                <a:latin typeface="Aptos"/>
              </a:defRPr>
            </a:pPr>
            <a:r>
              <a:t>s[i]</a:t>
            </a:r>
            <a:br/>
            <a:br/>
            <a:r>
              <a:t>Time: O(1)</a:t>
            </a:r>
            <a:br/>
            <a:r>
              <a:t>Space: 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00200"/>
            <a:ext cx="3383280" cy="3520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09928"/>
            <a:ext cx="30540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Aptos"/>
              </a:defRPr>
            </a:pPr>
            <a:r>
              <a:t>TRAVERSAL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75688"/>
            <a:ext cx="3054096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0">
                <a:solidFill>
                  <a:srgbClr val="F5F7FA"/>
                </a:solidFill>
                <a:latin typeface="Aptos"/>
              </a:defRPr>
            </a:pPr>
            <a:r>
              <a:t>Visit every character</a:t>
            </a:r>
            <a:br/>
            <a:br/>
            <a:r>
              <a:t>Time: O(n)</a:t>
            </a:r>
            <a:br/>
            <a:r>
              <a:t>Space: O(1)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600200"/>
            <a:ext cx="3273552" cy="3520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09928"/>
            <a:ext cx="29443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Aptos"/>
              </a:defRPr>
            </a:pPr>
            <a:r>
              <a:t>SUBSTRING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75688"/>
            <a:ext cx="2944368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Creating a substring of length k</a:t>
            </a:r>
            <a:br/>
            <a:br/>
            <a:r>
              <a:t>Typically O(k)</a:t>
            </a:r>
            <a:br/>
            <a:br/>
            <a:r>
              <a:t>Check the operation 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32120"/>
            <a:ext cx="107442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Aptos"/>
              </a:defRPr>
            </a:pPr>
            <a:r>
              <a:t>Interview habit: always ask — “How many characters do I need to touch?”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12/18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String Patterns to Recognize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The real goal is pattern recognition.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count / anagram / duplicate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2763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3736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10312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palindrome / reverse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2763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Aptos"/>
              </a:defRPr>
            </a:pPr>
            <a:r>
              <a:t>Sliding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longest / smallest substring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3931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4904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Aptos"/>
              </a:defRPr>
            </a:pPr>
            <a:r>
              <a:t>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1480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character or substring lookup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63931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74904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11480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parentheses / decoding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639312"/>
            <a:ext cx="3337560" cy="162763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49040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ptos"/>
              </a:defRPr>
            </a:pPr>
            <a:r>
              <a:t>Sorting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008376" cy="103327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Aptos"/>
              </a:defRPr>
            </a:pPr>
            <a:r>
              <a:t>anagram grouping / normalization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13/18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Mini Challenge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Don't code yet. Choose the best first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300" b="1">
                <a:solidFill>
                  <a:srgbClr val="F5F7FA"/>
                </a:solidFill>
                <a:latin typeface="Aptos"/>
              </a:defRPr>
            </a:pPr>
            <a:r>
              <a:t>Given a string, determine whether it is a palindrome.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700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358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Sort the string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6700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0358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Two pointers from both 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60320"/>
            <a:ext cx="320040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670048"/>
            <a:ext cx="28712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035808"/>
            <a:ext cx="2871216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Use a queue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424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FACC15"/>
                </a:solidFill>
                <a:latin typeface="Aptos"/>
              </a:defRPr>
            </a:pPr>
            <a:r>
              <a:t>PAUSE → Pick A, B, or C before moving to the next slide.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14/18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Mini Challenge —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Correct choice: B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166360" cy="3611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82495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ptos"/>
              </a:defRPr>
            </a:pPr>
            <a:r>
              <a:t>WHY TWO POINTERS?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48256"/>
            <a:ext cx="4837176" cy="3017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Compare:</a:t>
            </a:r>
            <a:br/>
            <a:r>
              <a:t>left ↔ right</a:t>
            </a:r>
            <a:br/>
            <a:br/>
            <a:r>
              <a:t>If they differ → not a palindrome.</a:t>
            </a:r>
            <a:br/>
            <a:r>
              <a:t>Move inward until the pointers meet.</a:t>
            </a:r>
            <a:br/>
            <a:br/>
            <a:r>
              <a:t>This avoids building another 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572768"/>
            <a:ext cx="5303520" cy="3611880"/>
          </a:xfrm>
          <a:prstGeom prst="roundRect">
            <a:avLst/>
          </a:prstGeom>
          <a:solidFill>
            <a:srgbClr val="080C16"/>
          </a:solidFill>
          <a:ln>
            <a:solidFill>
              <a:srgbClr val="2C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709928"/>
            <a:ext cx="497433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bool isPalindrome(string s) {</a:t>
            </a:r>
            <a:br/>
            <a:r>
              <a:t>    int l = 0, r = s.size() - 1;</a:t>
            </a:r>
            <a:br/>
            <a:br/>
            <a:r>
              <a:t>    while (l &lt; r) {</a:t>
            </a:r>
            <a:br/>
            <a:r>
              <a:t>        if (s[l] != s[r]) return false;</a:t>
            </a:r>
            <a:br/>
            <a:r>
              <a:t>        l++;</a:t>
            </a:r>
            <a:br/>
            <a:r>
              <a:t>        r--;</a:t>
            </a:r>
            <a:br/>
            <a:r>
              <a:t>    }</a:t>
            </a:r>
            <a:br/>
            <a:r>
              <a:t>    return true;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40680"/>
            <a:ext cx="107442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FACC15"/>
                </a:solidFill>
                <a:latin typeface="Aptos"/>
              </a:defRPr>
            </a:pPr>
            <a:r>
              <a:t>Time: O(n)  •  Extra Space: O(1)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15/18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7. 🧩 LeetCode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Start easy, then connect the pattern to harder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337560" cy="29718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Aptos"/>
              </a:defRPr>
            </a:pPr>
            <a:r>
              <a:t>#344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008376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Reverse String</a:t>
            </a:r>
            <a:br/>
            <a:br/>
            <a:r>
              <a:t>Pattern: Two pointers</a:t>
            </a:r>
            <a:br/>
            <a:br/>
            <a:r>
              <a:t>Goal: solve without looking at the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337560" cy="29718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84708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Aptos"/>
              </a:defRPr>
            </a:pPr>
            <a:r>
              <a:t>#125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12848"/>
            <a:ext cx="3008376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Valid Palindrome</a:t>
            </a:r>
            <a:br/>
            <a:br/>
            <a:r>
              <a:t>Pattern: Two pointers + filtering</a:t>
            </a:r>
            <a:br/>
            <a:br/>
            <a:r>
              <a:t>Goal: solve without looking at the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37360"/>
            <a:ext cx="3337560" cy="29718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47088"/>
            <a:ext cx="300837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Aptos"/>
              </a:defRPr>
            </a:pPr>
            <a:r>
              <a:t>#242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008376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Valid Anagram</a:t>
            </a:r>
            <a:br/>
            <a:br/>
            <a:r>
              <a:t>Pattern: Frequency counting</a:t>
            </a:r>
            <a:br/>
            <a:br/>
            <a:r>
              <a:t>Goal: solve without looking at the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66360"/>
            <a:ext cx="10744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Aptos"/>
              </a:defRPr>
            </a:pPr>
            <a:r>
              <a:t>Bonus: after solving, write the time + space complexity in one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16/18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8. 💡 One Interview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Don't jump straight into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2542032" cy="2926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ptos"/>
              </a:defRPr>
            </a:pPr>
            <a:r>
              <a:t>1  Clarify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2212848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Case-sensitive? Spaces? Symbols?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42032" cy="2926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3852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Aptos"/>
              </a:defRPr>
            </a:pPr>
            <a:r>
              <a:t>2 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04288"/>
            <a:ext cx="2212848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Frequency, two pointers, window, hashing?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828800"/>
            <a:ext cx="2542032" cy="2926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93852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Aptos"/>
              </a:defRPr>
            </a:pPr>
            <a:r>
              <a:t>3 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04288"/>
            <a:ext cx="2212848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What is the target O(n) / O(1) space?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828800"/>
            <a:ext cx="2542032" cy="2926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938528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Aptos"/>
              </a:defRPr>
            </a:pPr>
            <a:r>
              <a:t>4  Edge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304288"/>
            <a:ext cx="2212848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Empty, one char, duplicates,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57800"/>
            <a:ext cx="10744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Strong candidates explain the approach before writing the first 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17/18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2" name="Rounded Rectangle 21">
            <a:hlinkClick action="ppaction://hlinksldjump" r:id="rId3"/>
          </p:cNvPr>
          <p:cNvSpPr/>
          <p:nvPr/>
        </p:nvSpPr>
        <p:spPr>
          <a:xfrm>
            <a:off x="10405872" y="6336792"/>
            <a:ext cx="658368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05872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9. 📚 What I'll Learn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B8CD"/>
                </a:solidFill>
              </a:defRPr>
            </a:pPr>
            <a:r>
              <a:t>Day 22 → String Patterns &amp; Techniques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212080" cy="33832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488289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Aptos"/>
              </a:defRPr>
            </a:pPr>
            <a:r>
              <a:t>NEXT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21408"/>
            <a:ext cx="4882896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We move from fundamentals to patterns:</a:t>
            </a:r>
            <a:br/>
            <a:br/>
            <a:r>
              <a:t>• Frequency maps</a:t>
            </a:r>
            <a:br/>
            <a:r>
              <a:t>• Two pointers</a:t>
            </a:r>
            <a:br/>
            <a:r>
              <a:t>• Palindrome patterns</a:t>
            </a:r>
            <a:br/>
            <a:r>
              <a:t>• Sliding window basics</a:t>
            </a:r>
            <a:br/>
            <a:r>
              <a:t>• Common interview tricks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33832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755648"/>
            <a:ext cx="4928616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Aptos"/>
              </a:defRPr>
            </a:pPr>
            <a:r>
              <a:t>TODAY'S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121408"/>
            <a:ext cx="4928616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☐ I can index a string</a:t>
            </a:r>
            <a:br/>
            <a:r>
              <a:t>☐ I can traverse it</a:t>
            </a:r>
            <a:br/>
            <a:r>
              <a:t>☐ I know common methods</a:t>
            </a:r>
            <a:br/>
            <a:r>
              <a:t>☐ I can estimate complexity</a:t>
            </a:r>
            <a:br/>
            <a:r>
              <a:t>☐ I solved at least 1 problem</a:t>
            </a:r>
            <a:br/>
            <a:r>
              <a:t>☐ I can identify two pointers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440680"/>
            <a:ext cx="107442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Aptos"/>
              </a:defRPr>
            </a:pPr>
            <a:r>
              <a:t>Keep learning. Keep solving. Keep building. 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ABB8CD"/>
                </a:solidFill>
                <a:latin typeface="Aptos"/>
              </a:defRPr>
            </a:pPr>
            <a:r>
              <a:t>DSA DAILY • DAY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ABB8CD"/>
                </a:solidFill>
                <a:latin typeface="Aptos"/>
              </a:defRPr>
            </a:pPr>
            <a:r>
              <a:t>18/18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9646920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8887968" y="6336792"/>
            <a:ext cx="658368" cy="292608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6364224"/>
            <a:ext cx="658368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1">
                <a:solidFill>
                  <a:srgbClr val="0A0F1C"/>
                </a:solidFill>
                <a:latin typeface="Aptos"/>
              </a:defRPr>
            </a:pPr>
            <a:r>
              <a:t>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