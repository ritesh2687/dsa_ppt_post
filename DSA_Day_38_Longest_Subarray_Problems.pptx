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0515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05C75"/>
                </a:solidFill>
                <a:latin typeface="Aptos"/>
              </a:rPr>
              <a:t>DAY 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72768"/>
            <a:ext cx="78638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1" i="0">
                <a:solidFill>
                  <a:srgbClr val="23262A"/>
                </a:solidFill>
                <a:latin typeface="Aptos"/>
              </a:rPr>
              <a:t>LONGEST SUBARRAY
PROBLEMS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5A5F65"/>
                </a:solidFill>
                <a:latin typeface="Aptos"/>
              </a:rPr>
              <a:t>From brute force → Prefix Sum + HashMap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0" y="1325880"/>
            <a:ext cx="2286000" cy="228600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27632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305C75"/>
                </a:solidFill>
                <a:latin typeface="Aptos"/>
              </a:rPr>
              <a:t>Σ
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0" y="27889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3262A"/>
                </a:solidFill>
                <a:latin typeface="Aptos"/>
              </a:rPr>
              <a:t>hashing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What is a Subarray?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F65"/>
                </a:solidFill>
                <a:latin typeface="Aptos"/>
              </a:rPr>
              <a:t>A contiguous portion of an array.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011680"/>
            <a:ext cx="106984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97280" y="2304288"/>
            <a:ext cx="960120" cy="50292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2304288"/>
            <a:ext cx="960120" cy="50292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14600" y="2377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31920" y="2304288"/>
            <a:ext cx="960120" cy="50292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31920" y="2377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−1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49240" y="2304288"/>
            <a:ext cx="960120" cy="50292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2377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0" y="2304288"/>
            <a:ext cx="960120" cy="50292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960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94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3262A"/>
                </a:solidFill>
                <a:latin typeface="Aptos"/>
              </a:rPr>
              <a:t>Example subarrays: [4, −1, 3]  ✓   |   [2, −1]  ✗ (not contiguous)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617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305C75"/>
                </a:solidFill>
                <a:latin typeface="Aptos"/>
              </a:rPr>
              <a:t>Key rule: no gaps.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Longest Subarray = maximize length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F65"/>
                </a:solidFill>
                <a:latin typeface="Aptos"/>
              </a:rPr>
              <a:t>Usually the problem adds a condition: sum = K, equal 0s/1s, etc.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031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62A"/>
                </a:solidFill>
                <a:latin typeface="Aptos"/>
              </a:defRPr>
            </a:pPr>
            <a:r>
              <a:t>• Input: an array</a:t>
            </a:r>
          </a:p>
          <a:p>
            <a:pPr>
              <a:spcAft>
                <a:spcPts val="1000"/>
              </a:spcAft>
              <a:defRPr sz="2000">
                <a:solidFill>
                  <a:srgbClr val="23262A"/>
                </a:solidFill>
                <a:latin typeface="Aptos"/>
              </a:defRPr>
            </a:pPr>
            <a:r>
              <a:t>• Constraint: a property the subarray must satisfy</a:t>
            </a:r>
          </a:p>
          <a:p>
            <a:pPr>
              <a:spcAft>
                <a:spcPts val="1000"/>
              </a:spcAft>
              <a:defRPr sz="2000">
                <a:solidFill>
                  <a:srgbClr val="23262A"/>
                </a:solidFill>
                <a:latin typeface="Aptos"/>
              </a:defRPr>
            </a:pPr>
            <a:r>
              <a:t>• Goal: return the maximum length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965960"/>
            <a:ext cx="43891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12280" y="25146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262A"/>
                </a:solidFill>
                <a:latin typeface="Aptos"/>
              </a:rPr>
              <a:t>[ 1   2   −2   3   −1 ]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33375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87153"/>
                </a:solidFill>
                <a:latin typeface="Aptos"/>
              </a:rPr>
              <a:t>sum = 3 → valid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3977639"/>
            <a:ext cx="4023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A5F65"/>
                </a:solidFill>
                <a:latin typeface="Aptos"/>
              </a:rPr>
              <a:t>Find the longest valid window.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A classic pattern: Longest subarray with sum = 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05C75"/>
                </a:solidFill>
                <a:latin typeface="Aptos"/>
              </a:rPr>
              <a:t>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914400" cy="59436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11680" y="2514600"/>
            <a:ext cx="914400" cy="59436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624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46120" y="2514600"/>
            <a:ext cx="914400" cy="59436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2624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514600"/>
            <a:ext cx="914400" cy="59436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0560" y="2624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15000" y="2514600"/>
            <a:ext cx="914400" cy="59436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624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2514600"/>
            <a:ext cx="914400" cy="59436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49440" y="2624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-2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2514600"/>
            <a:ext cx="914400" cy="59436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80" y="26243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290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05C75"/>
                </a:solidFill>
                <a:latin typeface="Aptos"/>
              </a:rPr>
              <a:t>K =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06908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F65"/>
                </a:solidFill>
                <a:latin typeface="Aptos"/>
              </a:rPr>
              <a:t>Candidate: [2, −1, 1, 2, −2, 3]  → sum = 5 (not valid)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80060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3262A"/>
                </a:solidFill>
                <a:latin typeface="Aptos"/>
              </a:rPr>
              <a:t>We need a method that remembers earlier prefix sums.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Approach 1 — Brute Force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F65"/>
                </a:solidFill>
                <a:latin typeface="Aptos"/>
              </a:rPr>
              <a:t>Try every start and end.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1920240"/>
            <a:ext cx="5669280" cy="3383280"/>
          </a:xfrm>
          <a:prstGeom prst="roundRect">
            <a:avLst/>
          </a:prstGeom>
          <a:solidFill>
            <a:srgbClr val="EBEFE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084832"/>
            <a:ext cx="5266944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3262A"/>
                </a:solidFill>
                <a:latin typeface="Consolas"/>
              </a:rPr>
              <a:t>for (int i = 0; i &lt; n; i++) {
    int sum = 0;
    for (int j = i; j &lt; n; j++) {
        sum += a[j];
        if (sum == K)
            ans = max(ans, j - i + 1);
    }
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2057400"/>
            <a:ext cx="4206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62A"/>
                </a:solidFill>
                <a:latin typeface="Aptos"/>
              </a:defRPr>
            </a:pPr>
            <a:r>
              <a:t>• Every subarray is considered</a:t>
            </a:r>
          </a:p>
          <a:p>
            <a:pPr>
              <a:spcAft>
                <a:spcPts val="1000"/>
              </a:spcAft>
              <a:defRPr sz="1800">
                <a:solidFill>
                  <a:srgbClr val="23262A"/>
                </a:solidFill>
                <a:latin typeface="Aptos"/>
              </a:defRPr>
            </a:pPr>
            <a:r>
              <a:t>• Running sum avoids a third loop</a:t>
            </a:r>
          </a:p>
          <a:p>
            <a:pPr>
              <a:spcAft>
                <a:spcPts val="1000"/>
              </a:spcAft>
              <a:defRPr sz="1800">
                <a:solidFill>
                  <a:srgbClr val="23262A"/>
                </a:solidFill>
                <a:latin typeface="Aptos"/>
              </a:defRPr>
            </a:pPr>
            <a:r>
              <a:t>• Worst case: O(n²)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2280" y="4617720"/>
            <a:ext cx="4114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B463F"/>
                </a:solidFill>
                <a:latin typeface="Aptos"/>
              </a:rPr>
              <a:t>Good for understanding • Often too slow for large 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Why Prefix Sum helps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05C75"/>
                </a:solidFill>
                <a:latin typeface="Aptos"/>
              </a:rPr>
              <a:t>prefix[i] = sum of elements from 0 → 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788920"/>
            <a:ext cx="1051560" cy="54864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8895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26080" y="2788920"/>
            <a:ext cx="1051560" cy="54864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8895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83480" y="2788920"/>
            <a:ext cx="1051560" cy="54864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28895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-1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788920"/>
            <a:ext cx="1051560" cy="54864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28895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788920"/>
            <a:ext cx="1051560" cy="54864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98280" y="288950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7490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71800" y="37490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490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37490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374903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3262A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149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3262A"/>
                </a:solidFill>
                <a:latin typeface="Aptos"/>
              </a:rPr>
              <a:t>If prefix[j] − prefix[i] = K, then subarray (i+1 … j) has sum 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The HashMap trick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20240"/>
            <a:ext cx="4572000" cy="315468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05C75"/>
                </a:solidFill>
                <a:latin typeface="Aptos"/>
              </a:rPr>
              <a:t>Need: prefix[j] − prefix[i] = 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9718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A5F65"/>
                </a:solidFill>
                <a:latin typeface="Aptos"/>
              </a:rPr>
              <a:t>Rearrange: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3262A"/>
                </a:solidFill>
                <a:latin typeface="Aptos"/>
              </a:rPr>
              <a:t>prefix[i] = prefix[j] − 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1920240"/>
            <a:ext cx="5303520" cy="3154680"/>
          </a:xfrm>
          <a:prstGeom prst="roundRect">
            <a:avLst/>
          </a:prstGeom>
          <a:solidFill>
            <a:srgbClr val="EBEFE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3317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05C75"/>
                </a:solidFill>
                <a:latin typeface="Aptos"/>
              </a:rPr>
              <a:t>unordered_map&lt;prefix, firstIndex&gt;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315468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3262A"/>
                </a:solidFill>
                <a:latin typeface="Aptos"/>
              </a:rPr>
              <a:t>Look up (currentPrefix − K)
→ if it exists, a valid subarray ends here.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Dry Run — step by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F65"/>
                </a:solidFill>
                <a:latin typeface="Aptos"/>
              </a:rPr>
              <a:t>Array = [1, 2, −1, 1, 2, −2, 3], K =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9202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Aptos"/>
              </a:rPr>
              <a:t>i=0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920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5C75"/>
                </a:solidFill>
                <a:latin typeface="Aptos"/>
              </a:rPr>
              <a:t>p=1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9202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F65"/>
                </a:solidFill>
                <a:latin typeface="Aptos"/>
              </a:rPr>
              <a:t>need=-2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920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A5F65"/>
                </a:solidFill>
                <a:latin typeface="Aptos"/>
              </a:rPr>
              <a:t>not found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578608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Aptos"/>
              </a:rPr>
              <a:t>i=1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57860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5C75"/>
                </a:solidFill>
                <a:latin typeface="Aptos"/>
              </a:rPr>
              <a:t>p=3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578608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F65"/>
                </a:solidFill>
                <a:latin typeface="Aptos"/>
              </a:rPr>
              <a:t>need=0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2578608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7153"/>
                </a:solidFill>
                <a:latin typeface="Aptos"/>
              </a:rPr>
              <a:t>found at -1 → len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236976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Aptos"/>
              </a:rPr>
              <a:t>i=2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23697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5C75"/>
                </a:solidFill>
                <a:latin typeface="Aptos"/>
              </a:rPr>
              <a:t>p=2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236976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F65"/>
                </a:solidFill>
                <a:latin typeface="Aptos"/>
              </a:rPr>
              <a:t>need=-1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236976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7153"/>
                </a:solidFill>
                <a:latin typeface="Aptos"/>
              </a:rPr>
              <a:t>found at -1 → len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3895344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Aptos"/>
              </a:rPr>
              <a:t>i=3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89534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5C75"/>
                </a:solidFill>
                <a:latin typeface="Aptos"/>
              </a:rPr>
              <a:t>p=3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38953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F65"/>
                </a:solidFill>
                <a:latin typeface="Aptos"/>
              </a:rPr>
              <a:t>need=0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3895344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7153"/>
                </a:solidFill>
                <a:latin typeface="Aptos"/>
              </a:rPr>
              <a:t>found at -1 → len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455371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3262A"/>
                </a:solidFill>
                <a:latin typeface="Aptos"/>
              </a:rPr>
              <a:t>i=4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455371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05C75"/>
                </a:solidFill>
                <a:latin typeface="Aptos"/>
              </a:rPr>
              <a:t>p=5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553712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5F65"/>
                </a:solidFill>
                <a:latin typeface="Aptos"/>
              </a:rPr>
              <a:t>need=2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577840" y="455371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487153"/>
                </a:solidFill>
                <a:latin typeface="Aptos"/>
              </a:rPr>
              <a:t>found at 2 → len 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4406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9B463F"/>
                </a:solidFill>
                <a:latin typeface="Aptos"/>
              </a:rPr>
              <a:t>Important: store the FIRST index for each prefix sum.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Why store the first index?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F65"/>
                </a:solidFill>
                <a:latin typeface="Aptos"/>
              </a:rPr>
              <a:t>Earliest index gives the longest possible distance.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11680"/>
            <a:ext cx="1033272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423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3262A"/>
                </a:solidFill>
                <a:latin typeface="Aptos"/>
              </a:rPr>
              <a:t>prefix = 5 appears at index 2 and later again.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246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05C75"/>
                </a:solidFill>
                <a:latin typeface="Aptos"/>
              </a:rPr>
              <a:t>first index: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2461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A5F65"/>
                </a:solidFill>
                <a:latin typeface="Aptos"/>
              </a:rPr>
              <a:t>later index: 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754880" y="3474720"/>
            <a:ext cx="2103120" cy="0"/>
          </a:xfrm>
          <a:prstGeom prst="line">
            <a:avLst/>
          </a:prstGeom>
          <a:ln w="25400">
            <a:solidFill>
              <a:srgbClr val="305C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280160" y="4160520"/>
            <a:ext cx="9418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487153"/>
                </a:solidFill>
                <a:latin typeface="Aptos"/>
              </a:rPr>
              <a:t>Use 2 → larger subarray length.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C++ — Optimal Prefix Sum + HashMap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10789920" cy="4251960"/>
          </a:xfrm>
          <a:prstGeom prst="roundRect">
            <a:avLst/>
          </a:prstGeom>
          <a:solidFill>
            <a:srgbClr val="EBEFE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947672"/>
            <a:ext cx="10387584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3262A"/>
                </a:solidFill>
                <a:latin typeface="Consolas"/>
              </a:rPr>
              <a:t>int longestSubarray(vector&lt;int&gt;&amp; a, int K) {
    unordered_map&lt;int,int&gt; first;
    int prefix = 0, ans = 0;
    first[0] = -1;
    for (int i = 0; i &lt; a.size(); i++) {
        prefix += a[i];
        if (first.count(prefix - K))
            ans = max(ans, i - first[prefix - K]);
        if (!first.count(prefix))
            first[prefix] = i;
    }
    return ans;
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Complexity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011680"/>
            <a:ext cx="4846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3317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05C75"/>
                </a:solidFill>
                <a:latin typeface="Aptos"/>
              </a:rPr>
              <a:t>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80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3262A"/>
                </a:solidFill>
                <a:latin typeface="Aptos"/>
              </a:rPr>
              <a:t>O(n) average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484632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3317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05C75"/>
                </a:solidFill>
                <a:latin typeface="Aptos"/>
              </a:rPr>
              <a:t>Space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23262A"/>
                </a:solidFill>
                <a:latin typeface="Aptos"/>
              </a:rPr>
              <a:t>O(n)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5A5F65"/>
                </a:solidFill>
                <a:latin typeface="Aptos"/>
              </a:rPr>
              <a:t>HashMap operations are O(1) on average; pathological collisions can affect the worst case.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Common mistakes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3262A"/>
                </a:solidFill>
                <a:latin typeface="Aptos"/>
              </a:defRPr>
            </a:pPr>
            <a:r>
              <a:t>• Forgetting first[0] = −1</a:t>
            </a:r>
          </a:p>
          <a:p>
            <a:pPr>
              <a:spcAft>
                <a:spcPts val="1000"/>
              </a:spcAft>
              <a:defRPr sz="1900">
                <a:solidFill>
                  <a:srgbClr val="23262A"/>
                </a:solidFill>
                <a:latin typeface="Aptos"/>
              </a:defRPr>
            </a:pPr>
            <a:r>
              <a:t>• Overwriting an existing prefix index</a:t>
            </a:r>
          </a:p>
          <a:p>
            <a:pPr>
              <a:spcAft>
                <a:spcPts val="1000"/>
              </a:spcAft>
              <a:defRPr sz="1900">
                <a:solidFill>
                  <a:srgbClr val="23262A"/>
                </a:solidFill>
                <a:latin typeface="Aptos"/>
              </a:defRPr>
            </a:pPr>
            <a:r>
              <a:t>• Using current index instead of earliest index</a:t>
            </a:r>
          </a:p>
          <a:p>
            <a:pPr>
              <a:spcAft>
                <a:spcPts val="1000"/>
              </a:spcAft>
              <a:defRPr sz="1900">
                <a:solidFill>
                  <a:srgbClr val="23262A"/>
                </a:solidFill>
                <a:latin typeface="Aptos"/>
              </a:defRPr>
            </a:pPr>
            <a:r>
              <a:t>• Mixing up subarray vs subsequence</a:t>
            </a:r>
          </a:p>
          <a:p>
            <a:pPr>
              <a:spcAft>
                <a:spcPts val="1000"/>
              </a:spcAft>
              <a:defRPr sz="1900">
                <a:solidFill>
                  <a:srgbClr val="23262A"/>
                </a:solidFill>
                <a:latin typeface="Aptos"/>
              </a:defRPr>
            </a:pPr>
            <a:r>
              <a:t>• Assuming sliding window works when negative numbers exist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305C75"/>
                </a:solidFill>
                <a:latin typeface="Aptos"/>
              </a:rPr>
              <a:t>Interview habit: state the constraint before choosing the pattern.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Pattern decision guide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0698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2402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Positive numbers + sum constraint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224028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05C75"/>
                </a:solidFill>
                <a:latin typeface="Aptos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224028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487153"/>
                </a:solidFill>
                <a:latin typeface="Aptos"/>
              </a:rPr>
              <a:t>Sliding Window may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24612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Negative numbers present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2461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05C75"/>
                </a:solidFill>
                <a:latin typeface="Aptos"/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32461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305C75"/>
                </a:solidFill>
                <a:latin typeface="Aptos"/>
              </a:rPr>
              <a:t>Prefix Sum + HashMap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5196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Need exact sum 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425196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05C75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42519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3262A"/>
                </a:solidFill>
                <a:latin typeface="Aptos"/>
              </a:rPr>
              <a:t>Think: prefix[j] − prefix[i] = 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Interview Problem #1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05C75"/>
                </a:solidFill>
                <a:latin typeface="Aptos"/>
              </a:rPr>
              <a:t>LeetCode 325 — Maximum Size Subarray Sum Equals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74320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3262A"/>
                </a:solidFill>
                <a:latin typeface="Aptos"/>
              </a:rPr>
              <a:t>Given an integer array nums and integer k,
return the maximum length of a subarray that sums to 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416052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87153"/>
                </a:solidFill>
                <a:latin typeface="Aptos"/>
              </a:rPr>
              <a:t>Pattern: Prefix Sum + HashMap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Interview Problem #2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05C75"/>
                </a:solidFill>
                <a:latin typeface="Aptos"/>
              </a:rPr>
              <a:t>LeetCode 525 — Contiguous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23262A"/>
                </a:solidFill>
                <a:latin typeface="Aptos"/>
              </a:rPr>
              <a:t>Find the longest contiguous subarray with equal number of 0s and 1s.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8862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3262A"/>
                </a:solidFill>
                <a:latin typeface="Aptos"/>
              </a:rPr>
              <a:t>Idea: treat 0 as −1 and 1 as +1.
Then the target becomes a zero-sum subarray.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Interview Problem #3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202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305C75"/>
                </a:solidFill>
                <a:latin typeface="Aptos"/>
              </a:rPr>
              <a:t>LeetCode 560 — Subarray Sum Equals 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23262A"/>
                </a:solidFill>
                <a:latin typeface="Aptos"/>
              </a:rPr>
              <a:t>Difference from longest-subarray version: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241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305C75"/>
                </a:solidFill>
                <a:latin typeface="Aptos"/>
              </a:rPr>
              <a:t>325 → maximize LENGTH
560 → count NUMBER OF SUBARRAYS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091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A5F65"/>
                </a:solidFill>
                <a:latin typeface="Aptos"/>
              </a:rPr>
              <a:t>Same prefix-sum equation; different information stored in the map.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Real-world use case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920240"/>
            <a:ext cx="1051560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331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300" b="1" i="0">
                <a:solidFill>
                  <a:srgbClr val="305C75"/>
                </a:solidFill>
                <a:latin typeface="Aptos"/>
              </a:rPr>
              <a:t>Time-series monitoring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63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3262A"/>
                </a:solidFill>
                <a:latin typeface="Aptos"/>
              </a:rPr>
              <a:t>Imagine daily usage changes:
+20, −10, −5, +15,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977639"/>
            <a:ext cx="9601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23262A"/>
                </a:solidFill>
                <a:latin typeface="Aptos"/>
              </a:rPr>
              <a:t>Prefix sums can quickly identify the longest contiguous period
whose net change matches a target.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949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5A5F65"/>
                </a:solidFill>
                <a:latin typeface="Aptos"/>
              </a:rPr>
              <a:t>The same pattern appears in logs, finance, telemetry and cumulative metrics.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Key interview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500" b="1" i="0">
                <a:solidFill>
                  <a:srgbClr val="23262A"/>
                </a:solidFill>
                <a:latin typeface="Aptos"/>
              </a:rPr>
              <a:t>When you hear “longest subarray”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2651760"/>
            <a:ext cx="9784080" cy="2011680"/>
          </a:xfrm>
          <a:prstGeom prst="roundRect">
            <a:avLst/>
          </a:prstGeom>
          <a:solidFill>
            <a:srgbClr val="E1D6A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3262A"/>
                </a:solidFill>
                <a:latin typeface="Aptos"/>
              </a:rPr>
              <a:t>1. Identify the constraint
2. Ask whether negative values exist
3. For exact-sum + negatives → Prefix Sum + HashMap
4. Store the earliest prefix index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1663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305C75"/>
                </a:solidFill>
                <a:latin typeface="Aptos"/>
              </a:rPr>
              <a:t>Think in equations, not nested loops.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Quick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20240"/>
            <a:ext cx="10241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62A"/>
                </a:solidFill>
                <a:latin typeface="Aptos"/>
              </a:defRPr>
            </a:pPr>
            <a:r>
              <a:t>• nums = [1, −1, 5, −2, 3], K = 3 → find the longest length</a:t>
            </a:r>
          </a:p>
          <a:p>
            <a:pPr>
              <a:spcAft>
                <a:spcPts val="1000"/>
              </a:spcAft>
              <a:defRPr sz="2000">
                <a:solidFill>
                  <a:srgbClr val="23262A"/>
                </a:solidFill>
                <a:latin typeface="Aptos"/>
              </a:defRPr>
            </a:pPr>
            <a:r>
              <a:t>• nums = [0,1,0,1,1,0,0] → equal 0s and 1s</a:t>
            </a:r>
          </a:p>
          <a:p>
            <a:pPr>
              <a:spcAft>
                <a:spcPts val="1000"/>
              </a:spcAft>
              <a:defRPr sz="2000">
                <a:solidFill>
                  <a:srgbClr val="23262A"/>
                </a:solidFill>
                <a:latin typeface="Aptos"/>
              </a:defRPr>
            </a:pPr>
            <a:r>
              <a:t>• nums = [3, −2, 2, −3, 1], K = 0 → longest zero-sum subarray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66360"/>
            <a:ext cx="10241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305C75"/>
                </a:solidFill>
                <a:latin typeface="Aptos"/>
              </a:rPr>
              <a:t>Before coding: write the prefix sums on paper.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05C75"/>
                </a:solidFill>
                <a:latin typeface="Aptos"/>
              </a:rPr>
              <a:t>DSA FROM SCRATCH → ADVANCED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0" y="22860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 i="0">
                <a:solidFill>
                  <a:srgbClr val="5A5F65"/>
                </a:solidFill>
                <a:latin typeface="Aptos"/>
              </a:rPr>
              <a:t>DAY 38  •  LONGEST SUBARRAY PROBLEMS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12700">
            <a:solidFill>
              <a:srgbClr val="E1D6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02920" y="6473952"/>
            <a:ext cx="6400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05C75"/>
                </a:solidFill>
                <a:latin typeface="Aptos"/>
              </a:rPr>
              <a:t>github.com/ritesh2687/dsa_ppt_post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55664"/>
            <a:ext cx="640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5A5F65"/>
                </a:solidFill>
                <a:latin typeface="Aptos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2296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3262A"/>
                </a:solidFill>
                <a:latin typeface="Aptos"/>
              </a:rPr>
              <a:t>DAY 39 PREVIEW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481328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5A5F65"/>
                </a:solidFill>
                <a:latin typeface="Aptos"/>
              </a:rPr>
              <a:t>Next: Prefix Sum Patterns &amp; More Subarray Techniques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1920240"/>
            <a:ext cx="10241280" cy="3017520"/>
          </a:xfrm>
          <a:prstGeom prst="roundRect">
            <a:avLst/>
          </a:prstGeom>
          <a:solidFill>
            <a:srgbClr val="FFFFFF"/>
          </a:solidFill>
          <a:ln>
            <a:solidFill>
              <a:srgbClr val="E1D6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377440"/>
            <a:ext cx="9692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305C75"/>
                </a:solidFill>
                <a:latin typeface="Aptos"/>
              </a:rPr>
              <a:t>Prefix Sum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154680"/>
            <a:ext cx="9144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3262A"/>
                </a:solidFill>
                <a:latin typeface="Aptos"/>
              </a:rPr>
              <a:t>• Range Sum Queries
• Zero-sum subarrays
• Counting vs longest-length variants
• Prefix Sum + Hashing patterns
• More interview problems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5A5F65"/>
                </a:solidFill>
                <a:latin typeface="Aptos"/>
              </a:rPr>
              <a:t>Keep practicing — the pattern is more important than memorizing the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