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05B96"/>
                </a:solidFill>
                <a:latin typeface="Segoe Print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3657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329"/>
                </a:solidFill>
                <a:latin typeface="Segoe Print"/>
              </a:rPr>
              <a:t>DAY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86868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329"/>
                </a:solidFill>
                <a:latin typeface="Aptos"/>
              </a:rPr>
              <a:t>TWO POINTER TECHNIQUE
ON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8862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36C"/>
                </a:solidFill>
                <a:latin typeface="Segoe Print"/>
              </a:rPr>
              <a:t>Concept → Example → Implementation → Complexity → Pattern → Problem → Solution → Takeaway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709160"/>
            <a:ext cx="3840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818888"/>
            <a:ext cx="35112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212080"/>
            <a:ext cx="35112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Start from both ends. Move inward with a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What is the Two-Pointer Technique?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A simple way to control two positions in a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01 • Two indices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03120"/>
            <a:ext cx="305409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left  → starts near the beginning
right → starts near the end
Compare / process the pair
Then move one or both pointers.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099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02 • The movement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103120"/>
            <a:ext cx="305409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The trick is NOT “use two variables.”
The trick is deciding:
• when left moves
• when right moves
• when both move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324612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709928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03 • Why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03120"/>
            <a:ext cx="291693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Instead of repeatedly searching,
we scan the string with structure.
Typical result:
O(n) time • O(1) extra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Why Use It on Strings?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Many string problems compare characters from opposite sides.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6675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329"/>
                </a:solidFill>
                <a:latin typeface="Aptos"/>
              </a:rPr>
              <a:t>• Check symmetry without building another string.
• Reverse a string in-place by swapping ends.
• Validate a palindrome with one inward scan.
• Handle “almost palindrome” variants by skipping one character.
• Turn nested-looking comparisons into a linear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45920"/>
            <a:ext cx="347472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755648"/>
            <a:ext cx="3145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Pattern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148840"/>
            <a:ext cx="314553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If the problem says:
“both ends”
“reverse”
“same from left &amp; right”
“ignore / skip one”
→ Think TWO POINTERS.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Visual: Two Pointers Move Inward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Watch the window shrink after every useful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0" y="2331720"/>
            <a:ext cx="78638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2386584"/>
            <a:ext cx="78638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17830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05B96"/>
                </a:solidFill>
                <a:latin typeface="Segoe Print"/>
              </a:rPr>
              <a:t>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205740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05B96"/>
                </a:solidFill>
                <a:latin typeface="Segoe Print"/>
              </a:rPr>
              <a:t>left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17830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B5B48"/>
                </a:solidFill>
                <a:latin typeface="Segoe Print"/>
              </a:rPr>
              <a:t>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05740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B5B48"/>
                </a:solidFill>
                <a:latin typeface="Segoe Print"/>
              </a:rPr>
              <a:t>right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3375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2329"/>
                </a:solidFill>
                <a:latin typeface="Segoe Print"/>
              </a:rPr>
              <a:t>Compare  R  ↔  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406908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C636C"/>
                </a:solidFill>
                <a:latin typeface="Segoe Print"/>
              </a:rPr>
              <a:t>If the pair satisfies the rule → move inward.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7091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05B96"/>
                </a:solidFill>
                <a:latin typeface="Segoe Print"/>
              </a:rPr>
              <a:t>L  →                    ← 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Example: Is “RACECAR” a Palindrome?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Dry run using left and right pointers.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0" y="1691640"/>
            <a:ext cx="78638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1746504"/>
            <a:ext cx="7863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105156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05B96"/>
                </a:solidFill>
                <a:latin typeface="Segoe Print"/>
              </a:rPr>
              <a:t>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13258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05B96"/>
                </a:solidFill>
                <a:latin typeface="Segoe Print"/>
              </a:rPr>
              <a:t>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105156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B5B48"/>
                </a:solidFill>
                <a:latin typeface="Segoe Print"/>
              </a:rPr>
              <a:t>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132588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B5B48"/>
                </a:solidFill>
                <a:latin typeface="Segoe Print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2926080"/>
            <a:ext cx="5760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329"/>
                </a:solidFill>
                <a:latin typeface="Aptos"/>
              </a:rPr>
              <a:t>• 1. R == R  ✓   → move both
• 2. A == A  ✓   → move both
• 3. C == C  ✓   → move both
• 4. E == E  ✓   → pointers meet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5160" y="2788920"/>
            <a:ext cx="3977639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59752" y="2898648"/>
            <a:ext cx="36484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3291839"/>
            <a:ext cx="364845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Every mirrored pair matches.
RACECAR → PALINDROME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How the Algorithm Thinks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The invariant: everything outside the pointers has already been 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05B96"/>
                </a:solidFill>
                <a:latin typeface="Segoe Print"/>
              </a:rPr>
              <a:t>while (left &lt; 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6692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329"/>
                </a:solidFill>
                <a:latin typeface="Aptos"/>
              </a:rPr>
              <a:t>• Compare s[left] and s[right].
• If the rule fails → stop / return false.
• Otherwise move left++ and right--.
• When pointers cross, the condition is satisfied.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645920"/>
            <a:ext cx="3840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1755648"/>
            <a:ext cx="35112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Mental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2148840"/>
            <a:ext cx="3511296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[ CHECKED ][  UNKNOWN  ][ CHECKED ]
          L →     ← R
Each successful step makes the unknown region smaller.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C++ Implementation: Palindrome Check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Clean O(n) / O(1)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6492240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27048"/>
            <a:ext cx="61630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598932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329"/>
                </a:solidFill>
                <a:latin typeface="Consolas"/>
              </a:rPr>
              <a:t>bool isPalindrome(string s) {
    int left = 0;
    int right = s.size() - 1;
    while (left &lt; right) {
        if (s[left] != s[right])
            return false;
        left++;
        right--;
    }
    return true;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08760"/>
            <a:ext cx="3383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161848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Why O(1) space?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2011680"/>
            <a:ext cx="30540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Only two integer pointers.
No reversed copy.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154680"/>
            <a:ext cx="3383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326440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Why O(n) time?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657600"/>
            <a:ext cx="30540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Each pointer moves inward.
Total work is linear.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Approach 1: Reverse a String In-Place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Same pointer movement — different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59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59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1645920"/>
            <a:ext cx="832103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700784"/>
            <a:ext cx="83210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743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05B96"/>
                </a:solidFill>
                <a:latin typeface="Segoe Print"/>
              </a:rPr>
              <a:t>swap(s[left], s[right])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6576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B5B48"/>
                </a:solidFill>
                <a:latin typeface="Segoe Print"/>
              </a:rPr>
              <a:t>H ↔ 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576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7E5B"/>
                </a:solidFill>
                <a:latin typeface="Segoe Print"/>
              </a:rPr>
              <a:t>E ↔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66344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2329"/>
                </a:solidFill>
                <a:latin typeface="Segoe Print"/>
              </a:rPr>
              <a:t>Result: O L L E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Key Pattern #1 — Palindrome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Symmetry check from both 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30083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left = first
right = last
If chars differ → false
If equal → move inward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618488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011680"/>
            <a:ext cx="300837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LEVEL ✓
RACECAR ✓
HELLO ✗
MADAM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2461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18488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291693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Words / strings where
position i should match
position n−1−i.
Think mirror.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Key Pattern #2 — Valid Palindrome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Real interview problems often add filtering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F2329"/>
                </a:solidFill>
                <a:latin typeface="Segoe Print"/>
              </a:rPr>
              <a:t>“A man, a plan, a canal: Panama”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32004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43200"/>
            <a:ext cx="287121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Skip characters that are not letters/digits.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240280"/>
            <a:ext cx="32004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43200"/>
            <a:ext cx="287121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Compare lowercase characters at left/right.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40280"/>
            <a:ext cx="32004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350008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43200"/>
            <a:ext cx="287121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Move pointers inward until they meet.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36C"/>
                </a:solidFill>
                <a:latin typeface="Segoe Print"/>
              </a:rPr>
              <a:t>Key idea: the pointers may move without comparing.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Key Pattern #3 — “Almost” Palindrome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Allow one mismatch by skipping one 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600200"/>
            <a:ext cx="110642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655064"/>
            <a:ext cx="11064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4320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77E5B"/>
                </a:solidFill>
                <a:latin typeface="Segoe Print"/>
              </a:rPr>
              <a:t>a == a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3375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B5B48"/>
                </a:solidFill>
                <a:latin typeface="Segoe Print"/>
              </a:rPr>
              <a:t>b != c  → one deletion allowed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976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F2329"/>
                </a:solidFill>
                <a:latin typeface="Segoe Print"/>
              </a:rPr>
              <a:t>Try skipping b OR skipping c, then check the remaining range.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983480"/>
            <a:ext cx="576072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5093208"/>
            <a:ext cx="5431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5486400"/>
            <a:ext cx="5431536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“At most one deletion” → two pointers + helper 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Sorting vs Two Pointers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Do not use the same pattern for every string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18488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Two pointers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488289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Best when positions / ends matter.
✓ palindrome
✓ reverse string
✓ compare mirrored characters
Typical: O(n) time, O(1) extra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18488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Sorting /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488289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Best when order does NOT matter.
✓ anagram checks
✓ character counts
Sorting: O(n log n)
Frequency: O(n) with bounded alphabet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LeetCode 344 — Reverse String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Problem → pattern →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329"/>
                </a:solidFill>
                <a:latin typeface="Aptos"/>
              </a:rPr>
              <a:t>Problem: reverse the character array in-place.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760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329"/>
                </a:solidFill>
                <a:latin typeface="Consolas"/>
              </a:rPr>
              <a:t>int left = 0, right = s.size() - 1;
while (left &lt; right) {
    swap(s[left], s[right]);
    left++;
    right--;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920240"/>
            <a:ext cx="393192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2029968"/>
            <a:ext cx="3602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Pattern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423160"/>
            <a:ext cx="3602736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Ends need to exchange places.
Two pointers → swap → move inward.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77E5B"/>
                </a:solidFill>
                <a:latin typeface="Segoe Print"/>
              </a:rPr>
              <a:t>Time: O(n)   •   Extra space: O(1)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LeetCode 125 — Valid Palindrome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Problem → filter → compare.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5943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329"/>
                </a:solidFill>
                <a:latin typeface="Aptos"/>
              </a:rPr>
              <a:t>• Ignore non-alphanumeric characters.
• Compare characters case-insensitively.
• Use left/right pointers.
• Return false on the first mismatch.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08760"/>
            <a:ext cx="3886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1618488"/>
            <a:ext cx="35570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Pointer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2011680"/>
            <a:ext cx="3557016" cy="2606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while (left &lt; right)
skip left if invalid
skip right if invalid
compare lowercase forms
move 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DB5B48"/>
                </a:solidFill>
                <a:latin typeface="Segoe Print"/>
              </a:rPr>
              <a:t>Pattern: two pointers + conditional skipping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LeetCode 680 — Valid Palindrome II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One mismatch can be “spent” on one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2329"/>
                </a:solidFill>
                <a:latin typeface="Segoe Print"/>
              </a:rPr>
              <a:t>Example: “abca” → delete b OR c → palindrome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19" y="2240280"/>
            <a:ext cx="106070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2295144"/>
            <a:ext cx="106070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461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77E5B"/>
                </a:solidFill>
                <a:latin typeface="Segoe Print"/>
              </a:rPr>
              <a:t>a == a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4612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B5B48"/>
                </a:solidFill>
                <a:latin typeface="Segoe Print"/>
              </a:rPr>
              <a:t>b !=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069080"/>
            <a:ext cx="36576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93392" y="4178808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Option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572000"/>
            <a:ext cx="33284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Skip b → check c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069080"/>
            <a:ext cx="36576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178808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Option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4572000"/>
            <a:ext cx="33284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Skip c → check b 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Common Mistakes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Small pointer bugs can ruin an otherwise correct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4241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329"/>
                </a:solidFill>
                <a:latin typeface="Aptos"/>
              </a:rPr>
              <a:t>• Using while (left &lt;= right) when the logic only needs pairs.
• Moving the wrong pointer after a mismatch.
• Forgetting to move pointers → infinite loop.
• Building a reversed string when in-place work is expected.
• Comparing before skipping invalid characters in Valid Palindrome.
• Changing the problem rule: case sensitivity and allowed characters matter.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Pattern Recognition Cheat Sheet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Train yourself to spot the signal before 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5204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72768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See this…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65960"/>
            <a:ext cx="3191256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“same from both ends”
“reverse”
“mirror”
“palindrome”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204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72768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Think…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65960"/>
            <a:ext cx="3191256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left = 0
right = n−1
Compare → decide → move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63040"/>
            <a:ext cx="35204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572768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Then ask…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965960"/>
            <a:ext cx="3191256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Can both pointers move?
Can one skip?
Is order important?
Do I need extra memory?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Interactive Mini Challenge ✍️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Pause before revealing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Is “A B C B A” a palindrome?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79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247119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19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356080" y="2331720"/>
            <a:ext cx="1517904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56080" y="2386584"/>
            <a:ext cx="151790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2329"/>
                </a:solidFill>
                <a:latin typeface="Segoe Print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3703320"/>
            <a:ext cx="2926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3813048"/>
            <a:ext cx="2596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Step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206240"/>
            <a:ext cx="25968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Compare A ↔ 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703320"/>
            <a:ext cx="2926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3813048"/>
            <a:ext cx="2596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Step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4206240"/>
            <a:ext cx="25968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Compare B ↔ 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2926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813048"/>
            <a:ext cx="2596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206240"/>
            <a:ext cx="25968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C remains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0749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77E5B"/>
                </a:solidFill>
                <a:latin typeface="Segoe Print"/>
              </a:rPr>
              <a:t>Answer: YES 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Interview Tip + Key Takeaway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The pattern is more valuable than memorizing one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B5B48"/>
                </a:solidFill>
                <a:latin typeface="Segoe Print"/>
              </a:rPr>
              <a:t>💡 Interview 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4882896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When you see a string problem, ask:
“Does the answer depend on characters from both ends?”
If yes, test the two-pointer approach before reaching for extra data structures.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72768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7E5B"/>
                </a:solidFill>
                <a:latin typeface="Segoe Print"/>
              </a:rP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4882896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Two pointers = controlled movement.
For strings, it shines when order and symmetry matter.
Palindrome • Reverse • Valid Palindrome • One-deletion variants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329"/>
                </a:solidFill>
                <a:latin typeface="Aptos"/>
              </a:rPr>
              <a:t>DAY 27 — Coming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987552"/>
            <a:ext cx="3767328" cy="0"/>
          </a:xfrm>
          <a:prstGeom prst="line">
            <a:avLst/>
          </a:prstGeom>
          <a:ln w="25400">
            <a:solidFill>
              <a:srgbClr val="30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078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36C"/>
                </a:solidFill>
                <a:latin typeface="Segoe Print"/>
              </a:rPr>
              <a:t>Keep the pattern chain 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C636C"/>
                </a:solidFill>
                <a:latin typeface="Segoe Prin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05B96"/>
                </a:solidFill>
                <a:latin typeface="Segoe Print"/>
              </a:rPr>
              <a:t>https://github.com/ritesh2687/dsa_ppt_post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473952"/>
            <a:ext cx="3246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36C"/>
                </a:solidFill>
                <a:latin typeface="Segoe Print"/>
              </a:rPr>
              <a:t>DSA From Scratch → Advanced  •  DAY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5C636C"/>
                </a:solidFill>
                <a:latin typeface="Segoe Print"/>
              </a:rPr>
              <a:t>From two pointers → to the next string / array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423160"/>
            <a:ext cx="85039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2532888"/>
            <a:ext cx="8174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6"/>
                </a:solidFill>
                <a:latin typeface="Segoe Print"/>
              </a:rPr>
              <a:t>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926080"/>
            <a:ext cx="817473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Aptos"/>
              </a:rPr>
              <a:t>We’ll build on today’s pointer thinking and move toward a new interview-ready DSA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343400"/>
            <a:ext cx="6309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F2329"/>
                </a:solidFill>
                <a:latin typeface="Segoe Print"/>
              </a:rPr>
              <a:t>Practice today: 344 • 125 • 680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074920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B5B48"/>
                </a:solidFill>
                <a:latin typeface="Segoe Print"/>
              </a:rPr>
              <a:t>Learn → Explain → Implement → Recognize → Repeat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