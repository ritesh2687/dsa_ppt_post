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169E1"/>
                </a:solidFill>
                <a:latin typeface="Comic Sans MS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32323"/>
                </a:solidFill>
                <a:latin typeface="Comic Sans MS"/>
              </a:rPr>
              <a:t>DAY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32323"/>
                </a:solidFill>
                <a:latin typeface="Comic Sans MS"/>
              </a:rPr>
              <a:t>HASHING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96969"/>
                </a:solidFill>
                <a:latin typeface="Aptos"/>
              </a:rPr>
              <a:t>Concept → Example → Implementation → Complexity → Problem → Solution →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69E1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01 • What is Hashing?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A way to turn a key into a location for fast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832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922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169E1"/>
                </a:solidFill>
                <a:latin typeface="Comic Sans MS"/>
              </a:rPr>
              <a:t>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The item we want to store or find.
Example: student ID = 1042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922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7D5A"/>
                </a:solidFill>
                <a:latin typeface="Comic Sans MS"/>
              </a:rPr>
              <a:t>HASH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128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Maps the key to a bucket/index.
Example idea:
hash(1042) → bucket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3832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922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BE46"/>
                </a:solidFill>
                <a:latin typeface="Comic Sans MS"/>
              </a:rPr>
              <a:t>HASH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128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Stores the data in buckets so lookup can be fast.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Comic Sans MS"/>
              </a:rPr>
              <a:t>Think: “Given a key, where should I look?”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02 • Why do we need Hashing?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The main goal: reduce repeated searching.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E4B4B"/>
                </a:solidFill>
                <a:latin typeface="Comic Sans MS"/>
              </a:rPr>
              <a:t>Linear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[ 12 | 7 | 25 | 4 | 18 | 9 ]
           ↑
       check one by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7D5A"/>
                </a:solidFill>
                <a:latin typeface="Comic Sans MS"/>
              </a:rPr>
              <a:t>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key → hash → bucket
        25
         ↓
      [bucket]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Typical hash-table search / insertion / deletion: average O(1); worst case can degrade with many collisions.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03 • Hash Table + Hash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6969"/>
                </a:solidFill>
                <a:latin typeface="Comic Sans MS"/>
              </a:rPr>
              <a:t>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2323"/>
                </a:solidFill>
                <a:latin typeface="Comic Sans MS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7451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169E1"/>
                </a:solidFill>
                <a:latin typeface="Comic Sans MS"/>
              </a:rPr>
              <a:t>hash(42)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Comic Sans M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508760"/>
            <a:ext cx="868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6642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868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642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08760"/>
            <a:ext cx="868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6642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508760"/>
            <a:ext cx="868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6642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508760"/>
            <a:ext cx="868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6642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71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Aptos"/>
              </a:rPr>
              <a:t>A simple teaching hash function: index = key % number_of_buckets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96969"/>
                </a:solidFill>
                <a:latin typeface="Aptos"/>
              </a:rPr>
              <a:t>Real hash functions are designed to distribute keys well. The important idea is mapping keys into buckets.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04 • Collisions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Different keys can land in the same bucket.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mic Sans MS"/>
              </a:rPr>
              <a:t>Example: 12 % 5 = 2
17 % 5 =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5087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169E1"/>
                </a:solidFill>
                <a:latin typeface="Comic Sans MS"/>
              </a:rPr>
              <a:t>12 ─┐
    ├──→ bucket 2
17 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17320"/>
            <a:ext cx="3291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59" y="1563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7D5A"/>
                </a:solidFill>
                <a:latin typeface="Comic Sans MS"/>
              </a:rPr>
              <a:t>CHAINING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198424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Keep multiple entries in the same bucket.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154680"/>
            <a:ext cx="3291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33009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BE46"/>
                </a:solidFill>
                <a:latin typeface="Comic Sans MS"/>
              </a:rPr>
              <a:t>OPEN ADDRESSING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372160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Find another available slot.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Aptos"/>
              </a:rPr>
              <a:t>Collision ≠ failure. A good hash table has a strategy for handling collisions.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05 • Real-world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Phone contacts: name → phone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32323"/>
                </a:solidFill>
                <a:latin typeface="Comic Sans MS"/>
              </a:rPr>
              <a:t>“Riya”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169E1"/>
                </a:solidFill>
                <a:latin typeface="Comic Sans M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169E1"/>
                </a:solidFill>
                <a:latin typeface="Comic Sans MS"/>
              </a:rPr>
              <a:t>hash("Riya")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169E1"/>
                </a:solidFill>
                <a:latin typeface="Comic Sans M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77D5A"/>
                </a:solidFill>
                <a:latin typeface="Comic Sans MS"/>
              </a:rPr>
              <a:t>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Comic Sans MS"/>
              </a:rPr>
              <a:t>→  phone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96969"/>
                </a:solidFill>
                <a:latin typeface="Aptos"/>
              </a:rPr>
              <a:t>The user thinks: “Find Riya.”
The data structure turns that into a fast key-based lookup.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06 • unordered_map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Use it when you need key →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114800"/>
          </a:xfrm>
          <a:prstGeom prst="roundRect">
            <a:avLst/>
          </a:prstGeom>
          <a:solidFill>
            <a:srgbClr val="27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0"/>
                </a:solidFill>
                <a:latin typeface="Consolas"/>
              </a:rPr>
              <a:t>#include &lt;unordered_map&gt;
using namespace std;
unordered_map&lt;string, int&gt; score;
score["Riya"] = 92;
score["Aman"] = 85;
cout &lt;&lt; score["Riya"];   // 92
if (score.find("Aman") != score.end())
    cout &lt;&lt; "Found";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Key idea: each key maps to one stored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07 • unordered_set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Use it when you only care whether an item exists.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3474720"/>
          </a:xfrm>
          <a:prstGeom prst="roundRect">
            <a:avLst/>
          </a:prstGeom>
          <a:solidFill>
            <a:srgbClr val="27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0"/>
                </a:solidFill>
                <a:latin typeface="Consolas"/>
              </a:rPr>
              <a:t>#include &lt;unordered_set&gt;
using namespace std;
unordered_set&lt;int&gt; seen;
seen.insert(10);
seen.insert(20);
if (seen.find(10) != seen.end())
    cout &lt;&lt; "10 exists";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32323"/>
                </a:solidFill>
                <a:latin typeface="Aptos"/>
              </a:rPr>
              <a:t>Map = key + value     |     Set = unique keys / membership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08 • Problem 1: Frequency 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Given an array, count how many times each number appears.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6969"/>
                </a:solidFill>
                <a:latin typeface="Comic Sans MS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Comic Sans MS"/>
              </a:rPr>
              <a:t>[2, 1, 2, 3, 1, 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6969"/>
                </a:solidFill>
                <a:latin typeface="Comic Sans MS"/>
              </a:rPr>
              <a:t>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169E1"/>
                </a:solidFill>
                <a:latin typeface="Comic Sans MS"/>
              </a:rPr>
              <a:t>1 → 2
2 → 3
3 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77D5A"/>
                </a:solidFill>
                <a:latin typeface="Comic Sans MS"/>
              </a:rPr>
              <a:t>Pattern: value →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7432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This pattern appears constantly in strings, arrays, duplicates, and counting problems.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09 • Solution: Frequency Counting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2926080"/>
          </a:xfrm>
          <a:prstGeom prst="roundRect">
            <a:avLst/>
          </a:prstGeom>
          <a:solidFill>
            <a:srgbClr val="27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47088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0"/>
                </a:solidFill>
                <a:latin typeface="Consolas"/>
              </a:rPr>
              <a:t>unordered_map&lt;int, int&gt; freq;
for (int x : nums) {
    freq[x]++;
}
for (auto [value, count] : freq) {
    cout &lt;&lt; value &lt;&lt; " -&gt; " &lt;&lt; count &lt;&lt; "\n";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Aptos"/>
              </a:rPr>
              <a:t>One pass builds the frequency table. Then iterate over the table if you need the 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7D5A"/>
                </a:solidFill>
                <a:latin typeface="Aptos"/>
              </a:rPr>
              <a:t>Time: O(n) average   |   Extra space: O(k), k = distinct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10 • Problem 2: Contains 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Return true if any value appears at least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6969"/>
                </a:solidFill>
                <a:latin typeface="Comic Sans MS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32323"/>
                </a:solidFill>
                <a:latin typeface="Comic Sans MS"/>
              </a:rPr>
              <a:t>[4, 2, 7, 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169E1"/>
                </a:solidFill>
                <a:latin typeface="Comic Sans MS"/>
              </a:rPr>
              <a:t>Scan → check → insert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4231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4: new
2: new
7: new
2: already seen →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77D5A"/>
                </a:solidFill>
                <a:latin typeface="Aptos"/>
              </a:rPr>
              <a:t>Pattern: unordered_set for fast membership checks.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11 • Solution: Contains Duplicate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3200400"/>
          </a:xfrm>
          <a:prstGeom prst="roundRect">
            <a:avLst/>
          </a:prstGeom>
          <a:solidFill>
            <a:srgbClr val="27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47088"/>
            <a:ext cx="10241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0"/>
                </a:solidFill>
                <a:latin typeface="Consolas"/>
              </a:rPr>
              <a:t>unordered_set&lt;int&gt; seen;
for (int x : nums) {
    if (seen.find(x) != seen.end())
        return true;
    seen.insert(x);
}
return false;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Aptos"/>
              </a:rPr>
              <a:t>Why it works: before inserting x, we ask whether x has appeared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12 • Problem 3: Two 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Find two indices whose values add up to a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2323"/>
                </a:solidFill>
                <a:latin typeface="Aptos"/>
              </a:rPr>
              <a:t>nums = [2, 7, 11, 15]    target =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169E1"/>
                </a:solidFill>
                <a:latin typeface="Aptos"/>
              </a:rPr>
              <a:t>For each x, ask:
“Have I already seen target - x?”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069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377D5A"/>
                </a:solidFill>
                <a:latin typeface="Aptos"/>
              </a:rPr>
              <a:t>x = 7 → need 2 → found!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749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96969"/>
                </a:solidFill>
                <a:latin typeface="Aptos"/>
              </a:rPr>
              <a:t>This turns repeated searching into hash lookups.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13 • Solution: Two Sum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114800"/>
          </a:xfrm>
          <a:prstGeom prst="roundRect">
            <a:avLst/>
          </a:prstGeom>
          <a:solidFill>
            <a:srgbClr val="27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9928"/>
            <a:ext cx="10515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F0"/>
                </a:solidFill>
                <a:latin typeface="Consolas"/>
              </a:rPr>
              <a:t>unordered_map&lt;int, int&gt; pos;
for (int i = 0; i &lt; nums.size(); i++) {
    int need = target - nums[i];
    if (pos.find(need) != pos.end())
        return {pos[need], i};
    pos[nums[i]] = i;
}
return {};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77D5A"/>
                </a:solidFill>
                <a:latin typeface="Aptos"/>
              </a:rPr>
              <a:t>Time: O(n) average   |   Space: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14 • Complexity Cheat 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007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169E1"/>
                </a:solidFill>
                <a:latin typeface="Comic Sans MS"/>
              </a:rPr>
              <a:t>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Average: O(1)
Worst case: O(n)
Depends on hashing + collisions.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007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7D5A"/>
                </a:solidFill>
                <a:latin typeface="Comic Sans MS"/>
              </a:rPr>
              <a:t>INSERT / ERASE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2140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Average: O(1)
Worst case: O(n)
Rehashing can add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007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BE46"/>
                </a:solidFill>
                <a:latin typeface="Comic Sans MS"/>
              </a:rPr>
              <a:t>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2140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Usually O(n)
Stores keys and/or key-value pairs.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Interview wording: say “average O(1)” instead of simply “O(1)” for unordered containers.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15 •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169E1"/>
                </a:solidFill>
                <a:latin typeface="Comic Sans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173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Using unordered_map when only membership is needed → use unordered_set.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169E1"/>
                </a:solidFill>
                <a:latin typeface="Comic Sans 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4688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Assuming iteration order is sorted → unordered containers do not guarantee sorted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169E1"/>
                </a:solidFill>
                <a:latin typeface="Comic Sans M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520439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Forgetting collision / worst-case behavior → average O(1), not guaranteed O(1).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169E1"/>
                </a:solidFill>
                <a:latin typeface="Comic Sans M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5720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Using map syntax incorrectly → map needs key + value; set stores unique keys.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16 • Interview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When you see repeated searching, ask: “Can I remember what I have already seen?”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169E1"/>
                </a:solidFill>
                <a:latin typeface="Comic Sans MS"/>
              </a:rPr>
              <a:t>LOOK → STORE →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88920"/>
            <a:ext cx="8138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323"/>
                </a:solidFill>
                <a:latin typeface="Aptos"/>
              </a:rPr>
              <a:t>1. Read the current element
2. Compute what you need
3. Check the hash table
4. Store the current 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7D5A"/>
                </a:solidFill>
                <a:latin typeface="Aptos"/>
              </a:rPr>
              <a:t>That simple mental pattern unlocks many hashing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232323"/>
                </a:solidFill>
                <a:latin typeface="Comic Sans MS"/>
              </a:rPr>
              <a:t>17 •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D5A"/>
                </a:solidFill>
                <a:latin typeface="Comic Sans MS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173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Hashing maps keys to buckets for fast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D5A"/>
                </a:solidFill>
                <a:latin typeface="Comic Sans M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75688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Collisions are normal; hash tables need a collision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340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D5A"/>
                </a:solidFill>
                <a:latin typeface="Comic Sans M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34056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unordered_map → key →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9242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D5A"/>
                </a:solidFill>
                <a:latin typeface="Comic Sans M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92424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unordered_set → unique values + fast membership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507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D5A"/>
                </a:solidFill>
                <a:latin typeface="Comic Sans M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050791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Most operations are average O(1), with possible worst-case O(n).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7D5A"/>
                </a:solidFill>
                <a:latin typeface="Comic Sans M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0915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Think in patterns: frequency, duplicate detection, complement lookup.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169E1"/>
                </a:solidFill>
                <a:latin typeface="Comic Sans MS"/>
              </a:rPr>
              <a:t>DAY 32 →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32323"/>
                </a:solidFill>
                <a:latin typeface="Comic Sans MS"/>
              </a:rPr>
              <a:t>HASHING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96969"/>
                </a:solidFill>
                <a:latin typeface="Aptos"/>
              </a:rPr>
              <a:t>We’ll move from “what hashing is” to the patterns that solve real DSA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7D5A"/>
                </a:solidFill>
                <a:latin typeface="Aptos"/>
              </a:rPr>
              <a:t>Frequency maps • complements • prefix-sum + hashing • pattern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Comic Sans MS"/>
              </a:rPr>
              <a:t>Keep practicing. One pattern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DAY 31 • HASHING FUNDAMENTALS  |  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169E1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