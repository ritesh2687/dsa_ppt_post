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305E70"/>
                </a:solidFill>
                <a:latin typeface="Aptos"/>
              </a:defRPr>
            </a:pPr>
            <a: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600" b="1" i="0">
                <a:solidFill>
                  <a:srgbClr val="232323"/>
                </a:solidFill>
                <a:latin typeface="Aptos"/>
              </a:defRPr>
            </a:pPr>
            <a:r>
              <a:t>DAY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7315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 i="0">
                <a:solidFill>
                  <a:srgbClr val="232323"/>
                </a:solidFill>
                <a:latin typeface="Aptos"/>
              </a:defRPr>
            </a:pPr>
            <a:r>
              <a:t>IMPORTANT</a:t>
            </a:r>
            <a:br/>
            <a:r>
              <a:t>HASHING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86200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1">
                <a:solidFill>
                  <a:srgbClr val="5F5F5F"/>
                </a:solidFill>
                <a:latin typeface="Aptos"/>
              </a:defRPr>
            </a:pPr>
            <a:r>
              <a:t>From “I know HashMap” → “I can spot the pattern in an interview.”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234440"/>
            <a:ext cx="22402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572768"/>
            <a:ext cx="169164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 i="0">
                <a:solidFill>
                  <a:srgbClr val="305E70"/>
                </a:solidFill>
                <a:latin typeface="Aptos"/>
              </a:defRPr>
            </a:pPr>
            <a:r>
              <a:t>LOOK</a:t>
            </a:r>
            <a:br/>
            <a:r>
              <a:t>→</a:t>
            </a:r>
            <a:br/>
            <a:r>
              <a:t>THINK</a:t>
            </a:r>
            <a:br/>
            <a:r>
              <a:t>→</a:t>
            </a:r>
            <a:br/>
            <a:r>
              <a:t>HASH</a:t>
            </a:r>
            <a:br/>
            <a:r>
              <a:t>→</a:t>
            </a:r>
            <a:br/>
            <a: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8076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01 • 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Hashing in 30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The interview lens: trade extra memory for fast lookup.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23444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57984"/>
            <a:ext cx="116128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KEY →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232323"/>
                </a:solidFill>
                <a:latin typeface="Aptos"/>
              </a:defRPr>
            </a:pPr>
            <a:r>
              <a:t>unordered_map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Store counts, indexes,</a:t>
            </a:r>
            <a:br/>
            <a:r>
              <a:t>frequencies, mappings.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148840"/>
            <a:ext cx="1234440" cy="310896"/>
          </a:xfrm>
          <a:prstGeom prst="roundRect">
            <a:avLst/>
          </a:prstGeom>
          <a:solidFill>
            <a:srgbClr val="C2DEC3"/>
          </a:solidFill>
          <a:ln>
            <a:solidFill>
              <a:srgbClr val="C2D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157984"/>
            <a:ext cx="116128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KEY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232323"/>
                </a:solidFill>
                <a:latin typeface="Aptos"/>
              </a:defRPr>
            </a:pPr>
            <a:r>
              <a:t>unordered_set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Track presence / uniqueness</a:t>
            </a:r>
            <a:br/>
            <a:r>
              <a:t>without storing a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2148840"/>
            <a:ext cx="914400" cy="310896"/>
          </a:xfrm>
          <a:prstGeom prst="roundRect">
            <a:avLst/>
          </a:prstGeom>
          <a:solidFill>
            <a:srgbClr val="EBCDC6"/>
          </a:solidFill>
          <a:ln>
            <a:solidFill>
              <a:srgbClr val="EB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157984"/>
            <a:ext cx="8412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232323"/>
                </a:solidFill>
                <a:latin typeface="Aptos"/>
              </a:defRPr>
            </a:pPr>
            <a:r>
              <a:t>Collision ≠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4612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Hash tables handle collisions</a:t>
            </a:r>
            <a:br/>
            <a:r>
              <a:t>internally; performance can vary.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avg. O(1)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3891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699169"/>
                </a:solidFill>
                <a:latin typeface="Aptos"/>
              </a:defRPr>
            </a:pPr>
            <a:r>
              <a:t>avg. O(1) 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17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B45C53"/>
                </a:solidFill>
                <a:latin typeface="Aptos"/>
              </a:defRPr>
            </a:pPr>
            <a:r>
              <a:t>Pattern cue → “seen before?”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02 • PATTERN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When should Hashing pop into your head?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Circle the phrase you hear in a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93391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8424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“Have we seen this before?”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874519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1993391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7" y="198424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“Count each occurrence.”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44952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163824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154680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“Find a pair quickly.”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044952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3163824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3154680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“First / last occurrence.”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3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334255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325112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“Distinct elements?”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215383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4334255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305E70"/>
                </a:solidFill>
                <a:latin typeface="Aptos"/>
              </a:defRPr>
            </a:pPr>
            <a: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4325112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“Same signature / frequency?”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05E70"/>
                </a:solidFill>
                <a:latin typeface="Aptos"/>
              </a:defRPr>
            </a:pPr>
            <a:r>
              <a:t>INTERVIEW 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39496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Aptos"/>
              </a:defRPr>
            </a:pPr>
            <a:r>
              <a:t>Ask: “Can I store a useful property of each item?”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03 • 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Two Sum — find the complement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LeetCode #1 • The classic “lookup what I need”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749039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91440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12263"/>
            <a:ext cx="8412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Consolas"/>
              </a:defRPr>
            </a:pPr>
            <a:r>
              <a:t>nums = [2, 7, 11, 15]</a:t>
            </a:r>
            <a:br/>
            <a:r>
              <a:t>target =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Output → [0,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Because 2 + 7 =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828800"/>
            <a:ext cx="6812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B45C53"/>
                </a:solidFill>
                <a:latin typeface="Aptos"/>
              </a:defRPr>
            </a:pPr>
            <a:r>
              <a:t>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542032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Check every pair → O(n²)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699169"/>
                </a:solidFill>
                <a:latin typeface="Aptos"/>
              </a:defRPr>
            </a:pPr>
            <a:r>
              <a:t>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4203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Store value →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24612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305E70"/>
                </a:solidFill>
                <a:latin typeface="Consolas"/>
              </a:defRPr>
            </a:pPr>
            <a:r>
              <a:t>need = target - nums[i]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79476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232323"/>
                </a:solidFill>
                <a:latin typeface="Aptos"/>
              </a:defRPr>
            </a:pPr>
            <a:r>
              <a:t>If need exists → answer found.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66344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One pass • average O(n) time • O(n)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03 •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Two Sum — walk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Watch the “complement” become the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9436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828800"/>
            <a:ext cx="96012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28800"/>
            <a:ext cx="105156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874519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05740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874519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map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828800"/>
            <a:ext cx="292608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19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594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450592"/>
            <a:ext cx="484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31720"/>
            <a:ext cx="960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2450592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331720"/>
            <a:ext cx="1051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864" y="2450592"/>
            <a:ext cx="941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331720"/>
            <a:ext cx="2057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2450592"/>
            <a:ext cx="19476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{}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2331720"/>
            <a:ext cx="29260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2450592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store 2→0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08960"/>
            <a:ext cx="594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227832"/>
            <a:ext cx="484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08960"/>
            <a:ext cx="960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4" y="3227832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108960"/>
            <a:ext cx="1051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40864" y="3227832"/>
            <a:ext cx="941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108960"/>
            <a:ext cx="20574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3227832"/>
            <a:ext cx="19476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{2→0}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108960"/>
            <a:ext cx="29260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9824" y="3227832"/>
            <a:ext cx="2816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FOUND 2→0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6052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 i="0">
                <a:solidFill>
                  <a:srgbClr val="232323"/>
                </a:solidFill>
                <a:latin typeface="Aptos"/>
              </a:defRPr>
            </a:pPr>
            <a:r>
              <a:t>Key idea → Hash the past so the future can query it in O(1) average.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754880"/>
            <a:ext cx="10149840" cy="1234440"/>
          </a:xfrm>
          <a:prstGeom prst="roundRect">
            <a:avLst/>
          </a:prstGeom>
          <a:solidFill>
            <a:srgbClr val="1F2225"/>
          </a:solidFill>
          <a:ln>
            <a:solidFill>
              <a:srgbClr val="1F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" y="4892040"/>
            <a:ext cx="974750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EBEBEB"/>
                </a:solidFill>
                <a:latin typeface="Consolas"/>
              </a:defRPr>
            </a:pPr>
            <a:r>
              <a:t>unordered_map&lt;int,int&gt; mp;</a:t>
            </a:r>
            <a:br/>
            <a:r>
              <a:t>for (int i = 0; i &lt; nums.size(); i++) {</a:t>
            </a:r>
            <a:br/>
            <a:r>
              <a:t>    int need = target - nums[i];</a:t>
            </a:r>
            <a:br/>
            <a:r>
              <a:t>    if (mp.count(need)) return {mp[need], i};</a:t>
            </a:r>
            <a:br/>
            <a:r>
              <a:t>    mp[nums[i]] = i;</a:t>
            </a:r>
            <a:br/>
            <a: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Two Sum —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Keep the lookup and insertion order straight.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6537960" cy="4251960"/>
          </a:xfrm>
          <a:prstGeom prst="roundRect">
            <a:avLst/>
          </a:prstGeom>
          <a:solidFill>
            <a:srgbClr val="1F2225"/>
          </a:solidFill>
          <a:ln>
            <a:solidFill>
              <a:srgbClr val="1F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65960"/>
            <a:ext cx="6135624" cy="3977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EBEBEB"/>
                </a:solidFill>
                <a:latin typeface="Consolas"/>
              </a:defRPr>
            </a:pPr>
            <a:r>
              <a:t>class Solution {</a:t>
            </a:r>
            <a:br/>
            <a:r>
              <a:t>public:</a:t>
            </a:r>
            <a:br/>
            <a:r>
              <a:t>    vector&lt;int&gt; twoSum(vector&lt;int&gt;&amp; nums, int target) {</a:t>
            </a:r>
            <a:br/>
            <a:r>
              <a:t>        unordered_map&lt;int,int&gt; mp;</a:t>
            </a:r>
            <a:br/>
            <a:r>
              <a:t>        for (int i = 0; i &lt; nums.size(); i++) {</a:t>
            </a:r>
            <a:br/>
            <a:r>
              <a:t>            int need = target - nums[i];</a:t>
            </a:r>
            <a:br/>
            <a:r>
              <a:t>            if (mp.count(need))</a:t>
            </a:r>
            <a:br/>
            <a:r>
              <a:t>                return {mp[need], i};</a:t>
            </a:r>
            <a:br/>
            <a:r>
              <a:t>            mp[nums[i]] = i;</a:t>
            </a:r>
            <a:br/>
            <a:r>
              <a:t>        }</a:t>
            </a:r>
            <a:br/>
            <a:r>
              <a:t>        return {};</a:t>
            </a:r>
            <a:br/>
            <a:r>
              <a:t>    }</a:t>
            </a:r>
            <a:br/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3977639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INTERVIEW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88920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88920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232323"/>
                </a:solidFill>
                <a:latin typeface="Aptos"/>
              </a:defRPr>
            </a:pPr>
            <a:r>
              <a:t>Do not use the current element twice.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520439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20439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232323"/>
                </a:solidFill>
                <a:latin typeface="Aptos"/>
              </a:defRPr>
            </a:pPr>
            <a:r>
              <a:t>Map value →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51959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51959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232323"/>
                </a:solidFill>
                <a:latin typeface="Aptos"/>
              </a:defRPr>
            </a:pPr>
            <a:r>
              <a:t>Return as soon as complement is found.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07492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5F5F5F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3949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Time: O(n) avg.</a:t>
            </a:r>
            <a:br/>
            <a:r>
              <a:t>Space: 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04 • PROBLEM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Longest Consecutive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LeetCode #128 • Presence tracking beats sorting.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572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91440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12263"/>
            <a:ext cx="8412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 i="0">
                <a:solidFill>
                  <a:srgbClr val="232323"/>
                </a:solidFill>
                <a:latin typeface="Consolas"/>
              </a:defRPr>
            </a:pPr>
            <a:r>
              <a:t>[100, 4, 200, 1, 3,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Longest → 1, 2, 3,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Aptos"/>
              </a:defRPr>
            </a:pPr>
            <a:r>
              <a:t>Answer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B45C53"/>
                </a:solidFill>
                <a:latin typeface="Aptos"/>
              </a:defRPr>
            </a:pPr>
            <a:r>
              <a:t>Brute / sorting: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8006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828800"/>
            <a:ext cx="60350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14884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699169"/>
                </a:solidFill>
                <a:latin typeface="Aptos"/>
              </a:defRPr>
            </a:pPr>
            <a:r>
              <a:t>HashSet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69748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232323"/>
                </a:solidFill>
                <a:latin typeface="Aptos"/>
              </a:defRPr>
            </a:pPr>
            <a:r>
              <a:t>For x, start only if x−1 is absent.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38328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305E70"/>
                </a:solidFill>
                <a:latin typeface="Consolas"/>
              </a:defRPr>
            </a:pPr>
            <a:r>
              <a:t>Then walk: x → x+1 → x+2 →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16052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Each sequence is expanded from its START.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98348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Average O(n) time • O(n)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04 •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Longest Consecutive — start-point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Why don't we start from every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749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84248"/>
            <a:ext cx="7498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874519"/>
            <a:ext cx="749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984248"/>
            <a:ext cx="7498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749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84248"/>
            <a:ext cx="7498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874519"/>
            <a:ext cx="749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84248"/>
            <a:ext cx="7498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74519"/>
            <a:ext cx="749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7498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699169"/>
                </a:solidFill>
                <a:latin typeface="Aptos"/>
              </a:defRPr>
            </a:pPr>
            <a:r>
              <a:t>1 has no 0 →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8892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5F5F5F"/>
                </a:solidFill>
                <a:latin typeface="Aptos"/>
              </a:defRPr>
            </a:pPr>
            <a:r>
              <a:t>2 has 1 → skip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78892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5F5F5F"/>
                </a:solidFill>
                <a:latin typeface="Aptos"/>
              </a:defRPr>
            </a:pPr>
            <a:r>
              <a:t>3 has 2 → skip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5F5F5F"/>
                </a:solidFill>
                <a:latin typeface="Aptos"/>
              </a:defRPr>
            </a:pPr>
            <a:r>
              <a:t>4 has 3 → skip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3429000"/>
            <a:ext cx="2788919" cy="0"/>
          </a:xfrm>
          <a:prstGeom prst="line">
            <a:avLst/>
          </a:prstGeom>
          <a:ln w="38100">
            <a:solidFill>
              <a:srgbClr val="3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 i="0">
                <a:solidFill>
                  <a:srgbClr val="305E70"/>
                </a:solidFill>
                <a:latin typeface="Consolas"/>
              </a:defRPr>
            </a:pPr>
            <a:r>
              <a:t>1 → 2 → 3 →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675887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Aptos"/>
              </a:defRPr>
            </a:pPr>
            <a:r>
              <a:t>length =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383280"/>
            <a:ext cx="3566160" cy="1325880"/>
          </a:xfrm>
          <a:prstGeom prst="roundRect">
            <a:avLst/>
          </a:prstGeom>
          <a:solidFill>
            <a:srgbClr val="FDF8DC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6118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977639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Aptos"/>
              </a:defRPr>
            </a:pPr>
            <a:r>
              <a:t>HashSet + sequence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92040"/>
            <a:ext cx="10241280" cy="1234440"/>
          </a:xfrm>
          <a:prstGeom prst="roundRect">
            <a:avLst/>
          </a:prstGeom>
          <a:solidFill>
            <a:srgbClr val="1F2225"/>
          </a:solidFill>
          <a:ln>
            <a:solidFill>
              <a:srgbClr val="1F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029200"/>
            <a:ext cx="983894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EBEBEB"/>
                </a:solidFill>
                <a:latin typeface="Consolas"/>
              </a:defRPr>
            </a:pPr>
            <a:r>
              <a:t>unordered_set&lt;int&gt; st(nums.begin(), nums.end());</a:t>
            </a:r>
            <a:br/>
            <a:r>
              <a:t>for (int x : st)</a:t>
            </a:r>
            <a:br/>
            <a:r>
              <a:t>    if (!st.count(x - 1)) {</a:t>
            </a:r>
            <a:br/>
            <a:r>
              <a:t>        int y = x, len = 1;</a:t>
            </a:r>
            <a:br/>
            <a:r>
              <a:t>        while (st.count(y + 1)) y++, len++;</a:t>
            </a:r>
            <a:br/>
            <a:r>
              <a:t>        ans = max(ans, len);</a:t>
            </a:r>
            <a:br/>
            <a:r>
              <a:t>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05 • PROBLEM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Group Anagrams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LeetCode #49 • Same frequency signature → same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572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91440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12263"/>
            <a:ext cx="8412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Consolas"/>
              </a:defRPr>
            </a:pPr>
            <a:r>
              <a:t>["eat","tea","tan","ate","nat","bat"]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5F5F5F"/>
                </a:solidFill>
                <a:latin typeface="Aptos"/>
              </a:defRPr>
            </a:pPr>
            <a:r>
              <a:t>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3383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305E70"/>
                </a:solidFill>
                <a:latin typeface="Consolas"/>
              </a:defRPr>
            </a:pPr>
            <a:r>
              <a:t>["eat","tea","ate"]</a:t>
            </a:r>
            <a:br/>
            <a:r>
              <a:t>["tan","nat"]</a:t>
            </a:r>
            <a:br/>
            <a:r>
              <a:t>["bat"]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B45C53"/>
                </a:solidFill>
                <a:latin typeface="Aptos"/>
              </a:defRPr>
            </a:pPr>
            <a:r>
              <a:t>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6032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Compare every pair → expensive.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2004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699169"/>
                </a:solidFill>
                <a:latin typeface="Aptos"/>
              </a:defRPr>
            </a:pPr>
            <a:r>
              <a:t>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61188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232323"/>
                </a:solidFill>
                <a:latin typeface="Aptos"/>
              </a:defRPr>
            </a:pPr>
            <a:r>
              <a:t>Build a canonical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20624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305E70"/>
                </a:solidFill>
                <a:latin typeface="Consolas"/>
              </a:defRPr>
            </a:pPr>
            <a:r>
              <a:t>"eat" → "aet"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80060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232323"/>
                </a:solidFill>
                <a:latin typeface="Consolas"/>
              </a:defRPr>
            </a:pPr>
            <a:r>
              <a:t>unordered_map&lt;string, vector&lt;string&gt;&gt;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05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Group Anagrams — two useful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Sorting is simple; frequency signature is a stronger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96012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12263"/>
            <a:ext cx="88696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METHOD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Aptos"/>
              </a:defRPr>
            </a:pPr>
            <a:r>
              <a:t>Sort each 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54680"/>
            <a:ext cx="4480560" cy="1508760"/>
          </a:xfrm>
          <a:prstGeom prst="roundRect">
            <a:avLst/>
          </a:prstGeom>
          <a:solidFill>
            <a:srgbClr val="1F2225"/>
          </a:solidFill>
          <a:ln>
            <a:solidFill>
              <a:srgbClr val="1F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91840"/>
            <a:ext cx="4078224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EBEBEB"/>
                </a:solidFill>
                <a:latin typeface="Consolas"/>
              </a:defRPr>
            </a:pPr>
            <a:r>
              <a:t>string key = s;</a:t>
            </a:r>
            <a:br/>
            <a:r>
              <a:t>sort(key.begin(), key.end());</a:t>
            </a:r>
            <a:br/>
            <a:r>
              <a:t>mp[key].push_back(s);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5F5F5F"/>
                </a:solidFill>
                <a:latin typeface="Aptos"/>
              </a:defRPr>
            </a:pPr>
            <a:r>
              <a:t>Per word: O(k log 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03120"/>
            <a:ext cx="960120" cy="310896"/>
          </a:xfrm>
          <a:prstGeom prst="roundRect">
            <a:avLst/>
          </a:prstGeom>
          <a:solidFill>
            <a:srgbClr val="C2DEC3"/>
          </a:solidFill>
          <a:ln>
            <a:solidFill>
              <a:srgbClr val="C2D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112263"/>
            <a:ext cx="88696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METHOD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4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Aptos"/>
              </a:defRPr>
            </a:pPr>
            <a:r>
              <a:t>Frequency signature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154680"/>
            <a:ext cx="4480560" cy="1508760"/>
          </a:xfrm>
          <a:prstGeom prst="roundRect">
            <a:avLst/>
          </a:prstGeom>
          <a:solidFill>
            <a:srgbClr val="1F2225"/>
          </a:solidFill>
          <a:ln>
            <a:solidFill>
              <a:srgbClr val="1F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291840"/>
            <a:ext cx="4078224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EBEBEB"/>
                </a:solidFill>
                <a:latin typeface="Consolas"/>
              </a:defRPr>
            </a:pPr>
            <a:r>
              <a:t>int cnt[26] = {};</a:t>
            </a:r>
            <a:br/>
            <a:r>
              <a:t>for (char c : s) cnt[c-'a']++;</a:t>
            </a:r>
            <a:br/>
            <a:r>
              <a:t>// encode cnt as the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749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5F5F5F"/>
                </a:solidFill>
                <a:latin typeface="Aptos"/>
              </a:defRPr>
            </a:pPr>
            <a:r>
              <a:t>Per word: O(k) for fixed alphabet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06 • PROBLEM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Subarray Sum Equals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LeetCode #560 • Prefix Sum + frequency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1605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914400" cy="310896"/>
          </a:xfrm>
          <a:prstGeom prst="roundRect">
            <a:avLst/>
          </a:prstGeom>
          <a:solidFill>
            <a:srgbClr val="F5DD74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12263"/>
            <a:ext cx="8412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32323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32323"/>
                </a:solidFill>
                <a:latin typeface="Consolas"/>
              </a:defRPr>
            </a:pPr>
            <a:r>
              <a:t>nums = [1, 1, 1]</a:t>
            </a:r>
            <a:br/>
            <a:r>
              <a:t>k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5F5F5F"/>
                </a:solidFill>
                <a:latin typeface="Aptos"/>
              </a:defRPr>
            </a:pPr>
            <a:r>
              <a:t>Valid subarrays: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 i="0">
                <a:solidFill>
                  <a:srgbClr val="305E70"/>
                </a:solidFill>
                <a:latin typeface="Consolas"/>
              </a:defRPr>
            </a:pPr>
            <a:r>
              <a:t>[1,1]  [1,1]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232323"/>
                </a:solidFill>
                <a:latin typeface="Aptos"/>
              </a:defRPr>
            </a:pPr>
            <a:r>
              <a:t>Answer =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6400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14884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699169"/>
                </a:solidFill>
                <a:latin typeface="Aptos"/>
              </a:defRPr>
            </a:pPr>
            <a:r>
              <a:t>Prefix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606040"/>
            <a:ext cx="5303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Aptos"/>
              </a:defRPr>
            </a:pPr>
            <a:r>
              <a:t>If prefixSum - k was seen before,</a:t>
            </a:r>
            <a:br/>
            <a:r>
              <a:t>then a subarray summing to k exists.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6576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 i="0">
                <a:solidFill>
                  <a:srgbClr val="305E70"/>
                </a:solidFill>
                <a:latin typeface="Consolas"/>
              </a:defRPr>
            </a:pPr>
            <a:r>
              <a:t>need = prefixSum -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34340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Store prefixSum →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07492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Average O(n) time • O(n)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06 •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Prefix Sum + HashMap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The map stores how many times each prefix sum appeared.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146304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prefix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828800"/>
            <a:ext cx="237744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90195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need = prefix-k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210312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2011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seen?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828800"/>
            <a:ext cx="2103120" cy="502920"/>
          </a:xfrm>
          <a:prstGeom prst="rect">
            <a:avLst/>
          </a:prstGeom>
          <a:solidFill>
            <a:srgbClr val="305E70"/>
          </a:solidFill>
          <a:ln>
            <a:solidFill>
              <a:srgbClr val="305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01952"/>
            <a:ext cx="2011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31720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331720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4231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3172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423160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Aptos"/>
              </a:defRPr>
            </a:pPr>
            <a:r>
              <a:t>yes (init)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33172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990087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8152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990087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08152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990087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8152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990087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08152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48456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3989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648456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9896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3648456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739896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648456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739896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1 → ans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306824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398264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4306824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398264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430682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398264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232323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30682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398264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32323"/>
                </a:solidFill>
                <a:latin typeface="Aptos"/>
              </a:defRPr>
            </a:pPr>
            <a:r>
              <a:t>1 → ans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1828800"/>
            <a:ext cx="2423160" cy="3246120"/>
          </a:xfrm>
          <a:prstGeom prst="roundRect">
            <a:avLst/>
          </a:prstGeom>
          <a:solidFill>
            <a:srgbClr val="FDF8DC"/>
          </a:solidFill>
          <a:ln>
            <a:solidFill>
              <a:srgbClr val="F5D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224028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WHY init {0:1}?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926080"/>
            <a:ext cx="187451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32323"/>
                </a:solidFill>
                <a:latin typeface="Aptos"/>
              </a:defRPr>
            </a:pPr>
            <a:r>
              <a:t>It represents</a:t>
            </a:r>
            <a:br/>
            <a:r>
              <a:t>a prefix sum before</a:t>
            </a:r>
            <a:br/>
            <a:r>
              <a:t>the array starts.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40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B45C53"/>
                </a:solidFill>
                <a:latin typeface="Aptos"/>
              </a:defRPr>
            </a:pPr>
            <a:r>
              <a:t>Common trap → forgetting this misses valid subarrays.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07 • PATTERN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Three problems, one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Hashing is not the solution by itself — the stored information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05E70"/>
                </a:solidFill>
                <a:latin typeface="Aptos"/>
              </a:defRPr>
            </a:pPr>
            <a:r>
              <a:t>TWO 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4144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Consolas"/>
              </a:defRPr>
            </a:pPr>
            <a:r>
              <a:t>value →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04872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Find complement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4436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5F5F5F"/>
                </a:solidFill>
                <a:latin typeface="Aptos"/>
              </a:defRPr>
            </a:pPr>
            <a:r>
              <a:t>unordered_map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2996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05E70"/>
                </a:solidFill>
                <a:latin typeface="Aptos"/>
              </a:defRPr>
            </a:pPr>
            <a:r>
              <a:t>CONSECUTIVE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4144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Consolas"/>
              </a:defRPr>
            </a:pPr>
            <a:r>
              <a:t>value →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04872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Find sequence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4436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5F5F5F"/>
                </a:solidFill>
                <a:latin typeface="Aptos"/>
              </a:defRPr>
            </a:pPr>
            <a:r>
              <a:t>unordered_set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05E70"/>
                </a:solidFill>
                <a:latin typeface="Aptos"/>
              </a:defRPr>
            </a:pPr>
            <a:r>
              <a:t>SUBARRAY 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Consolas"/>
              </a:defRPr>
            </a:pPr>
            <a:r>
              <a:t>prefix → 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370832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Find previous prefix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103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5F5F5F"/>
                </a:solidFill>
                <a:latin typeface="Aptos"/>
              </a:defRPr>
            </a:pPr>
            <a:r>
              <a:t>unordered_map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9476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9592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05E70"/>
                </a:solidFill>
                <a:latin typeface="Aptos"/>
              </a:defRPr>
            </a:pPr>
            <a:r>
              <a:t>ANAGRAMS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232323"/>
                </a:solidFill>
                <a:latin typeface="Consolas"/>
              </a:defRPr>
            </a:pPr>
            <a:r>
              <a:t>signature →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370832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Same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103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5F5F5F"/>
                </a:solidFill>
                <a:latin typeface="Aptos"/>
              </a:defRPr>
            </a:pPr>
            <a:r>
              <a:t>unordered_map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 i="0">
                <a:solidFill>
                  <a:srgbClr val="232323"/>
                </a:solidFill>
                <a:latin typeface="Aptos"/>
              </a:defRPr>
            </a:pPr>
            <a:r>
              <a:t>The interview question is often: “What should I remember?”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08 •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Tiny bugs that change the whole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Use this as your pre-submit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305E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8308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Checking after insertion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78308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5F5F5F"/>
                </a:solidFill>
                <a:latin typeface="Aptos"/>
              </a:defRPr>
            </a:pPr>
            <a:r>
              <a:t>Can accidentally reuse the same element.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359152"/>
            <a:ext cx="10332720" cy="0"/>
          </a:xfrm>
          <a:prstGeom prst="line">
            <a:avLst/>
          </a:prstGeom>
          <a:ln w="12700">
            <a:solidFill>
              <a:srgbClr val="DE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58775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305E7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87752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Using map when set is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87752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5F5F5F"/>
                </a:solidFill>
                <a:latin typeface="Aptos"/>
              </a:defRPr>
            </a:pPr>
            <a:r>
              <a:t>Stores extra data you never query.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163824"/>
            <a:ext cx="10332720" cy="0"/>
          </a:xfrm>
          <a:prstGeom prst="line">
            <a:avLst/>
          </a:prstGeom>
          <a:ln w="12700">
            <a:solidFill>
              <a:srgbClr val="DE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392424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305E7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92424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Forgetting duplicate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92424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5F5F5F"/>
                </a:solidFill>
                <a:latin typeface="Aptos"/>
              </a:defRPr>
            </a:pPr>
            <a:r>
              <a:t>Frequency matters for prefix-sum problems.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968496"/>
            <a:ext cx="10332720" cy="0"/>
          </a:xfrm>
          <a:prstGeom prst="line">
            <a:avLst/>
          </a:prstGeom>
          <a:ln w="12700">
            <a:solidFill>
              <a:srgbClr val="DE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1970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305E7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97096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Ignoring average vs worst-case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197096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5F5F5F"/>
                </a:solidFill>
                <a:latin typeface="Aptos"/>
              </a:defRPr>
            </a:pPr>
            <a:r>
              <a:t>unordered_* is average O(1), not a guarantee.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773168"/>
            <a:ext cx="10332720" cy="0"/>
          </a:xfrm>
          <a:prstGeom prst="line">
            <a:avLst/>
          </a:prstGeom>
          <a:ln w="12700">
            <a:solidFill>
              <a:srgbClr val="DE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0017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305E7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01768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Choosing a bad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001768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5F5F5F"/>
                </a:solidFill>
                <a:latin typeface="Aptos"/>
              </a:defRPr>
            </a:pPr>
            <a:r>
              <a:t>Canonicalize the property you actually need.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5577840"/>
            <a:ext cx="10332720" cy="0"/>
          </a:xfrm>
          <a:prstGeom prst="line">
            <a:avLst/>
          </a:prstGeom>
          <a:ln w="12700">
            <a:solidFill>
              <a:srgbClr val="DE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09 •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Where hashing appears outside LeetCode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Same idea: remember something now so the next lookup is cheap.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2996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CACHE LOOKUPS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4144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Consolas"/>
              </a:defRPr>
            </a:pPr>
            <a:r>
              <a:t>key → stored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07791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5F5F5F"/>
                </a:solidFill>
                <a:latin typeface="Aptos"/>
              </a:defRPr>
            </a:pPr>
            <a:r>
              <a:t>Avoid recomputing / refetching.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2996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DUPLICATE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4144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Consolas"/>
              </a:defRPr>
            </a:pPr>
            <a:r>
              <a:t>item → seen?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07791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5F5F5F"/>
                </a:solidFill>
                <a:latin typeface="Aptos"/>
              </a:defRPr>
            </a:pPr>
            <a:r>
              <a:t>Spot repeated IDs, events,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99592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4074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Consolas"/>
              </a:defRPr>
            </a:pPr>
            <a:r>
              <a:t>identifier →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73752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5F5F5F"/>
                </a:solidFill>
                <a:latin typeface="Aptos"/>
              </a:defRPr>
            </a:pPr>
            <a:r>
              <a:t>Jump directly to associated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9476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99592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FREQUENCY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4074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232323"/>
                </a:solidFill>
                <a:latin typeface="Consolas"/>
              </a:defRPr>
            </a:pPr>
            <a:r>
              <a:t>item →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873752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5F5F5F"/>
                </a:solidFill>
                <a:latin typeface="Aptos"/>
              </a:defRPr>
            </a:pPr>
            <a:r>
              <a:t>Logs, events, search terms, telemetry.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8978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232323"/>
                </a:solidFill>
                <a:latin typeface="Aptos"/>
              </a:defRPr>
            </a:pPr>
            <a:r>
              <a:t>Think “lookup table”, not just “DSA trick”.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10 • MINI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Which Hashing pattern 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Pause here before reading the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24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8366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65376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Find first duplicate in an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865376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24912"/>
            <a:ext cx="10424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7121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Count pairs whose sum equals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852928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12464"/>
            <a:ext cx="10424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587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Check whether two strings are anagrams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840480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10424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463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05E7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28032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Find longest consecutive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828032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5F5F5F"/>
                </a:solidFill>
                <a:latin typeface="Aptos"/>
              </a:defRPr>
            </a:pPr>
            <a:r>
              <a:t>REVEAL → Set / Map + complement / frequency / Set + start-point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11 • FINAL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Hashing interview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Four questions to ask before coding.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789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11680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What must I remember?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01168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value / index / count / prefix /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70632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What should be the key?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770632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the smallest useful 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95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29584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Do I need presence or frequency?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529584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set vs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8853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05E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88536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232323"/>
                </a:solidFill>
                <a:latin typeface="Aptos"/>
              </a:defRPr>
            </a:pPr>
            <a:r>
              <a:t>Can I trade O(n) memory for O(n) time?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288536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often the intended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62356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 i="0">
                <a:solidFill>
                  <a:srgbClr val="232323"/>
                </a:solidFill>
                <a:latin typeface="Aptos"/>
              </a:defRPr>
            </a:pPr>
            <a:r>
              <a:t>Pattern &gt; memorizing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12 •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 i="0">
                <a:solidFill>
                  <a:srgbClr val="232323"/>
                </a:solidFill>
                <a:latin typeface="Aptos"/>
              </a:defRPr>
            </a:pPr>
            <a:r>
              <a:t>DAY 41 — LINKED LIST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We move from hashing lookups → pointer-based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4754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305E70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 i="0">
                <a:solidFill>
                  <a:srgbClr val="232323"/>
                </a:solidFill>
                <a:latin typeface="Aptos"/>
              </a:defRPr>
            </a:pPr>
            <a:r>
              <a:t>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3474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Fast lookup</a:t>
            </a:r>
            <a:br/>
            <a:r>
              <a:t>Pattern recognition</a:t>
            </a:r>
            <a:br/>
            <a:r>
              <a:t>O(1) average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74519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 i="0">
                <a:solidFill>
                  <a:srgbClr val="699169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 i="0">
                <a:solidFill>
                  <a:srgbClr val="232323"/>
                </a:solidFill>
                <a:latin typeface="Aptos"/>
              </a:defRPr>
            </a:pPr>
            <a:r>
              <a:t>Linked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29000"/>
            <a:ext cx="4297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Nodes • pointers • head</a:t>
            </a:r>
            <a:br/>
            <a:r>
              <a:t>Traversal • insertion • deletion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71500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SAVE • PRACTICE • 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DAY 40  •  DSA FROM SCRATCH → 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5303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 i="0">
                <a:solidFill>
                  <a:srgbClr val="305E70"/>
                </a:solidFill>
                <a:latin typeface="Aptos"/>
              </a:defRPr>
            </a:pPr>
            <a:r>
              <a:t>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0" y="64739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 i="0">
                <a:solidFill>
                  <a:srgbClr val="5F5F5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6848" y="320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305E70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