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itesh2687/dsa_ppt_post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3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82880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600" b="1">
                <a:solidFill>
                  <a:srgbClr val="43D3FF"/>
                </a:solidFill>
                <a:latin typeface="Aptos"/>
              </a:defRPr>
            </a:pPr>
            <a:r>
              <a:t>DAY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7955279" cy="1417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3400" b="1">
                <a:solidFill>
                  <a:srgbClr val="F2F6FC"/>
                </a:solidFill>
                <a:latin typeface="Aptos"/>
              </a:defRPr>
            </a:pPr>
            <a:r>
              <a:t>Array Patterns</a:t>
            </a:r>
            <a:br/>
            <a:r>
              <a:t>&amp; Common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2788920"/>
            <a:ext cx="78638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700" b="0">
                <a:solidFill>
                  <a:srgbClr val="A9B5CA"/>
                </a:solidFill>
                <a:latin typeface="Aptos"/>
              </a:defRPr>
            </a:pPr>
            <a:r>
              <a:t>Recognize the pattern → choose the right technique → code in O(n).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703320"/>
            <a:ext cx="1645920" cy="347472"/>
          </a:xfrm>
          <a:prstGeom prst="roundRect">
            <a:avLst/>
          </a:prstGeom>
          <a:solidFill>
            <a:srgbClr val="1A2336"/>
          </a:solidFill>
          <a:ln>
            <a:solidFill>
              <a:srgbClr val="43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721607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3D3FF"/>
                </a:solidFill>
                <a:latin typeface="Aptos"/>
              </a:defRPr>
            </a:pPr>
            <a:r>
              <a:t>TWO POINTERS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80" y="3703320"/>
            <a:ext cx="1828800" cy="347472"/>
          </a:xfrm>
          <a:prstGeom prst="roundRect">
            <a:avLst/>
          </a:prstGeom>
          <a:solidFill>
            <a:srgbClr val="1A2336"/>
          </a:solidFill>
          <a:ln>
            <a:solidFill>
              <a:srgbClr val="54E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3721607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54E09A"/>
                </a:solidFill>
                <a:latin typeface="Aptos"/>
              </a:defRPr>
            </a:pPr>
            <a:r>
              <a:t>SLIDING WINDOW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3703320"/>
            <a:ext cx="1737360" cy="347472"/>
          </a:xfrm>
          <a:prstGeom prst="roundRect">
            <a:avLst/>
          </a:prstGeom>
          <a:solidFill>
            <a:srgbClr val="1A2336"/>
          </a:solidFill>
          <a:ln>
            <a:solidFill>
              <a:srgbClr val="FFC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3721607"/>
            <a:ext cx="1737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CD5C"/>
                </a:solidFill>
                <a:latin typeface="Aptos"/>
              </a:defRPr>
            </a:pPr>
            <a:r>
              <a:t>PREFIX / SUFFIX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3703320"/>
            <a:ext cx="1417320" cy="347472"/>
          </a:xfrm>
          <a:prstGeom prst="roundRect">
            <a:avLst/>
          </a:prstGeom>
          <a:solidFill>
            <a:srgbClr val="1A2336"/>
          </a:solidFill>
          <a:ln>
            <a:solidFill>
              <a:srgbClr val="9D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3721607"/>
            <a:ext cx="1417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9D7DFF"/>
                </a:solidFill>
                <a:latin typeface="Aptos"/>
              </a:defRPr>
            </a:pPr>
            <a:r>
              <a:t>HASHING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703320"/>
            <a:ext cx="1234440" cy="347472"/>
          </a:xfrm>
          <a:prstGeom prst="roundRect">
            <a:avLst/>
          </a:prstGeom>
          <a:solidFill>
            <a:srgbClr val="1A2336"/>
          </a:solidFill>
          <a:ln>
            <a:solidFill>
              <a:srgbClr val="FF6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721607"/>
            <a:ext cx="1234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69A7"/>
                </a:solidFill>
                <a:latin typeface="Aptos"/>
              </a:defRPr>
            </a:pPr>
            <a:r>
              <a:t>KADANE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1051560"/>
            <a:ext cx="2423160" cy="4069080"/>
          </a:xfrm>
          <a:prstGeom prst="roundRect">
            <a:avLst/>
          </a:prstGeom>
          <a:solidFill>
            <a:srgbClr val="141B2A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25128" y="1197863"/>
            <a:ext cx="20208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3D3FF"/>
                </a:solidFill>
                <a:latin typeface="Aptos"/>
              </a:defRPr>
            </a:pPr>
            <a:r>
              <a:t>20-DAY CHECKPOINT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1600200"/>
            <a:ext cx="1874519" cy="2971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400" b="0">
                <a:solidFill>
                  <a:srgbClr val="F2F6FC"/>
                </a:solidFill>
                <a:latin typeface="Aptos"/>
              </a:defRPr>
            </a:pPr>
            <a:r>
              <a:t>Arrays → Searching →</a:t>
            </a:r>
            <a:br/>
            <a:r>
              <a:t>Two Pointers → Sliding Window</a:t>
            </a:r>
            <a:br/>
            <a:r>
              <a:t>→ Prefix Sum → Difference Array</a:t>
            </a:r>
            <a:br/>
            <a:r>
              <a:t>→ Kadane → Majority Element</a:t>
            </a:r>
            <a:br/>
            <a:r>
              <a:t>→ Merge Intervals →</a:t>
            </a:r>
            <a:br/>
            <a:r>
              <a:t>Today: Pattern Recognition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6035040"/>
            <a:ext cx="59436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00" b="0">
                <a:solidFill>
                  <a:srgbClr val="A9B5CA"/>
                </a:solidFill>
                <a:latin typeface="Aptos"/>
              </a:defRPr>
            </a:pPr>
            <a:r>
              <a:t>GitHub: ritesh2687/dsa_ppt_post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9B5CA"/>
                </a:solidFill>
                <a:latin typeface="Aptos"/>
              </a:defRPr>
            </a:pPr>
            <a:r>
              <a:t>DSA From Scratch to Advanced  •  Day 20                                      01</a:t>
            </a:r>
          </a:p>
        </p:txBody>
      </p:sp>
      <p:sp>
        <p:nvSpPr>
          <p:cNvPr id="21" name="TextBox 20">
            <a:hlinkClick r:id="rId2"/>
          </p:cNvPr>
          <p:cNvSpPr txBox="1"/>
          <p:nvPr/>
        </p:nvSpPr>
        <p:spPr>
          <a:xfrm>
            <a:off x="667512" y="5989320"/>
            <a:ext cx="6126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3D3FF"/>
                </a:solidFill>
                <a:latin typeface="Aptos"/>
              </a:defRPr>
            </a:pPr>
            <a:r>
              <a:t>GitHub: https://github.com/ritesh2687/dsa_ppt_post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3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6FC"/>
                </a:solidFill>
                <a:latin typeface="Aptos"/>
              </a:defRPr>
            </a:pPr>
            <a:r>
              <a:t>Learning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058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9B5CA"/>
                </a:solidFill>
                <a:latin typeface="Aptos"/>
              </a:defRPr>
            </a:pPr>
            <a:r>
              <a:t>Concept → Pattern → Example → C++ → Complexity → Problems → Interview takeaway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5440680" cy="4343400"/>
          </a:xfrm>
          <a:prstGeom prst="roundRect">
            <a:avLst/>
          </a:prstGeom>
          <a:solidFill>
            <a:srgbClr val="141B2A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655063"/>
            <a:ext cx="50383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3D3FF"/>
                </a:solidFill>
                <a:latin typeface="Aptos"/>
              </a:defRPr>
            </a:pPr>
            <a:r>
              <a:t>TODAY'S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4846320" cy="3611880"/>
          </a:xfrm>
          <a:prstGeom prst="rect">
            <a:avLst/>
          </a:prstGeom>
          <a:noFill/>
        </p:spPr>
        <p:txBody>
          <a:bodyPr wrap="square" lIns="36576" rIns="2743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2F6FC"/>
                </a:solidFill>
                <a:latin typeface="Aptos"/>
              </a:defRPr>
            </a:pPr>
            <a:r>
              <a:t>• What are array patterns and why they matter?</a:t>
            </a:r>
          </a:p>
          <a:p>
            <a:pPr>
              <a:spcAft>
                <a:spcPts val="400"/>
              </a:spcAft>
              <a:defRPr sz="1500">
                <a:solidFill>
                  <a:srgbClr val="F2F6FC"/>
                </a:solidFill>
                <a:latin typeface="Aptos"/>
              </a:defRPr>
            </a:pPr>
            <a:r>
              <a:t>• Pattern recognition cheat sheet</a:t>
            </a:r>
          </a:p>
          <a:p>
            <a:pPr>
              <a:spcAft>
                <a:spcPts val="400"/>
              </a:spcAft>
              <a:defRPr sz="1500">
                <a:solidFill>
                  <a:srgbClr val="F2F6FC"/>
                </a:solidFill>
                <a:latin typeface="Aptos"/>
              </a:defRPr>
            </a:pPr>
            <a:r>
              <a:t>• Two pointers + Sliding Window</a:t>
            </a:r>
          </a:p>
          <a:p>
            <a:pPr>
              <a:spcAft>
                <a:spcPts val="400"/>
              </a:spcAft>
              <a:defRPr sz="1500">
                <a:solidFill>
                  <a:srgbClr val="F2F6FC"/>
                </a:solidFill>
                <a:latin typeface="Aptos"/>
              </a:defRPr>
            </a:pPr>
            <a:r>
              <a:t>• Prefix/Suffix + Hashing/Frequency</a:t>
            </a:r>
          </a:p>
          <a:p>
            <a:pPr>
              <a:spcAft>
                <a:spcPts val="400"/>
              </a:spcAft>
              <a:defRPr sz="1500">
                <a:solidFill>
                  <a:srgbClr val="F2F6FC"/>
                </a:solidFill>
                <a:latin typeface="Aptos"/>
              </a:defRPr>
            </a:pPr>
            <a:r>
              <a:t>• Kadane + Sorting/Scanning + Binary Search</a:t>
            </a:r>
          </a:p>
          <a:p>
            <a:pPr>
              <a:spcAft>
                <a:spcPts val="400"/>
              </a:spcAft>
              <a:defRPr sz="1500">
                <a:solidFill>
                  <a:srgbClr val="F2F6FC"/>
                </a:solidFill>
                <a:latin typeface="Aptos"/>
              </a:defRPr>
            </a:pPr>
            <a:r>
              <a:t>• In-place write pointer technique</a:t>
            </a:r>
          </a:p>
          <a:p>
            <a:pPr>
              <a:spcAft>
                <a:spcPts val="400"/>
              </a:spcAft>
              <a:defRPr sz="1500">
                <a:solidFill>
                  <a:srgbClr val="F2F6FC"/>
                </a:solidFill>
                <a:latin typeface="Aptos"/>
              </a:defRPr>
            </a:pPr>
            <a:r>
              <a:t>• Complexity cheat sheet + 3 LeetCode problems</a:t>
            </a:r>
          </a:p>
          <a:p>
            <a:pPr>
              <a:spcAft>
                <a:spcPts val="400"/>
              </a:spcAft>
              <a:defRPr sz="1500">
                <a:solidFill>
                  <a:srgbClr val="F2F6FC"/>
                </a:solidFill>
                <a:latin typeface="Aptos"/>
              </a:defRPr>
            </a:pPr>
            <a:r>
              <a:t>• Interview tip, common mistakes &amp; tomorrow’s topic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08760"/>
            <a:ext cx="5303520" cy="4343400"/>
          </a:xfrm>
          <a:prstGeom prst="roundRect">
            <a:avLst/>
          </a:prstGeom>
          <a:solidFill>
            <a:srgbClr val="141B2A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4807" y="1655063"/>
            <a:ext cx="490118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4E09A"/>
                </a:solidFill>
                <a:latin typeface="Aptos"/>
              </a:defRPr>
            </a:pPr>
            <a:r>
              <a:t>CORE MINDSET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38528"/>
            <a:ext cx="45720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800" b="1">
                <a:solidFill>
                  <a:srgbClr val="F2F6FC"/>
                </a:solidFill>
                <a:latin typeface="Aptos"/>
              </a:defRPr>
            </a:pPr>
            <a:r>
              <a:t>Most array questions are not about memorizing code.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542032"/>
            <a:ext cx="45720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800" b="1">
                <a:solidFill>
                  <a:srgbClr val="54E09A"/>
                </a:solidFill>
                <a:latin typeface="Aptos"/>
              </a:defRPr>
            </a:pPr>
            <a:r>
              <a:t>They are about spotting a reusable pattern.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291840"/>
            <a:ext cx="41148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500" b="1">
                <a:solidFill>
                  <a:srgbClr val="FFCD5C"/>
                </a:solidFill>
                <a:latin typeface="Aptos"/>
              </a:defRPr>
            </a:pPr>
            <a:r>
              <a:t>Ask three questions: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675887"/>
            <a:ext cx="4389120" cy="1508760"/>
          </a:xfrm>
          <a:prstGeom prst="rect">
            <a:avLst/>
          </a:prstGeom>
          <a:noFill/>
        </p:spPr>
        <p:txBody>
          <a:bodyPr wrap="square" lIns="36576" rIns="27432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2F6FC"/>
                </a:solidFill>
                <a:latin typeface="Aptos"/>
              </a:defRPr>
            </a:pPr>
            <a:r>
              <a:t>• Is the array sorted?</a:t>
            </a:r>
          </a:p>
          <a:p>
            <a:pPr>
              <a:spcAft>
                <a:spcPts val="400"/>
              </a:spcAft>
              <a:defRPr sz="1400">
                <a:solidFill>
                  <a:srgbClr val="F2F6FC"/>
                </a:solidFill>
                <a:latin typeface="Aptos"/>
              </a:defRPr>
            </a:pPr>
            <a:r>
              <a:t>• Is the answer about a range/window?</a:t>
            </a:r>
          </a:p>
          <a:p>
            <a:pPr>
              <a:spcAft>
                <a:spcPts val="400"/>
              </a:spcAft>
              <a:defRPr sz="1400">
                <a:solidFill>
                  <a:srgbClr val="F2F6FC"/>
                </a:solidFill>
                <a:latin typeface="Aptos"/>
              </a:defRPr>
            </a:pPr>
            <a:r>
              <a:t>• Can I reuse information instead of recomputing?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9B5CA"/>
                </a:solidFill>
                <a:latin typeface="Aptos"/>
              </a:defRPr>
            </a:pPr>
            <a:r>
              <a:t>DSA From Scratch to Advanced  •  Day 20                                   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3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6FC"/>
                </a:solidFill>
                <a:latin typeface="Aptos"/>
              </a:defRPr>
            </a:pPr>
            <a:r>
              <a:t>1. What Are Array Patterns?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058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9B5CA"/>
                </a:solidFill>
                <a:latin typeface="Aptos"/>
              </a:defRPr>
            </a:pPr>
            <a:r>
              <a:t>Reusable problem-solving templates for common array structures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3657600" cy="4526280"/>
          </a:xfrm>
          <a:prstGeom prst="roundRect">
            <a:avLst/>
          </a:prstGeom>
          <a:solidFill>
            <a:srgbClr val="141B2A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609344"/>
            <a:ext cx="32552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3D3FF"/>
                </a:solidFill>
                <a:latin typeface="Aptos"/>
              </a:defRPr>
            </a:pPr>
            <a:r>
              <a:t>DEFINITION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3108960" cy="12344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700" b="1">
                <a:solidFill>
                  <a:srgbClr val="F2F6FC"/>
                </a:solidFill>
                <a:latin typeface="Aptos"/>
              </a:defRPr>
            </a:pPr>
            <a:r>
              <a:t>An array pattern is a repeatable way to process elements so that a problem can be solved efficiently.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337560"/>
            <a:ext cx="292608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500" b="0">
                <a:solidFill>
                  <a:srgbClr val="A9B5CA"/>
                </a:solidFill>
                <a:latin typeface="Aptos"/>
              </a:defRPr>
            </a:pPr>
            <a:r>
              <a:t>Instead of asking:</a:t>
            </a:r>
            <a:br/>
            <a:r>
              <a:t>“What code do I write?”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160520"/>
            <a:ext cx="2926080" cy="10058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700" b="1">
                <a:solidFill>
                  <a:srgbClr val="54E09A"/>
                </a:solidFill>
                <a:latin typeface="Aptos"/>
              </a:defRPr>
            </a:pPr>
            <a:r>
              <a:t>Ask:</a:t>
            </a:r>
            <a:br/>
            <a:r>
              <a:t>“What structure does this problem reveal?”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572768"/>
            <a:ext cx="3063240" cy="1024128"/>
          </a:xfrm>
          <a:prstGeom prst="roundRect">
            <a:avLst/>
          </a:prstGeom>
          <a:solidFill>
            <a:srgbClr val="141B2A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737360"/>
            <a:ext cx="26974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200" b="1">
                <a:solidFill>
                  <a:srgbClr val="A9B5CA"/>
                </a:solidFill>
                <a:latin typeface="Aptos"/>
              </a:defRPr>
            </a:pPr>
            <a:r>
              <a:t>Sorted / ends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075688"/>
            <a:ext cx="26974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600" b="1">
                <a:solidFill>
                  <a:srgbClr val="F2F6FC"/>
                </a:solidFill>
                <a:latin typeface="Aptos"/>
              </a:defRPr>
            </a:pPr>
            <a:r>
              <a:t>Two pointers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572768"/>
            <a:ext cx="3063240" cy="1024128"/>
          </a:xfrm>
          <a:prstGeom prst="roundRect">
            <a:avLst/>
          </a:prstGeom>
          <a:solidFill>
            <a:srgbClr val="141B2A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1737360"/>
            <a:ext cx="26974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200" b="1">
                <a:solidFill>
                  <a:srgbClr val="A9B5CA"/>
                </a:solidFill>
                <a:latin typeface="Aptos"/>
              </a:defRPr>
            </a:pPr>
            <a:r>
              <a:t>Contiguous range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075688"/>
            <a:ext cx="26974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600" b="1">
                <a:solidFill>
                  <a:srgbClr val="F2F6FC"/>
                </a:solidFill>
                <a:latin typeface="Aptos"/>
              </a:defRPr>
            </a:pPr>
            <a:r>
              <a:t>Sliding window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2926080"/>
            <a:ext cx="3063240" cy="1024128"/>
          </a:xfrm>
          <a:prstGeom prst="roundRect">
            <a:avLst/>
          </a:prstGeom>
          <a:solidFill>
            <a:srgbClr val="141B2A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3090672"/>
            <a:ext cx="26974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200" b="1">
                <a:solidFill>
                  <a:srgbClr val="A9B5CA"/>
                </a:solidFill>
                <a:latin typeface="Aptos"/>
              </a:defRPr>
            </a:pPr>
            <a:r>
              <a:t>Repeated range sums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429000"/>
            <a:ext cx="26974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600" b="1">
                <a:solidFill>
                  <a:srgbClr val="F2F6FC"/>
                </a:solidFill>
                <a:latin typeface="Aptos"/>
              </a:defRPr>
            </a:pPr>
            <a:r>
              <a:t>Prefix sum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2926080"/>
            <a:ext cx="3063240" cy="1024128"/>
          </a:xfrm>
          <a:prstGeom prst="roundRect">
            <a:avLst/>
          </a:prstGeom>
          <a:solidFill>
            <a:srgbClr val="141B2A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79" y="3090672"/>
            <a:ext cx="26974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200" b="1">
                <a:solidFill>
                  <a:srgbClr val="A9B5CA"/>
                </a:solidFill>
                <a:latin typeface="Aptos"/>
              </a:defRPr>
            </a:pPr>
            <a:r>
              <a:t>Fast lookup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3429000"/>
            <a:ext cx="26974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600" b="1">
                <a:solidFill>
                  <a:srgbClr val="F2F6FC"/>
                </a:solidFill>
                <a:latin typeface="Aptos"/>
              </a:defRPr>
            </a:pPr>
            <a:r>
              <a:t>Hashing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4279392"/>
            <a:ext cx="3063240" cy="1024128"/>
          </a:xfrm>
          <a:prstGeom prst="roundRect">
            <a:avLst/>
          </a:prstGeom>
          <a:solidFill>
            <a:srgbClr val="141B2A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4443983"/>
            <a:ext cx="26974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200" b="1">
                <a:solidFill>
                  <a:srgbClr val="A9B5CA"/>
                </a:solidFill>
                <a:latin typeface="Aptos"/>
              </a:defRPr>
            </a:pPr>
            <a:r>
              <a:t>Best subarray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782312"/>
            <a:ext cx="26974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600" b="1">
                <a:solidFill>
                  <a:srgbClr val="F2F6FC"/>
                </a:solidFill>
                <a:latin typeface="Aptos"/>
              </a:defRPr>
            </a:pPr>
            <a:r>
              <a:t>Kadane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01000" y="4279392"/>
            <a:ext cx="3063240" cy="1024128"/>
          </a:xfrm>
          <a:prstGeom prst="roundRect">
            <a:avLst/>
          </a:prstGeom>
          <a:solidFill>
            <a:srgbClr val="141B2A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79" y="4443983"/>
            <a:ext cx="26974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200" b="1">
                <a:solidFill>
                  <a:srgbClr val="A9B5CA"/>
                </a:solidFill>
                <a:latin typeface="Aptos"/>
              </a:defRPr>
            </a:pPr>
            <a:r>
              <a:t>Ordered 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4782312"/>
            <a:ext cx="26974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600" b="1">
                <a:solidFill>
                  <a:srgbClr val="F2F6FC"/>
                </a:solidFill>
                <a:latin typeface="Aptos"/>
              </a:defRPr>
            </a:pPr>
            <a:r>
              <a:t>Binary search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9B5CA"/>
                </a:solidFill>
                <a:latin typeface="Aptos"/>
              </a:defRPr>
            </a:pPr>
            <a:r>
              <a:t>DSA From Scratch to Advanced  •  Day 20                                  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3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6FC"/>
                </a:solidFill>
                <a:latin typeface="Aptos"/>
              </a:defRPr>
            </a:pPr>
            <a:r>
              <a:t>2. Pattern Recognition Cheat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058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9B5CA"/>
                </a:solidFill>
                <a:latin typeface="Aptos"/>
              </a:defRPr>
            </a:pPr>
            <a:r>
              <a:t>Before coding, classify the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10972800" cy="4526280"/>
          </a:xfrm>
          <a:prstGeom prst="roundRect">
            <a:avLst/>
          </a:prstGeom>
          <a:solidFill>
            <a:srgbClr val="141B2A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655063"/>
            <a:ext cx="10570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3D3FF"/>
                </a:solidFill>
                <a:latin typeface="Aptos"/>
              </a:defRPr>
            </a:pPr>
            <a:r>
              <a:t>QUICK DECISION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47088"/>
            <a:ext cx="42976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200" b="1">
                <a:solidFill>
                  <a:srgbClr val="43D3FF"/>
                </a:solidFill>
                <a:latin typeface="Aptos"/>
              </a:defRPr>
            </a:pPr>
            <a:r>
              <a:t>CLUE IN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847088"/>
            <a:ext cx="34747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200" b="1">
                <a:solidFill>
                  <a:srgbClr val="43D3FF"/>
                </a:solidFill>
                <a:latin typeface="Aptos"/>
              </a:defRPr>
            </a:pPr>
            <a:r>
              <a:t>LIKELY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920" y="1847088"/>
            <a:ext cx="1463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200" b="1">
                <a:solidFill>
                  <a:srgbClr val="43D3FF"/>
                </a:solidFill>
                <a:latin typeface="Aptos"/>
              </a:defRPr>
            </a:pPr>
            <a:r>
              <a:t>TYPICAL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2976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250" b="0">
                <a:solidFill>
                  <a:srgbClr val="F2F6FC"/>
                </a:solidFill>
                <a:latin typeface="Aptos"/>
              </a:defRPr>
            </a:pPr>
            <a:r>
              <a:t>Sorted array + pair/closest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331720"/>
            <a:ext cx="34747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250" b="1">
                <a:solidFill>
                  <a:srgbClr val="54E09A"/>
                </a:solidFill>
                <a:latin typeface="Aptos"/>
              </a:defRPr>
            </a:pPr>
            <a:r>
              <a:t>Two Pointers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2331720"/>
            <a:ext cx="14630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250" b="1">
                <a:solidFill>
                  <a:srgbClr val="FFCD5C"/>
                </a:solidFill>
                <a:latin typeface="Aptos"/>
              </a:defRPr>
            </a:pPr>
            <a:r>
              <a:t>O(n)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07791"/>
            <a:ext cx="42976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250" b="0">
                <a:solidFill>
                  <a:srgbClr val="F2F6FC"/>
                </a:solidFill>
                <a:latin typeface="Aptos"/>
              </a:defRPr>
            </a:pPr>
            <a:r>
              <a:t>Longest/shortest contiguous range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907791"/>
            <a:ext cx="34747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250" b="1">
                <a:solidFill>
                  <a:srgbClr val="54E09A"/>
                </a:solidFill>
                <a:latin typeface="Aptos"/>
              </a:defRPr>
            </a:pPr>
            <a:r>
              <a:t>Sliding Window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46920" y="2907791"/>
            <a:ext cx="14630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250" b="1">
                <a:solidFill>
                  <a:srgbClr val="FFCD5C"/>
                </a:solidFill>
                <a:latin typeface="Aptos"/>
              </a:defRPr>
            </a:pPr>
            <a:r>
              <a:t>O(n)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83863"/>
            <a:ext cx="42976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250" b="0">
                <a:solidFill>
                  <a:srgbClr val="F2F6FC"/>
                </a:solidFill>
                <a:latin typeface="Aptos"/>
              </a:defRPr>
            </a:pPr>
            <a:r>
              <a:t>Many range-sum queries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3483863"/>
            <a:ext cx="34747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250" b="1">
                <a:solidFill>
                  <a:srgbClr val="54E09A"/>
                </a:solidFill>
                <a:latin typeface="Aptos"/>
              </a:defRPr>
            </a:pPr>
            <a:r>
              <a:t>Prefix Sum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6920" y="3483863"/>
            <a:ext cx="14630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250" b="1">
                <a:solidFill>
                  <a:srgbClr val="FFCD5C"/>
                </a:solidFill>
                <a:latin typeface="Aptos"/>
              </a:defRPr>
            </a:pPr>
            <a:r>
              <a:t>O(1) query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059935"/>
            <a:ext cx="42976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250" b="0">
                <a:solidFill>
                  <a:srgbClr val="F2F6FC"/>
                </a:solidFill>
                <a:latin typeface="Aptos"/>
              </a:defRPr>
            </a:pPr>
            <a:r>
              <a:t>Count / frequency / seen before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4059935"/>
            <a:ext cx="34747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250" b="1">
                <a:solidFill>
                  <a:srgbClr val="54E09A"/>
                </a:solidFill>
                <a:latin typeface="Aptos"/>
              </a:defRPr>
            </a:pPr>
            <a:r>
              <a:t>Hash Map / 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20" y="4059935"/>
            <a:ext cx="14630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250" b="1">
                <a:solidFill>
                  <a:srgbClr val="FFCD5C"/>
                </a:solidFill>
                <a:latin typeface="Aptos"/>
              </a:defRPr>
            </a:pPr>
            <a:r>
              <a:t>O(n) avg.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636008"/>
            <a:ext cx="42976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250" b="0">
                <a:solidFill>
                  <a:srgbClr val="F2F6FC"/>
                </a:solidFill>
                <a:latin typeface="Aptos"/>
              </a:defRPr>
            </a:pPr>
            <a:r>
              <a:t>Maximum contiguous sum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4636008"/>
            <a:ext cx="34747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250" b="1">
                <a:solidFill>
                  <a:srgbClr val="54E09A"/>
                </a:solidFill>
                <a:latin typeface="Aptos"/>
              </a:defRPr>
            </a:pPr>
            <a:r>
              <a:t>Kadane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6920" y="4636008"/>
            <a:ext cx="14630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250" b="1">
                <a:solidFill>
                  <a:srgbClr val="FFCD5C"/>
                </a:solidFill>
                <a:latin typeface="Aptos"/>
              </a:defRPr>
            </a:pPr>
            <a:r>
              <a:t>O(n)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212079"/>
            <a:ext cx="429768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250" b="0">
                <a:solidFill>
                  <a:srgbClr val="F2F6FC"/>
                </a:solidFill>
                <a:latin typeface="Aptos"/>
              </a:defRPr>
            </a:pPr>
            <a:r>
              <a:t>Sorted search / monotonic answer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5212079"/>
            <a:ext cx="347472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250" b="1">
                <a:solidFill>
                  <a:srgbClr val="54E09A"/>
                </a:solidFill>
                <a:latin typeface="Aptos"/>
              </a:defRPr>
            </a:pPr>
            <a:r>
              <a:t>Binary 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20" y="5212079"/>
            <a:ext cx="14630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250" b="1">
                <a:solidFill>
                  <a:srgbClr val="FFCD5C"/>
                </a:solidFill>
                <a:latin typeface="Aptos"/>
              </a:defRPr>
            </a:pPr>
            <a:r>
              <a:t>O(log 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925312"/>
            <a:ext cx="103327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200" b="1">
                <a:solidFill>
                  <a:srgbClr val="A9B5CA"/>
                </a:solidFill>
                <a:latin typeface="Aptos"/>
              </a:defRPr>
            </a:pPr>
            <a:r>
              <a:t>Rule of thumb: if you see “subarray / substring / contiguous”, immediately test a window or prefix-based idea.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9B5CA"/>
                </a:solidFill>
                <a:latin typeface="Aptos"/>
              </a:defRPr>
            </a:pPr>
            <a:r>
              <a:t>DSA From Scratch to Advanced  •  Day 20                                  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3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6FC"/>
                </a:solidFill>
                <a:latin typeface="Aptos"/>
              </a:defRPr>
            </a:pPr>
            <a:r>
              <a:t>3. Two Pointers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058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9B5CA"/>
                </a:solidFill>
                <a:latin typeface="Aptos"/>
              </a:defRPr>
            </a:pPr>
            <a:r>
              <a:t>Use two indices to avoid repeated scanning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4937760" cy="4526280"/>
          </a:xfrm>
          <a:prstGeom prst="roundRect">
            <a:avLst/>
          </a:prstGeom>
          <a:solidFill>
            <a:srgbClr val="141B2A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609344"/>
            <a:ext cx="45354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3D3FF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47088"/>
            <a:ext cx="4343400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800" b="1">
                <a:solidFill>
                  <a:srgbClr val="F2F6FC"/>
                </a:solidFill>
                <a:latin typeface="Aptos"/>
              </a:defRPr>
            </a:pPr>
            <a:r>
              <a:t>Keep two positions and move them according to the condition.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834640"/>
            <a:ext cx="640080" cy="502920"/>
          </a:xfrm>
          <a:prstGeom prst="roundRect">
            <a:avLst/>
          </a:prstGeom>
          <a:solidFill>
            <a:srgbClr val="1A2336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89864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2F6FC"/>
                </a:solidFill>
                <a:latin typeface="Cascadia Mono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355848"/>
            <a:ext cx="6400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A9B5CA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55064" y="2834640"/>
            <a:ext cx="640080" cy="502920"/>
          </a:xfrm>
          <a:prstGeom prst="roundRect">
            <a:avLst/>
          </a:prstGeom>
          <a:solidFill>
            <a:srgbClr val="1A2336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55064" y="289864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2F6FC"/>
                </a:solidFill>
                <a:latin typeface="Cascadia Mono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55064" y="3355848"/>
            <a:ext cx="6400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A9B5CA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50008" y="2834640"/>
            <a:ext cx="640080" cy="502920"/>
          </a:xfrm>
          <a:prstGeom prst="roundRect">
            <a:avLst/>
          </a:prstGeom>
          <a:solidFill>
            <a:srgbClr val="1A2336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50008" y="289864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2F6FC"/>
                </a:solidFill>
                <a:latin typeface="Cascadia Mono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0008" y="3355848"/>
            <a:ext cx="6400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A9B5C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44952" y="2834640"/>
            <a:ext cx="640080" cy="502920"/>
          </a:xfrm>
          <a:prstGeom prst="roundRect">
            <a:avLst/>
          </a:prstGeom>
          <a:solidFill>
            <a:srgbClr val="1A2336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44952" y="289864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2F6FC"/>
                </a:solidFill>
                <a:latin typeface="Cascadia Mono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44952" y="3355848"/>
            <a:ext cx="6400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A9B5C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39896" y="2834640"/>
            <a:ext cx="640080" cy="502920"/>
          </a:xfrm>
          <a:prstGeom prst="roundRect">
            <a:avLst/>
          </a:prstGeom>
          <a:solidFill>
            <a:srgbClr val="1A2336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39896" y="289864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2F6FC"/>
                </a:solidFill>
                <a:latin typeface="Cascadia Mono"/>
              </a:defRPr>
            </a:pPr>
            <a: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39896" y="3355848"/>
            <a:ext cx="6400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A9B5C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2834640"/>
            <a:ext cx="640080" cy="502920"/>
          </a:xfrm>
          <a:prstGeom prst="roundRect">
            <a:avLst/>
          </a:prstGeom>
          <a:solidFill>
            <a:srgbClr val="1A2336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2898648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2F6FC"/>
                </a:solidFill>
                <a:latin typeface="Cascadia Mono"/>
              </a:defRPr>
            </a:pPr>
            <a: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3355848"/>
            <a:ext cx="6400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A9B5CA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520440"/>
            <a:ext cx="5943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200" b="1">
                <a:solidFill>
                  <a:srgbClr val="43D3FF"/>
                </a:solidFill>
                <a:latin typeface="Aptos"/>
              </a:defRPr>
            </a:pPr>
            <a:r>
              <a:t>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3520440"/>
            <a:ext cx="5943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200" b="1">
                <a:solidFill>
                  <a:srgbClr val="FF69A7"/>
                </a:solidFill>
                <a:latin typeface="Aptos"/>
              </a:defRPr>
            </a:pPr>
            <a:r>
              <a:t>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160520"/>
            <a:ext cx="18288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400" b="1">
                <a:solidFill>
                  <a:srgbClr val="FFCD5C"/>
                </a:solidFill>
                <a:latin typeface="Aptos"/>
              </a:defRPr>
            </a:pPr>
            <a:r>
              <a:t>Typical when: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4498848"/>
            <a:ext cx="4023360" cy="1097280"/>
          </a:xfrm>
          <a:prstGeom prst="rect">
            <a:avLst/>
          </a:prstGeom>
          <a:noFill/>
        </p:spPr>
        <p:txBody>
          <a:bodyPr wrap="square" lIns="36576" rIns="27432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2F6FC"/>
                </a:solidFill>
                <a:latin typeface="Aptos"/>
              </a:defRPr>
            </a:pPr>
            <a:r>
              <a:t>• array is sorted</a:t>
            </a:r>
          </a:p>
          <a:p>
            <a:pPr>
              <a:spcAft>
                <a:spcPts val="400"/>
              </a:spcAft>
              <a:defRPr sz="1300">
                <a:solidFill>
                  <a:srgbClr val="F2F6FC"/>
                </a:solidFill>
                <a:latin typeface="Aptos"/>
              </a:defRPr>
            </a:pPr>
            <a:r>
              <a:t>• pair / opposite-end relationship</a:t>
            </a:r>
          </a:p>
          <a:p>
            <a:pPr>
              <a:spcAft>
                <a:spcPts val="400"/>
              </a:spcAft>
              <a:defRPr sz="1300">
                <a:solidFill>
                  <a:srgbClr val="F2F6FC"/>
                </a:solidFill>
                <a:latin typeface="Aptos"/>
              </a:defRPr>
            </a:pPr>
            <a:r>
              <a:t>• in-place compaction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06440" y="1463040"/>
            <a:ext cx="5760720" cy="4526280"/>
          </a:xfrm>
          <a:prstGeom prst="roundRect">
            <a:avLst/>
          </a:prstGeom>
          <a:solidFill>
            <a:srgbClr val="141B2A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07607" y="1609344"/>
            <a:ext cx="535838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4E09A"/>
                </a:solidFill>
                <a:latin typeface="Aptos"/>
              </a:defRPr>
            </a:pPr>
            <a:r>
              <a:t>C++ TEMPLATE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08192" y="1965960"/>
            <a:ext cx="5166360" cy="2423160"/>
          </a:xfrm>
          <a:prstGeom prst="roundRect">
            <a:avLst/>
          </a:prstGeom>
          <a:solidFill>
            <a:srgbClr val="080C14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2783" y="2093976"/>
            <a:ext cx="4837176" cy="2167128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defRPr sz="1300">
                <a:solidFill>
                  <a:srgbClr val="DBE7F7"/>
                </a:solidFill>
                <a:latin typeface="Cascadia Mono"/>
              </a:defRPr>
            </a:pPr>
            <a:r>
              <a:t>int l = 0, r = n - 1;</a:t>
            </a:r>
            <a:br/>
            <a:r>
              <a:t>while (l &lt; r) {</a:t>
            </a:r>
            <a:br/>
            <a:r>
              <a:t>    int sum = a[l] + a[r];</a:t>
            </a:r>
            <a:br/>
            <a:br/>
            <a:r>
              <a:t>    if (sum == target) return true;</a:t>
            </a:r>
            <a:br/>
            <a:r>
              <a:t>    if (sum &lt; target) ++l;</a:t>
            </a:r>
            <a:br/>
            <a:r>
              <a:t>    else --r;</a:t>
            </a:r>
            <a:br/>
            <a:r>
              <a:t>}</a:t>
            </a:r>
            <a:br/>
            <a:r>
              <a:t>return false;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4663440"/>
            <a:ext cx="498348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400" b="0">
                <a:solidFill>
                  <a:srgbClr val="F2F6FC"/>
                </a:solidFill>
                <a:latin typeface="Aptos"/>
              </a:defRPr>
            </a:pPr>
            <a:r>
              <a:t>Why it works: each pointer only moves forward/backward → at most O(n) moves.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80" y="5440680"/>
            <a:ext cx="4160520" cy="347472"/>
          </a:xfrm>
          <a:prstGeom prst="roundRect">
            <a:avLst/>
          </a:prstGeom>
          <a:solidFill>
            <a:srgbClr val="1A2336"/>
          </a:solidFill>
          <a:ln>
            <a:solidFill>
              <a:srgbClr val="FFC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0" y="5458968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CD5C"/>
                </a:solidFill>
                <a:latin typeface="Aptos"/>
              </a:defRPr>
            </a:pPr>
            <a:r>
              <a:t>PAUSE &amp; PREDICT: What happens if sum &lt; target?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9B5CA"/>
                </a:solidFill>
                <a:latin typeface="Aptos"/>
              </a:defRPr>
            </a:pPr>
            <a:r>
              <a:t>DSA From Scratch to Advanced  •  Day 20                                  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3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6FC"/>
                </a:solidFill>
                <a:latin typeface="Aptos"/>
              </a:defRPr>
            </a:pPr>
            <a:r>
              <a:t>4. Sliding Window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058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9B5CA"/>
                </a:solidFill>
                <a:latin typeface="Aptos"/>
              </a:defRPr>
            </a:pPr>
            <a:r>
              <a:t>Best for contiguous subarray / substring constraints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94960" cy="4526280"/>
          </a:xfrm>
          <a:prstGeom prst="roundRect">
            <a:avLst/>
          </a:prstGeom>
          <a:solidFill>
            <a:srgbClr val="141B2A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609344"/>
            <a:ext cx="49926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4E09A"/>
                </a:solidFill>
                <a:latin typeface="Aptos"/>
              </a:defRPr>
            </a:pPr>
            <a:r>
              <a:t>MENTAL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47088"/>
            <a:ext cx="457200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900" b="1">
                <a:solidFill>
                  <a:srgbClr val="F2F6FC"/>
                </a:solidFill>
                <a:latin typeface="Aptos"/>
              </a:defRPr>
            </a:pPr>
            <a:r>
              <a:t>Expand → check → shrink → record answer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788920"/>
            <a:ext cx="676656" cy="502920"/>
          </a:xfrm>
          <a:prstGeom prst="roundRect">
            <a:avLst/>
          </a:prstGeom>
          <a:solidFill>
            <a:srgbClr val="1A2336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852927"/>
            <a:ext cx="6766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2F6FC"/>
                </a:solidFill>
                <a:latin typeface="Cascadia Mono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310127"/>
            <a:ext cx="676656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A9B5CA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1640" y="2788920"/>
            <a:ext cx="676656" cy="502920"/>
          </a:xfrm>
          <a:prstGeom prst="roundRect">
            <a:avLst/>
          </a:prstGeom>
          <a:solidFill>
            <a:srgbClr val="1A2336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40" y="2852927"/>
            <a:ext cx="6766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2F6FC"/>
                </a:solidFill>
                <a:latin typeface="Cascadia Mono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310127"/>
            <a:ext cx="676656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A9B5CA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23160" y="2788920"/>
            <a:ext cx="676656" cy="502920"/>
          </a:xfrm>
          <a:prstGeom prst="roundRect">
            <a:avLst/>
          </a:prstGeom>
          <a:solidFill>
            <a:srgbClr val="1A2336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23160" y="2852927"/>
            <a:ext cx="6766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2F6FC"/>
                </a:solidFill>
                <a:latin typeface="Cascadia Mono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3310127"/>
            <a:ext cx="676656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A9B5C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54680" y="2788920"/>
            <a:ext cx="676656" cy="502920"/>
          </a:xfrm>
          <a:prstGeom prst="roundRect">
            <a:avLst/>
          </a:prstGeom>
          <a:solidFill>
            <a:srgbClr val="1A2336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54680" y="2852927"/>
            <a:ext cx="6766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2F6FC"/>
                </a:solidFill>
                <a:latin typeface="Cascadia Mono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3310127"/>
            <a:ext cx="676656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A9B5C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86200" y="2788920"/>
            <a:ext cx="676656" cy="502920"/>
          </a:xfrm>
          <a:prstGeom prst="roundRect">
            <a:avLst/>
          </a:prstGeom>
          <a:solidFill>
            <a:srgbClr val="1A2336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86200" y="2852927"/>
            <a:ext cx="6766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2F6FC"/>
                </a:solidFill>
                <a:latin typeface="Cascadia Mono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3310127"/>
            <a:ext cx="676656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A9B5C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17720" y="2788920"/>
            <a:ext cx="676656" cy="502920"/>
          </a:xfrm>
          <a:prstGeom prst="roundRect">
            <a:avLst/>
          </a:prstGeom>
          <a:solidFill>
            <a:srgbClr val="1A2336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2852927"/>
            <a:ext cx="6766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2F6FC"/>
                </a:solidFill>
                <a:latin typeface="Cascadia Mono"/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310127"/>
            <a:ext cx="676656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A9B5CA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" y="3474720"/>
            <a:ext cx="5943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200" b="1">
                <a:solidFill>
                  <a:srgbClr val="54E09A"/>
                </a:solidFill>
                <a:latin typeface="Aptos"/>
              </a:defRPr>
            </a:pPr>
            <a:r>
              <a:t>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3474720"/>
            <a:ext cx="5943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200" b="1">
                <a:solidFill>
                  <a:srgbClr val="54E09A"/>
                </a:solidFill>
                <a:latin typeface="Aptos"/>
              </a:defRPr>
            </a:pPr>
            <a:r>
              <a:t>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023360"/>
            <a:ext cx="20116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400" b="1">
                <a:solidFill>
                  <a:srgbClr val="FFCD5C"/>
                </a:solidFill>
                <a:latin typeface="Aptos"/>
              </a:defRPr>
            </a:pPr>
            <a:r>
              <a:t>Common questions: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370832"/>
            <a:ext cx="4526280" cy="1143000"/>
          </a:xfrm>
          <a:prstGeom prst="rect">
            <a:avLst/>
          </a:prstGeom>
          <a:noFill/>
        </p:spPr>
        <p:txBody>
          <a:bodyPr wrap="square" lIns="36576" rIns="27432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2F6FC"/>
                </a:solidFill>
                <a:latin typeface="Aptos"/>
              </a:defRPr>
            </a:pPr>
            <a:r>
              <a:t>• max/min sum of fixed size k</a:t>
            </a:r>
          </a:p>
          <a:p>
            <a:pPr>
              <a:spcAft>
                <a:spcPts val="400"/>
              </a:spcAft>
              <a:defRPr sz="1300">
                <a:solidFill>
                  <a:srgbClr val="F2F6FC"/>
                </a:solidFill>
                <a:latin typeface="Aptos"/>
              </a:defRPr>
            </a:pPr>
            <a:r>
              <a:t>• longest valid window</a:t>
            </a:r>
          </a:p>
          <a:p>
            <a:pPr>
              <a:spcAft>
                <a:spcPts val="400"/>
              </a:spcAft>
              <a:defRPr sz="1300">
                <a:solidFill>
                  <a:srgbClr val="F2F6FC"/>
                </a:solidFill>
                <a:latin typeface="Aptos"/>
              </a:defRPr>
            </a:pPr>
            <a:r>
              <a:t>• smallest window satisfying condition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1463040"/>
            <a:ext cx="5349240" cy="4526280"/>
          </a:xfrm>
          <a:prstGeom prst="roundRect">
            <a:avLst/>
          </a:prstGeom>
          <a:solidFill>
            <a:srgbClr val="141B2A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1609344"/>
            <a:ext cx="494690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3D3FF"/>
                </a:solidFill>
                <a:latin typeface="Aptos"/>
              </a:defRPr>
            </a:pPr>
            <a:r>
              <a:t>FIXED-SIZE TEMPLATE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1965960"/>
            <a:ext cx="4800600" cy="2423160"/>
          </a:xfrm>
          <a:prstGeom prst="roundRect">
            <a:avLst/>
          </a:prstGeom>
          <a:solidFill>
            <a:srgbClr val="080C14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56831" y="2093976"/>
            <a:ext cx="4471416" cy="2167128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defRPr sz="1280">
                <a:solidFill>
                  <a:srgbClr val="DBE7F7"/>
                </a:solidFill>
                <a:latin typeface="Cascadia Mono"/>
              </a:defRPr>
            </a:pPr>
            <a:r>
              <a:t>long long sum = 0;</a:t>
            </a:r>
            <a:br/>
            <a:r>
              <a:t>for (int r = 0; r &lt; n; ++r) {</a:t>
            </a:r>
            <a:br/>
            <a:r>
              <a:t>    sum += a[r];</a:t>
            </a:r>
            <a:br/>
            <a:br/>
            <a:r>
              <a:t>    if (r &gt;= k)</a:t>
            </a:r>
            <a:br/>
            <a:r>
              <a:t>        sum -= a[r - k];</a:t>
            </a:r>
            <a:br/>
            <a:br/>
            <a:r>
              <a:t>    if (r &gt;= k - 1)</a:t>
            </a:r>
            <a:br/>
            <a:r>
              <a:t>        ans = max(ans, sum);</a:t>
            </a:r>
            <a:br/>
            <a:r>
              <a:t>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663440"/>
            <a:ext cx="457200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400" b="0">
                <a:solidFill>
                  <a:srgbClr val="F2F6FC"/>
                </a:solidFill>
                <a:latin typeface="Aptos"/>
              </a:defRPr>
            </a:pPr>
            <a:r>
              <a:t>Key advantage: each element enters and leaves the window once.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92240" y="5440680"/>
            <a:ext cx="3657600" cy="347472"/>
          </a:xfrm>
          <a:prstGeom prst="roundRect">
            <a:avLst/>
          </a:prstGeom>
          <a:solidFill>
            <a:srgbClr val="1A2336"/>
          </a:solidFill>
          <a:ln>
            <a:solidFill>
              <a:srgbClr val="54E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5458968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54E09A"/>
                </a:solidFill>
                <a:latin typeface="Aptos"/>
              </a:defRPr>
            </a:pPr>
            <a:r>
              <a:t>PATTERN: CONTIGUOUS + MOVING RANGE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9B5CA"/>
                </a:solidFill>
                <a:latin typeface="Aptos"/>
              </a:defRPr>
            </a:pPr>
            <a:r>
              <a:t>DSA From Scratch to Advanced  •  Day 20                                  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3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6FC"/>
                </a:solidFill>
                <a:latin typeface="Aptos"/>
              </a:defRPr>
            </a:pPr>
            <a:r>
              <a:t>5. Prefix &amp; Suffix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058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9B5CA"/>
                </a:solidFill>
                <a:latin typeface="Aptos"/>
              </a:defRPr>
            </a:pPr>
            <a:r>
              <a:t>Precompute information so you do not recompute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49240" cy="4526280"/>
          </a:xfrm>
          <a:prstGeom prst="roundRect">
            <a:avLst/>
          </a:prstGeom>
          <a:solidFill>
            <a:srgbClr val="141B2A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609344"/>
            <a:ext cx="494690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CD5C"/>
                </a:solidFill>
                <a:latin typeface="Aptos"/>
              </a:defRPr>
            </a:pPr>
            <a:r>
              <a:t>PREFIX SUM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457200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600" b="1">
                <a:solidFill>
                  <a:srgbClr val="F2F6FC"/>
                </a:solidFill>
                <a:latin typeface="Aptos"/>
              </a:defRPr>
            </a:pPr>
            <a:r>
              <a:t>prefix[i] = sum of elements before / through 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697480"/>
            <a:ext cx="768096" cy="502920"/>
          </a:xfrm>
          <a:prstGeom prst="roundRect">
            <a:avLst/>
          </a:prstGeom>
          <a:solidFill>
            <a:srgbClr val="1A2336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761488"/>
            <a:ext cx="7680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2F6FC"/>
                </a:solidFill>
                <a:latin typeface="Cascadia Mono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18688"/>
            <a:ext cx="768096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A9B5CA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83080" y="2697480"/>
            <a:ext cx="768096" cy="502920"/>
          </a:xfrm>
          <a:prstGeom prst="roundRect">
            <a:avLst/>
          </a:prstGeom>
          <a:solidFill>
            <a:srgbClr val="1A2336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83080" y="2761488"/>
            <a:ext cx="7680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2F6FC"/>
                </a:solidFill>
                <a:latin typeface="Cascadia Mono"/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218688"/>
            <a:ext cx="768096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A9B5CA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06040" y="2697480"/>
            <a:ext cx="768096" cy="502920"/>
          </a:xfrm>
          <a:prstGeom prst="roundRect">
            <a:avLst/>
          </a:prstGeom>
          <a:solidFill>
            <a:srgbClr val="1A2336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06040" y="2761488"/>
            <a:ext cx="7680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2F6FC"/>
                </a:solidFill>
                <a:latin typeface="Cascadia Mono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3218688"/>
            <a:ext cx="768096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A9B5C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2697480"/>
            <a:ext cx="768096" cy="502920"/>
          </a:xfrm>
          <a:prstGeom prst="roundRect">
            <a:avLst/>
          </a:prstGeom>
          <a:solidFill>
            <a:srgbClr val="1A2336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9000" y="2761488"/>
            <a:ext cx="7680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2F6FC"/>
                </a:solidFill>
                <a:latin typeface="Cascadia Mono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3218688"/>
            <a:ext cx="768096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A9B5C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2697480"/>
            <a:ext cx="768096" cy="502920"/>
          </a:xfrm>
          <a:prstGeom prst="roundRect">
            <a:avLst/>
          </a:prstGeom>
          <a:solidFill>
            <a:srgbClr val="1A2336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51960" y="2761488"/>
            <a:ext cx="7680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2F6FC"/>
                </a:solidFill>
                <a:latin typeface="Cascadia Mono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3218688"/>
            <a:ext cx="768096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A9B5C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429000"/>
            <a:ext cx="9144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200" b="1">
                <a:solidFill>
                  <a:srgbClr val="A9B5CA"/>
                </a:solidFill>
                <a:latin typeface="Aptos"/>
              </a:defRPr>
            </a:pPr>
            <a:r>
              <a:t>Prefix: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" y="3749039"/>
            <a:ext cx="768096" cy="502920"/>
          </a:xfrm>
          <a:prstGeom prst="roundRect">
            <a:avLst/>
          </a:prstGeom>
          <a:solidFill>
            <a:srgbClr val="1A2336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3813048"/>
            <a:ext cx="7680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2F6FC"/>
                </a:solidFill>
                <a:latin typeface="Cascadia Mono"/>
              </a:defRPr>
            </a:pPr>
            <a:r>
              <a:t>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783080" y="3749039"/>
            <a:ext cx="768096" cy="502920"/>
          </a:xfrm>
          <a:prstGeom prst="roundRect">
            <a:avLst/>
          </a:prstGeom>
          <a:solidFill>
            <a:srgbClr val="1A2336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83080" y="3813048"/>
            <a:ext cx="7680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2F6FC"/>
                </a:solidFill>
                <a:latin typeface="Cascadia Mono"/>
              </a:defRPr>
            </a:pPr>
            <a:r>
              <a:t>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06040" y="3749039"/>
            <a:ext cx="768096" cy="502920"/>
          </a:xfrm>
          <a:prstGeom prst="roundRect">
            <a:avLst/>
          </a:prstGeom>
          <a:solidFill>
            <a:srgbClr val="1A2336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06040" y="3813048"/>
            <a:ext cx="7680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2F6FC"/>
                </a:solidFill>
                <a:latin typeface="Cascadia Mono"/>
              </a:defRPr>
            </a:pPr>
            <a:r>
              <a:t>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29000" y="3749039"/>
            <a:ext cx="768096" cy="502920"/>
          </a:xfrm>
          <a:prstGeom prst="roundRect">
            <a:avLst/>
          </a:prstGeom>
          <a:solidFill>
            <a:srgbClr val="1A2336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29000" y="3813048"/>
            <a:ext cx="7680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2F6FC"/>
                </a:solidFill>
                <a:latin typeface="Cascadia Mono"/>
              </a:defRPr>
            </a:pPr>
            <a:r>
              <a:t>7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51960" y="3749039"/>
            <a:ext cx="768096" cy="502920"/>
          </a:xfrm>
          <a:prstGeom prst="roundRect">
            <a:avLst/>
          </a:prstGeom>
          <a:solidFill>
            <a:srgbClr val="1A2336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51960" y="3813048"/>
            <a:ext cx="7680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2F6FC"/>
                </a:solidFill>
                <a:latin typeface="Cascadia Mono"/>
              </a:defRPr>
            </a:pPr>
            <a:r>
              <a:t>10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74920" y="3749039"/>
            <a:ext cx="768096" cy="502920"/>
          </a:xfrm>
          <a:prstGeom prst="roundRect">
            <a:avLst/>
          </a:prstGeom>
          <a:solidFill>
            <a:srgbClr val="1A2336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4920" y="3813048"/>
            <a:ext cx="7680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2F6FC"/>
                </a:solidFill>
                <a:latin typeface="Cascadia Mono"/>
              </a:defRPr>
            </a:pPr>
            <a:r>
              <a:t>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4526280"/>
            <a:ext cx="45720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500" b="1">
                <a:solidFill>
                  <a:srgbClr val="FFCD5C"/>
                </a:solidFill>
                <a:latin typeface="Aptos"/>
              </a:defRPr>
            </a:pPr>
            <a:r>
              <a:t>Range sum [l..r] = prefix[r+1] - prefix[l]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5074920"/>
            <a:ext cx="43891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300" b="0">
                <a:solidFill>
                  <a:srgbClr val="A9B5CA"/>
                </a:solidFill>
                <a:latin typeface="Aptos"/>
              </a:defRPr>
            </a:pPr>
            <a:r>
              <a:t>Great for repeated range queries.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1463040"/>
            <a:ext cx="5349240" cy="4526280"/>
          </a:xfrm>
          <a:prstGeom prst="roundRect">
            <a:avLst/>
          </a:prstGeom>
          <a:solidFill>
            <a:srgbClr val="141B2A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19088" y="1609344"/>
            <a:ext cx="494690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9D7DFF"/>
                </a:solidFill>
                <a:latin typeface="Aptos"/>
              </a:defRPr>
            </a:pPr>
            <a:r>
              <a:t>PREFIX / SUFFIX PRODUCT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1874519"/>
            <a:ext cx="45720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600" b="1">
                <a:solidFill>
                  <a:srgbClr val="F2F6FC"/>
                </a:solidFill>
                <a:latin typeface="Aptos"/>
              </a:defRPr>
            </a:pPr>
            <a:r>
              <a:t>Example: Product of Array Except Self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92240" y="2514600"/>
            <a:ext cx="4663440" cy="2240280"/>
          </a:xfrm>
          <a:prstGeom prst="roundRect">
            <a:avLst/>
          </a:prstGeom>
          <a:solidFill>
            <a:srgbClr val="080C14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56831" y="2642616"/>
            <a:ext cx="4334255" cy="1984248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defRPr sz="1180">
                <a:solidFill>
                  <a:srgbClr val="DBE7F7"/>
                </a:solidFill>
                <a:latin typeface="Cascadia Mono"/>
              </a:defRPr>
            </a:pPr>
            <a:r>
              <a:t>left = 1;</a:t>
            </a:r>
            <a:br/>
            <a:r>
              <a:t>for (i = 0; i &lt; n; ++i) {</a:t>
            </a:r>
            <a:br/>
            <a:r>
              <a:t>    ans[i] = left;</a:t>
            </a:r>
            <a:br/>
            <a:r>
              <a:t>    left *= nums[i];</a:t>
            </a:r>
            <a:br/>
            <a:r>
              <a:t>}</a:t>
            </a:r>
            <a:br/>
            <a:br/>
            <a:r>
              <a:t>right = 1;</a:t>
            </a:r>
            <a:br/>
            <a:r>
              <a:t>for (i = n - 1; i &gt;= 0; --i) {</a:t>
            </a:r>
            <a:br/>
            <a:r>
              <a:t>    ans[i] *= right;</a:t>
            </a:r>
            <a:br/>
            <a:r>
              <a:t>    right *= nums[i];</a:t>
            </a:r>
            <a:br/>
            <a:r>
              <a:t>}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4956048"/>
            <a:ext cx="457200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400" b="0">
                <a:solidFill>
                  <a:srgbClr val="F2F6FC"/>
                </a:solidFill>
                <a:latin typeface="Aptos"/>
              </a:defRPr>
            </a:pPr>
            <a:r>
              <a:t>Idea: answer[i] = product on its left × product on its right.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92240" y="5532120"/>
            <a:ext cx="3749039" cy="347472"/>
          </a:xfrm>
          <a:prstGeom prst="roundRect">
            <a:avLst/>
          </a:prstGeom>
          <a:solidFill>
            <a:srgbClr val="1A2336"/>
          </a:solidFill>
          <a:ln>
            <a:solidFill>
              <a:srgbClr val="9D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5550407"/>
            <a:ext cx="37490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9D7DFF"/>
                </a:solidFill>
                <a:latin typeface="Aptos"/>
              </a:defRPr>
            </a:pPr>
            <a:r>
              <a:t>PAUSE: Can you do it without a division operator?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9B5CA"/>
                </a:solidFill>
                <a:latin typeface="Aptos"/>
              </a:defRPr>
            </a:pPr>
            <a:r>
              <a:t>DSA From Scratch to Advanced  •  Day 20                                   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3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6FC"/>
                </a:solidFill>
                <a:latin typeface="Aptos"/>
              </a:defRPr>
            </a:pPr>
            <a:r>
              <a:t>6. Hashing &amp; Frequency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058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9B5CA"/>
                </a:solidFill>
                <a:latin typeface="Aptos"/>
              </a:defRPr>
            </a:pPr>
            <a:r>
              <a:t>Trade extra memory for faster lookup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3794760" cy="4526280"/>
          </a:xfrm>
          <a:prstGeom prst="roundRect">
            <a:avLst/>
          </a:prstGeom>
          <a:solidFill>
            <a:srgbClr val="141B2A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609344"/>
            <a:ext cx="33924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9D7DFF"/>
                </a:solidFill>
                <a:latin typeface="Aptos"/>
              </a:defRPr>
            </a:pPr>
            <a:r>
              <a:t>WHEN TO 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3154680" cy="2194560"/>
          </a:xfrm>
          <a:prstGeom prst="rect">
            <a:avLst/>
          </a:prstGeom>
          <a:noFill/>
        </p:spPr>
        <p:txBody>
          <a:bodyPr wrap="square" lIns="36576" rIns="2743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2F6FC"/>
                </a:solidFill>
                <a:latin typeface="Aptos"/>
              </a:defRPr>
            </a:pPr>
            <a:r>
              <a:t>• count frequencies</a:t>
            </a:r>
          </a:p>
          <a:p>
            <a:pPr>
              <a:spcAft>
                <a:spcPts val="400"/>
              </a:spcAft>
              <a:defRPr sz="1500">
                <a:solidFill>
                  <a:srgbClr val="F2F6FC"/>
                </a:solidFill>
                <a:latin typeface="Aptos"/>
              </a:defRPr>
            </a:pPr>
            <a:r>
              <a:t>• detect duplicates</a:t>
            </a:r>
          </a:p>
          <a:p>
            <a:pPr>
              <a:spcAft>
                <a:spcPts val="400"/>
              </a:spcAft>
              <a:defRPr sz="1500">
                <a:solidFill>
                  <a:srgbClr val="F2F6FC"/>
                </a:solidFill>
                <a:latin typeface="Aptos"/>
              </a:defRPr>
            </a:pPr>
            <a:r>
              <a:t>• check complements</a:t>
            </a:r>
          </a:p>
          <a:p>
            <a:pPr>
              <a:spcAft>
                <a:spcPts val="400"/>
              </a:spcAft>
              <a:defRPr sz="1500">
                <a:solidFill>
                  <a:srgbClr val="F2F6FC"/>
                </a:solidFill>
                <a:latin typeface="Aptos"/>
              </a:defRPr>
            </a:pPr>
            <a:r>
              <a:t>• remember previous values</a:t>
            </a:r>
          </a:p>
          <a:p>
            <a:pPr>
              <a:spcAft>
                <a:spcPts val="400"/>
              </a:spcAft>
              <a:defRPr sz="1500">
                <a:solidFill>
                  <a:srgbClr val="F2F6FC"/>
                </a:solidFill>
                <a:latin typeface="Aptos"/>
              </a:defRPr>
            </a:pPr>
            <a:r>
              <a:t>• group / classify elements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43400"/>
            <a:ext cx="18288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300" b="1">
                <a:solidFill>
                  <a:srgbClr val="FFCD5C"/>
                </a:solidFill>
                <a:latin typeface="Aptos"/>
              </a:defRPr>
            </a:pPr>
            <a:r>
              <a:t>Typical structure: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663440"/>
            <a:ext cx="3063240" cy="960120"/>
          </a:xfrm>
          <a:prstGeom prst="roundRect">
            <a:avLst/>
          </a:prstGeom>
          <a:solidFill>
            <a:srgbClr val="080C14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4791455"/>
            <a:ext cx="2734056" cy="704088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defRPr sz="1150">
                <a:solidFill>
                  <a:srgbClr val="DBE7F7"/>
                </a:solidFill>
                <a:latin typeface="Cascadia Mono"/>
              </a:defRPr>
            </a:pPr>
            <a:r>
              <a:t>unordered_map&lt;int,int&gt; freq;</a:t>
            </a:r>
            <a:br/>
            <a:r>
              <a:t>for (int x : a) ++freq[x];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463040"/>
            <a:ext cx="6903720" cy="4526280"/>
          </a:xfrm>
          <a:prstGeom prst="roundRect">
            <a:avLst/>
          </a:prstGeom>
          <a:solidFill>
            <a:srgbClr val="141B2A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4607" y="1609344"/>
            <a:ext cx="650138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3D3FF"/>
                </a:solidFill>
                <a:latin typeface="Aptos"/>
              </a:defRPr>
            </a:pPr>
            <a:r>
              <a:t>TWO-SUM MENTAL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1874519"/>
            <a:ext cx="612648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800" b="1">
                <a:solidFill>
                  <a:srgbClr val="F2F6FC"/>
                </a:solidFill>
                <a:latin typeface="Aptos"/>
              </a:defRPr>
            </a:pPr>
            <a:r>
              <a:t>For each x, ask: “Have I already seen target − x?”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83480" y="2606040"/>
            <a:ext cx="5989320" cy="2148840"/>
          </a:xfrm>
          <a:prstGeom prst="roundRect">
            <a:avLst/>
          </a:prstGeom>
          <a:solidFill>
            <a:srgbClr val="080C14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48072" y="2734056"/>
            <a:ext cx="5660136" cy="1892808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defRPr sz="1250">
                <a:solidFill>
                  <a:srgbClr val="DBE7F7"/>
                </a:solidFill>
                <a:latin typeface="Cascadia Mono"/>
              </a:defRPr>
            </a:pPr>
            <a:r>
              <a:t>unordered_set&lt;int&gt; seen;</a:t>
            </a:r>
            <a:br/>
            <a:br/>
            <a:r>
              <a:t>for (int x : nums) {</a:t>
            </a:r>
            <a:br/>
            <a:r>
              <a:t>    int need = target - x;</a:t>
            </a:r>
            <a:br/>
            <a:r>
              <a:t>    if (seen.count(need))</a:t>
            </a:r>
            <a:br/>
            <a:r>
              <a:t>        return true;</a:t>
            </a:r>
            <a:br/>
            <a:r>
              <a:t>    seen.insert(x);</a:t>
            </a:r>
            <a:br/>
            <a:r>
              <a:t>}</a:t>
            </a:r>
            <a:br/>
            <a:r>
              <a:t>return false;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4983480"/>
            <a:ext cx="53035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400" b="1">
                <a:solidFill>
                  <a:srgbClr val="54E09A"/>
                </a:solidFill>
                <a:latin typeface="Aptos"/>
              </a:defRPr>
            </a:pPr>
            <a:r>
              <a:t>Time: O(n) average  •  Space: O(n)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83480" y="5486400"/>
            <a:ext cx="4800600" cy="347472"/>
          </a:xfrm>
          <a:prstGeom prst="roundRect">
            <a:avLst/>
          </a:prstGeom>
          <a:solidFill>
            <a:srgbClr val="1A2336"/>
          </a:solidFill>
          <a:ln>
            <a:solidFill>
              <a:srgbClr val="9D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3480" y="5504688"/>
            <a:ext cx="4800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9D7DFF"/>
                </a:solidFill>
                <a:latin typeface="Aptos"/>
              </a:defRPr>
            </a:pPr>
            <a:r>
              <a:t>PATTERN: “SEEN BEFORE?” → THINK HASH SET / 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9B5CA"/>
                </a:solidFill>
                <a:latin typeface="Aptos"/>
              </a:defRPr>
            </a:pPr>
            <a:r>
              <a:t>DSA From Scratch to Advanced  •  Day 20                                   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3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6FC"/>
                </a:solidFill>
                <a:latin typeface="Aptos"/>
              </a:defRPr>
            </a:pPr>
            <a:r>
              <a:t>7. Kadane’s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058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9B5CA"/>
                </a:solidFill>
                <a:latin typeface="Aptos"/>
              </a:defRPr>
            </a:pPr>
            <a:r>
              <a:t>The classic pattern for maximum subarray sum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166360" cy="4526280"/>
          </a:xfrm>
          <a:prstGeom prst="roundRect">
            <a:avLst/>
          </a:prstGeom>
          <a:solidFill>
            <a:srgbClr val="141B2A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609344"/>
            <a:ext cx="47640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69A7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847088"/>
            <a:ext cx="43891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500" b="1">
                <a:solidFill>
                  <a:srgbClr val="A9B5CA"/>
                </a:solidFill>
                <a:latin typeface="Aptos"/>
              </a:defRPr>
            </a:pPr>
            <a:r>
              <a:t>At every position, choose: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389120" cy="10058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900" b="1">
                <a:solidFill>
                  <a:srgbClr val="F2F6FC"/>
                </a:solidFill>
                <a:latin typeface="Aptos"/>
              </a:defRPr>
            </a:pPr>
            <a:r>
              <a:t>Start a new subarray</a:t>
            </a:r>
            <a:br/>
            <a:r>
              <a:t>OR</a:t>
            </a:r>
            <a:br/>
            <a:r>
              <a:t>extend the previous 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03320"/>
            <a:ext cx="44805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600" b="1">
                <a:solidFill>
                  <a:srgbClr val="FF69A7"/>
                </a:solidFill>
                <a:latin typeface="Aptos"/>
              </a:defRPr>
            </a:pPr>
            <a:r>
              <a:t>current = max(x, current + 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51960"/>
            <a:ext cx="44805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600" b="1">
                <a:solidFill>
                  <a:srgbClr val="FFCD5C"/>
                </a:solidFill>
                <a:latin typeface="Aptos"/>
              </a:defRPr>
            </a:pPr>
            <a:r>
              <a:t>best = max(best, current)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074920"/>
            <a:ext cx="4389120" cy="347472"/>
          </a:xfrm>
          <a:prstGeom prst="roundRect">
            <a:avLst/>
          </a:prstGeom>
          <a:solidFill>
            <a:srgbClr val="1A2336"/>
          </a:solidFill>
          <a:ln>
            <a:solidFill>
              <a:srgbClr val="FF6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093207"/>
            <a:ext cx="4389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69A7"/>
                </a:solidFill>
                <a:latin typeface="Aptos"/>
              </a:defRPr>
            </a:pPr>
            <a:r>
              <a:t>PAUSE: Why is a negative running sum worth discarding?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463040"/>
            <a:ext cx="5486400" cy="4526280"/>
          </a:xfrm>
          <a:prstGeom prst="roundRect">
            <a:avLst/>
          </a:prstGeom>
          <a:solidFill>
            <a:srgbClr val="141B2A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609344"/>
            <a:ext cx="50840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3D3FF"/>
                </a:solidFill>
                <a:latin typeface="Aptos"/>
              </a:defRPr>
            </a:pPr>
            <a:r>
              <a:t>C++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82512" y="1965960"/>
            <a:ext cx="4892040" cy="2514600"/>
          </a:xfrm>
          <a:prstGeom prst="roundRect">
            <a:avLst/>
          </a:prstGeom>
          <a:solidFill>
            <a:srgbClr val="080C14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47104" y="2093976"/>
            <a:ext cx="4562855" cy="2258568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defRPr sz="1250">
                <a:solidFill>
                  <a:srgbClr val="DBE7F7"/>
                </a:solidFill>
                <a:latin typeface="Cascadia Mono"/>
              </a:defRPr>
            </a:pPr>
            <a:r>
              <a:t>int current = nums[0];</a:t>
            </a:r>
            <a:br/>
            <a:r>
              <a:t>int best = nums[0];</a:t>
            </a:r>
            <a:br/>
            <a:br/>
            <a:r>
              <a:t>for (int i = 1; i &lt; nums.size(); ++i) {</a:t>
            </a:r>
            <a:br/>
            <a:r>
              <a:t>    current = max(nums[i], current + nums[i]);</a:t>
            </a:r>
            <a:br/>
            <a:r>
              <a:t>    best = max(best, current);</a:t>
            </a:r>
            <a:br/>
            <a:r>
              <a:t>}</a:t>
            </a:r>
            <a:br/>
            <a:br/>
            <a:r>
              <a:t>return best;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4754880"/>
            <a:ext cx="47548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500" b="1">
                <a:solidFill>
                  <a:srgbClr val="54E09A"/>
                </a:solidFill>
                <a:latin typeface="Aptos"/>
              </a:defRPr>
            </a:pPr>
            <a:r>
              <a:t>Time O(n)  •  Extra space O(1)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5230368"/>
            <a:ext cx="475488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400" b="0">
                <a:solidFill>
                  <a:srgbClr val="F2F6FC"/>
                </a:solidFill>
                <a:latin typeface="Aptos"/>
              </a:defRPr>
            </a:pPr>
            <a:r>
              <a:t>Use it when the wording is about the best contiguous sum.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9B5CA"/>
                </a:solidFill>
                <a:latin typeface="Aptos"/>
              </a:defRPr>
            </a:pPr>
            <a:r>
              <a:t>DSA From Scratch to Advanced  •  Day 20                                    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3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6FC"/>
                </a:solidFill>
                <a:latin typeface="Aptos"/>
              </a:defRPr>
            </a:pPr>
            <a:r>
              <a:t>8. Sort + 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058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9B5CA"/>
                </a:solidFill>
                <a:latin typeface="Aptos"/>
              </a:defRPr>
            </a:pPr>
            <a:r>
              <a:t>Sometimes sorting reveals the structure you need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03520" cy="4526280"/>
          </a:xfrm>
          <a:prstGeom prst="roundRect">
            <a:avLst/>
          </a:prstGeom>
          <a:solidFill>
            <a:srgbClr val="141B2A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609344"/>
            <a:ext cx="490118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3D3FF"/>
                </a:solidFill>
                <a:latin typeface="Aptos"/>
              </a:defRPr>
            </a:pPr>
            <a:r>
              <a:t>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874519"/>
            <a:ext cx="457200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800" b="1">
                <a:solidFill>
                  <a:srgbClr val="F2F6FC"/>
                </a:solidFill>
                <a:latin typeface="Aptos"/>
              </a:defRPr>
            </a:pPr>
            <a:r>
              <a:t>Sort first → scan once → maintain the needed state.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788920"/>
            <a:ext cx="18288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400" b="1">
                <a:solidFill>
                  <a:srgbClr val="FFCD5C"/>
                </a:solidFill>
                <a:latin typeface="Aptos"/>
              </a:defRPr>
            </a:pPr>
            <a:r>
              <a:t>Useful for: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4389120" cy="1691640"/>
          </a:xfrm>
          <a:prstGeom prst="rect">
            <a:avLst/>
          </a:prstGeom>
          <a:noFill/>
        </p:spPr>
        <p:txBody>
          <a:bodyPr wrap="square" lIns="36576" rIns="27432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2F6FC"/>
                </a:solidFill>
                <a:latin typeface="Aptos"/>
              </a:defRPr>
            </a:pPr>
            <a:r>
              <a:t>• merging intervals</a:t>
            </a:r>
          </a:p>
          <a:p>
            <a:pPr>
              <a:spcAft>
                <a:spcPts val="400"/>
              </a:spcAft>
              <a:defRPr sz="1400">
                <a:solidFill>
                  <a:srgbClr val="F2F6FC"/>
                </a:solidFill>
                <a:latin typeface="Aptos"/>
              </a:defRPr>
            </a:pPr>
            <a:r>
              <a:t>• grouping equal values</a:t>
            </a:r>
          </a:p>
          <a:p>
            <a:pPr>
              <a:spcAft>
                <a:spcPts val="400"/>
              </a:spcAft>
              <a:defRPr sz="1400">
                <a:solidFill>
                  <a:srgbClr val="F2F6FC"/>
                </a:solidFill>
                <a:latin typeface="Aptos"/>
              </a:defRPr>
            </a:pPr>
            <a:r>
              <a:t>• closest pairs</a:t>
            </a:r>
          </a:p>
          <a:p>
            <a:pPr>
              <a:spcAft>
                <a:spcPts val="400"/>
              </a:spcAft>
              <a:defRPr sz="1400">
                <a:solidFill>
                  <a:srgbClr val="F2F6FC"/>
                </a:solidFill>
                <a:latin typeface="Aptos"/>
              </a:defRPr>
            </a:pPr>
            <a:r>
              <a:t>• removing duplicates</a:t>
            </a:r>
          </a:p>
          <a:p>
            <a:pPr>
              <a:spcAft>
                <a:spcPts val="400"/>
              </a:spcAft>
              <a:defRPr sz="1400">
                <a:solidFill>
                  <a:srgbClr val="F2F6FC"/>
                </a:solidFill>
                <a:latin typeface="Aptos"/>
              </a:defRPr>
            </a:pPr>
            <a:r>
              <a:t>• greedy decisions after ordering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66360"/>
            <a:ext cx="43891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300" b="1">
                <a:solidFill>
                  <a:srgbClr val="A9B5CA"/>
                </a:solidFill>
                <a:latin typeface="Aptos"/>
              </a:defRPr>
            </a:pPr>
            <a:r>
              <a:t>Trade-off: sorting usually costs O(n log 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63040"/>
            <a:ext cx="5394960" cy="4526280"/>
          </a:xfrm>
          <a:prstGeom prst="roundRect">
            <a:avLst/>
          </a:prstGeom>
          <a:solidFill>
            <a:srgbClr val="141B2A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609344"/>
            <a:ext cx="49926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4E09A"/>
                </a:solidFill>
                <a:latin typeface="Aptos"/>
              </a:defRPr>
            </a:pPr>
            <a:r>
              <a:t>EXAMPLE: DUPLICATES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2103120"/>
            <a:ext cx="676656" cy="502920"/>
          </a:xfrm>
          <a:prstGeom prst="roundRect">
            <a:avLst/>
          </a:prstGeom>
          <a:solidFill>
            <a:srgbClr val="1A2336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167127"/>
            <a:ext cx="6766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2F6FC"/>
                </a:solidFill>
                <a:latin typeface="Cascadia Mono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24327"/>
            <a:ext cx="676656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A9B5CA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59" y="2103120"/>
            <a:ext cx="676656" cy="502920"/>
          </a:xfrm>
          <a:prstGeom prst="roundRect">
            <a:avLst/>
          </a:prstGeom>
          <a:solidFill>
            <a:srgbClr val="1A2336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59" y="2167127"/>
            <a:ext cx="6766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2F6FC"/>
                </a:solidFill>
                <a:latin typeface="Cascadia Mono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59" y="2624327"/>
            <a:ext cx="676656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A9B5CA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2103120"/>
            <a:ext cx="676656" cy="502920"/>
          </a:xfrm>
          <a:prstGeom prst="roundRect">
            <a:avLst/>
          </a:prstGeom>
          <a:solidFill>
            <a:srgbClr val="1A2336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79" y="2167127"/>
            <a:ext cx="6766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2F6FC"/>
                </a:solidFill>
                <a:latin typeface="Cascadia Mono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2624327"/>
            <a:ext cx="676656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A9B5C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2103120"/>
            <a:ext cx="676656" cy="502920"/>
          </a:xfrm>
          <a:prstGeom prst="roundRect">
            <a:avLst/>
          </a:prstGeom>
          <a:solidFill>
            <a:srgbClr val="1A2336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2167127"/>
            <a:ext cx="6766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2F6FC"/>
                </a:solidFill>
                <a:latin typeface="Cascadia Mono"/>
              </a:defRPr>
            </a:pPr>
            <a: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2624327"/>
            <a:ext cx="676656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A9B5C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18320" y="2103120"/>
            <a:ext cx="676656" cy="502920"/>
          </a:xfrm>
          <a:prstGeom prst="roundRect">
            <a:avLst/>
          </a:prstGeom>
          <a:solidFill>
            <a:srgbClr val="1A2336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2167127"/>
            <a:ext cx="6766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2F6FC"/>
                </a:solidFill>
                <a:latin typeface="Cascadia Mono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2624327"/>
            <a:ext cx="676656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A9B5C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49840" y="2103120"/>
            <a:ext cx="676656" cy="502920"/>
          </a:xfrm>
          <a:prstGeom prst="roundRect">
            <a:avLst/>
          </a:prstGeom>
          <a:solidFill>
            <a:srgbClr val="1A2336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49840" y="2167127"/>
            <a:ext cx="6766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2F6FC"/>
                </a:solidFill>
                <a:latin typeface="Cascadia Mono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2624327"/>
            <a:ext cx="676656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A9B5CA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288036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300" b="1">
                <a:solidFill>
                  <a:srgbClr val="A9B5CA"/>
                </a:solidFill>
                <a:latin typeface="Aptos"/>
              </a:defRPr>
            </a:pPr>
            <a:r>
              <a:t>sort 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3246120"/>
            <a:ext cx="676656" cy="502920"/>
          </a:xfrm>
          <a:prstGeom prst="roundRect">
            <a:avLst/>
          </a:prstGeom>
          <a:solidFill>
            <a:srgbClr val="1A2336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3310127"/>
            <a:ext cx="6766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2F6FC"/>
                </a:solidFill>
                <a:latin typeface="Cascadia Mono"/>
              </a:defRPr>
            </a:pPr>
            <a: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3767328"/>
            <a:ext cx="676656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A9B5CA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23759" y="3246120"/>
            <a:ext cx="676656" cy="502920"/>
          </a:xfrm>
          <a:prstGeom prst="roundRect">
            <a:avLst/>
          </a:prstGeom>
          <a:solidFill>
            <a:srgbClr val="1A2336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23759" y="3310127"/>
            <a:ext cx="6766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2F6FC"/>
                </a:solidFill>
                <a:latin typeface="Cascadia Mono"/>
              </a:defRPr>
            </a:pPr>
            <a: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59" y="3767328"/>
            <a:ext cx="676656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A9B5CA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55279" y="3246120"/>
            <a:ext cx="676656" cy="502920"/>
          </a:xfrm>
          <a:prstGeom prst="roundRect">
            <a:avLst/>
          </a:prstGeom>
          <a:solidFill>
            <a:srgbClr val="1A2336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55279" y="3310127"/>
            <a:ext cx="6766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2F6FC"/>
                </a:solidFill>
                <a:latin typeface="Cascadia Mono"/>
              </a:defRPr>
            </a:pPr>
            <a: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79" y="3767328"/>
            <a:ext cx="676656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A9B5C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86800" y="3246120"/>
            <a:ext cx="676656" cy="502920"/>
          </a:xfrm>
          <a:prstGeom prst="roundRect">
            <a:avLst/>
          </a:prstGeom>
          <a:solidFill>
            <a:srgbClr val="1A2336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0" y="3310127"/>
            <a:ext cx="6766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2F6FC"/>
                </a:solidFill>
                <a:latin typeface="Cascadia Mono"/>
              </a:defRPr>
            </a:pPr>
            <a: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3767328"/>
            <a:ext cx="676656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A9B5C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418320" y="3246120"/>
            <a:ext cx="676656" cy="502920"/>
          </a:xfrm>
          <a:prstGeom prst="roundRect">
            <a:avLst/>
          </a:prstGeom>
          <a:solidFill>
            <a:srgbClr val="1A2336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18320" y="3310127"/>
            <a:ext cx="6766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2F6FC"/>
                </a:solidFill>
                <a:latin typeface="Cascadia Mono"/>
              </a:defRPr>
            </a:pPr>
            <a: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18320" y="3767328"/>
            <a:ext cx="676656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A9B5C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149840" y="3246120"/>
            <a:ext cx="676656" cy="502920"/>
          </a:xfrm>
          <a:prstGeom prst="roundRect">
            <a:avLst/>
          </a:prstGeom>
          <a:solidFill>
            <a:srgbClr val="1A2336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149840" y="3310127"/>
            <a:ext cx="6766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2F6FC"/>
                </a:solidFill>
                <a:latin typeface="Cascadia Mono"/>
              </a:defRPr>
            </a:pPr>
            <a: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49840" y="3767328"/>
            <a:ext cx="676656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A9B5CA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4069080"/>
            <a:ext cx="4572000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500" b="1">
                <a:solidFill>
                  <a:srgbClr val="F2F6FC"/>
                </a:solidFill>
                <a:latin typeface="Aptos"/>
              </a:defRPr>
            </a:pPr>
            <a:r>
              <a:t>Now duplicates are adjacent → one linear scan can process them.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92240" y="5074920"/>
            <a:ext cx="4160520" cy="640080"/>
          </a:xfrm>
          <a:prstGeom prst="roundRect">
            <a:avLst/>
          </a:prstGeom>
          <a:solidFill>
            <a:srgbClr val="080C14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56831" y="5202936"/>
            <a:ext cx="3831335" cy="384047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defRPr sz="1200">
                <a:solidFill>
                  <a:srgbClr val="DBE7F7"/>
                </a:solidFill>
                <a:latin typeface="Cascadia Mono"/>
              </a:defRPr>
            </a:pPr>
            <a:r>
              <a:t>sort(a.begin(), a.end());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9B5CA"/>
                </a:solidFill>
                <a:latin typeface="Aptos"/>
              </a:defRPr>
            </a:pPr>
            <a:r>
              <a:t>DSA From Scratch to Advanced  •  Day 20                            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3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6FC"/>
                </a:solidFill>
                <a:latin typeface="Aptos"/>
              </a:defRPr>
            </a:pPr>
            <a:r>
              <a:t>9. Binary Search as an Array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058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9B5CA"/>
                </a:solidFill>
                <a:latin typeface="Aptos"/>
              </a:defRPr>
            </a:pPr>
            <a:r>
              <a:t>Think “monotonic condition”, not only “find this value”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074920" cy="4526280"/>
          </a:xfrm>
          <a:prstGeom prst="roundRect">
            <a:avLst/>
          </a:prstGeom>
          <a:solidFill>
            <a:srgbClr val="141B2A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609344"/>
            <a:ext cx="467258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3D3FF"/>
                </a:solidFill>
                <a:latin typeface="Aptos"/>
              </a:defRPr>
            </a:pPr>
            <a:r>
              <a:t>RECOGNITION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874519"/>
            <a:ext cx="4343400" cy="2011680"/>
          </a:xfrm>
          <a:prstGeom prst="rect">
            <a:avLst/>
          </a:prstGeom>
          <a:noFill/>
        </p:spPr>
        <p:txBody>
          <a:bodyPr wrap="square" lIns="36576" rIns="2743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2F6FC"/>
                </a:solidFill>
                <a:latin typeface="Aptos"/>
              </a:defRPr>
            </a:pPr>
            <a:r>
              <a:t>• sorted array</a:t>
            </a:r>
          </a:p>
          <a:p>
            <a:pPr>
              <a:spcAft>
                <a:spcPts val="400"/>
              </a:spcAft>
              <a:defRPr sz="1500">
                <a:solidFill>
                  <a:srgbClr val="F2F6FC"/>
                </a:solidFill>
                <a:latin typeface="Aptos"/>
              </a:defRPr>
            </a:pPr>
            <a:r>
              <a:t>• first / last valid position</a:t>
            </a:r>
          </a:p>
          <a:p>
            <a:pPr>
              <a:spcAft>
                <a:spcPts val="400"/>
              </a:spcAft>
              <a:defRPr sz="1500">
                <a:solidFill>
                  <a:srgbClr val="F2F6FC"/>
                </a:solidFill>
                <a:latin typeface="Aptos"/>
              </a:defRPr>
            </a:pPr>
            <a:r>
              <a:t>• minimum value satisfying a condition</a:t>
            </a:r>
          </a:p>
          <a:p>
            <a:pPr>
              <a:spcAft>
                <a:spcPts val="400"/>
              </a:spcAft>
              <a:defRPr sz="1500">
                <a:solidFill>
                  <a:srgbClr val="F2F6FC"/>
                </a:solidFill>
                <a:latin typeface="Aptos"/>
              </a:defRPr>
            </a:pPr>
            <a:r>
              <a:t>• maximum feasible answer</a:t>
            </a:r>
          </a:p>
          <a:p>
            <a:pPr>
              <a:spcAft>
                <a:spcPts val="400"/>
              </a:spcAft>
              <a:defRPr sz="1500">
                <a:solidFill>
                  <a:srgbClr val="F2F6FC"/>
                </a:solidFill>
                <a:latin typeface="Aptos"/>
              </a:defRPr>
            </a:pPr>
            <a:r>
              <a:t>• monotonic true/false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4251960"/>
            <a:ext cx="146304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400" b="1">
                <a:solidFill>
                  <a:srgbClr val="FFCD5C"/>
                </a:solidFill>
                <a:latin typeface="Aptos"/>
              </a:defRPr>
            </a:pPr>
            <a:r>
              <a:t>Key question: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4590288"/>
            <a:ext cx="43434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600" b="1">
                <a:solidFill>
                  <a:srgbClr val="F2F6FC"/>
                </a:solidFill>
                <a:latin typeface="Aptos"/>
              </a:defRPr>
            </a:pPr>
            <a:r>
              <a:t>“If it works at x, does it keep working after x?”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463040"/>
            <a:ext cx="5577840" cy="4526280"/>
          </a:xfrm>
          <a:prstGeom prst="roundRect">
            <a:avLst/>
          </a:prstGeom>
          <a:solidFill>
            <a:srgbClr val="141B2A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0488" y="1609344"/>
            <a:ext cx="517550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4E09A"/>
                </a:solidFill>
                <a:latin typeface="Aptos"/>
              </a:defRPr>
            </a:pPr>
            <a:r>
              <a:t>LOW / HIGH TEMPLATE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920240"/>
            <a:ext cx="4983480" cy="2606040"/>
          </a:xfrm>
          <a:prstGeom prst="roundRect">
            <a:avLst/>
          </a:prstGeom>
          <a:solidFill>
            <a:srgbClr val="080C14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2048256"/>
            <a:ext cx="4654296" cy="2350008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defRPr sz="1220">
                <a:solidFill>
                  <a:srgbClr val="DBE7F7"/>
                </a:solidFill>
                <a:latin typeface="Cascadia Mono"/>
              </a:defRPr>
            </a:pPr>
            <a:r>
              <a:t>int lo = 0, hi = n - 1;</a:t>
            </a:r>
            <a:br/>
            <a:br/>
            <a:r>
              <a:t>while (lo &lt;= hi) {</a:t>
            </a:r>
            <a:br/>
            <a:r>
              <a:t>    int mid = lo + (hi - lo) / 2;</a:t>
            </a:r>
            <a:br/>
            <a:br/>
            <a:r>
              <a:t>    if (a[mid] == target) return mid;</a:t>
            </a:r>
            <a:br/>
            <a:r>
              <a:t>    if (a[mid] &lt; target) lo = mid + 1;</a:t>
            </a:r>
            <a:br/>
            <a:r>
              <a:t>    else hi = mid - 1;</a:t>
            </a:r>
            <a:br/>
            <a:r>
              <a:t>}</a:t>
            </a:r>
            <a:br/>
            <a:r>
              <a:t>return -1;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846320"/>
            <a:ext cx="45720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500" b="1">
                <a:solidFill>
                  <a:srgbClr val="54E09A"/>
                </a:solidFill>
                <a:latin typeface="Aptos"/>
              </a:defRPr>
            </a:pPr>
            <a:r>
              <a:t>Time O(log n)  •  Space O(1)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5376672"/>
            <a:ext cx="4663440" cy="347472"/>
          </a:xfrm>
          <a:prstGeom prst="roundRect">
            <a:avLst/>
          </a:prstGeom>
          <a:solidFill>
            <a:srgbClr val="1A2336"/>
          </a:solidFill>
          <a:ln>
            <a:solidFill>
              <a:srgbClr val="43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5394959"/>
            <a:ext cx="46634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3D3FF"/>
                </a:solidFill>
                <a:latin typeface="Aptos"/>
              </a:defRPr>
            </a:pPr>
            <a:r>
              <a:t>INTERVIEW TRIGGER: SORTED + SEARCH → CHECK BINARY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9B5CA"/>
                </a:solidFill>
                <a:latin typeface="Aptos"/>
              </a:defRPr>
            </a:pPr>
            <a:r>
              <a:t>DSA From Scratch to Advanced  •  Day 20                                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3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6FC"/>
                </a:solidFill>
                <a:latin typeface="Aptos"/>
              </a:defRPr>
            </a:pPr>
            <a:r>
              <a:t>10. In-Place Write Pointer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058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9B5CA"/>
                </a:solidFill>
                <a:latin typeface="Aptos"/>
              </a:defRPr>
            </a:pPr>
            <a:r>
              <a:t>A powerful array pattern for compaction and filtering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486400" cy="4526280"/>
          </a:xfrm>
          <a:prstGeom prst="roundRect">
            <a:avLst/>
          </a:prstGeom>
          <a:solidFill>
            <a:srgbClr val="141B2A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609344"/>
            <a:ext cx="50840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4E09A"/>
                </a:solidFill>
                <a:latin typeface="Aptos"/>
              </a:defRPr>
            </a:pPr>
            <a:r>
              <a:t>READ vs WRITE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4754880" cy="7772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700" b="1">
                <a:solidFill>
                  <a:srgbClr val="F2F6FC"/>
                </a:solidFill>
                <a:latin typeface="Aptos"/>
              </a:defRPr>
            </a:pPr>
            <a:r>
              <a:t>Read pointer scans every element.</a:t>
            </a:r>
            <a:br/>
            <a:r>
              <a:t>Write pointer marks where the next valid element goes.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926080"/>
            <a:ext cx="694944" cy="502920"/>
          </a:xfrm>
          <a:prstGeom prst="roundRect">
            <a:avLst/>
          </a:prstGeom>
          <a:solidFill>
            <a:srgbClr val="1A2336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90088"/>
            <a:ext cx="69494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2F6FC"/>
                </a:solidFill>
                <a:latin typeface="Cascadia Mono"/>
              </a:defRPr>
            </a:pPr>
            <a: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447288"/>
            <a:ext cx="694944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A9B5CA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09928" y="2926080"/>
            <a:ext cx="694944" cy="502920"/>
          </a:xfrm>
          <a:prstGeom prst="roundRect">
            <a:avLst/>
          </a:prstGeom>
          <a:solidFill>
            <a:srgbClr val="1A2336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09928" y="2990088"/>
            <a:ext cx="69494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2F6FC"/>
                </a:solidFill>
                <a:latin typeface="Cascadia Mono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9928" y="3447288"/>
            <a:ext cx="694944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A9B5CA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9736" y="2926080"/>
            <a:ext cx="694944" cy="502920"/>
          </a:xfrm>
          <a:prstGeom prst="roundRect">
            <a:avLst/>
          </a:prstGeom>
          <a:solidFill>
            <a:srgbClr val="1A2336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59736" y="2990088"/>
            <a:ext cx="69494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2F6FC"/>
                </a:solidFill>
                <a:latin typeface="Cascadia Mono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59736" y="3447288"/>
            <a:ext cx="694944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A9B5C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9544" y="2926080"/>
            <a:ext cx="694944" cy="502920"/>
          </a:xfrm>
          <a:prstGeom prst="roundRect">
            <a:avLst/>
          </a:prstGeom>
          <a:solidFill>
            <a:srgbClr val="1A2336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9544" y="2990088"/>
            <a:ext cx="69494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2F6FC"/>
                </a:solidFill>
                <a:latin typeface="Cascadia Mono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9544" y="3447288"/>
            <a:ext cx="694944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A9B5C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59352" y="2926080"/>
            <a:ext cx="694944" cy="502920"/>
          </a:xfrm>
          <a:prstGeom prst="roundRect">
            <a:avLst/>
          </a:prstGeom>
          <a:solidFill>
            <a:srgbClr val="1A2336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59352" y="2990088"/>
            <a:ext cx="69494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2F6FC"/>
                </a:solidFill>
                <a:latin typeface="Cascadia Mono"/>
              </a:defRPr>
            </a:pPr>
            <a: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59352" y="3447288"/>
            <a:ext cx="694944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A9B5C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09159" y="2926080"/>
            <a:ext cx="694944" cy="502920"/>
          </a:xfrm>
          <a:prstGeom prst="roundRect">
            <a:avLst/>
          </a:prstGeom>
          <a:solidFill>
            <a:srgbClr val="1A2336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59" y="2990088"/>
            <a:ext cx="69494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2F6FC"/>
                </a:solidFill>
                <a:latin typeface="Cascadia Mono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59" y="3447288"/>
            <a:ext cx="694944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A9B5CA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547872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200" b="1">
                <a:solidFill>
                  <a:srgbClr val="43D3FF"/>
                </a:solidFill>
                <a:latin typeface="Aptos"/>
              </a:defRPr>
            </a:pPr>
            <a:r>
              <a:t>read 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3547872"/>
            <a:ext cx="10972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200" b="1">
                <a:solidFill>
                  <a:srgbClr val="54E09A"/>
                </a:solidFill>
                <a:latin typeface="Aptos"/>
              </a:defRPr>
            </a:pPr>
            <a:r>
              <a:t>write 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160520"/>
            <a:ext cx="13716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400" b="1">
                <a:solidFill>
                  <a:srgbClr val="FFCD5C"/>
                </a:solidFill>
                <a:latin typeface="Aptos"/>
              </a:defRPr>
            </a:pPr>
            <a:r>
              <a:t>Typical for: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498848"/>
            <a:ext cx="4480560" cy="1143000"/>
          </a:xfrm>
          <a:prstGeom prst="rect">
            <a:avLst/>
          </a:prstGeom>
          <a:noFill/>
        </p:spPr>
        <p:txBody>
          <a:bodyPr wrap="square" lIns="36576" rIns="27432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2F6FC"/>
                </a:solidFill>
                <a:latin typeface="Aptos"/>
              </a:defRPr>
            </a:pPr>
            <a:r>
              <a:t>• Remove Element</a:t>
            </a:r>
          </a:p>
          <a:p>
            <a:pPr>
              <a:spcAft>
                <a:spcPts val="400"/>
              </a:spcAft>
              <a:defRPr sz="1300">
                <a:solidFill>
                  <a:srgbClr val="F2F6FC"/>
                </a:solidFill>
                <a:latin typeface="Aptos"/>
              </a:defRPr>
            </a:pPr>
            <a:r>
              <a:t>• Remove Duplicates</a:t>
            </a:r>
          </a:p>
          <a:p>
            <a:pPr>
              <a:spcAft>
                <a:spcPts val="400"/>
              </a:spcAft>
              <a:defRPr sz="1300">
                <a:solidFill>
                  <a:srgbClr val="F2F6FC"/>
                </a:solidFill>
                <a:latin typeface="Aptos"/>
              </a:defRPr>
            </a:pPr>
            <a:r>
              <a:t>• Move Zeroes</a:t>
            </a:r>
          </a:p>
          <a:p>
            <a:pPr>
              <a:spcAft>
                <a:spcPts val="400"/>
              </a:spcAft>
              <a:defRPr sz="1300">
                <a:solidFill>
                  <a:srgbClr val="F2F6FC"/>
                </a:solidFill>
                <a:latin typeface="Aptos"/>
              </a:defRPr>
            </a:pPr>
            <a:r>
              <a:t>• filter valid values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55080" y="1463040"/>
            <a:ext cx="5212080" cy="4526280"/>
          </a:xfrm>
          <a:prstGeom prst="roundRect">
            <a:avLst/>
          </a:prstGeom>
          <a:solidFill>
            <a:srgbClr val="141B2A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56248" y="1609344"/>
            <a:ext cx="48097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3D3FF"/>
                </a:solidFill>
                <a:latin typeface="Aptos"/>
              </a:defRPr>
            </a:pPr>
            <a:r>
              <a:t>C++ TEMPLATE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56832" y="2057400"/>
            <a:ext cx="4572000" cy="2057400"/>
          </a:xfrm>
          <a:prstGeom prst="roundRect">
            <a:avLst/>
          </a:prstGeom>
          <a:solidFill>
            <a:srgbClr val="080C14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21424" y="2185416"/>
            <a:ext cx="4242816" cy="1801368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defRPr sz="1250">
                <a:solidFill>
                  <a:srgbClr val="DBE7F7"/>
                </a:solidFill>
                <a:latin typeface="Cascadia Mono"/>
              </a:defRPr>
            </a:pPr>
            <a:r>
              <a:t>int write = 0;</a:t>
            </a:r>
            <a:br/>
            <a:br/>
            <a:r>
              <a:t>for (int read = 0; read &lt; n; ++read) {</a:t>
            </a:r>
            <a:br/>
            <a:r>
              <a:t>    if (a[read] != 0)</a:t>
            </a:r>
            <a:br/>
            <a:r>
              <a:t>        a[write++] = a[read];</a:t>
            </a:r>
            <a:br/>
            <a:r>
              <a:t>}</a:t>
            </a:r>
            <a:br/>
            <a:br/>
            <a:r>
              <a:t>// logical size = write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56832" y="4572000"/>
            <a:ext cx="4480560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500" b="1">
                <a:solidFill>
                  <a:srgbClr val="F2F6FC"/>
                </a:solidFill>
                <a:latin typeface="Aptos"/>
              </a:defRPr>
            </a:pPr>
            <a:r>
              <a:t>One pass, no extra array → O(n) time and O(1) extra space.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56832" y="5440680"/>
            <a:ext cx="3657600" cy="347472"/>
          </a:xfrm>
          <a:prstGeom prst="roundRect">
            <a:avLst/>
          </a:prstGeom>
          <a:solidFill>
            <a:srgbClr val="1A2336"/>
          </a:solidFill>
          <a:ln>
            <a:solidFill>
              <a:srgbClr val="54E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56832" y="5458968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54E09A"/>
                </a:solidFill>
                <a:latin typeface="Aptos"/>
              </a:defRPr>
            </a:pPr>
            <a:r>
              <a:t>PATTERN: SCAN ONCE + OVERWRITE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9B5CA"/>
                </a:solidFill>
                <a:latin typeface="Aptos"/>
              </a:defRPr>
            </a:pPr>
            <a:r>
              <a:t>DSA From Scratch to Advanced  •  Day 20                                 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3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6FC"/>
                </a:solidFill>
                <a:latin typeface="Aptos"/>
              </a:defRPr>
            </a:pPr>
            <a:r>
              <a:t>11. One Example, Multiple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058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9B5CA"/>
                </a:solidFill>
                <a:latin typeface="Aptos"/>
              </a:defRPr>
            </a:pPr>
            <a:r>
              <a:t>Problem: Find the longest subarray with sum ≤ K (positive numbers)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10972800" cy="4526280"/>
          </a:xfrm>
          <a:prstGeom prst="roundRect">
            <a:avLst/>
          </a:prstGeom>
          <a:solidFill>
            <a:srgbClr val="141B2A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609344"/>
            <a:ext cx="10570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3D3FF"/>
                </a:solidFill>
                <a:latin typeface="Aptos"/>
              </a:defRPr>
            </a:pPr>
            <a:r>
              <a:t>THINK BEFORE 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847088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300" b="1">
                <a:solidFill>
                  <a:srgbClr val="A9B5CA"/>
                </a:solidFill>
                <a:latin typeface="Aptos"/>
              </a:defRPr>
            </a:pPr>
            <a:r>
              <a:t>Array: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45920" y="1783080"/>
            <a:ext cx="731520" cy="502920"/>
          </a:xfrm>
          <a:prstGeom prst="roundRect">
            <a:avLst/>
          </a:prstGeom>
          <a:solidFill>
            <a:srgbClr val="1A2336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184708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2F6FC"/>
                </a:solidFill>
                <a:latin typeface="Cascadia Mono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304288"/>
            <a:ext cx="731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A9B5CA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32304" y="1783080"/>
            <a:ext cx="731520" cy="502920"/>
          </a:xfrm>
          <a:prstGeom prst="roundRect">
            <a:avLst/>
          </a:prstGeom>
          <a:solidFill>
            <a:srgbClr val="1A2336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32304" y="184708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2F6FC"/>
                </a:solidFill>
                <a:latin typeface="Cascadia Mono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2304" y="2304288"/>
            <a:ext cx="731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A9B5CA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18688" y="1783080"/>
            <a:ext cx="731520" cy="502920"/>
          </a:xfrm>
          <a:prstGeom prst="roundRect">
            <a:avLst/>
          </a:prstGeom>
          <a:solidFill>
            <a:srgbClr val="1A2336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18688" y="184708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2F6FC"/>
                </a:solidFill>
                <a:latin typeface="Cascadia Mono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18688" y="2304288"/>
            <a:ext cx="731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A9B5C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05072" y="1783080"/>
            <a:ext cx="731520" cy="502920"/>
          </a:xfrm>
          <a:prstGeom prst="roundRect">
            <a:avLst/>
          </a:prstGeom>
          <a:solidFill>
            <a:srgbClr val="1A2336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05072" y="184708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2F6FC"/>
                </a:solidFill>
                <a:latin typeface="Cascadia Mono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5072" y="2304288"/>
            <a:ext cx="731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A9B5C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91456" y="1783080"/>
            <a:ext cx="731520" cy="502920"/>
          </a:xfrm>
          <a:prstGeom prst="roundRect">
            <a:avLst/>
          </a:prstGeom>
          <a:solidFill>
            <a:srgbClr val="1A2336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91456" y="184708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2F6FC"/>
                </a:solidFill>
                <a:latin typeface="Cascadia Mono"/>
              </a:defRPr>
            </a:pPr>
            <a: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91456" y="2304288"/>
            <a:ext cx="731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A9B5C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77840" y="1783080"/>
            <a:ext cx="731520" cy="502920"/>
          </a:xfrm>
          <a:prstGeom prst="roundRect">
            <a:avLst/>
          </a:prstGeom>
          <a:solidFill>
            <a:srgbClr val="1A2336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77840" y="184708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2F6FC"/>
                </a:solidFill>
                <a:latin typeface="Cascadia Mono"/>
              </a:defRPr>
            </a:pPr>
            <a: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2304288"/>
            <a:ext cx="731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A9B5CA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64224" y="1783080"/>
            <a:ext cx="731520" cy="502920"/>
          </a:xfrm>
          <a:prstGeom prst="roundRect">
            <a:avLst/>
          </a:prstGeom>
          <a:solidFill>
            <a:srgbClr val="1A2336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1847088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2F6FC"/>
                </a:solidFill>
                <a:latin typeface="Cascadia Mono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4224" y="2304288"/>
            <a:ext cx="731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A9B5CA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278892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300" b="1">
                <a:solidFill>
                  <a:srgbClr val="FFCD5C"/>
                </a:solidFill>
                <a:latin typeface="Aptos"/>
              </a:defRPr>
            </a:pPr>
            <a:r>
              <a:t>Clues: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2743200"/>
            <a:ext cx="6400800" cy="1143000"/>
          </a:xfrm>
          <a:prstGeom prst="rect">
            <a:avLst/>
          </a:prstGeom>
          <a:noFill/>
        </p:spPr>
        <p:txBody>
          <a:bodyPr wrap="square" lIns="36576" rIns="27432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2F6FC"/>
                </a:solidFill>
                <a:latin typeface="Aptos"/>
              </a:defRPr>
            </a:pPr>
            <a:r>
              <a:t>• “subarray” → contiguous</a:t>
            </a:r>
          </a:p>
          <a:p>
            <a:pPr>
              <a:spcAft>
                <a:spcPts val="400"/>
              </a:spcAft>
              <a:defRPr sz="1400">
                <a:solidFill>
                  <a:srgbClr val="F2F6FC"/>
                </a:solidFill>
                <a:latin typeface="Aptos"/>
              </a:defRPr>
            </a:pPr>
            <a:r>
              <a:t>• positive numbers → expanding window only increases sum</a:t>
            </a:r>
          </a:p>
          <a:p>
            <a:pPr>
              <a:spcAft>
                <a:spcPts val="400"/>
              </a:spcAft>
              <a:defRPr sz="1400">
                <a:solidFill>
                  <a:srgbClr val="F2F6FC"/>
                </a:solidFill>
                <a:latin typeface="Aptos"/>
              </a:defRPr>
            </a:pPr>
            <a:r>
              <a:t>• need longest valid range → sliding window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3931920"/>
            <a:ext cx="6446520" cy="1783080"/>
          </a:xfrm>
          <a:prstGeom prst="roundRect">
            <a:avLst/>
          </a:prstGeom>
          <a:solidFill>
            <a:srgbClr val="080C14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8992" y="4059935"/>
            <a:ext cx="6117336" cy="1527048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defRPr sz="1170">
                <a:solidFill>
                  <a:srgbClr val="DBE7F7"/>
                </a:solidFill>
                <a:latin typeface="Cascadia Mono"/>
              </a:defRPr>
            </a:pPr>
            <a:r>
              <a:t>long long sum = 0;</a:t>
            </a:r>
            <a:br/>
            <a:r>
              <a:t>int left = 0, ans = 0;</a:t>
            </a:r>
            <a:br/>
            <a:br/>
            <a:r>
              <a:t>for (int right = 0; right &lt; n; ++right) {</a:t>
            </a:r>
            <a:br/>
            <a:r>
              <a:t>    sum += a[right];</a:t>
            </a:r>
            <a:br/>
            <a:br/>
            <a:r>
              <a:t>    while (sum &gt; K)</a:t>
            </a:r>
            <a:br/>
            <a:r>
              <a:t>        sum -= a[left++];</a:t>
            </a:r>
            <a:br/>
            <a:br/>
            <a:r>
              <a:t>    ans = max(ans, right - left + 1);</a:t>
            </a:r>
            <a:br/>
            <a:r>
              <a:t>}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18120" y="2743200"/>
            <a:ext cx="3337560" cy="2331720"/>
          </a:xfrm>
          <a:prstGeom prst="roundRect">
            <a:avLst/>
          </a:prstGeom>
          <a:solidFill>
            <a:srgbClr val="141B2A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19288" y="2889504"/>
            <a:ext cx="29352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4E09A"/>
                </a:solidFill>
                <a:latin typeface="Aptos"/>
              </a:defRPr>
            </a:pPr>
            <a:r>
              <a:t>WHY O(n)?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19872" y="3246120"/>
            <a:ext cx="2743200" cy="1417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500" b="1">
                <a:solidFill>
                  <a:srgbClr val="F2F6FC"/>
                </a:solidFill>
                <a:latin typeface="Aptos"/>
              </a:defRPr>
            </a:pPr>
            <a:r>
              <a:t>left moves only forward.</a:t>
            </a:r>
            <a:br/>
            <a:r>
              <a:t>right moves only forward.</a:t>
            </a:r>
            <a:br/>
            <a:br/>
            <a:r>
              <a:t>Each element enters and leaves the window at most once.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9B5CA"/>
                </a:solidFill>
                <a:latin typeface="Aptos"/>
              </a:defRPr>
            </a:pPr>
            <a:r>
              <a:t>DSA From Scratch to Advanced  •  Day 20                                  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3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6FC"/>
                </a:solidFill>
                <a:latin typeface="Aptos"/>
              </a:defRPr>
            </a:pPr>
            <a:r>
              <a:t>12. Complexity Cheat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058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9B5CA"/>
                </a:solidFill>
                <a:latin typeface="Aptos"/>
              </a:defRPr>
            </a:pPr>
            <a:r>
              <a:t>Choose patterns that reduce nested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10972800" cy="4526280"/>
          </a:xfrm>
          <a:prstGeom prst="roundRect">
            <a:avLst/>
          </a:prstGeom>
          <a:solidFill>
            <a:srgbClr val="141B2A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609344"/>
            <a:ext cx="105704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3D3FF"/>
                </a:solidFill>
                <a:latin typeface="Aptos"/>
              </a:defRPr>
            </a:pPr>
            <a:r>
              <a:t>AT A GLANCE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38862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00" b="1">
                <a:solidFill>
                  <a:srgbClr val="43D3FF"/>
                </a:solidFill>
                <a:latin typeface="Aptos"/>
              </a:defRPr>
            </a:pPr>
            <a:r>
              <a:t>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83480" y="1828800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00" b="1">
                <a:solidFill>
                  <a:srgbClr val="43D3FF"/>
                </a:solidFill>
                <a:latin typeface="Aptos"/>
              </a:defRPr>
            </a:pPr>
            <a:r>
              <a:t>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13258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00" b="1">
                <a:solidFill>
                  <a:srgbClr val="43D3FF"/>
                </a:solidFill>
                <a:latin typeface="Aptos"/>
              </a:defRPr>
            </a:pPr>
            <a:r>
              <a:t>SPACE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828800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00" b="1">
                <a:solidFill>
                  <a:srgbClr val="43D3FF"/>
                </a:solidFill>
                <a:latin typeface="Aptos"/>
              </a:defRPr>
            </a:pPr>
            <a:r>
              <a:t>BEST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40280"/>
            <a:ext cx="38862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50" b="1">
                <a:solidFill>
                  <a:srgbClr val="F2F6FC"/>
                </a:solidFill>
                <a:latin typeface="Aptos"/>
              </a:defRPr>
            </a:pPr>
            <a:r>
              <a:t>Two Pointers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2240280"/>
            <a:ext cx="13258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50" b="0">
                <a:solidFill>
                  <a:srgbClr val="54E09A"/>
                </a:solidFill>
                <a:latin typeface="Aptos"/>
              </a:defRPr>
            </a:pPr>
            <a:r>
              <a:t>O(n)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240280"/>
            <a:ext cx="13258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50" b="0">
                <a:solidFill>
                  <a:srgbClr val="FFCD5C"/>
                </a:solidFill>
                <a:latin typeface="Aptos"/>
              </a:defRPr>
            </a:pPr>
            <a:r>
              <a:t>O(1)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240280"/>
            <a:ext cx="310896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50" b="0">
                <a:solidFill>
                  <a:srgbClr val="F2F6FC"/>
                </a:solidFill>
                <a:latin typeface="Aptos"/>
              </a:defRPr>
            </a:pPr>
            <a:r>
              <a:t>Sorted / opposite ends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679192"/>
            <a:ext cx="38862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50" b="1">
                <a:solidFill>
                  <a:srgbClr val="F2F6FC"/>
                </a:solidFill>
                <a:latin typeface="Aptos"/>
              </a:defRPr>
            </a:pPr>
            <a:r>
              <a:t>Sliding Window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2679192"/>
            <a:ext cx="13258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50" b="0">
                <a:solidFill>
                  <a:srgbClr val="54E09A"/>
                </a:solidFill>
                <a:latin typeface="Aptos"/>
              </a:defRPr>
            </a:pPr>
            <a:r>
              <a:t>O(n)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679192"/>
            <a:ext cx="13258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50" b="0">
                <a:solidFill>
                  <a:srgbClr val="FFCD5C"/>
                </a:solidFill>
                <a:latin typeface="Aptos"/>
              </a:defRPr>
            </a:pPr>
            <a:r>
              <a:t>O(1)–O(k)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679192"/>
            <a:ext cx="310896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50" b="0">
                <a:solidFill>
                  <a:srgbClr val="F2F6FC"/>
                </a:solidFill>
                <a:latin typeface="Aptos"/>
              </a:defRPr>
            </a:pPr>
            <a:r>
              <a:t>Contiguous range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118104"/>
            <a:ext cx="38862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50" b="1">
                <a:solidFill>
                  <a:srgbClr val="F2F6FC"/>
                </a:solidFill>
                <a:latin typeface="Aptos"/>
              </a:defRPr>
            </a:pPr>
            <a:r>
              <a:t>Prefix Sum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3118104"/>
            <a:ext cx="13258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50" b="0">
                <a:solidFill>
                  <a:srgbClr val="54E09A"/>
                </a:solidFill>
                <a:latin typeface="Aptos"/>
              </a:defRPr>
            </a:pPr>
            <a:r>
              <a:t>O(n) 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118104"/>
            <a:ext cx="13258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50" b="0">
                <a:solidFill>
                  <a:srgbClr val="FFCD5C"/>
                </a:solidFill>
                <a:latin typeface="Aptos"/>
              </a:defRPr>
            </a:pPr>
            <a:r>
              <a:t>O(n)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3118104"/>
            <a:ext cx="310896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50" b="0">
                <a:solidFill>
                  <a:srgbClr val="F2F6FC"/>
                </a:solidFill>
                <a:latin typeface="Aptos"/>
              </a:defRPr>
            </a:pPr>
            <a:r>
              <a:t>Many range queries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557016"/>
            <a:ext cx="38862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50" b="1">
                <a:solidFill>
                  <a:srgbClr val="F2F6FC"/>
                </a:solidFill>
                <a:latin typeface="Aptos"/>
              </a:defRPr>
            </a:pPr>
            <a:r>
              <a:t>Hash Map / 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3557016"/>
            <a:ext cx="13258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50" b="0">
                <a:solidFill>
                  <a:srgbClr val="54E09A"/>
                </a:solidFill>
                <a:latin typeface="Aptos"/>
              </a:defRPr>
            </a:pPr>
            <a:r>
              <a:t>O(n) avg.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557016"/>
            <a:ext cx="13258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50" b="0">
                <a:solidFill>
                  <a:srgbClr val="FFCD5C"/>
                </a:solidFill>
                <a:latin typeface="Aptos"/>
              </a:defRPr>
            </a:pPr>
            <a:r>
              <a:t>O(n)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3557016"/>
            <a:ext cx="310896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50" b="0">
                <a:solidFill>
                  <a:srgbClr val="F2F6FC"/>
                </a:solidFill>
                <a:latin typeface="Aptos"/>
              </a:defRPr>
            </a:pPr>
            <a:r>
              <a:t>Fast lookup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3995928"/>
            <a:ext cx="38862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50" b="1">
                <a:solidFill>
                  <a:srgbClr val="F2F6FC"/>
                </a:solidFill>
                <a:latin typeface="Aptos"/>
              </a:defRPr>
            </a:pPr>
            <a:r>
              <a:t>Kadane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80" y="3995928"/>
            <a:ext cx="13258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50" b="0">
                <a:solidFill>
                  <a:srgbClr val="54E09A"/>
                </a:solidFill>
                <a:latin typeface="Aptos"/>
              </a:defRPr>
            </a:pPr>
            <a:r>
              <a:t>O(n)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995928"/>
            <a:ext cx="13258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50" b="0">
                <a:solidFill>
                  <a:srgbClr val="FFCD5C"/>
                </a:solidFill>
                <a:latin typeface="Aptos"/>
              </a:defRPr>
            </a:pPr>
            <a:r>
              <a:t>O(1)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3995928"/>
            <a:ext cx="310896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50" b="0">
                <a:solidFill>
                  <a:srgbClr val="F2F6FC"/>
                </a:solidFill>
                <a:latin typeface="Aptos"/>
              </a:defRPr>
            </a:pPr>
            <a:r>
              <a:t>Max subarray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4434840"/>
            <a:ext cx="38862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50" b="1">
                <a:solidFill>
                  <a:srgbClr val="F2F6FC"/>
                </a:solidFill>
                <a:latin typeface="Aptos"/>
              </a:defRPr>
            </a:pPr>
            <a:r>
              <a:t>Sort + Scan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83480" y="4434840"/>
            <a:ext cx="13258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50" b="0">
                <a:solidFill>
                  <a:srgbClr val="54E09A"/>
                </a:solidFill>
                <a:latin typeface="Aptos"/>
              </a:defRPr>
            </a:pPr>
            <a:r>
              <a:t>O(n log 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434840"/>
            <a:ext cx="13258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50" b="0">
                <a:solidFill>
                  <a:srgbClr val="FFCD5C"/>
                </a:solidFill>
                <a:latin typeface="Aptos"/>
              </a:defRPr>
            </a:pPr>
            <a:r>
              <a:t>O(1)–O(n)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4434840"/>
            <a:ext cx="310896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50" b="0">
                <a:solidFill>
                  <a:srgbClr val="F2F6FC"/>
                </a:solidFill>
                <a:latin typeface="Aptos"/>
              </a:defRPr>
            </a:pPr>
            <a:r>
              <a:t>Ordering helps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4873752"/>
            <a:ext cx="38862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50" b="1">
                <a:solidFill>
                  <a:srgbClr val="F2F6FC"/>
                </a:solidFill>
                <a:latin typeface="Aptos"/>
              </a:defRPr>
            </a:pPr>
            <a:r>
              <a:t>Binary Search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83480" y="4873752"/>
            <a:ext cx="13258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50" b="0">
                <a:solidFill>
                  <a:srgbClr val="54E09A"/>
                </a:solidFill>
                <a:latin typeface="Aptos"/>
              </a:defRPr>
            </a:pPr>
            <a:r>
              <a:t>O(log n)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4873752"/>
            <a:ext cx="13258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50" b="0">
                <a:solidFill>
                  <a:srgbClr val="FFCD5C"/>
                </a:solidFill>
                <a:latin typeface="Aptos"/>
              </a:defRPr>
            </a:pPr>
            <a:r>
              <a:t>O(1)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92440" y="4873752"/>
            <a:ext cx="310896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50" b="0">
                <a:solidFill>
                  <a:srgbClr val="F2F6FC"/>
                </a:solidFill>
                <a:latin typeface="Aptos"/>
              </a:defRPr>
            </a:pPr>
            <a:r>
              <a:t>Sorted / monotonic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5312664"/>
            <a:ext cx="38862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50" b="1">
                <a:solidFill>
                  <a:srgbClr val="F2F6FC"/>
                </a:solidFill>
                <a:latin typeface="Aptos"/>
              </a:defRPr>
            </a:pPr>
            <a:r>
              <a:t>Write Pointer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83480" y="5312664"/>
            <a:ext cx="13258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50" b="0">
                <a:solidFill>
                  <a:srgbClr val="54E09A"/>
                </a:solidFill>
                <a:latin typeface="Aptos"/>
              </a:defRPr>
            </a:pPr>
            <a:r>
              <a:t>O(n)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5312664"/>
            <a:ext cx="132588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50" b="0">
                <a:solidFill>
                  <a:srgbClr val="FFCD5C"/>
                </a:solidFill>
                <a:latin typeface="Aptos"/>
              </a:defRPr>
            </a:pPr>
            <a:r>
              <a:t>O(1)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92440" y="5312664"/>
            <a:ext cx="310896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150" b="0">
                <a:solidFill>
                  <a:srgbClr val="F2F6FC"/>
                </a:solidFill>
                <a:latin typeface="Aptos"/>
              </a:defRPr>
            </a:pPr>
            <a:r>
              <a:t>In-place filtering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5760720"/>
            <a:ext cx="640080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300" b="1">
                <a:solidFill>
                  <a:srgbClr val="A9B5CA"/>
                </a:solidFill>
                <a:latin typeface="Aptos"/>
              </a:defRPr>
            </a:pPr>
            <a:r>
              <a:t>Complexity is not decoration: it explains why a pattern is worth using.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9B5CA"/>
                </a:solidFill>
                <a:latin typeface="Aptos"/>
              </a:defRPr>
            </a:pPr>
            <a:r>
              <a:t>DSA From Scratch to Advanced  •  Day 20                                  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3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6FC"/>
                </a:solidFill>
                <a:latin typeface="Aptos"/>
              </a:defRPr>
            </a:pPr>
            <a:r>
              <a:t>13. LeetCode Practice #1 — Two Sum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058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9B5CA"/>
                </a:solidFill>
                <a:latin typeface="Aptos"/>
              </a:defRPr>
            </a:pPr>
            <a:r>
              <a:t>Pattern: Hashing for O(n) lookup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029200" cy="4526280"/>
          </a:xfrm>
          <a:prstGeom prst="roundRect">
            <a:avLst/>
          </a:prstGeom>
          <a:solidFill>
            <a:srgbClr val="141B2A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609344"/>
            <a:ext cx="46268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3D3FF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4343400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600" b="1">
                <a:solidFill>
                  <a:srgbClr val="F2F6FC"/>
                </a:solidFill>
                <a:latin typeface="Aptos"/>
              </a:defRPr>
            </a:pPr>
            <a:r>
              <a:t>Given nums and a target, return indices of two numbers whose sum equals target.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300" b="1">
                <a:solidFill>
                  <a:srgbClr val="FFCD5C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37560"/>
            <a:ext cx="4023360" cy="960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500" b="0">
                <a:solidFill>
                  <a:srgbClr val="A9B5CA"/>
                </a:solidFill>
                <a:latin typeface="Cascadia Mono"/>
              </a:defRPr>
            </a:pPr>
            <a:r>
              <a:t>nums = [2,7,11,15]</a:t>
            </a:r>
            <a:br/>
            <a:r>
              <a:t>target = 9</a:t>
            </a:r>
            <a:br/>
            <a:r>
              <a:t>answer = [0,1]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09160"/>
            <a:ext cx="429768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400" b="1">
                <a:solidFill>
                  <a:srgbClr val="9D7DFF"/>
                </a:solidFill>
                <a:latin typeface="Aptos"/>
              </a:defRPr>
            </a:pPr>
            <a:r>
              <a:t>Pattern trigger: “have I seen the complement?”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463040"/>
            <a:ext cx="5623560" cy="4526280"/>
          </a:xfrm>
          <a:prstGeom prst="roundRect">
            <a:avLst/>
          </a:prstGeom>
          <a:solidFill>
            <a:srgbClr val="141B2A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44768" y="1609344"/>
            <a:ext cx="52212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4E09A"/>
                </a:solidFill>
                <a:latin typeface="Aptos"/>
              </a:defRPr>
            </a:pPr>
            <a:r>
              <a:t>SOLUTION IDEA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65960"/>
            <a:ext cx="4983480" cy="2331720"/>
          </a:xfrm>
          <a:prstGeom prst="roundRect">
            <a:avLst/>
          </a:prstGeom>
          <a:solidFill>
            <a:srgbClr val="080C14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1" y="2093976"/>
            <a:ext cx="4654296" cy="2075687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defRPr sz="1180">
                <a:solidFill>
                  <a:srgbClr val="DBE7F7"/>
                </a:solidFill>
                <a:latin typeface="Cascadia Mono"/>
              </a:defRPr>
            </a:pPr>
            <a:r>
              <a:t>unordered_map&lt;int,int&gt; pos;</a:t>
            </a:r>
            <a:br/>
            <a:br/>
            <a:r>
              <a:t>for (int i = 0; i &lt; nums.size(); ++i) {</a:t>
            </a:r>
            <a:br/>
            <a:r>
              <a:t>    int need = target - nums[i];</a:t>
            </a:r>
            <a:br/>
            <a:br/>
            <a:r>
              <a:t>    if (pos.count(need))</a:t>
            </a:r>
            <a:br/>
            <a:r>
              <a:t>        return {pos[need], i};</a:t>
            </a:r>
            <a:br/>
            <a:br/>
            <a:r>
              <a:t>    pos[nums[i]] = i;</a:t>
            </a:r>
            <a:br/>
            <a: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617720"/>
            <a:ext cx="47548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400" b="1">
                <a:solidFill>
                  <a:srgbClr val="54E09A"/>
                </a:solidFill>
                <a:latin typeface="Aptos"/>
              </a:defRPr>
            </a:pPr>
            <a:r>
              <a:t>Time: O(n) average  •  Space: O(n)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138928"/>
            <a:ext cx="46634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300" b="0">
                <a:solidFill>
                  <a:srgbClr val="F2F6FC"/>
                </a:solidFill>
                <a:latin typeface="Aptos"/>
              </a:defRPr>
            </a:pPr>
            <a:r>
              <a:t>Practice: try solving it once without looking at the map approach.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9B5CA"/>
                </a:solidFill>
                <a:latin typeface="Aptos"/>
              </a:defRPr>
            </a:pPr>
            <a:r>
              <a:t>DSA From Scratch to Advanced  •  Day 20                                  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3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6FC"/>
                </a:solidFill>
                <a:latin typeface="Aptos"/>
              </a:defRPr>
            </a:pPr>
            <a:r>
              <a:t>14. LeetCode Practice #2 — Best Time to Buy &amp; Sell Stock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058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9B5CA"/>
                </a:solidFill>
                <a:latin typeface="Aptos"/>
              </a:defRPr>
            </a:pPr>
            <a:r>
              <a:t>Pattern: one-pass tracking / running minimum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166360" cy="4526280"/>
          </a:xfrm>
          <a:prstGeom prst="roundRect">
            <a:avLst/>
          </a:prstGeom>
          <a:solidFill>
            <a:srgbClr val="141B2A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609344"/>
            <a:ext cx="47640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CD5C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874519"/>
            <a:ext cx="448056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700" b="1">
                <a:solidFill>
                  <a:srgbClr val="F2F6FC"/>
                </a:solidFill>
                <a:latin typeface="Aptos"/>
              </a:defRPr>
            </a:pPr>
            <a:r>
              <a:t>Find the maximum profit from one buy and one later sell.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78892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300" b="1">
                <a:solidFill>
                  <a:srgbClr val="FFCD5C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154680"/>
            <a:ext cx="4389120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600" b="0">
                <a:solidFill>
                  <a:srgbClr val="A9B5CA"/>
                </a:solidFill>
                <a:latin typeface="Cascadia Mono"/>
              </a:defRPr>
            </a:pPr>
            <a:r>
              <a:t>prices = [7,1,5,3,6,4]</a:t>
            </a:r>
            <a:br/>
            <a:r>
              <a:t>max profit =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251960"/>
            <a:ext cx="443484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500" b="1">
                <a:solidFill>
                  <a:srgbClr val="F2F6FC"/>
                </a:solidFill>
                <a:latin typeface="Aptos"/>
              </a:defRPr>
            </a:pPr>
            <a:r>
              <a:t>Insight: keep the cheapest price seen so far.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" y="5074920"/>
            <a:ext cx="2560320" cy="347472"/>
          </a:xfrm>
          <a:prstGeom prst="roundRect">
            <a:avLst/>
          </a:prstGeom>
          <a:solidFill>
            <a:srgbClr val="1A2336"/>
          </a:solidFill>
          <a:ln>
            <a:solidFill>
              <a:srgbClr val="FFC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5093207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CD5C"/>
                </a:solidFill>
                <a:latin typeface="Aptos"/>
              </a:defRPr>
            </a:pPr>
            <a:r>
              <a:t>BUY LOW → SELL LATER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463040"/>
            <a:ext cx="5486400" cy="4526280"/>
          </a:xfrm>
          <a:prstGeom prst="roundRect">
            <a:avLst/>
          </a:prstGeom>
          <a:solidFill>
            <a:srgbClr val="141B2A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609344"/>
            <a:ext cx="508406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4E09A"/>
                </a:solidFill>
                <a:latin typeface="Aptos"/>
              </a:defRPr>
            </a:pPr>
            <a:r>
              <a:t>C++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011680"/>
            <a:ext cx="4800600" cy="2148840"/>
          </a:xfrm>
          <a:prstGeom prst="roundRect">
            <a:avLst/>
          </a:prstGeom>
          <a:solidFill>
            <a:srgbClr val="080C14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2139696"/>
            <a:ext cx="4471416" cy="1892808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>
              <a:defRPr sz="1220">
                <a:solidFill>
                  <a:srgbClr val="DBE7F7"/>
                </a:solidFill>
                <a:latin typeface="Cascadia Mono"/>
              </a:defRPr>
            </a:pPr>
            <a:r>
              <a:t>int minPrice = prices[0];</a:t>
            </a:r>
            <a:br/>
            <a:r>
              <a:t>int best = 0;</a:t>
            </a:r>
            <a:br/>
            <a:br/>
            <a:r>
              <a:t>for (int p : prices) {</a:t>
            </a:r>
            <a:br/>
            <a:r>
              <a:t>    minPrice = min(minPrice, p);</a:t>
            </a:r>
            <a:br/>
            <a:r>
              <a:t>    best = max(best, p - minPrice);</a:t>
            </a:r>
            <a:br/>
            <a:r>
              <a:t>}</a:t>
            </a:r>
            <a:br/>
            <a:br/>
            <a:r>
              <a:t>return best;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572000"/>
            <a:ext cx="44805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400" b="1">
                <a:solidFill>
                  <a:srgbClr val="54E09A"/>
                </a:solidFill>
                <a:latin typeface="Aptos"/>
              </a:defRPr>
            </a:pPr>
            <a:r>
              <a:t>Time O(n)  •  Extra space O(1)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74920"/>
            <a:ext cx="45720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400" b="0">
                <a:solidFill>
                  <a:srgbClr val="F2F6FC"/>
                </a:solidFill>
                <a:latin typeface="Aptos"/>
              </a:defRPr>
            </a:pPr>
            <a:r>
              <a:t>Pattern lesson: sometimes the best “window” is just a running state.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9B5CA"/>
                </a:solidFill>
                <a:latin typeface="Aptos"/>
              </a:defRPr>
            </a:pPr>
            <a:r>
              <a:t>DSA From Scratch to Advanced  •  Day 20                                   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3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6FC"/>
                </a:solidFill>
                <a:latin typeface="Aptos"/>
              </a:defRPr>
            </a:pPr>
            <a:r>
              <a:t>15. LeetCode Practice #3 — Product of Array Except 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058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9B5CA"/>
                </a:solidFill>
                <a:latin typeface="Aptos"/>
              </a:defRPr>
            </a:pPr>
            <a:r>
              <a:t>Pattern: prefix × suffix, no division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03520" cy="4526280"/>
          </a:xfrm>
          <a:prstGeom prst="roundRect">
            <a:avLst/>
          </a:prstGeom>
          <a:solidFill>
            <a:srgbClr val="141B2A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609344"/>
            <a:ext cx="490118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9D7DFF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4572000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600" b="1">
                <a:solidFill>
                  <a:srgbClr val="F2F6FC"/>
                </a:solidFill>
                <a:latin typeface="Aptos"/>
              </a:defRPr>
            </a:pPr>
            <a:r>
              <a:t>For each index, return the product of every element except nums[i].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300" b="1">
                <a:solidFill>
                  <a:srgbClr val="FFCD5C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448056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700" b="0">
                <a:solidFill>
                  <a:srgbClr val="A9B5CA"/>
                </a:solidFill>
                <a:latin typeface="Cascadia Mono"/>
              </a:defRPr>
            </a:pPr>
            <a:r>
              <a:t>[1,2,3,4] → [24,12,8,6]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438912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500" b="1">
                <a:solidFill>
                  <a:srgbClr val="9D7DFF"/>
                </a:solidFill>
                <a:latin typeface="Aptos"/>
              </a:defRPr>
            </a:pPr>
            <a:r>
              <a:t>Do it in O(n) without division.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17720"/>
            <a:ext cx="73152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300" b="1">
                <a:solidFill>
                  <a:srgbClr val="FFCD5C"/>
                </a:solidFill>
                <a:latin typeface="Aptos"/>
              </a:defRPr>
            </a:pPr>
            <a:r>
              <a:t>Think: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590288"/>
            <a:ext cx="34747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400" b="1">
                <a:solidFill>
                  <a:srgbClr val="F2F6FC"/>
                </a:solidFill>
                <a:latin typeface="Aptos"/>
              </a:defRPr>
            </a:pPr>
            <a:r>
              <a:t>left product × right product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463040"/>
            <a:ext cx="5394960" cy="4526280"/>
          </a:xfrm>
          <a:prstGeom prst="roundRect">
            <a:avLst/>
          </a:prstGeom>
          <a:solidFill>
            <a:srgbClr val="141B2A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609344"/>
            <a:ext cx="49926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3D3FF"/>
                </a:solidFill>
                <a:latin typeface="Aptos"/>
              </a:defRPr>
            </a:pPr>
            <a:r>
              <a:t>INTERVIEW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874519"/>
            <a:ext cx="4572000" cy="2240280"/>
          </a:xfrm>
          <a:prstGeom prst="rect">
            <a:avLst/>
          </a:prstGeom>
          <a:noFill/>
        </p:spPr>
        <p:txBody>
          <a:bodyPr wrap="square" lIns="36576" rIns="27432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2F6FC"/>
                </a:solidFill>
                <a:latin typeface="Aptos"/>
              </a:defRPr>
            </a:pPr>
            <a:r>
              <a:t>• Can you keep the result array as the output space?</a:t>
            </a:r>
          </a:p>
          <a:p>
            <a:pPr>
              <a:spcAft>
                <a:spcPts val="400"/>
              </a:spcAft>
              <a:defRPr sz="1400">
                <a:solidFill>
                  <a:srgbClr val="F2F6FC"/>
                </a:solidFill>
                <a:latin typeface="Aptos"/>
              </a:defRPr>
            </a:pPr>
            <a:r>
              <a:t>• Can you compute left products first?</a:t>
            </a:r>
          </a:p>
          <a:p>
            <a:pPr>
              <a:spcAft>
                <a:spcPts val="400"/>
              </a:spcAft>
              <a:defRPr sz="1400">
                <a:solidFill>
                  <a:srgbClr val="F2F6FC"/>
                </a:solidFill>
                <a:latin typeface="Aptos"/>
              </a:defRPr>
            </a:pPr>
            <a:r>
              <a:t>• Can you multiply right products in a reverse pass?</a:t>
            </a:r>
          </a:p>
          <a:p>
            <a:pPr>
              <a:spcAft>
                <a:spcPts val="400"/>
              </a:spcAft>
              <a:defRPr sz="1400">
                <a:solidFill>
                  <a:srgbClr val="F2F6FC"/>
                </a:solidFill>
                <a:latin typeface="Aptos"/>
              </a:defRPr>
            </a:pPr>
            <a:r>
              <a:t>• What is the extra space complexity if output space is excluded?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389120"/>
            <a:ext cx="9144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300" b="1">
                <a:solidFill>
                  <a:srgbClr val="FFCD5C"/>
                </a:solidFill>
                <a:latin typeface="Aptos"/>
              </a:defRPr>
            </a:pPr>
            <a:r>
              <a:t>Expected: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754880"/>
            <a:ext cx="45720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500" b="1">
                <a:solidFill>
                  <a:srgbClr val="54E09A"/>
                </a:solidFill>
                <a:latin typeface="Aptos"/>
              </a:defRPr>
            </a:pPr>
            <a:r>
              <a:t>Time O(n)  •  Extra space O(1) beyond output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5394960"/>
            <a:ext cx="4297680" cy="347472"/>
          </a:xfrm>
          <a:prstGeom prst="roundRect">
            <a:avLst/>
          </a:prstGeom>
          <a:solidFill>
            <a:srgbClr val="1A2336"/>
          </a:solidFill>
          <a:ln>
            <a:solidFill>
              <a:srgbClr val="9D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5413248"/>
            <a:ext cx="4297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9D7DFF"/>
                </a:solidFill>
                <a:latin typeface="Aptos"/>
              </a:defRPr>
            </a:pPr>
            <a:r>
              <a:t>MASTER THE PATTERN, NOT THE MEMORIZED 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9B5CA"/>
                </a:solidFill>
                <a:latin typeface="Aptos"/>
              </a:defRPr>
            </a:pPr>
            <a:r>
              <a:t>DSA From Scratch to Advanced  •  Day 20                                   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3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6FC"/>
                </a:solidFill>
                <a:latin typeface="Aptos"/>
              </a:defRPr>
            </a:pPr>
            <a:r>
              <a:t>16. Interview Tip + Final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005840"/>
            <a:ext cx="10789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9B5CA"/>
                </a:solidFill>
                <a:latin typeface="Aptos"/>
              </a:defRPr>
            </a:pPr>
            <a:r>
              <a:t>Pattern recognition is the real superpower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49240" cy="4526280"/>
          </a:xfrm>
          <a:prstGeom prst="roundRect">
            <a:avLst/>
          </a:prstGeom>
          <a:solidFill>
            <a:srgbClr val="141B2A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609344"/>
            <a:ext cx="494690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3D3FF"/>
                </a:solidFill>
                <a:latin typeface="Aptos"/>
              </a:defRPr>
            </a:pPr>
            <a:r>
              <a:t>INTERVIEW TIP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44805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900" b="1">
                <a:solidFill>
                  <a:srgbClr val="F2F6FC"/>
                </a:solidFill>
                <a:latin typeface="Aptos"/>
              </a:defRPr>
            </a:pPr>
            <a:r>
              <a:t>Don't jump directly into code.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42062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defRPr sz="1400" b="1">
                <a:solidFill>
                  <a:srgbClr val="FFCD5C"/>
                </a:solidFill>
                <a:latin typeface="Aptos"/>
              </a:defRPr>
            </a:pPr>
            <a:r>
              <a:t>Say your pattern out loud: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4526280" cy="2148840"/>
          </a:xfrm>
          <a:prstGeom prst="rect">
            <a:avLst/>
          </a:prstGeom>
          <a:noFill/>
        </p:spPr>
        <p:txBody>
          <a:bodyPr wrap="square" lIns="36576" rIns="27432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F2F6FC"/>
                </a:solidFill>
                <a:latin typeface="Aptos"/>
              </a:defRPr>
            </a:pPr>
            <a:r>
              <a:t>• “The array is sorted, so two pointers may reduce the search to O(n).”</a:t>
            </a:r>
          </a:p>
          <a:p>
            <a:pPr>
              <a:spcAft>
                <a:spcPts val="400"/>
              </a:spcAft>
              <a:defRPr sz="1350">
                <a:solidFill>
                  <a:srgbClr val="F2F6FC"/>
                </a:solidFill>
                <a:latin typeface="Aptos"/>
              </a:defRPr>
            </a:pPr>
            <a:r>
              <a:t>• “The question asks for a contiguous range, so I’ll test a sliding window.”</a:t>
            </a:r>
          </a:p>
          <a:p>
            <a:pPr>
              <a:spcAft>
                <a:spcPts val="400"/>
              </a:spcAft>
              <a:defRPr sz="1350">
                <a:solidFill>
                  <a:srgbClr val="F2F6FC"/>
                </a:solidFill>
                <a:latin typeface="Aptos"/>
              </a:defRPr>
            </a:pPr>
            <a:r>
              <a:t>• “Repeated range calculations suggest prefix sums.”</a:t>
            </a:r>
          </a:p>
          <a:p>
            <a:pPr>
              <a:spcAft>
                <a:spcPts val="400"/>
              </a:spcAft>
              <a:defRPr sz="1350">
                <a:solidFill>
                  <a:srgbClr val="F2F6FC"/>
                </a:solidFill>
                <a:latin typeface="Aptos"/>
              </a:defRPr>
            </a:pPr>
            <a:r>
              <a:t>• “We need fast membership checks, so I’ll use a hash set/map.”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349240" cy="4526280"/>
          </a:xfrm>
          <a:prstGeom prst="roundRect">
            <a:avLst/>
          </a:prstGeom>
          <a:solidFill>
            <a:srgbClr val="141B2A"/>
          </a:solidFill>
          <a:ln>
            <a:solidFill>
              <a:srgbClr val="30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609344"/>
            <a:ext cx="494690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4E09A"/>
                </a:solidFill>
                <a:latin typeface="Aptos"/>
              </a:defRPr>
            </a:pPr>
            <a:r>
              <a:t>TODAY'S MEMORY HOOK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874519"/>
            <a:ext cx="4572000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2000" b="1">
                <a:solidFill>
                  <a:srgbClr val="54E09A"/>
                </a:solidFill>
                <a:latin typeface="Aptos"/>
              </a:defRPr>
            </a:pPr>
            <a:r>
              <a:t>CLUE → PATTERN → COMPLEXITY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697480"/>
            <a:ext cx="4572000" cy="2057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500" b="1">
                <a:solidFill>
                  <a:srgbClr val="F2F6FC"/>
                </a:solidFill>
                <a:latin typeface="Aptos"/>
              </a:defRPr>
            </a:pPr>
            <a:r>
              <a:t>Sorted → Two Pointers / Binary Search</a:t>
            </a:r>
            <a:br/>
            <a:r>
              <a:t>Contiguous → Sliding Window / Prefix</a:t>
            </a:r>
            <a:br/>
            <a:r>
              <a:t>Seen / Count → Hashing</a:t>
            </a:r>
            <a:br/>
            <a:r>
              <a:t>Best subarray → Kadane</a:t>
            </a:r>
            <a:br/>
            <a:r>
              <a:t>Need order → Sort + Scan</a:t>
            </a:r>
            <a:br/>
            <a:r>
              <a:t>In-place filter → Write Pointer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5166360"/>
            <a:ext cx="457200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700" b="1">
                <a:solidFill>
                  <a:srgbClr val="43D3FF"/>
                </a:solidFill>
                <a:latin typeface="Aptos"/>
              </a:defRPr>
            </a:pPr>
            <a:r>
              <a:t>Tomorrow: String Fundamentals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5559552"/>
            <a:ext cx="457200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100" b="0">
                <a:solidFill>
                  <a:srgbClr val="A9B5CA"/>
                </a:solidFill>
                <a:latin typeface="Aptos"/>
              </a:defRPr>
            </a:pPr>
            <a:r>
              <a:t>Day 21 • Characters • ASCII • strings • traversal • basic 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9B5CA"/>
                </a:solidFill>
                <a:latin typeface="Aptos"/>
              </a:defRPr>
            </a:pPr>
            <a:r>
              <a:t>DSA From Scratch to Advanced  •  Day 20                                      18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742432"/>
            <a:ext cx="2560320" cy="438912"/>
          </a:xfrm>
          <a:prstGeom prst="roundRect">
            <a:avLst/>
          </a:prstGeom>
          <a:solidFill>
            <a:srgbClr val="1A2336"/>
          </a:solidFill>
          <a:ln>
            <a:solidFill>
              <a:srgbClr val="43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>
            <a:hlinkClick r:id="rId2"/>
          </p:cNvPr>
          <p:cNvSpPr txBox="1"/>
          <p:nvPr/>
        </p:nvSpPr>
        <p:spPr>
          <a:xfrm>
            <a:off x="777240" y="5769864"/>
            <a:ext cx="25603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43D3FF"/>
                </a:solidFill>
                <a:latin typeface="Aptos"/>
              </a:defRPr>
            </a:pPr>
            <a:r>
              <a:t>GitHub • dsa_ppt_post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