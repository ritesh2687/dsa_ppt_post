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5BE8FF"/>
                </a:solidFill>
                <a:latin typeface="Aptos"/>
              </a:defRPr>
            </a:pPr>
            <a:r>
              <a:t>DSA FROM SCRATCH TO ADVANCED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789920" cy="1051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3600" b="1">
                <a:solidFill>
                  <a:srgbClr val="F2F7FF"/>
                </a:solidFill>
                <a:latin typeface="Aptos"/>
              </a:defRPr>
            </a:pPr>
            <a:r>
              <a:t>DAY 3 — SPACE</a:t>
            </a:r>
            <a:br/>
            <a: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900" b="0">
                <a:solidFill>
                  <a:srgbClr val="AABCD3"/>
                </a:solidFill>
                <a:latin typeface="Aptos"/>
              </a:defRPr>
            </a:pPr>
            <a:r>
              <a:t>Understanding How Much Memory Your Algorithm 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657600"/>
            <a:ext cx="2651760" cy="32004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3822191"/>
            <a:ext cx="2651760" cy="5029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79" y="3986784"/>
            <a:ext cx="2651760" cy="68580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55279" y="4151376"/>
            <a:ext cx="2651760" cy="91440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6309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2F7FF"/>
                </a:solidFill>
                <a:latin typeface="Aptos"/>
              </a:defRPr>
            </a:pPr>
            <a:r>
              <a:t>Concept  →  Example  → 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07408"/>
            <a:ext cx="6309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2F7FF"/>
                </a:solidFill>
                <a:latin typeface="Aptos"/>
              </a:defRPr>
            </a:pPr>
            <a:r>
              <a:t>Complexity  →  Pattern  → 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37176"/>
            <a:ext cx="6309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2F7FF"/>
                </a:solidFill>
                <a:latin typeface="Aptos"/>
              </a:defRPr>
            </a:pPr>
            <a:r>
              <a:t>Solution  →  Takeaway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77840"/>
            <a:ext cx="2011680" cy="310896"/>
          </a:xfrm>
          <a:prstGeom prst="roundRect">
            <a:avLst/>
          </a:prstGeom>
          <a:solidFill>
            <a:srgbClr val="97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586983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MEMORY MATTERS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What We'll Learn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44752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1. What is Space Complexity?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2. Why do we need it?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75688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94560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3. How Space Complexity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75688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4. Common Space Complexities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25496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44368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5. Auxiliary Space vs Input 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25496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44368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6. Space Complexity in C++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75304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94176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7. Arrays, Maps, Sets &amp; Matrices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75304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694176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8. Recursion &amp; Call Stack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325112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43983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9. Time vs Space Trade-offs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325112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443983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10. LeetCode Practice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074920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93792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11. Interview Tips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074920"/>
            <a:ext cx="5349240" cy="56692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193792"/>
            <a:ext cx="4892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12. 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🧠 What is Space Complexity?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7665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1">
                <a:solidFill>
                  <a:srgbClr val="F2F7FF"/>
                </a:solidFill>
                <a:latin typeface="Aptos"/>
              </a:defRPr>
            </a:pPr>
            <a:r>
              <a:t>Space Complexity tells us how much memory an algorithm requires as the input size increases.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94560"/>
            <a:ext cx="5120640" cy="32461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340864"/>
            <a:ext cx="475487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Variables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Arrays / vectors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Strings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Maps / sets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Matrices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Temporary data structures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Recursion call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94560"/>
            <a:ext cx="5440680" cy="32461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5BE8FF"/>
                </a:solidFill>
                <a:latin typeface="Aptos"/>
              </a:defRPr>
            </a:pPr>
            <a:r>
              <a:t>INPUT SIZE 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47548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400" b="1">
                <a:solidFill>
                  <a:srgbClr val="29B8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49DE97"/>
                </a:solidFill>
                <a:latin typeface="Aptos"/>
              </a:defRPr>
            </a:pPr>
            <a:r>
              <a:t>MEMORY USAGE  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160520"/>
            <a:ext cx="4572000" cy="91440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4288536"/>
            <a:ext cx="4251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int sum = 0;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727448"/>
            <a:ext cx="4206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Auxiliary Space: O(1)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AABCD3"/>
                </a:solidFill>
                <a:latin typeface="Aptos"/>
              </a:defRPr>
            </a:pPr>
            <a:r>
              <a:t>Fixed number of extra variables → fixed extra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❓ Why Do We Need Space Complexity?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166360" cy="429768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72184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Memory is limited</a:t>
            </a:r>
          </a:p>
          <a:p>
            <a:pPr>
              <a:spcAft>
                <a:spcPts val="8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Large inputs can cause Memory Limit Exceeded</a:t>
            </a:r>
          </a:p>
          <a:p>
            <a:pPr>
              <a:spcAft>
                <a:spcPts val="8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Helps compare algorithms</a:t>
            </a:r>
          </a:p>
          <a:p>
            <a:pPr>
              <a:spcAft>
                <a:spcPts val="8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Helps optimize memory</a:t>
            </a:r>
          </a:p>
          <a:p>
            <a:pPr>
              <a:spcAft>
                <a:spcPts val="8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Important for scalable software</a:t>
            </a:r>
          </a:p>
          <a:p>
            <a:pPr>
              <a:spcAft>
                <a:spcPts val="800"/>
              </a:spcAft>
              <a:defRPr sz="1500">
                <a:solidFill>
                  <a:srgbClr val="F2F7FF"/>
                </a:solidFill>
                <a:latin typeface="Aptos"/>
              </a:defRPr>
            </a:pPr>
            <a:r>
              <a:t>• Frequently asked in technical interviews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394960" cy="429768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645920"/>
            <a:ext cx="1234440" cy="310896"/>
          </a:xfrm>
          <a:prstGeom prst="roundRect">
            <a:avLst/>
          </a:prstGeom>
          <a:solidFill>
            <a:srgbClr val="49D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55064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6459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Time O(n)  |  Space O(1)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468880"/>
            <a:ext cx="1234440" cy="310896"/>
          </a:xfrm>
          <a:prstGeom prst="roundRect">
            <a:avLst/>
          </a:prstGeom>
          <a:solidFill>
            <a:srgbClr val="FF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478024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4688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Time O(n)  |  Space 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4480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t>When memory is the constraint,</a:t>
            </a:r>
            <a:br/>
            <a:r>
              <a:t>A is often the better fit.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800600"/>
            <a:ext cx="44805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5BE8FF"/>
                </a:solidFill>
                <a:latin typeface="Aptos"/>
              </a:defRPr>
            </a:pPr>
            <a:r>
              <a:t>Same time ≠ same memory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⚙️ How Do We Calculate Space Complexity?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011680" cy="1874519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1" y="1600200"/>
            <a:ext cx="438912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60934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148840"/>
            <a:ext cx="166420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Identify additional 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417320"/>
            <a:ext cx="2011680" cy="1874519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63240" y="1600200"/>
            <a:ext cx="438912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160934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148840"/>
            <a:ext cx="166420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Estimate each structure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1417320"/>
            <a:ext cx="2011680" cy="1874519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21808" y="1600200"/>
            <a:ext cx="438912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160934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2148840"/>
            <a:ext cx="166420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Express growth using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3" y="1417320"/>
            <a:ext cx="2011680" cy="1874519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0375" y="1600200"/>
            <a:ext cx="438912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0375" y="160934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0375" y="2148840"/>
            <a:ext cx="166420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Add memory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74352" y="1417320"/>
            <a:ext cx="2011680" cy="1874519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38944" y="1600200"/>
            <a:ext cx="438912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8944" y="1609344"/>
            <a:ext cx="438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8944" y="2148840"/>
            <a:ext cx="1664208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Keep the dominant term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3977639"/>
            <a:ext cx="4800600" cy="114300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60"/>
            <a:ext cx="4297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F2F7FF"/>
                </a:solidFill>
                <a:latin typeface="Aptos"/>
              </a:defRPr>
            </a:pPr>
            <a:r>
              <a:t>O(n) + O(n²)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315968"/>
            <a:ext cx="640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5BE8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3977639"/>
            <a:ext cx="4526280" cy="114300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251960"/>
            <a:ext cx="3977639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49DE97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40680"/>
            <a:ext cx="10241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AABCD3"/>
                </a:solidFill>
                <a:latin typeface="Aptos"/>
              </a:defRPr>
            </a:pPr>
            <a:r>
              <a:t>Why? For large n, n² grows much faster than n. Constants are ignored in Big 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Common Space Complexities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74720" cy="5029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35608"/>
            <a:ext cx="3200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5BE8FF"/>
                </a:solidFill>
                <a:latin typeface="Aptos"/>
              </a:defRPr>
            </a:pPr>
            <a:r>
              <a:t>Complexity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5029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435608"/>
            <a:ext cx="3200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5BE8FF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325880"/>
            <a:ext cx="3474720" cy="5029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435608"/>
            <a:ext cx="3200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5BE8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38528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05740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938528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05740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Constant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938528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05740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A few variables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596896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15768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596896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715768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Logarithmic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596896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79" y="2715768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Binary-search recursion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255264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37413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255264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337413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Linear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3255264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3374136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Array / vector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13632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032504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913632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59" y="4032504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Quadratic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913632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4032504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n × n matrix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572000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690872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2F7FF"/>
                </a:solidFill>
                <a:latin typeface="Aptos"/>
              </a:defRPr>
            </a:pPr>
            <a:r>
              <a:t>O(2ⁿ)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4572000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4690872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Exponential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4572000"/>
            <a:ext cx="3474720" cy="53035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79" y="4690872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Some backtracking recursion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394960"/>
            <a:ext cx="106070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AABCD3"/>
                </a:solidFill>
                <a:latin typeface="Aptos"/>
              </a:defRPr>
            </a:pPr>
            <a:r>
              <a:t>Lower memory growth is generally easier to scale—but the best choice depends on the problem.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O(1) — Constant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577840" cy="306324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9616"/>
            <a:ext cx="52578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int sum(int a, int b) {</a:t>
            </a:r>
            <a:br/>
            <a:r>
              <a:t>    int result = a + b;</a:t>
            </a:r>
            <a:br/>
            <a:r>
              <a:t>    return result;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87368"/>
            <a:ext cx="521207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Time: O(1)   Auxiliary Space: O(1)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4892040" cy="306324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737360"/>
            <a:ext cx="4206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1">
                <a:solidFill>
                  <a:srgbClr val="5BE8FF"/>
                </a:solidFill>
                <a:latin typeface="Aptos"/>
              </a:defRPr>
            </a:pPr>
            <a:r>
              <a:t>Memory stays flat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606040"/>
            <a:ext cx="658368" cy="65836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770632"/>
            <a:ext cx="6583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606040"/>
            <a:ext cx="658368" cy="65836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770632"/>
            <a:ext cx="6583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2606040"/>
            <a:ext cx="658368" cy="65836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770632"/>
            <a:ext cx="6583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606040"/>
            <a:ext cx="658368" cy="658368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2770632"/>
            <a:ext cx="658368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F2F7FF"/>
                </a:solidFill>
                <a:latin typeface="Aptos"/>
              </a:defRPr>
            </a:pPr>
            <a: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657600"/>
            <a:ext cx="4206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AABCD3"/>
                </a:solidFill>
                <a:latin typeface="Aptos"/>
              </a:defRPr>
            </a:pPr>
            <a:r>
              <a:t>Even if n grows, the number of extra variables does not.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O(n) — Linear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715000" cy="338328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9616"/>
            <a:ext cx="539496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vector&lt;int&gt; createArray(int n) {</a:t>
            </a:r>
            <a:br/>
            <a:r>
              <a:t>    vector&lt;int&gt; arr(n);</a:t>
            </a:r>
            <a:br/>
            <a:r>
              <a:t>    for(int i = 0; i &lt; n; i++)</a:t>
            </a:r>
            <a:br/>
            <a:r>
              <a:t>        arr[i] = i;</a:t>
            </a:r>
            <a:br/>
            <a:r>
              <a:t>    return arr;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407408"/>
            <a:ext cx="53492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Time: O(n)   Auxiliary Space: O(n)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371600"/>
            <a:ext cx="4846320" cy="338328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737360"/>
            <a:ext cx="4206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5BE8FF"/>
                </a:solidFill>
                <a:latin typeface="Aptos"/>
              </a:defRPr>
            </a:pPr>
            <a:r>
              <a:t>n =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2514600"/>
            <a:ext cx="621792" cy="6217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2688336"/>
            <a:ext cx="621792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44968" y="2514600"/>
            <a:ext cx="621792" cy="6217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4968" y="2688336"/>
            <a:ext cx="621792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94776" y="2514600"/>
            <a:ext cx="621792" cy="6217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4776" y="2688336"/>
            <a:ext cx="621792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44584" y="2514600"/>
            <a:ext cx="621792" cy="6217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2688336"/>
            <a:ext cx="621792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94392" y="2514600"/>
            <a:ext cx="621792" cy="6217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94392" y="2688336"/>
            <a:ext cx="621792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1">
                <a:solidFill>
                  <a:srgbClr val="F2F7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429000"/>
            <a:ext cx="42062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49DE97"/>
                </a:solidFill>
                <a:latin typeface="Aptos"/>
              </a:defRPr>
            </a:pPr>
            <a:r>
              <a:t>Memory ∝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977639"/>
            <a:ext cx="4206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0">
                <a:solidFill>
                  <a:srgbClr val="AABCD3"/>
                </a:solidFill>
                <a:latin typeface="Aptos"/>
              </a:defRPr>
            </a:pPr>
            <a:r>
              <a:t>The vector stores n elements.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O(n²) — Quadratic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623560" cy="228600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9616"/>
            <a:ext cx="530352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vector&lt;vector&lt;int&gt;&gt; matrix(</a:t>
            </a:r>
            <a:br/>
            <a:r>
              <a:t>    n,</a:t>
            </a:r>
            <a:br/>
            <a:r>
              <a:t>    vector&lt;int&gt;(n)</a:t>
            </a:r>
            <a:br/>
            <a:r>
              <a:t>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310128"/>
            <a:ext cx="52578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Auxiliary Space: O(n²)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4937760" cy="406908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1600200"/>
            <a:ext cx="4297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5BE8FF"/>
                </a:solidFill>
                <a:latin typeface="Aptos"/>
              </a:defRPr>
            </a:pPr>
            <a:r>
              <a:t>n × n matrix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14884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82128" y="214884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0496" y="214884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98864" y="214884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57232" y="214884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23760" y="265176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82128" y="265176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40496" y="265176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98864" y="265176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57232" y="265176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15468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82128" y="315468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40496" y="315468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98864" y="315468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57232" y="315468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3760" y="365760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82128" y="365760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40496" y="365760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98864" y="365760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57232" y="365760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223760" y="416052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82128" y="416052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540496" y="416052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98864" y="416052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57232" y="4160520"/>
            <a:ext cx="512064" cy="36576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03720" y="4800600"/>
            <a:ext cx="42976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300" b="1">
                <a:solidFill>
                  <a:srgbClr val="FFA648"/>
                </a:solidFill>
                <a:latin typeface="Aptos"/>
              </a:defRPr>
            </a:pPr>
            <a:r>
              <a:t>n = 1000 → 1,000,000 elements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3977639"/>
            <a:ext cx="53035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2F7FF"/>
                </a:solidFill>
                <a:latin typeface="Aptos"/>
              </a:defRPr>
            </a:pPr>
            <a:r>
              <a:t>Rows = n</a:t>
            </a:r>
            <a:br/>
            <a:r>
              <a:t>Columns = n</a:t>
            </a:r>
            <a:br/>
            <a:r>
              <a:t>Total = n × n = n²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Auxiliary Space vs Input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12080" cy="192024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645920"/>
            <a:ext cx="1371600" cy="310896"/>
          </a:xfrm>
          <a:prstGeom prst="round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55064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INPUT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572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t>Memory required to store the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303520" cy="192024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1645920"/>
            <a:ext cx="1600200" cy="310896"/>
          </a:xfrm>
          <a:prstGeom prst="roundRect">
            <a:avLst/>
          </a:prstGeom>
          <a:solidFill>
            <a:srgbClr val="97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55064"/>
            <a:ext cx="1600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AUXILIARY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t>Extra memory used by the algorithm.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7315200" cy="182880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785615"/>
            <a:ext cx="69951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void reverse(vector&lt;int&gt;&amp; arr) {</a:t>
            </a:r>
            <a:br/>
            <a:r>
              <a:t>    int left = 0, right = arr.size()-1;</a:t>
            </a:r>
            <a:br/>
            <a:r>
              <a:t>    while(left &lt; right) {</a:t>
            </a:r>
            <a:br/>
            <a:r>
              <a:t>        swap(arr[left], arr[right]);</a:t>
            </a:r>
            <a:br/>
            <a:r>
              <a:t>        left++; right--;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5138928"/>
            <a:ext cx="69494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Auxiliary Space: O(1)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3657600"/>
            <a:ext cx="3291840" cy="182880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4023360"/>
            <a:ext cx="283464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49DE97"/>
                </a:solidFill>
                <a:latin typeface="Aptos"/>
              </a:defRPr>
            </a:pPr>
            <a:r>
              <a:t>Input: O(n)</a:t>
            </a:r>
            <a:br/>
            <a:r>
              <a:t>Auxiliary: O(1)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106070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AABCD3"/>
                </a:solidFill>
                <a:latin typeface="Aptos"/>
              </a:defRPr>
            </a:pPr>
            <a:r>
              <a:t>Interview insight: clarify whether “space” means total input + extra memory or auxiliary space.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In-Place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800" b="1">
                <a:solidFill>
                  <a:srgbClr val="F2F7FF"/>
                </a:solidFill>
                <a:latin typeface="Aptos"/>
              </a:defRPr>
            </a:pPr>
            <a:r>
              <a:t>Modify the input directly instead of creating another large data 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5669280" cy="265176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368296"/>
            <a:ext cx="5349240" cy="22402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void reverseArray(vector&lt;int&gt;&amp; arr) {</a:t>
            </a:r>
            <a:br/>
            <a:r>
              <a:t>    int left = 0, right = arr.size()-1;</a:t>
            </a:r>
            <a:br/>
            <a:r>
              <a:t>    while(left &lt; right) {</a:t>
            </a:r>
            <a:br/>
            <a:r>
              <a:t>        swap(arr[left], arr[right]);</a:t>
            </a:r>
            <a:br/>
            <a:r>
              <a:t>        left++; right--;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544568"/>
            <a:ext cx="53035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Time: O(n)   Auxiliary Space: O(1)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325880"/>
            <a:ext cx="4800600" cy="356616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91640"/>
            <a:ext cx="4160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600" b="1">
                <a:solidFill>
                  <a:srgbClr val="5BE8FF"/>
                </a:solidFill>
                <a:latin typeface="Aptos"/>
              </a:defRPr>
            </a:pPr>
            <a:r>
              <a:t>Why memory efficient?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240280"/>
            <a:ext cx="4297680" cy="224028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59168" y="2386584"/>
            <a:ext cx="39319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No second array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Only a few variables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Input is modified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572000"/>
            <a:ext cx="2011680" cy="310896"/>
          </a:xfrm>
          <a:prstGeom prst="roundRect">
            <a:avLst/>
          </a:prstGeom>
          <a:solidFill>
            <a:srgbClr val="49D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458114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IN-PLACE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Recursion Also Uses Memory!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212080" cy="251460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9616"/>
            <a:ext cx="489204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int factorial(int n) {</a:t>
            </a:r>
            <a:br/>
            <a:r>
              <a:t>    if(n == 0) return 1;</a:t>
            </a:r>
            <a:br/>
            <a:r>
              <a:t>    return n * factorial(n - 1);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38728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Auxiliary Space: O(n)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303520" cy="41605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6634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5BE8FF"/>
                </a:solidFill>
                <a:latin typeface="Aptos"/>
              </a:defRPr>
            </a:pPr>
            <a:r>
              <a:t>Call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965960"/>
            <a:ext cx="3017520" cy="3931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039112"/>
            <a:ext cx="2834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factorial(5)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2468880"/>
            <a:ext cx="3017520" cy="3931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542032"/>
            <a:ext cx="2834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factorial(4)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971800"/>
            <a:ext cx="3017520" cy="3931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3044952"/>
            <a:ext cx="2834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factorial(3)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3474720"/>
            <a:ext cx="3017520" cy="3931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3547872"/>
            <a:ext cx="2834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factorial(2)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977639"/>
            <a:ext cx="3017520" cy="3931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4050791"/>
            <a:ext cx="2834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factorial(1)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480560"/>
            <a:ext cx="3017520" cy="39319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4553712"/>
            <a:ext cx="28346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F2F7FF"/>
                </a:solidFill>
                <a:latin typeface="Aptos"/>
              </a:defRPr>
            </a:pPr>
            <a:r>
              <a:t>factorial(0)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43400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2F7FF"/>
                </a:solidFill>
                <a:latin typeface="Aptos"/>
              </a:defRPr>
            </a:pPr>
            <a:r>
              <a:t>Maximum depth ≈ n</a:t>
            </a:r>
            <a:br/>
            <a:r>
              <a:t>So stack space grows with 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10241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0">
                <a:solidFill>
                  <a:srgbClr val="AABCD3"/>
                </a:solidFill>
                <a:latin typeface="Aptos"/>
              </a:defRPr>
            </a:pPr>
            <a:r>
              <a:t>Even without an array, recursion can consume memory through stack frames.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How Common C++ Data Structures Affect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5029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99032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5BE8FF"/>
                </a:solidFill>
                <a:latin typeface="Aptos"/>
              </a:defRPr>
            </a:pPr>
            <a:r>
              <a:t>Data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212080" cy="5029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5BE8FF"/>
                </a:solidFill>
                <a:latin typeface="Aptos"/>
              </a:defRPr>
            </a:pPr>
            <a:r>
              <a:t>Typical Extra Space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874519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874519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65960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int / char / double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65960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68296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2368296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459736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vector of n elements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59736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862072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862072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953512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string of n characters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953512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55848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3355848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447288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set with n elements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447288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849624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63640" y="3849624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941063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unordered_set with n elements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941063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343400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40" y="4343400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434840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map with n elements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434840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837176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63640" y="4837176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928616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unordered_map with n elements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928616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330952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63640" y="5330952"/>
            <a:ext cx="5212080" cy="420624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22392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n × n matrix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422392"/>
            <a:ext cx="48006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49DE97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89788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AABCD3"/>
                </a:solidFill>
                <a:latin typeface="Aptos"/>
              </a:defRPr>
            </a:pPr>
            <a:r>
              <a:t>Actual bytes vary by implementation; Big O describes how memory grows.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Always Analyze Both Time &amp;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49240" cy="182880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99616"/>
            <a:ext cx="5029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for(int i = 0; i &lt; n; i++)</a:t>
            </a:r>
            <a:br/>
            <a:r>
              <a:t>    cout &lt;&lt; arr[i];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852928"/>
            <a:ext cx="498347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Time: O(n)   Auxiliary Space: O(1)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49240" cy="1828800"/>
          </a:xfrm>
          <a:prstGeom prst="roundRect">
            <a:avLst/>
          </a:prstGeom>
          <a:solidFill>
            <a:srgbClr val="060D19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499616"/>
            <a:ext cx="5029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BE8FA"/>
                </a:solidFill>
                <a:latin typeface="Consolas"/>
              </a:defRPr>
            </a:pPr>
            <a:r>
              <a:t>vector&lt;int&gt; copy = arr;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52928"/>
            <a:ext cx="498347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5BE8FF"/>
                </a:solidFill>
                <a:latin typeface="Aptos"/>
              </a:defRPr>
            </a:pPr>
            <a:r>
              <a:t>Time: O(n)   Auxiliary Space: O(n)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10927080" cy="155448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10378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2F7FF"/>
                </a:solidFill>
                <a:latin typeface="Aptos"/>
              </a:defRPr>
            </a:pPr>
            <a:r>
              <a:t>Example 1 scans the input but allocates no growing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15968"/>
            <a:ext cx="10378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5BE8FF"/>
                </a:solidFill>
                <a:latin typeface="Aptos"/>
              </a:defRPr>
            </a:pPr>
            <a:r>
              <a:t>Example 2 creates a new vector containing n elements.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Space Complexity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868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O(1)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37360" y="1371600"/>
            <a:ext cx="548640" cy="347472"/>
          </a:xfrm>
          <a:prstGeom prst="round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868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O(log 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2103120"/>
            <a:ext cx="914400" cy="347472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34640"/>
            <a:ext cx="868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834640"/>
            <a:ext cx="1828800" cy="347472"/>
          </a:xfrm>
          <a:prstGeom prst="roundRect">
            <a:avLst/>
          </a:prstGeom>
          <a:solidFill>
            <a:srgbClr val="97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868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O(n²)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3566160"/>
            <a:ext cx="3749039" cy="347472"/>
          </a:xfrm>
          <a:prstGeom prst="roundRect">
            <a:avLst/>
          </a:prstGeom>
          <a:solidFill>
            <a:srgbClr val="FF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8686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O(2ⁿ)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4297680"/>
            <a:ext cx="5852160" cy="347472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27432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F2F7FF"/>
                </a:solidFill>
                <a:latin typeface="Aptos"/>
              </a:defRPr>
            </a:pPr>
            <a:r>
              <a:t>Memory growth</a:t>
            </a:r>
            <a:br/>
            <a:br/>
            <a:r>
              <a:t>↓ is generally easier to scale</a:t>
            </a:r>
            <a:br/>
            <a:br/>
            <a:r>
              <a:t>…but constraints decide the best choice.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66360"/>
            <a:ext cx="10332720" cy="68580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49240"/>
            <a:ext cx="98755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5BE8FF"/>
                </a:solidFill>
                <a:latin typeface="Aptos"/>
              </a:defRPr>
            </a:pPr>
            <a:r>
              <a:t>This leads to a key idea: TIME–SPACE TRADE-OFF.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Time vs Space Trade-off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698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2F7FF"/>
                </a:solidFill>
                <a:latin typeface="Aptos"/>
              </a:defRPr>
            </a:pPr>
            <a:r>
              <a:t>Two Sum: the same problem can have very different memory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166360" cy="292608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240280"/>
            <a:ext cx="1645920" cy="310896"/>
          </a:xfrm>
          <a:prstGeom prst="roundRect">
            <a:avLst/>
          </a:prstGeom>
          <a:solidFill>
            <a:srgbClr val="FF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49424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BRUTE FORCE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88920"/>
            <a:ext cx="4526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F2F7FF"/>
                </a:solidFill>
                <a:latin typeface="Aptos"/>
              </a:defRPr>
            </a:pPr>
            <a:r>
              <a:t>Time: O(n²)</a:t>
            </a:r>
            <a:br/>
            <a:r>
              <a:t>Space: O(1)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166360" cy="292608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2240280"/>
            <a:ext cx="1463040" cy="310896"/>
          </a:xfrm>
          <a:prstGeom prst="roundRect">
            <a:avLst/>
          </a:prstGeom>
          <a:solidFill>
            <a:srgbClr val="49D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4942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5262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>
                <a:solidFill>
                  <a:srgbClr val="F2F7FF"/>
                </a:solidFill>
                <a:latin typeface="Aptos"/>
              </a:defRPr>
            </a:pPr>
            <a:r>
              <a:t>Time: O(n)</a:t>
            </a:r>
            <a:br/>
            <a:r>
              <a:t>Space: O(n)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5BE8FF"/>
                </a:solidFill>
                <a:latin typeface="Aptos"/>
              </a:defRPr>
            </a:pPr>
            <a:r>
              <a:t>We use additional memory to reduce execution time.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Example — Same Problem, Different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1605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A648"/>
                </a:solidFill>
                <a:latin typeface="Aptos"/>
              </a:defRPr>
            </a:pPr>
            <a:r>
              <a:t>Approach 1 — No Extra Data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4754880" cy="205740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386584"/>
            <a:ext cx="4389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Check pairs directly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No hash map / set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Memory stays constant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2F7FF"/>
                </a:solidFill>
                <a:latin typeface="Aptos"/>
              </a:defRPr>
            </a:pPr>
            <a:r>
              <a:t>Time O(n²)  |  Space O(1)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212080" cy="41605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645920"/>
            <a:ext cx="46634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49DE97"/>
                </a:solidFill>
                <a:latin typeface="Aptos"/>
              </a:defRPr>
            </a:pPr>
            <a:r>
              <a:t>Approach 2 — Hash Map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240280"/>
            <a:ext cx="4754880" cy="205740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7" y="2386584"/>
            <a:ext cx="4389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Store seen values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Fast lookup</a:t>
            </a:r>
          </a:p>
          <a:p>
            <a:pPr>
              <a:spcAft>
                <a:spcPts val="8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• Map can grow to n entries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572000"/>
            <a:ext cx="46634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2F7FF"/>
                </a:solidFill>
                <a:latin typeface="Aptos"/>
              </a:defRPr>
            </a:pPr>
            <a:r>
              <a:t>Time O(n)  |  Space O(n)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Common Space Complexity Mistakes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57800" cy="5029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35608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✕  Ignoring recursion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5029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435608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✕  Calling map/set usage O(1)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84248"/>
            <a:ext cx="5257800" cy="5029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093976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✕  Confusing input space with auxiliary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84248"/>
            <a:ext cx="5257800" cy="5029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93976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✕  Forgetting temporary arrays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42615"/>
            <a:ext cx="5257800" cy="5029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752344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✕  Forgetting copied vectors/strings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642615"/>
            <a:ext cx="5257800" cy="5029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752344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✕  Looking only at Time Complexity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300984"/>
            <a:ext cx="5257800" cy="5029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410712"/>
            <a:ext cx="4846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F2F7FF"/>
                </a:solidFill>
                <a:latin typeface="Aptos"/>
              </a:defRPr>
            </a:pPr>
            <a:r>
              <a:t>✕  Not considering maximum input 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0680"/>
            <a:ext cx="9875520" cy="59436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596128"/>
            <a:ext cx="9418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FFA648"/>
                </a:solidFill>
                <a:latin typeface="Aptos"/>
              </a:defRPr>
            </a:pPr>
            <a:r>
              <a:t>Always ask: “What extra memory can grow with n?”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A 5-Step Interview Method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103120" cy="34747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73152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Identify input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1645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AABCD3"/>
                </a:solidFill>
                <a:latin typeface="Aptos"/>
              </a:defRPr>
            </a:pPr>
            <a:r>
              <a:t>What is 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1508760"/>
            <a:ext cx="2103120" cy="34747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63239" y="1783080"/>
            <a:ext cx="73152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39" y="179222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2️⃣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39" y="2331720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Find extra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3154680"/>
            <a:ext cx="1645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AABCD3"/>
                </a:solidFill>
                <a:latin typeface="Aptos"/>
              </a:defRPr>
            </a:pPr>
            <a:r>
              <a:t>Are they constant?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508760"/>
            <a:ext cx="2103120" cy="34747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94959" y="1783080"/>
            <a:ext cx="73152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59" y="179222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3️⃣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59" y="2331720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Find growing structures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3154680"/>
            <a:ext cx="1645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AABCD3"/>
                </a:solidFill>
                <a:latin typeface="Aptos"/>
              </a:defRPr>
            </a:pPr>
            <a:r>
              <a:t>Array/map/set?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508760"/>
            <a:ext cx="2103120" cy="34747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79" y="1783080"/>
            <a:ext cx="73152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179222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4️⃣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331720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Check recursion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3154680"/>
            <a:ext cx="1645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AABCD3"/>
                </a:solidFill>
                <a:latin typeface="Aptos"/>
              </a:defRPr>
            </a:pPr>
            <a:r>
              <a:t>Maximum stack depth?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1508760"/>
            <a:ext cx="2103120" cy="34747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058400" y="1783080"/>
            <a:ext cx="73152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792224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5️⃣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331720"/>
            <a:ext cx="16459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State final complexity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154680"/>
            <a:ext cx="16459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AABCD3"/>
                </a:solidFill>
                <a:latin typeface="Aptos"/>
              </a:defRPr>
            </a:pPr>
            <a:r>
              <a:t>Time + Auxiliary 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0" y="5257800"/>
            <a:ext cx="7223760" cy="59436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5413248"/>
            <a:ext cx="6675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49DE97"/>
                </a:solidFill>
                <a:latin typeface="Aptos"/>
              </a:defRPr>
            </a:pPr>
            <a:r>
              <a:t>Time: O(?)     Auxiliary Space: O(?)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🧩 Practice Problems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927080" cy="123444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54480"/>
            <a:ext cx="123444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63624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LeetCode 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508760"/>
            <a:ext cx="2148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Two Sum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148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AABCD3"/>
                </a:solidFill>
                <a:latin typeface="Aptos"/>
              </a:defRPr>
            </a:pPr>
            <a:r>
              <a:t>Hash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508760"/>
            <a:ext cx="2331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Time O(n), Space O(n)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508760"/>
            <a:ext cx="1874519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49DE97"/>
                </a:solidFill>
                <a:latin typeface="Aptos"/>
              </a:defRPr>
            </a:pPr>
            <a:r>
              <a:t>Trade time for 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34639"/>
            <a:ext cx="10927080" cy="123444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3063239"/>
            <a:ext cx="123444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72383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LeetCode #217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017520"/>
            <a:ext cx="2148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Contains Duplicate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017520"/>
            <a:ext cx="2148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AABCD3"/>
                </a:solidFill>
                <a:latin typeface="Aptos"/>
              </a:defRPr>
            </a:pPr>
            <a:r>
              <a:t>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017520"/>
            <a:ext cx="2331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Time O(n), Space O(n)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017520"/>
            <a:ext cx="1874519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49DE97"/>
                </a:solidFill>
                <a:latin typeface="Aptos"/>
              </a:defRPr>
            </a:pPr>
            <a:r>
              <a:t>Understand set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10927080" cy="123444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8680" y="4572000"/>
            <a:ext cx="1234440" cy="310896"/>
          </a:xfrm>
          <a:prstGeom prst="roundRect">
            <a:avLst/>
          </a:prstGeom>
          <a:solidFill>
            <a:srgbClr val="5B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581144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8101F"/>
                </a:solidFill>
                <a:latin typeface="Aptos"/>
              </a:defRPr>
            </a:pPr>
            <a:r>
              <a:t>LeetCode #242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4526280"/>
            <a:ext cx="2148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2F7FF"/>
                </a:solidFill>
                <a:latin typeface="Aptos"/>
              </a:defRPr>
            </a:pPr>
            <a:r>
              <a:t>Valid Anagram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26280"/>
            <a:ext cx="214884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0">
                <a:solidFill>
                  <a:srgbClr val="AABCD3"/>
                </a:solidFill>
                <a:latin typeface="Aptos"/>
              </a:defRPr>
            </a:pPr>
            <a:r>
              <a:t>Frequency array /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526280"/>
            <a:ext cx="233172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Time O(n), Space depends on alphabet/map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4526280"/>
            <a:ext cx="1874519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49DE97"/>
                </a:solidFill>
                <a:latin typeface="Aptos"/>
              </a:defRPr>
            </a:pPr>
            <a:r>
              <a:t>Compare storage choices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89320"/>
            <a:ext cx="10515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0">
                <a:solidFill>
                  <a:srgbClr val="AABCD3"/>
                </a:solidFill>
                <a:latin typeface="Aptos"/>
              </a:defRPr>
            </a:pPr>
            <a:r>
              <a:t>Focus on explaining the memory growth—not just memorizing the answer.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Before You Submit Any DSA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1790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What is my Time Complexity?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1790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What is my Auxiliary Space?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28600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47802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Did I create an extra array?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8600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7802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Did I use map/set?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3814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Did I copy the input?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43814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Did I use recursion?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39826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Can I reduce memory?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206240"/>
            <a:ext cx="5166360" cy="71323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98264"/>
            <a:ext cx="4709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2F7FF"/>
                </a:solidFill>
                <a:latin typeface="Aptos"/>
              </a:defRPr>
            </a:pPr>
            <a:r>
              <a:t>☐ Is the time-space trade-off worth it?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Interview Tip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700" b="1">
                <a:solidFill>
                  <a:srgbClr val="5BE8FF"/>
                </a:solidFill>
                <a:latin typeface="Aptos"/>
              </a:defRPr>
            </a:pPr>
            <a:r>
              <a:t>“Don't just say O(n). Explain WHY.”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10469880" cy="105156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99212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F2F7FF"/>
                </a:solidFill>
                <a:latin typeface="Aptos"/>
              </a:defRPr>
            </a:pPr>
            <a:r>
              <a:t>Instead of:  “Space is O(n).”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10469880" cy="132588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96512"/>
            <a:ext cx="9921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500" b="1">
                <a:solidFill>
                  <a:srgbClr val="49DE97"/>
                </a:solidFill>
                <a:latin typeface="Aptos"/>
              </a:defRPr>
            </a:pPr>
            <a:r>
              <a:t>Say: “The hash map can store up to n elements, so the auxiliary space is O(n).”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287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200" b="0">
                <a:solidFill>
                  <a:srgbClr val="AABCD3"/>
                </a:solidFill>
                <a:latin typeface="Aptos"/>
              </a:defRPr>
            </a:pPr>
            <a:r>
              <a:t>Or: “The algorithm modifies the input array in-place and uses only a few variables, so auxiliary space is O(1).”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Day 4 — Arrays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070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800" b="1">
                <a:solidFill>
                  <a:srgbClr val="5BE8FF"/>
                </a:solidFill>
                <a:latin typeface="Aptos"/>
              </a:defRPr>
            </a:pPr>
            <a:r>
              <a:t>ARRAYS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9424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What is an Array?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9424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Declaration &amp; Initialization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24912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25496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Traversal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24912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25496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00984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01568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Insertion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00984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401568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Deletion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877056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977639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Searching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77056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39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Updating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53128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53712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C++ implementation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453128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53712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Array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029200"/>
            <a:ext cx="4892040" cy="438912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129783"/>
            <a:ext cx="45262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• Practice problems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80760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49DE97"/>
                </a:solidFill>
                <a:latin typeface="Aptos"/>
              </a:defRPr>
            </a:pPr>
            <a:r>
              <a:t>Tomorrow we start solving problems using Arrays.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9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CD3"/>
                </a:solidFill>
                <a:latin typeface="Aptos"/>
              </a:defRPr>
            </a:pPr>
            <a:r>
              <a:t>DSA From Scratch to Advanced | Day 3 — Space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CD3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BE8F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7FF"/>
                </a:solidFill>
                <a:latin typeface="Aptos Display"/>
              </a:defRPr>
            </a:pPr>
            <a:r>
              <a:t>Day 3 — Key Takeaways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35024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Space Complexity measures memory growth.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35024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O(1) = constant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92808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93391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O(n) = linear memory.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92808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1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O(n²) = quadratic memory.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51176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51760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Recursion uses call-stack memory.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551176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60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Maps/Sets can require O(n) extra space.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09544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10128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In-place algorithms can reduce auxiliary space.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09544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310128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Always analyze Time + Space together.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67912"/>
            <a:ext cx="5257800" cy="493776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968496"/>
            <a:ext cx="4800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0">
                <a:solidFill>
                  <a:srgbClr val="F2F7FF"/>
                </a:solidFill>
                <a:latin typeface="Aptos"/>
              </a:defRPr>
            </a:pPr>
            <a:r>
              <a:t>✓ More memory can sometimes buy better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5257800"/>
            <a:ext cx="10149840" cy="731520"/>
          </a:xfrm>
          <a:prstGeom prst="roundRect">
            <a:avLst/>
          </a:prstGeom>
          <a:solidFill>
            <a:srgbClr val="13243F"/>
          </a:solidFill>
          <a:ln w="12700">
            <a:solidFill>
              <a:srgbClr val="1F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440680"/>
            <a:ext cx="9692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400" b="1">
                <a:solidFill>
                  <a:srgbClr val="5BE8FF"/>
                </a:solidFill>
                <a:latin typeface="Aptos"/>
              </a:defRPr>
            </a:pPr>
            <a:r>
              <a:t>Good DSA is not just about solving a problem — it's about solving it efficiently.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DSA From Scratch to Advanced — Day 3: Space Complexity</dc:title>
  <dc:subject>Beginner-friendly, interview-oriented Space Complexity lesson</dc:subject>
  <dc:creator>DSA From Scratch to Advanced</dc:creator>
  <cp:keywords>DSA, Space Complexity, C++, Big O, Interview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