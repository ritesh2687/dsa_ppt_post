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914400"/>
            <a:ext cx="12191695" cy="7315"/>
          </a:xfrm>
          <a:prstGeom prst="rect">
            <a:avLst/>
          </a:prstGeom>
          <a:solidFill>
            <a:srgbClr val="EBE9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828800"/>
            <a:ext cx="12191695" cy="7315"/>
          </a:xfrm>
          <a:prstGeom prst="rect">
            <a:avLst/>
          </a:prstGeom>
          <a:solidFill>
            <a:srgbClr val="EBE9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743200"/>
            <a:ext cx="12191695" cy="7315"/>
          </a:xfrm>
          <a:prstGeom prst="rect">
            <a:avLst/>
          </a:prstGeom>
          <a:solidFill>
            <a:srgbClr val="EBE9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3657600"/>
            <a:ext cx="12191695" cy="7315"/>
          </a:xfrm>
          <a:prstGeom prst="rect">
            <a:avLst/>
          </a:prstGeom>
          <a:solidFill>
            <a:srgbClr val="EBE9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4572000"/>
            <a:ext cx="12191695" cy="7315"/>
          </a:xfrm>
          <a:prstGeom prst="rect">
            <a:avLst/>
          </a:prstGeom>
          <a:solidFill>
            <a:srgbClr val="EBE9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5486400"/>
            <a:ext cx="12191695" cy="7315"/>
          </a:xfrm>
          <a:prstGeom prst="rect">
            <a:avLst/>
          </a:prstGeom>
          <a:solidFill>
            <a:srgbClr val="EBE9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400800"/>
            <a:ext cx="12191695" cy="7315"/>
          </a:xfrm>
          <a:prstGeom prst="rect">
            <a:avLst/>
          </a:prstGeom>
          <a:solidFill>
            <a:srgbClr val="EBE9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685800"/>
            <a:ext cx="10972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DA7E30"/>
                </a:solidFill>
                <a:latin typeface="Aptos Display"/>
              </a:defRPr>
            </a:pPr>
            <a:r>
              <a:t>DAY 47</a:t>
            </a:r>
          </a:p>
          <a:p>
            <a:pPr>
              <a:defRPr sz="3800" b="1">
                <a:solidFill>
                  <a:srgbClr val="1F2429"/>
                </a:solidFill>
                <a:latin typeface="Aptos Display"/>
              </a:defRPr>
            </a:pPr>
            <a:r>
              <a:t>REMOVE CYCLE IN A LINKED LIST</a:t>
            </a:r>
          </a:p>
          <a:p>
            <a:pPr>
              <a:defRPr sz="1800">
                <a:solidFill>
                  <a:srgbClr val="345E9C"/>
                </a:solidFill>
                <a:latin typeface="Comic Sans MS"/>
              </a:defRPr>
            </a:pPr>
            <a:r>
              <a:t>From detection → cycle start → safe removal</a:t>
            </a:r>
          </a:p>
        </p:txBody>
      </p:sp>
      <p:sp>
        <p:nvSpPr>
          <p:cNvPr id="10" name="Oval 9"/>
          <p:cNvSpPr/>
          <p:nvPr/>
        </p:nvSpPr>
        <p:spPr>
          <a:xfrm>
            <a:off x="914400" y="2971800"/>
            <a:ext cx="566928" cy="56692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345E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044952"/>
            <a:ext cx="566928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1F2429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2" name="Oval 11"/>
          <p:cNvSpPr/>
          <p:nvPr/>
        </p:nvSpPr>
        <p:spPr>
          <a:xfrm>
            <a:off x="2423160" y="2971800"/>
            <a:ext cx="566928" cy="56692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345E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23160" y="3044952"/>
            <a:ext cx="566928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1F2429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4" name="Oval 13"/>
          <p:cNvSpPr/>
          <p:nvPr/>
        </p:nvSpPr>
        <p:spPr>
          <a:xfrm>
            <a:off x="3931920" y="2971800"/>
            <a:ext cx="566928" cy="56692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345E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931920" y="3044952"/>
            <a:ext cx="566928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1F2429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6" name="Oval 15"/>
          <p:cNvSpPr/>
          <p:nvPr/>
        </p:nvSpPr>
        <p:spPr>
          <a:xfrm>
            <a:off x="5440679" y="2971800"/>
            <a:ext cx="566928" cy="56692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345E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40679" y="3044952"/>
            <a:ext cx="566928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1F2429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8" name="Oval 17"/>
          <p:cNvSpPr/>
          <p:nvPr/>
        </p:nvSpPr>
        <p:spPr>
          <a:xfrm>
            <a:off x="6949440" y="2971800"/>
            <a:ext cx="566928" cy="56692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345E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49440" y="3044952"/>
            <a:ext cx="566928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1F2429"/>
                </a:solidFill>
                <a:latin typeface="Aptos"/>
              </a:defRPr>
            </a:pPr>
            <a:r>
              <a:t>5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481328" y="3255264"/>
            <a:ext cx="941832" cy="0"/>
          </a:xfrm>
          <a:prstGeom prst="line">
            <a:avLst/>
          </a:prstGeom>
          <a:ln w="27940">
            <a:solidFill>
              <a:srgbClr val="345E9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2990088" y="3255264"/>
            <a:ext cx="941832" cy="0"/>
          </a:xfrm>
          <a:prstGeom prst="line">
            <a:avLst/>
          </a:prstGeom>
          <a:ln w="27940">
            <a:solidFill>
              <a:srgbClr val="345E9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498848" y="3255264"/>
            <a:ext cx="941832" cy="0"/>
          </a:xfrm>
          <a:prstGeom prst="line">
            <a:avLst/>
          </a:prstGeom>
          <a:ln w="27940">
            <a:solidFill>
              <a:srgbClr val="345E9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6007608" y="3255264"/>
            <a:ext cx="941832" cy="0"/>
          </a:xfrm>
          <a:prstGeom prst="line">
            <a:avLst/>
          </a:prstGeom>
          <a:ln w="27940">
            <a:solidFill>
              <a:srgbClr val="345E9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>
            <a:off x="5623560" y="3611880"/>
            <a:ext cx="1600200" cy="1143000"/>
          </a:xfrm>
          <a:prstGeom prst="line">
            <a:avLst/>
          </a:prstGeom>
          <a:ln w="27940">
            <a:solidFill>
              <a:srgbClr val="B846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>
            <a:off x="4160520" y="4754880"/>
            <a:ext cx="1463040" cy="0"/>
          </a:xfrm>
          <a:prstGeom prst="line">
            <a:avLst/>
          </a:prstGeom>
          <a:ln w="27940">
            <a:solidFill>
              <a:srgbClr val="B846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4160520" y="3611880"/>
            <a:ext cx="0" cy="1143000"/>
          </a:xfrm>
          <a:prstGeom prst="line">
            <a:avLst/>
          </a:prstGeom>
          <a:ln w="27940">
            <a:solidFill>
              <a:srgbClr val="B846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5486400" y="4526280"/>
            <a:ext cx="914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B84643"/>
                </a:solidFill>
                <a:latin typeface="Comic Sans MS"/>
              </a:defRPr>
            </a:pPr>
            <a:r>
              <a:t>cycle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818120" y="2788920"/>
            <a:ext cx="3474720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A7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964424" y="2862072"/>
            <a:ext cx="3182112" cy="90525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1F2429"/>
                </a:solidFill>
                <a:latin typeface="Comic Sans MS"/>
              </a:defRPr>
            </a:pPr>
            <a:r>
              <a:t>Today: we don't just find the loop — we remove it.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" y="6473952"/>
            <a:ext cx="11384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5C6369"/>
                </a:solidFill>
                <a:latin typeface="Aptos"/>
              </a:defRPr>
            </a:pPr>
            <a:r>
              <a:t>DSA From Scratch → Advanced   •   DAY 47 — REMOVE CYCLE   •   https://github.com/ritesh2687/dsa_ppt_post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914400"/>
            <a:ext cx="12191695" cy="7315"/>
          </a:xfrm>
          <a:prstGeom prst="rect">
            <a:avLst/>
          </a:prstGeom>
          <a:solidFill>
            <a:srgbClr val="EBE9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828800"/>
            <a:ext cx="12191695" cy="7315"/>
          </a:xfrm>
          <a:prstGeom prst="rect">
            <a:avLst/>
          </a:prstGeom>
          <a:solidFill>
            <a:srgbClr val="EBE9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743200"/>
            <a:ext cx="12191695" cy="7315"/>
          </a:xfrm>
          <a:prstGeom prst="rect">
            <a:avLst/>
          </a:prstGeom>
          <a:solidFill>
            <a:srgbClr val="EBE9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3657600"/>
            <a:ext cx="12191695" cy="7315"/>
          </a:xfrm>
          <a:prstGeom prst="rect">
            <a:avLst/>
          </a:prstGeom>
          <a:solidFill>
            <a:srgbClr val="EBE9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4572000"/>
            <a:ext cx="12191695" cy="7315"/>
          </a:xfrm>
          <a:prstGeom prst="rect">
            <a:avLst/>
          </a:prstGeom>
          <a:solidFill>
            <a:srgbClr val="EBE9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5486400"/>
            <a:ext cx="12191695" cy="7315"/>
          </a:xfrm>
          <a:prstGeom prst="rect">
            <a:avLst/>
          </a:prstGeom>
          <a:solidFill>
            <a:srgbClr val="EBE9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400800"/>
            <a:ext cx="12191695" cy="7315"/>
          </a:xfrm>
          <a:prstGeom prst="rect">
            <a:avLst/>
          </a:prstGeom>
          <a:solidFill>
            <a:srgbClr val="EBE9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F2429"/>
                </a:solidFill>
                <a:latin typeface="Aptos Display"/>
              </a:defRPr>
            </a:pPr>
            <a:r>
              <a:t>01 — Quick Recap: What Is a Cycle?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932688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345E9C"/>
                </a:solidFill>
                <a:latin typeface="Comic Sans MS"/>
              </a:defRPr>
            </a:pPr>
            <a:r>
              <a:t>Day 46 gave us detection. Day 47 asks: what do we do next?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1298448"/>
            <a:ext cx="685800" cy="50292"/>
          </a:xfrm>
          <a:prstGeom prst="rect">
            <a:avLst/>
          </a:prstGeom>
          <a:solidFill>
            <a:srgbClr val="345E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600200"/>
            <a:ext cx="49377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>
                <a:solidFill>
                  <a:srgbClr val="1F2429"/>
                </a:solidFill>
                <a:latin typeface="Aptos"/>
              </a:defRPr>
            </a:pPr>
            <a:r>
              <a:t>• A cycle exists when following next pointers eventually brings us back to an earlier node.</a:t>
            </a:r>
          </a:p>
          <a:p>
            <a:pPr>
              <a:spcAft>
                <a:spcPts val="900"/>
              </a:spcAft>
              <a:defRPr sz="1700">
                <a:solidFill>
                  <a:srgbClr val="1F2429"/>
                </a:solidFill>
                <a:latin typeface="Aptos"/>
              </a:defRPr>
            </a:pPr>
            <a:r>
              <a:t>• There is no NULL at the end of the cyclic path.</a:t>
            </a:r>
          </a:p>
          <a:p>
            <a:pPr>
              <a:spcAft>
                <a:spcPts val="900"/>
              </a:spcAft>
              <a:defRPr sz="1700">
                <a:solidFill>
                  <a:srgbClr val="1F2429"/>
                </a:solidFill>
                <a:latin typeface="Aptos"/>
              </a:defRPr>
            </a:pPr>
            <a:r>
              <a:t>• Example: 1 → 2 → 3 → 4 → 5 → 3 → …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0" y="1965960"/>
            <a:ext cx="594360" cy="59436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345E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2039112"/>
            <a:ext cx="594360" cy="4846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1F2429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0" y="1965960"/>
            <a:ext cx="594360" cy="59436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345E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0" y="2039112"/>
            <a:ext cx="594360" cy="4846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1F2429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7" name="Oval 16"/>
          <p:cNvSpPr/>
          <p:nvPr/>
        </p:nvSpPr>
        <p:spPr>
          <a:xfrm>
            <a:off x="8229600" y="1965960"/>
            <a:ext cx="594360" cy="59436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345E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0" y="2039112"/>
            <a:ext cx="594360" cy="4846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1F2429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9" name="Oval 18"/>
          <p:cNvSpPr/>
          <p:nvPr/>
        </p:nvSpPr>
        <p:spPr>
          <a:xfrm>
            <a:off x="9144000" y="1965960"/>
            <a:ext cx="594360" cy="59436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345E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0" y="2039112"/>
            <a:ext cx="594360" cy="4846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1F2429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1" name="Oval 20"/>
          <p:cNvSpPr/>
          <p:nvPr/>
        </p:nvSpPr>
        <p:spPr>
          <a:xfrm>
            <a:off x="10058400" y="1965960"/>
            <a:ext cx="594360" cy="59436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345E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0" y="2039112"/>
            <a:ext cx="594360" cy="4846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1F2429"/>
                </a:solidFill>
                <a:latin typeface="Aptos"/>
              </a:defRPr>
            </a:pPr>
            <a:r>
              <a:t>5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967728" y="2267712"/>
            <a:ext cx="301752" cy="0"/>
          </a:xfrm>
          <a:prstGeom prst="line">
            <a:avLst/>
          </a:prstGeom>
          <a:ln w="27940">
            <a:solidFill>
              <a:srgbClr val="345E9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7882127" y="2267712"/>
            <a:ext cx="301752" cy="0"/>
          </a:xfrm>
          <a:prstGeom prst="line">
            <a:avLst/>
          </a:prstGeom>
          <a:ln w="27940">
            <a:solidFill>
              <a:srgbClr val="345E9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8796528" y="2267712"/>
            <a:ext cx="301752" cy="0"/>
          </a:xfrm>
          <a:prstGeom prst="line">
            <a:avLst/>
          </a:prstGeom>
          <a:ln w="27940">
            <a:solidFill>
              <a:srgbClr val="345E9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9710928" y="2267712"/>
            <a:ext cx="301752" cy="0"/>
          </a:xfrm>
          <a:prstGeom prst="line">
            <a:avLst/>
          </a:prstGeom>
          <a:ln w="27940">
            <a:solidFill>
              <a:srgbClr val="345E9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H="1">
            <a:off x="7635240" y="2606040"/>
            <a:ext cx="2651760" cy="1142999"/>
          </a:xfrm>
          <a:prstGeom prst="line">
            <a:avLst/>
          </a:prstGeom>
          <a:ln w="27940">
            <a:solidFill>
              <a:srgbClr val="B846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7635240" y="2606040"/>
            <a:ext cx="0" cy="1142999"/>
          </a:xfrm>
          <a:prstGeom prst="line">
            <a:avLst/>
          </a:prstGeom>
          <a:ln w="27940">
            <a:solidFill>
              <a:srgbClr val="B846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8275320" y="3703320"/>
            <a:ext cx="1280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B84643"/>
                </a:solidFill>
                <a:latin typeface="Comic Sans MS"/>
              </a:defRPr>
            </a:pPr>
            <a:r>
              <a:t>back to 3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0" y="4572000"/>
            <a:ext cx="4846320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7D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47104" y="4645152"/>
            <a:ext cx="4553712" cy="7680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F2429"/>
                </a:solidFill>
                <a:latin typeface="Comic Sans MS"/>
              </a:defRPr>
            </a:pPr>
            <a:r>
              <a:t>Think of it as a road with a circular detour: you can keep driving forever.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1480" y="6473952"/>
            <a:ext cx="11384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5C6369"/>
                </a:solidFill>
                <a:latin typeface="Aptos"/>
              </a:defRPr>
            </a:pPr>
            <a:r>
              <a:t>DSA From Scratch → Advanced   •   DAY 47 — REMOVE CYCLE   •   https://github.com/ritesh2687/dsa_ppt_post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914400"/>
            <a:ext cx="12191695" cy="7315"/>
          </a:xfrm>
          <a:prstGeom prst="rect">
            <a:avLst/>
          </a:prstGeom>
          <a:solidFill>
            <a:srgbClr val="EBE9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828800"/>
            <a:ext cx="12191695" cy="7315"/>
          </a:xfrm>
          <a:prstGeom prst="rect">
            <a:avLst/>
          </a:prstGeom>
          <a:solidFill>
            <a:srgbClr val="EBE9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743200"/>
            <a:ext cx="12191695" cy="7315"/>
          </a:xfrm>
          <a:prstGeom prst="rect">
            <a:avLst/>
          </a:prstGeom>
          <a:solidFill>
            <a:srgbClr val="EBE9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3657600"/>
            <a:ext cx="12191695" cy="7315"/>
          </a:xfrm>
          <a:prstGeom prst="rect">
            <a:avLst/>
          </a:prstGeom>
          <a:solidFill>
            <a:srgbClr val="EBE9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4572000"/>
            <a:ext cx="12191695" cy="7315"/>
          </a:xfrm>
          <a:prstGeom prst="rect">
            <a:avLst/>
          </a:prstGeom>
          <a:solidFill>
            <a:srgbClr val="EBE9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5486400"/>
            <a:ext cx="12191695" cy="7315"/>
          </a:xfrm>
          <a:prstGeom prst="rect">
            <a:avLst/>
          </a:prstGeom>
          <a:solidFill>
            <a:srgbClr val="EBE9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400800"/>
            <a:ext cx="12191695" cy="7315"/>
          </a:xfrm>
          <a:prstGeom prst="rect">
            <a:avLst/>
          </a:prstGeom>
          <a:solidFill>
            <a:srgbClr val="EBE9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F2429"/>
                </a:solidFill>
                <a:latin typeface="Aptos Display"/>
              </a:defRPr>
            </a:pPr>
            <a:r>
              <a:t>02 — Why Detection Alone Is Not Enough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932688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DA7E30"/>
                </a:solidFill>
                <a:latin typeface="Comic Sans MS"/>
              </a:defRPr>
            </a:pPr>
            <a:r>
              <a:t>Knowing there is a cycle is only the first half of the problem.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1298448"/>
            <a:ext cx="685800" cy="50292"/>
          </a:xfrm>
          <a:prstGeom prst="rect">
            <a:avLst/>
          </a:prstGeom>
          <a:solidFill>
            <a:srgbClr val="DA7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85800" y="1645920"/>
            <a:ext cx="274320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45E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" y="1719072"/>
            <a:ext cx="2450592" cy="8595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1F2429"/>
                </a:solidFill>
                <a:latin typeface="Comic Sans MS"/>
              </a:defRPr>
            </a:pPr>
            <a:r>
              <a:t>Detect cycle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520440" y="2148840"/>
            <a:ext cx="1051560" cy="0"/>
          </a:xfrm>
          <a:prstGeom prst="line">
            <a:avLst/>
          </a:prstGeom>
          <a:ln w="27940">
            <a:solidFill>
              <a:srgbClr val="345E9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4617720" y="1645920"/>
            <a:ext cx="274320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7D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64024" y="1719072"/>
            <a:ext cx="2450592" cy="8595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1F2429"/>
                </a:solidFill>
                <a:latin typeface="Comic Sans MS"/>
              </a:defRPr>
            </a:pPr>
            <a:r>
              <a:t>Find cycle start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452360" y="2148840"/>
            <a:ext cx="1051560" cy="0"/>
          </a:xfrm>
          <a:prstGeom prst="line">
            <a:avLst/>
          </a:prstGeom>
          <a:ln w="27940">
            <a:solidFill>
              <a:srgbClr val="2E7D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8549640" y="1645920"/>
            <a:ext cx="274320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846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95944" y="1719072"/>
            <a:ext cx="2450592" cy="8595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1F2429"/>
                </a:solidFill>
                <a:latin typeface="Comic Sans MS"/>
              </a:defRPr>
            </a:pPr>
            <a:r>
              <a:t>Break the link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3154680"/>
            <a:ext cx="102412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>
                <a:solidFill>
                  <a:srgbClr val="1F2429"/>
                </a:solidFill>
                <a:latin typeface="Aptos"/>
              </a:defRPr>
            </a:pPr>
            <a:r>
              <a:t>• If we only return true, the list remains cyclic.</a:t>
            </a:r>
          </a:p>
          <a:p>
            <a:pPr>
              <a:spcAft>
                <a:spcPts val="900"/>
              </a:spcAft>
              <a:defRPr sz="1800">
                <a:solidFill>
                  <a:srgbClr val="1F2429"/>
                </a:solidFill>
                <a:latin typeface="Aptos"/>
              </a:defRPr>
            </a:pPr>
            <a:r>
              <a:t>• Traversal can still loop forever.</a:t>
            </a:r>
          </a:p>
          <a:p>
            <a:pPr>
              <a:spcAft>
                <a:spcPts val="900"/>
              </a:spcAft>
              <a:defRPr sz="1800">
                <a:solidFill>
                  <a:srgbClr val="1F2429"/>
                </a:solidFill>
                <a:latin typeface="Aptos"/>
              </a:defRPr>
            </a:pPr>
            <a:r>
              <a:t>• The actual task is to restore a valid tail: lastNode-&gt;next = NULL.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6473952"/>
            <a:ext cx="11384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5C6369"/>
                </a:solidFill>
                <a:latin typeface="Aptos"/>
              </a:defRPr>
            </a:pPr>
            <a:r>
              <a:t>DSA From Scratch → Advanced   •   DAY 47 — REMOVE CYCLE   •   https://github.com/ritesh2687/dsa_ppt_post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914400"/>
            <a:ext cx="12191695" cy="7315"/>
          </a:xfrm>
          <a:prstGeom prst="rect">
            <a:avLst/>
          </a:prstGeom>
          <a:solidFill>
            <a:srgbClr val="EBE9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828800"/>
            <a:ext cx="12191695" cy="7315"/>
          </a:xfrm>
          <a:prstGeom prst="rect">
            <a:avLst/>
          </a:prstGeom>
          <a:solidFill>
            <a:srgbClr val="EBE9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743200"/>
            <a:ext cx="12191695" cy="7315"/>
          </a:xfrm>
          <a:prstGeom prst="rect">
            <a:avLst/>
          </a:prstGeom>
          <a:solidFill>
            <a:srgbClr val="EBE9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3657600"/>
            <a:ext cx="12191695" cy="7315"/>
          </a:xfrm>
          <a:prstGeom prst="rect">
            <a:avLst/>
          </a:prstGeom>
          <a:solidFill>
            <a:srgbClr val="EBE9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4572000"/>
            <a:ext cx="12191695" cy="7315"/>
          </a:xfrm>
          <a:prstGeom prst="rect">
            <a:avLst/>
          </a:prstGeom>
          <a:solidFill>
            <a:srgbClr val="EBE9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5486400"/>
            <a:ext cx="12191695" cy="7315"/>
          </a:xfrm>
          <a:prstGeom prst="rect">
            <a:avLst/>
          </a:prstGeom>
          <a:solidFill>
            <a:srgbClr val="EBE9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400800"/>
            <a:ext cx="12191695" cy="7315"/>
          </a:xfrm>
          <a:prstGeom prst="rect">
            <a:avLst/>
          </a:prstGeom>
          <a:solidFill>
            <a:srgbClr val="EBE9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F2429"/>
                </a:solidFill>
                <a:latin typeface="Aptos Display"/>
              </a:defRPr>
            </a:pPr>
            <a:r>
              <a:t>03 — Floyd's Slow &amp; Fast Pointer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932688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345E9C"/>
                </a:solidFill>
                <a:latin typeface="Comic Sans MS"/>
              </a:defRPr>
            </a:pPr>
            <a:r>
              <a:t>Same tool as Day 46 — now we use its meeting point as a clue.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1298448"/>
            <a:ext cx="685800" cy="50292"/>
          </a:xfrm>
          <a:prstGeom prst="rect">
            <a:avLst/>
          </a:prstGeom>
          <a:solidFill>
            <a:srgbClr val="345E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645920"/>
            <a:ext cx="411480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>
                <a:solidFill>
                  <a:srgbClr val="1F2429"/>
                </a:solidFill>
                <a:latin typeface="Aptos"/>
              </a:defRPr>
            </a:pPr>
            <a:r>
              <a:t>• slow moves 1 step.</a:t>
            </a:r>
          </a:p>
          <a:p>
            <a:pPr>
              <a:spcAft>
                <a:spcPts val="900"/>
              </a:spcAft>
              <a:defRPr sz="1700">
                <a:solidFill>
                  <a:srgbClr val="1F2429"/>
                </a:solidFill>
                <a:latin typeface="Aptos"/>
              </a:defRPr>
            </a:pPr>
            <a:r>
              <a:t>• fast moves 2 steps.</a:t>
            </a:r>
          </a:p>
          <a:p>
            <a:pPr>
              <a:spcAft>
                <a:spcPts val="900"/>
              </a:spcAft>
              <a:defRPr sz="1700">
                <a:solidFill>
                  <a:srgbClr val="1F2429"/>
                </a:solidFill>
                <a:latin typeface="Aptos"/>
              </a:defRPr>
            </a:pPr>
            <a:r>
              <a:t>• If they meet, a cycle exists.</a:t>
            </a:r>
          </a:p>
          <a:p>
            <a:pPr>
              <a:spcAft>
                <a:spcPts val="900"/>
              </a:spcAft>
              <a:defRPr sz="1700">
                <a:solidFill>
                  <a:srgbClr val="1F2429"/>
                </a:solidFill>
                <a:latin typeface="Aptos"/>
              </a:defRPr>
            </a:pPr>
            <a:r>
              <a:t>• The meeting point is NOT necessarily the cycle start.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0" y="2194560"/>
            <a:ext cx="566928" cy="56692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345E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0" y="2267712"/>
            <a:ext cx="566928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1F2429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5" name="Oval 14"/>
          <p:cNvSpPr/>
          <p:nvPr/>
        </p:nvSpPr>
        <p:spPr>
          <a:xfrm>
            <a:off x="6355080" y="2194560"/>
            <a:ext cx="566928" cy="56692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345E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2267712"/>
            <a:ext cx="566928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1F2429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7" name="Oval 16"/>
          <p:cNvSpPr/>
          <p:nvPr/>
        </p:nvSpPr>
        <p:spPr>
          <a:xfrm>
            <a:off x="7223760" y="2194560"/>
            <a:ext cx="566928" cy="56692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345E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23760" y="2267712"/>
            <a:ext cx="566928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1F2429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9" name="Oval 18"/>
          <p:cNvSpPr/>
          <p:nvPr/>
        </p:nvSpPr>
        <p:spPr>
          <a:xfrm>
            <a:off x="8092440" y="2194560"/>
            <a:ext cx="566928" cy="56692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345E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92440" y="2267712"/>
            <a:ext cx="566928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1F2429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1" name="Oval 20"/>
          <p:cNvSpPr/>
          <p:nvPr/>
        </p:nvSpPr>
        <p:spPr>
          <a:xfrm>
            <a:off x="8961120" y="2194560"/>
            <a:ext cx="566928" cy="56692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345E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0" y="2267712"/>
            <a:ext cx="566928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1F2429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3" name="Oval 22"/>
          <p:cNvSpPr/>
          <p:nvPr/>
        </p:nvSpPr>
        <p:spPr>
          <a:xfrm>
            <a:off x="9829800" y="2194560"/>
            <a:ext cx="566928" cy="56692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345E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829800" y="2267712"/>
            <a:ext cx="566928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1F2429"/>
                </a:solidFill>
                <a:latin typeface="Aptos"/>
              </a:defRPr>
            </a:pPr>
            <a:r>
              <a:t>6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035040" y="2468880"/>
            <a:ext cx="365760" cy="0"/>
          </a:xfrm>
          <a:prstGeom prst="line">
            <a:avLst/>
          </a:prstGeom>
          <a:ln w="27940">
            <a:solidFill>
              <a:srgbClr val="345E9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6903720" y="2468880"/>
            <a:ext cx="365760" cy="0"/>
          </a:xfrm>
          <a:prstGeom prst="line">
            <a:avLst/>
          </a:prstGeom>
          <a:ln w="27940">
            <a:solidFill>
              <a:srgbClr val="345E9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7772400" y="2468880"/>
            <a:ext cx="365760" cy="0"/>
          </a:xfrm>
          <a:prstGeom prst="line">
            <a:avLst/>
          </a:prstGeom>
          <a:ln w="27940">
            <a:solidFill>
              <a:srgbClr val="345E9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8641080" y="2468880"/>
            <a:ext cx="365760" cy="0"/>
          </a:xfrm>
          <a:prstGeom prst="line">
            <a:avLst/>
          </a:prstGeom>
          <a:ln w="27940">
            <a:solidFill>
              <a:srgbClr val="345E9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9509760" y="2468880"/>
            <a:ext cx="365760" cy="0"/>
          </a:xfrm>
          <a:prstGeom prst="line">
            <a:avLst/>
          </a:prstGeom>
          <a:ln w="27940">
            <a:solidFill>
              <a:srgbClr val="345E9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H="1">
            <a:off x="7315200" y="2743200"/>
            <a:ext cx="2743200" cy="1143000"/>
          </a:xfrm>
          <a:prstGeom prst="line">
            <a:avLst/>
          </a:prstGeom>
          <a:ln w="27940">
            <a:solidFill>
              <a:srgbClr val="B846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7315200" y="2743200"/>
            <a:ext cx="0" cy="1143000"/>
          </a:xfrm>
          <a:prstGeom prst="line">
            <a:avLst/>
          </a:prstGeom>
          <a:ln w="27940">
            <a:solidFill>
              <a:srgbClr val="B846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6583680" y="1508760"/>
            <a:ext cx="8229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2E7D78"/>
                </a:solidFill>
                <a:latin typeface="Comic Sans MS"/>
              </a:defRPr>
            </a:pPr>
            <a:r>
              <a:t>slow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03920" y="1508760"/>
            <a:ext cx="8229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DA7E30"/>
                </a:solidFill>
                <a:latin typeface="Comic Sans MS"/>
              </a:defRPr>
            </a:pPr>
            <a:r>
              <a:t>fast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486400" y="4617720"/>
            <a:ext cx="5212080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A7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632704" y="4690872"/>
            <a:ext cx="4919472" cy="722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F2429"/>
                </a:solidFill>
                <a:latin typeface="Comic Sans MS"/>
              </a:defRPr>
            </a:pPr>
            <a:r>
              <a:t>Meeting point ≠ start. We still need one more phase.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1480" y="6473952"/>
            <a:ext cx="11384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5C6369"/>
                </a:solidFill>
                <a:latin typeface="Aptos"/>
              </a:defRPr>
            </a:pPr>
            <a:r>
              <a:t>DSA From Scratch → Advanced   •   DAY 47 — REMOVE CYCLE   •   https://github.com/ritesh2687/dsa_ppt_post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914400"/>
            <a:ext cx="12191695" cy="7315"/>
          </a:xfrm>
          <a:prstGeom prst="rect">
            <a:avLst/>
          </a:prstGeom>
          <a:solidFill>
            <a:srgbClr val="EBE9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828800"/>
            <a:ext cx="12191695" cy="7315"/>
          </a:xfrm>
          <a:prstGeom prst="rect">
            <a:avLst/>
          </a:prstGeom>
          <a:solidFill>
            <a:srgbClr val="EBE9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743200"/>
            <a:ext cx="12191695" cy="7315"/>
          </a:xfrm>
          <a:prstGeom prst="rect">
            <a:avLst/>
          </a:prstGeom>
          <a:solidFill>
            <a:srgbClr val="EBE9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3657600"/>
            <a:ext cx="12191695" cy="7315"/>
          </a:xfrm>
          <a:prstGeom prst="rect">
            <a:avLst/>
          </a:prstGeom>
          <a:solidFill>
            <a:srgbClr val="EBE9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4572000"/>
            <a:ext cx="12191695" cy="7315"/>
          </a:xfrm>
          <a:prstGeom prst="rect">
            <a:avLst/>
          </a:prstGeom>
          <a:solidFill>
            <a:srgbClr val="EBE9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5486400"/>
            <a:ext cx="12191695" cy="7315"/>
          </a:xfrm>
          <a:prstGeom prst="rect">
            <a:avLst/>
          </a:prstGeom>
          <a:solidFill>
            <a:srgbClr val="EBE9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400800"/>
            <a:ext cx="12191695" cy="7315"/>
          </a:xfrm>
          <a:prstGeom prst="rect">
            <a:avLst/>
          </a:prstGeom>
          <a:solidFill>
            <a:srgbClr val="EBE9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F2429"/>
                </a:solidFill>
                <a:latin typeface="Aptos Display"/>
              </a:defRPr>
            </a:pPr>
            <a:r>
              <a:t>04 — Find the Starting Node of the Cycle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932688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E7D78"/>
                </a:solidFill>
                <a:latin typeface="Comic Sans MS"/>
              </a:defRPr>
            </a:pPr>
            <a:r>
              <a:t>After slow == fast, reset one pointer to head.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1298448"/>
            <a:ext cx="685800" cy="50292"/>
          </a:xfrm>
          <a:prstGeom prst="rect">
            <a:avLst/>
          </a:prstGeom>
          <a:solidFill>
            <a:srgbClr val="2E7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645920"/>
            <a:ext cx="45720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>
                <a:solidFill>
                  <a:srgbClr val="1F2429"/>
                </a:solidFill>
                <a:latin typeface="Aptos"/>
              </a:defRPr>
            </a:pPr>
            <a:r>
              <a:t>• Keep slow at the meeting point.</a:t>
            </a:r>
          </a:p>
          <a:p>
            <a:pPr>
              <a:spcAft>
                <a:spcPts val="900"/>
              </a:spcAft>
              <a:defRPr sz="1700">
                <a:solidFill>
                  <a:srgbClr val="1F2429"/>
                </a:solidFill>
                <a:latin typeface="Aptos"/>
              </a:defRPr>
            </a:pPr>
            <a:r>
              <a:t>• Move fast back to head.</a:t>
            </a:r>
          </a:p>
          <a:p>
            <a:pPr>
              <a:spcAft>
                <a:spcPts val="900"/>
              </a:spcAft>
              <a:defRPr sz="1700">
                <a:solidFill>
                  <a:srgbClr val="1F2429"/>
                </a:solidFill>
                <a:latin typeface="Aptos"/>
              </a:defRPr>
            </a:pPr>
            <a:r>
              <a:t>• Now move both one step at a time.</a:t>
            </a:r>
          </a:p>
          <a:p>
            <a:pPr>
              <a:spcAft>
                <a:spcPts val="900"/>
              </a:spcAft>
              <a:defRPr sz="1700">
                <a:solidFill>
                  <a:srgbClr val="1F2429"/>
                </a:solidFill>
                <a:latin typeface="Aptos"/>
              </a:defRPr>
            </a:pPr>
            <a:r>
              <a:t>• Where they meet again = cycle start.</a:t>
            </a:r>
          </a:p>
        </p:txBody>
      </p:sp>
      <p:sp>
        <p:nvSpPr>
          <p:cNvPr id="13" name="Oval 12"/>
          <p:cNvSpPr/>
          <p:nvPr/>
        </p:nvSpPr>
        <p:spPr>
          <a:xfrm>
            <a:off x="6035040" y="1920240"/>
            <a:ext cx="621792" cy="62179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345E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35040" y="1993392"/>
            <a:ext cx="621792" cy="5120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1F2429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5" name="Oval 14"/>
          <p:cNvSpPr/>
          <p:nvPr/>
        </p:nvSpPr>
        <p:spPr>
          <a:xfrm>
            <a:off x="6995159" y="1920240"/>
            <a:ext cx="621792" cy="62179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345E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95159" y="1993392"/>
            <a:ext cx="621792" cy="5120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1F2429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7" name="Oval 16"/>
          <p:cNvSpPr/>
          <p:nvPr/>
        </p:nvSpPr>
        <p:spPr>
          <a:xfrm>
            <a:off x="7955279" y="1920240"/>
            <a:ext cx="621792" cy="62179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B846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55279" y="1993392"/>
            <a:ext cx="621792" cy="5120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1F2429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9" name="Oval 18"/>
          <p:cNvSpPr/>
          <p:nvPr/>
        </p:nvSpPr>
        <p:spPr>
          <a:xfrm>
            <a:off x="8915400" y="1920240"/>
            <a:ext cx="621792" cy="62179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345E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15400" y="1993392"/>
            <a:ext cx="621792" cy="5120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1F2429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1" name="Oval 20"/>
          <p:cNvSpPr/>
          <p:nvPr/>
        </p:nvSpPr>
        <p:spPr>
          <a:xfrm>
            <a:off x="9875520" y="1920240"/>
            <a:ext cx="621792" cy="62179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345E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875520" y="1993392"/>
            <a:ext cx="621792" cy="5120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1F2429"/>
                </a:solidFill>
                <a:latin typeface="Aptos"/>
              </a:defRPr>
            </a:pPr>
            <a:r>
              <a:t>5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629400" y="2231136"/>
            <a:ext cx="685800" cy="0"/>
          </a:xfrm>
          <a:prstGeom prst="line">
            <a:avLst/>
          </a:prstGeom>
          <a:ln w="27940">
            <a:solidFill>
              <a:srgbClr val="345E9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7589520" y="2231136"/>
            <a:ext cx="685800" cy="0"/>
          </a:xfrm>
          <a:prstGeom prst="line">
            <a:avLst/>
          </a:prstGeom>
          <a:ln w="27940">
            <a:solidFill>
              <a:srgbClr val="345E9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8549640" y="2231136"/>
            <a:ext cx="685800" cy="0"/>
          </a:xfrm>
          <a:prstGeom prst="line">
            <a:avLst/>
          </a:prstGeom>
          <a:ln w="27940">
            <a:solidFill>
              <a:srgbClr val="345E9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9509760" y="2231136"/>
            <a:ext cx="685800" cy="0"/>
          </a:xfrm>
          <a:prstGeom prst="line">
            <a:avLst/>
          </a:prstGeom>
          <a:ln w="27940">
            <a:solidFill>
              <a:srgbClr val="345E9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H="1">
            <a:off x="7772400" y="2560320"/>
            <a:ext cx="2651760" cy="1234440"/>
          </a:xfrm>
          <a:prstGeom prst="line">
            <a:avLst/>
          </a:prstGeom>
          <a:ln w="27940">
            <a:solidFill>
              <a:srgbClr val="B846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7772400" y="2560320"/>
            <a:ext cx="0" cy="1234440"/>
          </a:xfrm>
          <a:prstGeom prst="line">
            <a:avLst/>
          </a:prstGeom>
          <a:ln w="27940">
            <a:solidFill>
              <a:srgbClr val="B846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5989320" y="1298448"/>
            <a:ext cx="7315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345E9C"/>
                </a:solidFill>
                <a:latin typeface="Comic Sans MS"/>
              </a:defRPr>
            </a:pPr>
            <a:r>
              <a:t>head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3794760"/>
            <a:ext cx="10972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B84643"/>
                </a:solidFill>
                <a:latin typeface="Comic Sans MS"/>
              </a:defRPr>
            </a:pPr>
            <a:r>
              <a:t>meeting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943600" y="4572000"/>
            <a:ext cx="5303520" cy="960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7D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089904" y="4645152"/>
            <a:ext cx="5010912" cy="8138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F2429"/>
                </a:solidFill>
                <a:latin typeface="Comic Sans MS"/>
              </a:defRPr>
            </a:pPr>
            <a:r>
              <a:t>Key invariant: both pointers now travel the same speed, so the next meeting lands on the entry.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1480" y="6473952"/>
            <a:ext cx="11384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5C6369"/>
                </a:solidFill>
                <a:latin typeface="Aptos"/>
              </a:defRPr>
            </a:pPr>
            <a:r>
              <a:t>DSA From Scratch → Advanced   •   DAY 47 — REMOVE CYCLE   •   https://github.com/ritesh2687/dsa_ppt_post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914400"/>
            <a:ext cx="12191695" cy="7315"/>
          </a:xfrm>
          <a:prstGeom prst="rect">
            <a:avLst/>
          </a:prstGeom>
          <a:solidFill>
            <a:srgbClr val="EBE9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828800"/>
            <a:ext cx="12191695" cy="7315"/>
          </a:xfrm>
          <a:prstGeom prst="rect">
            <a:avLst/>
          </a:prstGeom>
          <a:solidFill>
            <a:srgbClr val="EBE9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743200"/>
            <a:ext cx="12191695" cy="7315"/>
          </a:xfrm>
          <a:prstGeom prst="rect">
            <a:avLst/>
          </a:prstGeom>
          <a:solidFill>
            <a:srgbClr val="EBE9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3657600"/>
            <a:ext cx="12191695" cy="7315"/>
          </a:xfrm>
          <a:prstGeom prst="rect">
            <a:avLst/>
          </a:prstGeom>
          <a:solidFill>
            <a:srgbClr val="EBE9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4572000"/>
            <a:ext cx="12191695" cy="7315"/>
          </a:xfrm>
          <a:prstGeom prst="rect">
            <a:avLst/>
          </a:prstGeom>
          <a:solidFill>
            <a:srgbClr val="EBE9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5486400"/>
            <a:ext cx="12191695" cy="7315"/>
          </a:xfrm>
          <a:prstGeom prst="rect">
            <a:avLst/>
          </a:prstGeom>
          <a:solidFill>
            <a:srgbClr val="EBE9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400800"/>
            <a:ext cx="12191695" cy="7315"/>
          </a:xfrm>
          <a:prstGeom prst="rect">
            <a:avLst/>
          </a:prstGeom>
          <a:solidFill>
            <a:srgbClr val="EBE9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F2429"/>
                </a:solidFill>
                <a:latin typeface="Aptos Display"/>
              </a:defRPr>
            </a:pPr>
            <a:r>
              <a:t>05 — Pointer Movement: One Step at a Time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932688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345E9C"/>
                </a:solidFill>
                <a:latin typeface="Comic Sans MS"/>
              </a:defRPr>
            </a:pPr>
            <a:r>
              <a:t>Visualizing the second phase makes the idea much easier to remember.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1298448"/>
            <a:ext cx="685800" cy="50292"/>
          </a:xfrm>
          <a:prstGeom prst="rect">
            <a:avLst/>
          </a:prstGeom>
          <a:solidFill>
            <a:srgbClr val="345E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1709928"/>
            <a:ext cx="640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5C6369"/>
                </a:solidFill>
                <a:latin typeface="Comic Sans MS"/>
              </a:defRPr>
            </a:pPr>
            <a:r>
              <a:t>Step 0</a:t>
            </a:r>
          </a:p>
        </p:txBody>
      </p:sp>
      <p:sp>
        <p:nvSpPr>
          <p:cNvPr id="13" name="Oval 12"/>
          <p:cNvSpPr/>
          <p:nvPr/>
        </p:nvSpPr>
        <p:spPr>
          <a:xfrm>
            <a:off x="1417320" y="1600200"/>
            <a:ext cx="502920" cy="50292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E7D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17320" y="1673352"/>
            <a:ext cx="5029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1F2429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5" name="Oval 14"/>
          <p:cNvSpPr/>
          <p:nvPr/>
        </p:nvSpPr>
        <p:spPr>
          <a:xfrm>
            <a:off x="2651760" y="1600200"/>
            <a:ext cx="502920" cy="50292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345E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651760" y="1673352"/>
            <a:ext cx="5029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1F2429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7" name="Oval 16"/>
          <p:cNvSpPr/>
          <p:nvPr/>
        </p:nvSpPr>
        <p:spPr>
          <a:xfrm>
            <a:off x="3886200" y="1600200"/>
            <a:ext cx="502920" cy="50292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345E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886200" y="1673352"/>
            <a:ext cx="5029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1F2429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9" name="Oval 18"/>
          <p:cNvSpPr/>
          <p:nvPr/>
        </p:nvSpPr>
        <p:spPr>
          <a:xfrm>
            <a:off x="5120640" y="1600200"/>
            <a:ext cx="502920" cy="50292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345E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20640" y="1673352"/>
            <a:ext cx="5029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1F2429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1" name="Oval 20"/>
          <p:cNvSpPr/>
          <p:nvPr/>
        </p:nvSpPr>
        <p:spPr>
          <a:xfrm>
            <a:off x="6355080" y="1600200"/>
            <a:ext cx="502920" cy="50292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345E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55080" y="1673352"/>
            <a:ext cx="5029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1F2429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38160" y="1627632"/>
            <a:ext cx="1280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2E7D78"/>
                </a:solidFill>
                <a:latin typeface="Comic Sans MS"/>
              </a:defRPr>
            </a:pPr>
            <a:r>
              <a:t>slow = 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0" y="1627632"/>
            <a:ext cx="1280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DA7E30"/>
                </a:solidFill>
                <a:latin typeface="Comic Sans MS"/>
              </a:defRPr>
            </a:pPr>
            <a:r>
              <a:t>fast = 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2715768"/>
            <a:ext cx="640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5C6369"/>
                </a:solidFill>
                <a:latin typeface="Comic Sans MS"/>
              </a:defRPr>
            </a:pPr>
            <a:r>
              <a:t>Step 1</a:t>
            </a:r>
          </a:p>
        </p:txBody>
      </p:sp>
      <p:sp>
        <p:nvSpPr>
          <p:cNvPr id="26" name="Oval 25"/>
          <p:cNvSpPr/>
          <p:nvPr/>
        </p:nvSpPr>
        <p:spPr>
          <a:xfrm>
            <a:off x="1417320" y="2606040"/>
            <a:ext cx="502920" cy="50292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345E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417320" y="2679192"/>
            <a:ext cx="5029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1F2429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28" name="Oval 27"/>
          <p:cNvSpPr/>
          <p:nvPr/>
        </p:nvSpPr>
        <p:spPr>
          <a:xfrm>
            <a:off x="2651760" y="2606040"/>
            <a:ext cx="502920" cy="50292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E7D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651760" y="2679192"/>
            <a:ext cx="5029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1F2429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30" name="Oval 29"/>
          <p:cNvSpPr/>
          <p:nvPr/>
        </p:nvSpPr>
        <p:spPr>
          <a:xfrm>
            <a:off x="3886200" y="2606040"/>
            <a:ext cx="502920" cy="50292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345E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886200" y="2679192"/>
            <a:ext cx="5029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1F2429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32" name="Oval 31"/>
          <p:cNvSpPr/>
          <p:nvPr/>
        </p:nvSpPr>
        <p:spPr>
          <a:xfrm>
            <a:off x="5120640" y="2606040"/>
            <a:ext cx="502920" cy="50292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345E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120640" y="2679192"/>
            <a:ext cx="5029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1F2429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34" name="Oval 33"/>
          <p:cNvSpPr/>
          <p:nvPr/>
        </p:nvSpPr>
        <p:spPr>
          <a:xfrm>
            <a:off x="6355080" y="2606040"/>
            <a:ext cx="502920" cy="50292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345E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55080" y="2679192"/>
            <a:ext cx="5029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1F2429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38160" y="2633472"/>
            <a:ext cx="1280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2E7D78"/>
                </a:solidFill>
                <a:latin typeface="Comic Sans MS"/>
              </a:defRPr>
            </a:pPr>
            <a:r>
              <a:t>slow = 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01200" y="2633472"/>
            <a:ext cx="1280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DA7E30"/>
                </a:solidFill>
                <a:latin typeface="Comic Sans MS"/>
              </a:defRPr>
            </a:pPr>
            <a:r>
              <a:t>fast = 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" y="3721608"/>
            <a:ext cx="640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5C6369"/>
                </a:solidFill>
                <a:latin typeface="Comic Sans MS"/>
              </a:defRPr>
            </a:pPr>
            <a:r>
              <a:t>Step 2</a:t>
            </a:r>
          </a:p>
        </p:txBody>
      </p:sp>
      <p:sp>
        <p:nvSpPr>
          <p:cNvPr id="39" name="Oval 38"/>
          <p:cNvSpPr/>
          <p:nvPr/>
        </p:nvSpPr>
        <p:spPr>
          <a:xfrm>
            <a:off x="1417320" y="3611880"/>
            <a:ext cx="502920" cy="50292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345E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417320" y="3685032"/>
            <a:ext cx="5029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1F2429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41" name="Oval 40"/>
          <p:cNvSpPr/>
          <p:nvPr/>
        </p:nvSpPr>
        <p:spPr>
          <a:xfrm>
            <a:off x="2651760" y="3611880"/>
            <a:ext cx="502920" cy="50292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345E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651760" y="3685032"/>
            <a:ext cx="5029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1F2429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43" name="Oval 42"/>
          <p:cNvSpPr/>
          <p:nvPr/>
        </p:nvSpPr>
        <p:spPr>
          <a:xfrm>
            <a:off x="3886200" y="3611880"/>
            <a:ext cx="502920" cy="50292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E7D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886200" y="3685032"/>
            <a:ext cx="5029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1F2429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45" name="Oval 44"/>
          <p:cNvSpPr/>
          <p:nvPr/>
        </p:nvSpPr>
        <p:spPr>
          <a:xfrm>
            <a:off x="5120640" y="3611880"/>
            <a:ext cx="502920" cy="50292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345E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120640" y="3685032"/>
            <a:ext cx="5029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1F2429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47" name="Oval 46"/>
          <p:cNvSpPr/>
          <p:nvPr/>
        </p:nvSpPr>
        <p:spPr>
          <a:xfrm>
            <a:off x="6355080" y="3611880"/>
            <a:ext cx="502920" cy="50292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345E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355080" y="3685032"/>
            <a:ext cx="5029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1F2429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138160" y="3639312"/>
            <a:ext cx="1280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2E7D78"/>
                </a:solidFill>
                <a:latin typeface="Comic Sans MS"/>
              </a:defRPr>
            </a:pPr>
            <a:r>
              <a:t>slow = 3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601200" y="3639312"/>
            <a:ext cx="1280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DA7E30"/>
                </a:solidFill>
                <a:latin typeface="Comic Sans MS"/>
              </a:defRPr>
            </a:pPr>
            <a:r>
              <a:t>fast = 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02920" y="4727448"/>
            <a:ext cx="640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5C6369"/>
                </a:solidFill>
                <a:latin typeface="Comic Sans MS"/>
              </a:defRPr>
            </a:pPr>
            <a:r>
              <a:t>Step 3</a:t>
            </a:r>
          </a:p>
        </p:txBody>
      </p:sp>
      <p:sp>
        <p:nvSpPr>
          <p:cNvPr id="52" name="Oval 51"/>
          <p:cNvSpPr/>
          <p:nvPr/>
        </p:nvSpPr>
        <p:spPr>
          <a:xfrm>
            <a:off x="1417320" y="4617720"/>
            <a:ext cx="502920" cy="50292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345E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417320" y="4690872"/>
            <a:ext cx="5029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1F2429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54" name="Oval 53"/>
          <p:cNvSpPr/>
          <p:nvPr/>
        </p:nvSpPr>
        <p:spPr>
          <a:xfrm>
            <a:off x="2651760" y="4617720"/>
            <a:ext cx="502920" cy="50292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345E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651760" y="4690872"/>
            <a:ext cx="5029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1F2429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56" name="Oval 55"/>
          <p:cNvSpPr/>
          <p:nvPr/>
        </p:nvSpPr>
        <p:spPr>
          <a:xfrm>
            <a:off x="3886200" y="4617720"/>
            <a:ext cx="502920" cy="50292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345E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886200" y="4690872"/>
            <a:ext cx="5029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1F2429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58" name="Oval 57"/>
          <p:cNvSpPr/>
          <p:nvPr/>
        </p:nvSpPr>
        <p:spPr>
          <a:xfrm>
            <a:off x="5120640" y="4617720"/>
            <a:ext cx="502920" cy="50292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E7D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120640" y="4690872"/>
            <a:ext cx="5029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1F2429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60" name="Oval 59"/>
          <p:cNvSpPr/>
          <p:nvPr/>
        </p:nvSpPr>
        <p:spPr>
          <a:xfrm>
            <a:off x="6355080" y="4617720"/>
            <a:ext cx="502920" cy="50292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345E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355080" y="4690872"/>
            <a:ext cx="5029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1F2429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138160" y="4645152"/>
            <a:ext cx="1280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2E7D78"/>
                </a:solidFill>
                <a:latin typeface="Comic Sans MS"/>
              </a:defRPr>
            </a:pPr>
            <a:r>
              <a:t>slow = 4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601200" y="4645152"/>
            <a:ext cx="1280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DA7E30"/>
                </a:solidFill>
                <a:latin typeface="Comic Sans MS"/>
              </a:defRPr>
            </a:pPr>
            <a:r>
              <a:t>fast = 3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7223760" y="5440680"/>
            <a:ext cx="4023360" cy="640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A7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370064" y="5513832"/>
            <a:ext cx="3730752" cy="493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1F2429"/>
                </a:solidFill>
                <a:latin typeface="Comic Sans MS"/>
              </a:defRPr>
            </a:pPr>
            <a:r>
              <a:t>At the first equal value, both pointers are at the cycle entry.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11480" y="6473952"/>
            <a:ext cx="11384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5C6369"/>
                </a:solidFill>
                <a:latin typeface="Aptos"/>
              </a:defRPr>
            </a:pPr>
            <a:r>
              <a:t>DSA From Scratch → Advanced   •   DAY 47 — REMOVE CYCLE   •   https://github.com/ritesh2687/dsa_ppt_post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914400"/>
            <a:ext cx="12191695" cy="7315"/>
          </a:xfrm>
          <a:prstGeom prst="rect">
            <a:avLst/>
          </a:prstGeom>
          <a:solidFill>
            <a:srgbClr val="EBE9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828800"/>
            <a:ext cx="12191695" cy="7315"/>
          </a:xfrm>
          <a:prstGeom prst="rect">
            <a:avLst/>
          </a:prstGeom>
          <a:solidFill>
            <a:srgbClr val="EBE9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743200"/>
            <a:ext cx="12191695" cy="7315"/>
          </a:xfrm>
          <a:prstGeom prst="rect">
            <a:avLst/>
          </a:prstGeom>
          <a:solidFill>
            <a:srgbClr val="EBE9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3657600"/>
            <a:ext cx="12191695" cy="7315"/>
          </a:xfrm>
          <a:prstGeom prst="rect">
            <a:avLst/>
          </a:prstGeom>
          <a:solidFill>
            <a:srgbClr val="EBE9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4572000"/>
            <a:ext cx="12191695" cy="7315"/>
          </a:xfrm>
          <a:prstGeom prst="rect">
            <a:avLst/>
          </a:prstGeom>
          <a:solidFill>
            <a:srgbClr val="EBE9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5486400"/>
            <a:ext cx="12191695" cy="7315"/>
          </a:xfrm>
          <a:prstGeom prst="rect">
            <a:avLst/>
          </a:prstGeom>
          <a:solidFill>
            <a:srgbClr val="EBE9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400800"/>
            <a:ext cx="12191695" cy="7315"/>
          </a:xfrm>
          <a:prstGeom prst="rect">
            <a:avLst/>
          </a:prstGeom>
          <a:solidFill>
            <a:srgbClr val="EBE9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F2429"/>
                </a:solidFill>
                <a:latin typeface="Aptos Display"/>
              </a:defRPr>
            </a:pPr>
            <a:r>
              <a:t>06 — Now Find the Node Before the Cycle Start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932688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B84643"/>
                </a:solidFill>
                <a:latin typeface="Comic Sans MS"/>
              </a:defRPr>
            </a:pPr>
            <a:r>
              <a:t>The cycle is removed by changing ONE next pointer.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1298448"/>
            <a:ext cx="685800" cy="50292"/>
          </a:xfrm>
          <a:prstGeom prst="rect">
            <a:avLst/>
          </a:prstGeom>
          <a:solidFill>
            <a:srgbClr val="B84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645920"/>
            <a:ext cx="48463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>
                <a:solidFill>
                  <a:srgbClr val="1F2429"/>
                </a:solidFill>
                <a:latin typeface="Aptos"/>
              </a:defRPr>
            </a:pPr>
            <a:r>
              <a:t>• Suppose cycleStart is node 3.</a:t>
            </a:r>
          </a:p>
          <a:p>
            <a:pPr>
              <a:spcAft>
                <a:spcPts val="900"/>
              </a:spcAft>
              <a:defRPr sz="1700">
                <a:solidFill>
                  <a:srgbClr val="1F2429"/>
                </a:solidFill>
                <a:latin typeface="Aptos"/>
              </a:defRPr>
            </a:pPr>
            <a:r>
              <a:t>• Walk a pointer around the cycle until current-&gt;next == cycleStart.</a:t>
            </a:r>
          </a:p>
          <a:p>
            <a:pPr>
              <a:spcAft>
                <a:spcPts val="900"/>
              </a:spcAft>
              <a:defRPr sz="1700">
                <a:solidFill>
                  <a:srgbClr val="1F2429"/>
                </a:solidFill>
                <a:latin typeface="Aptos"/>
              </a:defRPr>
            </a:pPr>
            <a:r>
              <a:t>• That current node is the last node inside the cycle.</a:t>
            </a:r>
          </a:p>
        </p:txBody>
      </p:sp>
      <p:sp>
        <p:nvSpPr>
          <p:cNvPr id="13" name="Oval 12"/>
          <p:cNvSpPr/>
          <p:nvPr/>
        </p:nvSpPr>
        <p:spPr>
          <a:xfrm>
            <a:off x="6217920" y="2194560"/>
            <a:ext cx="594360" cy="59436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345E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0" y="2267712"/>
            <a:ext cx="594360" cy="4846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1F2429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5" name="Oval 14"/>
          <p:cNvSpPr/>
          <p:nvPr/>
        </p:nvSpPr>
        <p:spPr>
          <a:xfrm>
            <a:off x="7132320" y="2194560"/>
            <a:ext cx="594360" cy="59436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345E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0" y="2267712"/>
            <a:ext cx="594360" cy="4846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1F2429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7" name="Oval 16"/>
          <p:cNvSpPr/>
          <p:nvPr/>
        </p:nvSpPr>
        <p:spPr>
          <a:xfrm>
            <a:off x="8046720" y="2194560"/>
            <a:ext cx="594360" cy="59436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345E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20" y="2267712"/>
            <a:ext cx="594360" cy="4846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1F2429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9" name="Oval 18"/>
          <p:cNvSpPr/>
          <p:nvPr/>
        </p:nvSpPr>
        <p:spPr>
          <a:xfrm>
            <a:off x="8961120" y="2194560"/>
            <a:ext cx="594360" cy="59436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345E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61120" y="2267712"/>
            <a:ext cx="594360" cy="4846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1F2429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1" name="Oval 20"/>
          <p:cNvSpPr/>
          <p:nvPr/>
        </p:nvSpPr>
        <p:spPr>
          <a:xfrm>
            <a:off x="9875520" y="2194560"/>
            <a:ext cx="594360" cy="594360"/>
          </a:xfrm>
          <a:prstGeom prst="ellipse">
            <a:avLst/>
          </a:prstGeom>
          <a:solidFill>
            <a:srgbClr val="FFF2E1"/>
          </a:solidFill>
          <a:ln w="25400">
            <a:solidFill>
              <a:srgbClr val="B846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875520" y="2267712"/>
            <a:ext cx="594360" cy="4846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1F2429"/>
                </a:solidFill>
                <a:latin typeface="Aptos"/>
              </a:defRPr>
            </a:pPr>
            <a:r>
              <a:t>5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784848" y="2496312"/>
            <a:ext cx="557783" cy="0"/>
          </a:xfrm>
          <a:prstGeom prst="line">
            <a:avLst/>
          </a:prstGeom>
          <a:ln w="27940">
            <a:solidFill>
              <a:srgbClr val="345E9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7909560" y="2496312"/>
            <a:ext cx="347471" cy="0"/>
          </a:xfrm>
          <a:prstGeom prst="line">
            <a:avLst/>
          </a:prstGeom>
          <a:ln w="27940">
            <a:solidFill>
              <a:srgbClr val="345E9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8823960" y="2496312"/>
            <a:ext cx="347472" cy="0"/>
          </a:xfrm>
          <a:prstGeom prst="line">
            <a:avLst/>
          </a:prstGeom>
          <a:ln w="27940">
            <a:solidFill>
              <a:srgbClr val="345E9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9738360" y="2496312"/>
            <a:ext cx="347472" cy="0"/>
          </a:xfrm>
          <a:prstGeom prst="line">
            <a:avLst/>
          </a:prstGeom>
          <a:ln w="27940">
            <a:solidFill>
              <a:srgbClr val="345E9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H="1">
            <a:off x="7589520" y="2834640"/>
            <a:ext cx="2743200" cy="914399"/>
          </a:xfrm>
          <a:prstGeom prst="line">
            <a:avLst/>
          </a:prstGeom>
          <a:ln w="27940">
            <a:solidFill>
              <a:srgbClr val="B846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7589520" y="2834640"/>
            <a:ext cx="0" cy="914399"/>
          </a:xfrm>
          <a:prstGeom prst="line">
            <a:avLst/>
          </a:prstGeom>
          <a:ln w="27940">
            <a:solidFill>
              <a:srgbClr val="B846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9281160" y="1508760"/>
            <a:ext cx="11887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B84643"/>
                </a:solidFill>
                <a:latin typeface="Comic Sans MS"/>
              </a:defRPr>
            </a:pPr>
            <a:r>
              <a:t>last node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29400" y="3977639"/>
            <a:ext cx="1280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2E7D78"/>
                </a:solidFill>
                <a:latin typeface="Comic Sans MS"/>
              </a:defRPr>
            </a:pPr>
            <a:r>
              <a:t>cycleStart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035040" y="4709160"/>
            <a:ext cx="5303520" cy="822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846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181344" y="4782312"/>
            <a:ext cx="5010912" cy="6766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F2429"/>
                </a:solidFill>
                <a:latin typeface="Comic Sans MS"/>
              </a:defRPr>
            </a:pPr>
            <a:r>
              <a:t>We do NOT delete a node. We only cut the pointer that closes the loop.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1480" y="6473952"/>
            <a:ext cx="11384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5C6369"/>
                </a:solidFill>
                <a:latin typeface="Aptos"/>
              </a:defRPr>
            </a:pPr>
            <a:r>
              <a:t>DSA From Scratch → Advanced   •   DAY 47 — REMOVE CYCLE   •   https://github.com/ritesh2687/dsa_ppt_post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914400"/>
            <a:ext cx="12191695" cy="7315"/>
          </a:xfrm>
          <a:prstGeom prst="rect">
            <a:avLst/>
          </a:prstGeom>
          <a:solidFill>
            <a:srgbClr val="EBE9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828800"/>
            <a:ext cx="12191695" cy="7315"/>
          </a:xfrm>
          <a:prstGeom prst="rect">
            <a:avLst/>
          </a:prstGeom>
          <a:solidFill>
            <a:srgbClr val="EBE9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743200"/>
            <a:ext cx="12191695" cy="7315"/>
          </a:xfrm>
          <a:prstGeom prst="rect">
            <a:avLst/>
          </a:prstGeom>
          <a:solidFill>
            <a:srgbClr val="EBE9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3657600"/>
            <a:ext cx="12191695" cy="7315"/>
          </a:xfrm>
          <a:prstGeom prst="rect">
            <a:avLst/>
          </a:prstGeom>
          <a:solidFill>
            <a:srgbClr val="EBE9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4572000"/>
            <a:ext cx="12191695" cy="7315"/>
          </a:xfrm>
          <a:prstGeom prst="rect">
            <a:avLst/>
          </a:prstGeom>
          <a:solidFill>
            <a:srgbClr val="EBE9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5486400"/>
            <a:ext cx="12191695" cy="7315"/>
          </a:xfrm>
          <a:prstGeom prst="rect">
            <a:avLst/>
          </a:prstGeom>
          <a:solidFill>
            <a:srgbClr val="EBE9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400800"/>
            <a:ext cx="12191695" cy="7315"/>
          </a:xfrm>
          <a:prstGeom prst="rect">
            <a:avLst/>
          </a:prstGeom>
          <a:solidFill>
            <a:srgbClr val="EBE9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F2429"/>
                </a:solidFill>
                <a:latin typeface="Aptos Display"/>
              </a:defRPr>
            </a:pPr>
            <a:r>
              <a:t>07 — Break the Cycle Safely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932688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DA7E30"/>
                </a:solidFill>
                <a:latin typeface="Comic Sans MS"/>
              </a:defRPr>
            </a:pPr>
            <a:r>
              <a:t>Once the last cycle node is known, one assignment fixes the structure.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1298448"/>
            <a:ext cx="685800" cy="50292"/>
          </a:xfrm>
          <a:prstGeom prst="rect">
            <a:avLst/>
          </a:prstGeom>
          <a:solidFill>
            <a:srgbClr val="DA7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31520" y="1691640"/>
            <a:ext cx="4937760" cy="2148840"/>
          </a:xfrm>
          <a:prstGeom prst="roundRect">
            <a:avLst/>
          </a:prstGeom>
          <a:solidFill>
            <a:srgbClr val="252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1810512"/>
            <a:ext cx="4608576" cy="191109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"/>
              </a:spcAft>
              <a:defRPr sz="1500">
                <a:solidFill>
                  <a:srgbClr val="FFFFFF"/>
                </a:solidFill>
                <a:latin typeface="Consolas"/>
              </a:defRPr>
            </a:pPr>
            <a:r>
              <a:t>while (ptr-&gt;next != cycleStart) {</a:t>
            </a:r>
          </a:p>
          <a:p>
            <a:pPr>
              <a:spcAft>
                <a:spcPts val="100"/>
              </a:spcAft>
              <a:defRPr sz="1500">
                <a:solidFill>
                  <a:srgbClr val="FFFFFF"/>
                </a:solidFill>
                <a:latin typeface="Consolas"/>
              </a:defRPr>
            </a:pPr>
            <a:r>
              <a:t>    ptr = ptr-&gt;next;</a:t>
            </a:r>
          </a:p>
          <a:p>
            <a:pPr>
              <a:spcAft>
                <a:spcPts val="100"/>
              </a:spcAft>
              <a:defRPr sz="1500">
                <a:solidFill>
                  <a:srgbClr val="FFFFFF"/>
                </a:solidFill>
                <a:latin typeface="Consolas"/>
              </a:defRPr>
            </a:pPr>
            <a:r>
              <a:t>}</a:t>
            </a:r>
          </a:p>
          <a:p>
            <a:pPr>
              <a:spcAft>
                <a:spcPts val="100"/>
              </a:spcAft>
              <a:defRPr sz="1500">
                <a:solidFill>
                  <a:srgbClr val="FFFFFF"/>
                </a:solidFill>
                <a:latin typeface="Consolas"/>
              </a:defRPr>
            </a:pPr>
            <a:r>
              <a:t>ptr-&gt;next = nullptr;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160520"/>
            <a:ext cx="48463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>
                <a:solidFill>
                  <a:srgbClr val="1F2429"/>
                </a:solidFill>
                <a:latin typeface="Aptos"/>
              </a:defRPr>
            </a:pPr>
            <a:r>
              <a:t>• Before: 5 → 3</a:t>
            </a:r>
          </a:p>
          <a:p>
            <a:pPr>
              <a:spcAft>
                <a:spcPts val="900"/>
              </a:spcAft>
              <a:defRPr sz="1700">
                <a:solidFill>
                  <a:srgbClr val="1F2429"/>
                </a:solidFill>
                <a:latin typeface="Aptos"/>
              </a:defRPr>
            </a:pPr>
            <a:r>
              <a:t>• After: 5 → NULL</a:t>
            </a:r>
          </a:p>
          <a:p>
            <a:pPr>
              <a:spcAft>
                <a:spcPts val="900"/>
              </a:spcAft>
              <a:defRPr sz="1700">
                <a:solidFill>
                  <a:srgbClr val="1F2429"/>
                </a:solidFill>
                <a:latin typeface="Aptos"/>
              </a:defRPr>
            </a:pPr>
            <a:r>
              <a:t>• All nodes 1 → 2 → 3 → 4 → 5 become reachable normally.</a:t>
            </a:r>
          </a:p>
        </p:txBody>
      </p:sp>
      <p:sp>
        <p:nvSpPr>
          <p:cNvPr id="15" name="Oval 14"/>
          <p:cNvSpPr/>
          <p:nvPr/>
        </p:nvSpPr>
        <p:spPr>
          <a:xfrm>
            <a:off x="6400800" y="2057400"/>
            <a:ext cx="640080" cy="6400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B846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2130552"/>
            <a:ext cx="64008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1F2429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17" name="Oval 16"/>
          <p:cNvSpPr/>
          <p:nvPr/>
        </p:nvSpPr>
        <p:spPr>
          <a:xfrm>
            <a:off x="8412480" y="2057400"/>
            <a:ext cx="640080" cy="6400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E7D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0" y="2130552"/>
            <a:ext cx="64008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1F2429"/>
                </a:solidFill>
                <a:latin typeface="Aptos"/>
              </a:defRPr>
            </a:pPr>
            <a:r>
              <a:t>3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040880" y="2377440"/>
            <a:ext cx="1325880" cy="0"/>
          </a:xfrm>
          <a:prstGeom prst="line">
            <a:avLst/>
          </a:prstGeom>
          <a:ln w="27940">
            <a:solidFill>
              <a:srgbClr val="B846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7452360" y="1645920"/>
            <a:ext cx="640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B84643"/>
                </a:solidFill>
                <a:latin typeface="Comic Sans MS"/>
              </a:defRPr>
            </a:pPr>
            <a:r>
              <a:t>cut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040880" y="3840480"/>
            <a:ext cx="1142999" cy="0"/>
          </a:xfrm>
          <a:prstGeom prst="line">
            <a:avLst/>
          </a:prstGeom>
          <a:ln w="27940">
            <a:solidFill>
              <a:srgbClr val="417D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6400800" y="3520440"/>
            <a:ext cx="640080" cy="6400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417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3593592"/>
            <a:ext cx="64008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1F2429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0" y="3639312"/>
            <a:ext cx="10058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417D52"/>
                </a:solidFill>
                <a:latin typeface="Comic Sans MS"/>
              </a:defRPr>
            </a:pPr>
            <a:r>
              <a:t>NULL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" y="6473952"/>
            <a:ext cx="11384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5C6369"/>
                </a:solidFill>
                <a:latin typeface="Aptos"/>
              </a:defRPr>
            </a:pPr>
            <a:r>
              <a:t>DSA From Scratch → Advanced   •   DAY 47 — REMOVE CYCLE   •   https://github.com/ritesh2687/dsa_ppt_post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914400"/>
            <a:ext cx="12191695" cy="7315"/>
          </a:xfrm>
          <a:prstGeom prst="rect">
            <a:avLst/>
          </a:prstGeom>
          <a:solidFill>
            <a:srgbClr val="EBE9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828800"/>
            <a:ext cx="12191695" cy="7315"/>
          </a:xfrm>
          <a:prstGeom prst="rect">
            <a:avLst/>
          </a:prstGeom>
          <a:solidFill>
            <a:srgbClr val="EBE9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743200"/>
            <a:ext cx="12191695" cy="7315"/>
          </a:xfrm>
          <a:prstGeom prst="rect">
            <a:avLst/>
          </a:prstGeom>
          <a:solidFill>
            <a:srgbClr val="EBE9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3657600"/>
            <a:ext cx="12191695" cy="7315"/>
          </a:xfrm>
          <a:prstGeom prst="rect">
            <a:avLst/>
          </a:prstGeom>
          <a:solidFill>
            <a:srgbClr val="EBE9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4572000"/>
            <a:ext cx="12191695" cy="7315"/>
          </a:xfrm>
          <a:prstGeom prst="rect">
            <a:avLst/>
          </a:prstGeom>
          <a:solidFill>
            <a:srgbClr val="EBE9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5486400"/>
            <a:ext cx="12191695" cy="7315"/>
          </a:xfrm>
          <a:prstGeom prst="rect">
            <a:avLst/>
          </a:prstGeom>
          <a:solidFill>
            <a:srgbClr val="EBE9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400800"/>
            <a:ext cx="12191695" cy="7315"/>
          </a:xfrm>
          <a:prstGeom prst="rect">
            <a:avLst/>
          </a:prstGeom>
          <a:solidFill>
            <a:srgbClr val="EBE9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F2429"/>
                </a:solidFill>
                <a:latin typeface="Aptos Display"/>
              </a:defRPr>
            </a:pPr>
            <a:r>
              <a:t>08 — Full Dry Run: 1 → 2 → 3 → 4 → 5 → 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932688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345E9C"/>
                </a:solidFill>
                <a:latin typeface="Comic Sans MS"/>
              </a:defRPr>
            </a:pPr>
            <a:r>
              <a:t>Let's execute the algorithm without skipping the pointer logic.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1298448"/>
            <a:ext cx="685800" cy="50292"/>
          </a:xfrm>
          <a:prstGeom prst="rect">
            <a:avLst/>
          </a:prstGeom>
          <a:solidFill>
            <a:srgbClr val="345E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85800" y="1508760"/>
            <a:ext cx="438912" cy="43891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345E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1581912"/>
            <a:ext cx="438912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1F2429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1554480"/>
            <a:ext cx="6949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0">
                <a:solidFill>
                  <a:srgbClr val="1F2429"/>
                </a:solidFill>
                <a:latin typeface="Comic Sans MS"/>
              </a:defRPr>
            </a:pPr>
            <a:r>
              <a:t>slow=2, fast=3</a:t>
            </a:r>
          </a:p>
        </p:txBody>
      </p:sp>
      <p:sp>
        <p:nvSpPr>
          <p:cNvPr id="15" name="Oval 14"/>
          <p:cNvSpPr/>
          <p:nvPr/>
        </p:nvSpPr>
        <p:spPr>
          <a:xfrm>
            <a:off x="685800" y="2221991"/>
            <a:ext cx="438912" cy="43891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345E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2295144"/>
            <a:ext cx="438912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1F2429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2267711"/>
            <a:ext cx="6949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0">
                <a:solidFill>
                  <a:srgbClr val="1F2429"/>
                </a:solidFill>
                <a:latin typeface="Comic Sans MS"/>
              </a:defRPr>
            </a:pPr>
            <a:r>
              <a:t>slow=3, fast=5</a:t>
            </a:r>
          </a:p>
        </p:txBody>
      </p:sp>
      <p:sp>
        <p:nvSpPr>
          <p:cNvPr id="18" name="Oval 17"/>
          <p:cNvSpPr/>
          <p:nvPr/>
        </p:nvSpPr>
        <p:spPr>
          <a:xfrm>
            <a:off x="685800" y="2935224"/>
            <a:ext cx="438912" cy="438912"/>
          </a:xfrm>
          <a:prstGeom prst="ellipse">
            <a:avLst/>
          </a:prstGeom>
          <a:solidFill>
            <a:srgbClr val="F5DA7A"/>
          </a:solidFill>
          <a:ln w="25400">
            <a:solidFill>
              <a:srgbClr val="DA7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008376"/>
            <a:ext cx="438912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1F2429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2980944"/>
            <a:ext cx="6949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0">
                <a:solidFill>
                  <a:srgbClr val="B84643"/>
                </a:solidFill>
                <a:latin typeface="Comic Sans MS"/>
              </a:defRPr>
            </a:pPr>
            <a:r>
              <a:t>slow=4, fast=4  ← meet</a:t>
            </a:r>
          </a:p>
        </p:txBody>
      </p:sp>
      <p:sp>
        <p:nvSpPr>
          <p:cNvPr id="21" name="Oval 20"/>
          <p:cNvSpPr/>
          <p:nvPr/>
        </p:nvSpPr>
        <p:spPr>
          <a:xfrm>
            <a:off x="685800" y="3648456"/>
            <a:ext cx="438912" cy="43891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345E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3721607"/>
            <a:ext cx="438912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1F2429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25880" y="3694176"/>
            <a:ext cx="6949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0">
                <a:solidFill>
                  <a:srgbClr val="1F2429"/>
                </a:solidFill>
                <a:latin typeface="Comic Sans MS"/>
              </a:defRPr>
            </a:pPr>
            <a:r>
              <a:t>reset fast=head; slow=4, fast=1</a:t>
            </a:r>
          </a:p>
        </p:txBody>
      </p:sp>
      <p:sp>
        <p:nvSpPr>
          <p:cNvPr id="24" name="Oval 23"/>
          <p:cNvSpPr/>
          <p:nvPr/>
        </p:nvSpPr>
        <p:spPr>
          <a:xfrm>
            <a:off x="685800" y="4361688"/>
            <a:ext cx="438912" cy="43891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345E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4434840"/>
            <a:ext cx="438912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1F2429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25880" y="4407407"/>
            <a:ext cx="6949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0">
                <a:solidFill>
                  <a:srgbClr val="1F2429"/>
                </a:solidFill>
                <a:latin typeface="Comic Sans MS"/>
              </a:defRPr>
            </a:pPr>
            <a:r>
              <a:t>slow=5, fast=2</a:t>
            </a:r>
          </a:p>
        </p:txBody>
      </p:sp>
      <p:sp>
        <p:nvSpPr>
          <p:cNvPr id="27" name="Oval 26"/>
          <p:cNvSpPr/>
          <p:nvPr/>
        </p:nvSpPr>
        <p:spPr>
          <a:xfrm>
            <a:off x="685800" y="5074920"/>
            <a:ext cx="438912" cy="438912"/>
          </a:xfrm>
          <a:prstGeom prst="ellipse">
            <a:avLst/>
          </a:prstGeom>
          <a:solidFill>
            <a:srgbClr val="F5DA7A"/>
          </a:solidFill>
          <a:ln w="25400">
            <a:solidFill>
              <a:srgbClr val="DA7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" y="5148072"/>
            <a:ext cx="438912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1F2429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25880" y="5120640"/>
            <a:ext cx="6949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0">
                <a:solidFill>
                  <a:srgbClr val="B84643"/>
                </a:solidFill>
                <a:latin typeface="Comic Sans MS"/>
              </a:defRPr>
            </a:pPr>
            <a:r>
              <a:t>slow=3, fast=3  ← cycle start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549640" y="1828800"/>
            <a:ext cx="2926080" cy="1828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7D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95944" y="1901952"/>
            <a:ext cx="2633472" cy="16824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F2429"/>
                </a:solidFill>
                <a:latin typeface="Comic Sans MS"/>
              </a:defRPr>
            </a:pPr>
            <a:r>
              <a:t>Then walk ptr around the cycle: 3 → 4 → 5 → 3. So 5 is the node before cycleStart.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1480" y="6473952"/>
            <a:ext cx="11384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5C6369"/>
                </a:solidFill>
                <a:latin typeface="Aptos"/>
              </a:defRPr>
            </a:pPr>
            <a:r>
              <a:t>DSA From Scratch → Advanced   •   DAY 47 — REMOVE CYCLE   •   https://github.com/ritesh2687/dsa_ppt_post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914400"/>
            <a:ext cx="12191695" cy="7315"/>
          </a:xfrm>
          <a:prstGeom prst="rect">
            <a:avLst/>
          </a:prstGeom>
          <a:solidFill>
            <a:srgbClr val="EBE9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828800"/>
            <a:ext cx="12191695" cy="7315"/>
          </a:xfrm>
          <a:prstGeom prst="rect">
            <a:avLst/>
          </a:prstGeom>
          <a:solidFill>
            <a:srgbClr val="EBE9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743200"/>
            <a:ext cx="12191695" cy="7315"/>
          </a:xfrm>
          <a:prstGeom prst="rect">
            <a:avLst/>
          </a:prstGeom>
          <a:solidFill>
            <a:srgbClr val="EBE9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3657600"/>
            <a:ext cx="12191695" cy="7315"/>
          </a:xfrm>
          <a:prstGeom prst="rect">
            <a:avLst/>
          </a:prstGeom>
          <a:solidFill>
            <a:srgbClr val="EBE9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4572000"/>
            <a:ext cx="12191695" cy="7315"/>
          </a:xfrm>
          <a:prstGeom prst="rect">
            <a:avLst/>
          </a:prstGeom>
          <a:solidFill>
            <a:srgbClr val="EBE9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5486400"/>
            <a:ext cx="12191695" cy="7315"/>
          </a:xfrm>
          <a:prstGeom prst="rect">
            <a:avLst/>
          </a:prstGeom>
          <a:solidFill>
            <a:srgbClr val="EBE9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400800"/>
            <a:ext cx="12191695" cy="7315"/>
          </a:xfrm>
          <a:prstGeom prst="rect">
            <a:avLst/>
          </a:prstGeom>
          <a:solidFill>
            <a:srgbClr val="EBE9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F2429"/>
                </a:solidFill>
                <a:latin typeface="Aptos Display"/>
              </a:defRPr>
            </a:pPr>
            <a:r>
              <a:t>09 — Code, Part 1: Detect the Cycle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932688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345E9C"/>
                </a:solidFill>
                <a:latin typeface="Comic Sans MS"/>
              </a:defRPr>
            </a:pPr>
            <a:r>
              <a:t>First phase: exactly the Floyd logic from Day 46.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1298448"/>
            <a:ext cx="685800" cy="50292"/>
          </a:xfrm>
          <a:prstGeom prst="rect">
            <a:avLst/>
          </a:prstGeom>
          <a:solidFill>
            <a:srgbClr val="345E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77240" y="1600200"/>
            <a:ext cx="6675120" cy="4069080"/>
          </a:xfrm>
          <a:prstGeom prst="roundRect">
            <a:avLst/>
          </a:prstGeom>
          <a:solidFill>
            <a:srgbClr val="252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41832" y="1719072"/>
            <a:ext cx="6345936" cy="3831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FFFFFF"/>
                </a:solidFill>
                <a:latin typeface="Consolas"/>
              </a:defRPr>
            </a:pPr>
            <a:r>
              <a:t>ListNode* slow = head;</a:t>
            </a:r>
          </a:p>
          <a:p>
            <a:pPr>
              <a:spcAft>
                <a:spcPts val="100"/>
              </a:spcAft>
              <a:defRPr sz="1400">
                <a:solidFill>
                  <a:srgbClr val="FFFFFF"/>
                </a:solidFill>
                <a:latin typeface="Consolas"/>
              </a:defRPr>
            </a:pPr>
            <a:r>
              <a:t>ListNode* fast = head;</a:t>
            </a:r>
          </a:p>
          <a:p>
            <a:pPr>
              <a:spcAft>
                <a:spcPts val="100"/>
              </a:spcAft>
              <a:defRPr sz="1400">
                <a:solidFill>
                  <a:srgbClr val="FFFFFF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400">
                <a:solidFill>
                  <a:srgbClr val="FFFFFF"/>
                </a:solidFill>
                <a:latin typeface="Consolas"/>
              </a:defRPr>
            </a:pPr>
            <a:r>
              <a:t>while (fast != nullptr &amp;&amp; fast-&gt;next != nullptr) {</a:t>
            </a:r>
          </a:p>
          <a:p>
            <a:pPr>
              <a:spcAft>
                <a:spcPts val="100"/>
              </a:spcAft>
              <a:defRPr sz="1400">
                <a:solidFill>
                  <a:srgbClr val="FFFFFF"/>
                </a:solidFill>
                <a:latin typeface="Consolas"/>
              </a:defRPr>
            </a:pPr>
            <a:r>
              <a:t>    slow = slow-&gt;next;</a:t>
            </a:r>
          </a:p>
          <a:p>
            <a:pPr>
              <a:spcAft>
                <a:spcPts val="100"/>
              </a:spcAft>
              <a:defRPr sz="1400">
                <a:solidFill>
                  <a:srgbClr val="FFFFFF"/>
                </a:solidFill>
                <a:latin typeface="Consolas"/>
              </a:defRPr>
            </a:pPr>
            <a:r>
              <a:t>    fast = fast-&gt;next-&gt;next;</a:t>
            </a:r>
          </a:p>
          <a:p>
            <a:pPr>
              <a:spcAft>
                <a:spcPts val="100"/>
              </a:spcAft>
              <a:defRPr sz="1400">
                <a:solidFill>
                  <a:srgbClr val="FFFFFF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400">
                <a:solidFill>
                  <a:srgbClr val="FFFFFF"/>
                </a:solidFill>
                <a:latin typeface="Consolas"/>
              </a:defRPr>
            </a:pPr>
            <a:r>
              <a:t>    if (slow == fast) {</a:t>
            </a:r>
          </a:p>
          <a:p>
            <a:pPr>
              <a:spcAft>
                <a:spcPts val="100"/>
              </a:spcAft>
              <a:defRPr sz="1400">
                <a:solidFill>
                  <a:srgbClr val="FFFFFF"/>
                </a:solidFill>
                <a:latin typeface="Consolas"/>
              </a:defRPr>
            </a:pPr>
            <a:r>
              <a:t>        // cycle detected</a:t>
            </a:r>
          </a:p>
          <a:p>
            <a:pPr>
              <a:spcAft>
                <a:spcPts val="100"/>
              </a:spcAft>
              <a:defRPr sz="1400">
                <a:solidFill>
                  <a:srgbClr val="FFFFFF"/>
                </a:solidFill>
                <a:latin typeface="Consolas"/>
              </a:defRPr>
            </a:pPr>
            <a:r>
              <a:t>        break;</a:t>
            </a:r>
          </a:p>
          <a:p>
            <a:pPr>
              <a:spcAft>
                <a:spcPts val="100"/>
              </a:spcAft>
              <a:defRPr sz="1400">
                <a:solidFill>
                  <a:srgbClr val="FFFFFF"/>
                </a:solidFill>
                <a:latin typeface="Consolas"/>
              </a:defRPr>
            </a:pPr>
            <a:r>
              <a:t>    }</a:t>
            </a:r>
          </a:p>
          <a:p>
            <a:pPr>
              <a:spcAft>
                <a:spcPts val="100"/>
              </a:spcAft>
              <a:defRPr sz="1400">
                <a:solidFill>
                  <a:srgbClr val="FFFFFF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09560" y="1920240"/>
            <a:ext cx="347472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A7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55864" y="1993392"/>
            <a:ext cx="3182112" cy="8595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F2429"/>
                </a:solidFill>
                <a:latin typeface="Comic Sans MS"/>
              </a:defRPr>
            </a:pPr>
            <a:r>
              <a:t>If slow != fast after the loop, there is no cycle to remove.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09560" y="3246120"/>
            <a:ext cx="3474720" cy="1188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7D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55864" y="3319272"/>
            <a:ext cx="3182112" cy="10424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F2429"/>
                </a:solidFill>
                <a:latin typeface="Comic Sans MS"/>
              </a:defRPr>
            </a:pPr>
            <a:r>
              <a:t>If they meet, keep going — the meeting point is only our starting clue.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" y="6473952"/>
            <a:ext cx="11384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5C6369"/>
                </a:solidFill>
                <a:latin typeface="Aptos"/>
              </a:defRPr>
            </a:pPr>
            <a:r>
              <a:t>DSA From Scratch → Advanced   •   DAY 47 — REMOVE CYCLE   •   https://github.com/ritesh2687/dsa_ppt_post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914400"/>
            <a:ext cx="12191695" cy="7315"/>
          </a:xfrm>
          <a:prstGeom prst="rect">
            <a:avLst/>
          </a:prstGeom>
          <a:solidFill>
            <a:srgbClr val="EBE9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828800"/>
            <a:ext cx="12191695" cy="7315"/>
          </a:xfrm>
          <a:prstGeom prst="rect">
            <a:avLst/>
          </a:prstGeom>
          <a:solidFill>
            <a:srgbClr val="EBE9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743200"/>
            <a:ext cx="12191695" cy="7315"/>
          </a:xfrm>
          <a:prstGeom prst="rect">
            <a:avLst/>
          </a:prstGeom>
          <a:solidFill>
            <a:srgbClr val="EBE9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3657600"/>
            <a:ext cx="12191695" cy="7315"/>
          </a:xfrm>
          <a:prstGeom prst="rect">
            <a:avLst/>
          </a:prstGeom>
          <a:solidFill>
            <a:srgbClr val="EBE9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4572000"/>
            <a:ext cx="12191695" cy="7315"/>
          </a:xfrm>
          <a:prstGeom prst="rect">
            <a:avLst/>
          </a:prstGeom>
          <a:solidFill>
            <a:srgbClr val="EBE9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5486400"/>
            <a:ext cx="12191695" cy="7315"/>
          </a:xfrm>
          <a:prstGeom prst="rect">
            <a:avLst/>
          </a:prstGeom>
          <a:solidFill>
            <a:srgbClr val="EBE9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400800"/>
            <a:ext cx="12191695" cy="7315"/>
          </a:xfrm>
          <a:prstGeom prst="rect">
            <a:avLst/>
          </a:prstGeom>
          <a:solidFill>
            <a:srgbClr val="EBE9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F2429"/>
                </a:solidFill>
                <a:latin typeface="Aptos Display"/>
              </a:defRPr>
            </a:pPr>
            <a:r>
              <a:t>10 — Code, Part 2: Find the Cycle Start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932688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E7D78"/>
                </a:solidFill>
                <a:latin typeface="Comic Sans MS"/>
              </a:defRPr>
            </a:pPr>
            <a:r>
              <a:t>Reset one pointer. Then move both one step at a time.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1298448"/>
            <a:ext cx="685800" cy="50292"/>
          </a:xfrm>
          <a:prstGeom prst="rect">
            <a:avLst/>
          </a:prstGeom>
          <a:solidFill>
            <a:srgbClr val="2E7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31520" y="1645920"/>
            <a:ext cx="6400800" cy="2423160"/>
          </a:xfrm>
          <a:prstGeom prst="roundRect">
            <a:avLst/>
          </a:prstGeom>
          <a:solidFill>
            <a:srgbClr val="252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1764792"/>
            <a:ext cx="6071616" cy="218541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"/>
              </a:spcAft>
              <a:defRPr sz="1500">
                <a:solidFill>
                  <a:srgbClr val="FFFFFF"/>
                </a:solidFill>
                <a:latin typeface="Consolas"/>
              </a:defRPr>
            </a:pPr>
            <a:r>
              <a:t>ListNode* cycleStart = head;</a:t>
            </a:r>
          </a:p>
          <a:p>
            <a:pPr>
              <a:spcAft>
                <a:spcPts val="100"/>
              </a:spcAft>
              <a:defRPr sz="1500">
                <a:solidFill>
                  <a:srgbClr val="FFFFFF"/>
                </a:solidFill>
                <a:latin typeface="Consolas"/>
              </a:defRPr>
            </a:pPr>
            <a:r>
              <a:t>while (cycleStart != slow) {</a:t>
            </a:r>
          </a:p>
          <a:p>
            <a:pPr>
              <a:spcAft>
                <a:spcPts val="100"/>
              </a:spcAft>
              <a:defRPr sz="1500">
                <a:solidFill>
                  <a:srgbClr val="FFFFFF"/>
                </a:solidFill>
                <a:latin typeface="Consolas"/>
              </a:defRPr>
            </a:pPr>
            <a:r>
              <a:t>    cycleStart = cycleStart-&gt;next;</a:t>
            </a:r>
          </a:p>
          <a:p>
            <a:pPr>
              <a:spcAft>
                <a:spcPts val="100"/>
              </a:spcAft>
              <a:defRPr sz="1500">
                <a:solidFill>
                  <a:srgbClr val="FFFFFF"/>
                </a:solidFill>
                <a:latin typeface="Consolas"/>
              </a:defRPr>
            </a:pPr>
            <a:r>
              <a:t>    slow = slow-&gt;next;</a:t>
            </a:r>
          </a:p>
          <a:p>
            <a:pPr>
              <a:spcAft>
                <a:spcPts val="100"/>
              </a:spcAft>
              <a:defRPr sz="1500">
                <a:solidFill>
                  <a:srgbClr val="FFFFFF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434840"/>
            <a:ext cx="62179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>
                <a:solidFill>
                  <a:srgbClr val="1F2429"/>
                </a:solidFill>
                <a:latin typeface="Aptos"/>
              </a:defRPr>
            </a:pPr>
            <a:r>
              <a:t>• cycleStart begins at head.</a:t>
            </a:r>
          </a:p>
          <a:p>
            <a:pPr>
              <a:spcAft>
                <a:spcPts val="900"/>
              </a:spcAft>
              <a:defRPr sz="1700">
                <a:solidFill>
                  <a:srgbClr val="1F2429"/>
                </a:solidFill>
                <a:latin typeface="Aptos"/>
              </a:defRPr>
            </a:pPr>
            <a:r>
              <a:t>• slow begins at the meeting point.</a:t>
            </a:r>
          </a:p>
          <a:p>
            <a:pPr>
              <a:spcAft>
                <a:spcPts val="900"/>
              </a:spcAft>
              <a:defRPr sz="1700">
                <a:solidFill>
                  <a:srgbClr val="1F2429"/>
                </a:solidFill>
                <a:latin typeface="Aptos"/>
              </a:defRPr>
            </a:pPr>
            <a:r>
              <a:t>• Their next meeting is the cycle entry.</a:t>
            </a:r>
          </a:p>
        </p:txBody>
      </p:sp>
      <p:sp>
        <p:nvSpPr>
          <p:cNvPr id="15" name="Oval 14"/>
          <p:cNvSpPr/>
          <p:nvPr/>
        </p:nvSpPr>
        <p:spPr>
          <a:xfrm>
            <a:off x="7818120" y="1920240"/>
            <a:ext cx="685800" cy="6858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345E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18120" y="1993392"/>
            <a:ext cx="685800" cy="5760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1F2429"/>
                </a:solidFill>
                <a:latin typeface="Aptos"/>
              </a:defRPr>
            </a:pPr>
            <a:r>
              <a:t>H</a:t>
            </a:r>
          </a:p>
        </p:txBody>
      </p:sp>
      <p:sp>
        <p:nvSpPr>
          <p:cNvPr id="17" name="Oval 16"/>
          <p:cNvSpPr/>
          <p:nvPr/>
        </p:nvSpPr>
        <p:spPr>
          <a:xfrm>
            <a:off x="9326880" y="1920240"/>
            <a:ext cx="685800" cy="6858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DA7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26880" y="1993392"/>
            <a:ext cx="685800" cy="5760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1F2429"/>
                </a:solidFill>
                <a:latin typeface="Aptos"/>
              </a:defRPr>
            </a:pPr>
            <a:r>
              <a:t>M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503920" y="2267712"/>
            <a:ext cx="777240" cy="0"/>
          </a:xfrm>
          <a:prstGeom prst="line">
            <a:avLst/>
          </a:prstGeom>
          <a:ln w="27940">
            <a:solidFill>
              <a:srgbClr val="2E7D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7909560" y="2880360"/>
            <a:ext cx="20116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2E7D78"/>
                </a:solidFill>
                <a:latin typeface="Comic Sans MS"/>
              </a:defRPr>
            </a:pPr>
            <a:r>
              <a:t>move 1 step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6473952"/>
            <a:ext cx="11384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5C6369"/>
                </a:solidFill>
                <a:latin typeface="Aptos"/>
              </a:defRPr>
            </a:pPr>
            <a:r>
              <a:t>DSA From Scratch → Advanced   •   DAY 47 — REMOVE CYCLE   •   https://github.com/ritesh2687/dsa_ppt_post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914400"/>
            <a:ext cx="12191695" cy="7315"/>
          </a:xfrm>
          <a:prstGeom prst="rect">
            <a:avLst/>
          </a:prstGeom>
          <a:solidFill>
            <a:srgbClr val="EBE9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828800"/>
            <a:ext cx="12191695" cy="7315"/>
          </a:xfrm>
          <a:prstGeom prst="rect">
            <a:avLst/>
          </a:prstGeom>
          <a:solidFill>
            <a:srgbClr val="EBE9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743200"/>
            <a:ext cx="12191695" cy="7315"/>
          </a:xfrm>
          <a:prstGeom prst="rect">
            <a:avLst/>
          </a:prstGeom>
          <a:solidFill>
            <a:srgbClr val="EBE9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3657600"/>
            <a:ext cx="12191695" cy="7315"/>
          </a:xfrm>
          <a:prstGeom prst="rect">
            <a:avLst/>
          </a:prstGeom>
          <a:solidFill>
            <a:srgbClr val="EBE9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4572000"/>
            <a:ext cx="12191695" cy="7315"/>
          </a:xfrm>
          <a:prstGeom prst="rect">
            <a:avLst/>
          </a:prstGeom>
          <a:solidFill>
            <a:srgbClr val="EBE9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5486400"/>
            <a:ext cx="12191695" cy="7315"/>
          </a:xfrm>
          <a:prstGeom prst="rect">
            <a:avLst/>
          </a:prstGeom>
          <a:solidFill>
            <a:srgbClr val="EBE9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400800"/>
            <a:ext cx="12191695" cy="7315"/>
          </a:xfrm>
          <a:prstGeom prst="rect">
            <a:avLst/>
          </a:prstGeom>
          <a:solidFill>
            <a:srgbClr val="EBE9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F2429"/>
                </a:solidFill>
                <a:latin typeface="Aptos Display"/>
              </a:defRPr>
            </a:pPr>
            <a:r>
              <a:t>11 — Code, Part 3: Find the Last Node in the Cycle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932688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B84643"/>
                </a:solidFill>
                <a:latin typeface="Comic Sans MS"/>
              </a:defRPr>
            </a:pPr>
            <a:r>
              <a:t>Now the only remaining job is to locate the pointer we must cut.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1298448"/>
            <a:ext cx="685800" cy="50292"/>
          </a:xfrm>
          <a:prstGeom prst="rect">
            <a:avLst/>
          </a:prstGeom>
          <a:solidFill>
            <a:srgbClr val="B84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31520" y="1645920"/>
            <a:ext cx="6400800" cy="3063240"/>
          </a:xfrm>
          <a:prstGeom prst="roundRect">
            <a:avLst/>
          </a:prstGeom>
          <a:solidFill>
            <a:srgbClr val="252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1764792"/>
            <a:ext cx="6071616" cy="28254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"/>
              </a:spcAft>
              <a:defRPr sz="1500">
                <a:solidFill>
                  <a:srgbClr val="FFFFFF"/>
                </a:solidFill>
                <a:latin typeface="Consolas"/>
              </a:defRPr>
            </a:pPr>
            <a:r>
              <a:t>ListNode* ptr = cycleStart;</a:t>
            </a:r>
          </a:p>
          <a:p>
            <a:pPr>
              <a:spcAft>
                <a:spcPts val="100"/>
              </a:spcAft>
              <a:defRPr sz="1500">
                <a:solidFill>
                  <a:srgbClr val="FFFFFF"/>
                </a:solidFill>
                <a:latin typeface="Consolas"/>
              </a:defRPr>
            </a:pPr>
            <a:r>
              <a:t>while (ptr-&gt;next != cycleStart) {</a:t>
            </a:r>
          </a:p>
          <a:p>
            <a:pPr>
              <a:spcAft>
                <a:spcPts val="100"/>
              </a:spcAft>
              <a:defRPr sz="1500">
                <a:solidFill>
                  <a:srgbClr val="FFFFFF"/>
                </a:solidFill>
                <a:latin typeface="Consolas"/>
              </a:defRPr>
            </a:pPr>
            <a:r>
              <a:t>    ptr = ptr-&gt;next;</a:t>
            </a:r>
          </a:p>
          <a:p>
            <a:pPr>
              <a:spcAft>
                <a:spcPts val="100"/>
              </a:spcAft>
              <a:defRPr sz="1500">
                <a:solidFill>
                  <a:srgbClr val="FFFFFF"/>
                </a:solidFill>
                <a:latin typeface="Consolas"/>
              </a:defRPr>
            </a:pPr>
            <a:r>
              <a:t>}</a:t>
            </a:r>
          </a:p>
          <a:p>
            <a:pPr>
              <a:spcAft>
                <a:spcPts val="100"/>
              </a:spcAft>
              <a:defRPr sz="1500">
                <a:solidFill>
                  <a:srgbClr val="FFFFFF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500">
                <a:solidFill>
                  <a:srgbClr val="FFFFFF"/>
                </a:solidFill>
                <a:latin typeface="Consolas"/>
              </a:defRPr>
            </a:pPr>
            <a:r>
              <a:t>ptr-&gt;next = nullptr;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983480"/>
            <a:ext cx="64008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1F2429"/>
                </a:solidFill>
                <a:latin typeface="Aptos"/>
              </a:defRPr>
            </a:pPr>
            <a:r>
              <a:t>• Start at cycleStart.</a:t>
            </a:r>
          </a:p>
          <a:p>
            <a:pPr>
              <a:spcAft>
                <a:spcPts val="900"/>
              </a:spcAft>
              <a:defRPr sz="1500">
                <a:solidFill>
                  <a:srgbClr val="1F2429"/>
                </a:solidFill>
                <a:latin typeface="Aptos"/>
              </a:defRPr>
            </a:pPr>
            <a:r>
              <a:t>• Stop when next points back to cycleStart.</a:t>
            </a:r>
          </a:p>
          <a:p>
            <a:pPr>
              <a:spcAft>
                <a:spcPts val="900"/>
              </a:spcAft>
              <a:defRPr sz="1500">
                <a:solidFill>
                  <a:srgbClr val="1F2429"/>
                </a:solidFill>
                <a:latin typeface="Aptos"/>
              </a:defRPr>
            </a:pPr>
            <a:r>
              <a:t>• That ptr is the last node in the loop.</a:t>
            </a:r>
          </a:p>
          <a:p>
            <a:pPr>
              <a:spcAft>
                <a:spcPts val="900"/>
              </a:spcAft>
              <a:defRPr sz="1500">
                <a:solidFill>
                  <a:srgbClr val="1F2429"/>
                </a:solidFill>
                <a:latin typeface="Aptos"/>
              </a:defRPr>
            </a:pPr>
            <a:r>
              <a:t>• Set its next pointer to NULL.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35240" y="2057400"/>
            <a:ext cx="365760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846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81544" y="2130552"/>
            <a:ext cx="3364992" cy="12252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1F2429"/>
                </a:solidFill>
                <a:latin typeface="Comic Sans MS"/>
              </a:defRPr>
            </a:pPr>
            <a:r>
              <a:t>The safe cut is ptr-&gt;next = nullptr — not cycleStart-&gt;next.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6473952"/>
            <a:ext cx="11384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5C6369"/>
                </a:solidFill>
                <a:latin typeface="Aptos"/>
              </a:defRPr>
            </a:pPr>
            <a:r>
              <a:t>DSA From Scratch → Advanced   •   DAY 47 — REMOVE CYCLE   •   https://github.com/ritesh2687/dsa_ppt_post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914400"/>
            <a:ext cx="12191695" cy="7315"/>
          </a:xfrm>
          <a:prstGeom prst="rect">
            <a:avLst/>
          </a:prstGeom>
          <a:solidFill>
            <a:srgbClr val="EBE9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828800"/>
            <a:ext cx="12191695" cy="7315"/>
          </a:xfrm>
          <a:prstGeom prst="rect">
            <a:avLst/>
          </a:prstGeom>
          <a:solidFill>
            <a:srgbClr val="EBE9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743200"/>
            <a:ext cx="12191695" cy="7315"/>
          </a:xfrm>
          <a:prstGeom prst="rect">
            <a:avLst/>
          </a:prstGeom>
          <a:solidFill>
            <a:srgbClr val="EBE9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3657600"/>
            <a:ext cx="12191695" cy="7315"/>
          </a:xfrm>
          <a:prstGeom prst="rect">
            <a:avLst/>
          </a:prstGeom>
          <a:solidFill>
            <a:srgbClr val="EBE9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4572000"/>
            <a:ext cx="12191695" cy="7315"/>
          </a:xfrm>
          <a:prstGeom prst="rect">
            <a:avLst/>
          </a:prstGeom>
          <a:solidFill>
            <a:srgbClr val="EBE9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5486400"/>
            <a:ext cx="12191695" cy="7315"/>
          </a:xfrm>
          <a:prstGeom prst="rect">
            <a:avLst/>
          </a:prstGeom>
          <a:solidFill>
            <a:srgbClr val="EBE9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400800"/>
            <a:ext cx="12191695" cy="7315"/>
          </a:xfrm>
          <a:prstGeom prst="rect">
            <a:avLst/>
          </a:prstGeom>
          <a:solidFill>
            <a:srgbClr val="EBE9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F2429"/>
                </a:solidFill>
                <a:latin typeface="Aptos Display"/>
              </a:defRPr>
            </a:pPr>
            <a:r>
              <a:t>12 — Complete Interview-Ready C++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932688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345E9C"/>
                </a:solidFill>
                <a:latin typeface="Comic Sans MS"/>
              </a:defRPr>
            </a:pPr>
            <a:r>
              <a:t>All three phases, compact enough to explain on a whiteboard.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1298448"/>
            <a:ext cx="685800" cy="50292"/>
          </a:xfrm>
          <a:prstGeom prst="rect">
            <a:avLst/>
          </a:prstGeom>
          <a:solidFill>
            <a:srgbClr val="345E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94360" y="1508760"/>
            <a:ext cx="11018520" cy="4800600"/>
          </a:xfrm>
          <a:prstGeom prst="roundRect">
            <a:avLst/>
          </a:prstGeom>
          <a:solidFill>
            <a:srgbClr val="252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" y="1627631"/>
            <a:ext cx="10689336" cy="45628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"/>
              </a:spcAft>
              <a:defRPr sz="1150">
                <a:solidFill>
                  <a:srgbClr val="FFFFFF"/>
                </a:solidFill>
                <a:latin typeface="Consolas"/>
              </a:defRPr>
            </a:pPr>
            <a:r>
              <a:t>bool removeCycle(ListNode* head) {</a:t>
            </a:r>
          </a:p>
          <a:p>
            <a:pPr>
              <a:spcAft>
                <a:spcPts val="100"/>
              </a:spcAft>
              <a:defRPr sz="1150">
                <a:solidFill>
                  <a:srgbClr val="FFFFFF"/>
                </a:solidFill>
                <a:latin typeface="Consolas"/>
              </a:defRPr>
            </a:pPr>
            <a:r>
              <a:t>    if (head == nullptr) return false;</a:t>
            </a:r>
          </a:p>
          <a:p>
            <a:pPr>
              <a:spcAft>
                <a:spcPts val="100"/>
              </a:spcAft>
              <a:defRPr sz="1150">
                <a:solidFill>
                  <a:srgbClr val="FFFFFF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150">
                <a:solidFill>
                  <a:srgbClr val="FFFFFF"/>
                </a:solidFill>
                <a:latin typeface="Consolas"/>
              </a:defRPr>
            </a:pPr>
            <a:r>
              <a:t>    ListNode* slow = head;</a:t>
            </a:r>
          </a:p>
          <a:p>
            <a:pPr>
              <a:spcAft>
                <a:spcPts val="100"/>
              </a:spcAft>
              <a:defRPr sz="1150">
                <a:solidFill>
                  <a:srgbClr val="FFFFFF"/>
                </a:solidFill>
                <a:latin typeface="Consolas"/>
              </a:defRPr>
            </a:pPr>
            <a:r>
              <a:t>    ListNode* fast = head;</a:t>
            </a:r>
          </a:p>
          <a:p>
            <a:pPr>
              <a:spcAft>
                <a:spcPts val="100"/>
              </a:spcAft>
              <a:defRPr sz="1150">
                <a:solidFill>
                  <a:srgbClr val="FFFFFF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150">
                <a:solidFill>
                  <a:srgbClr val="FFFFFF"/>
                </a:solidFill>
                <a:latin typeface="Consolas"/>
              </a:defRPr>
            </a:pPr>
            <a:r>
              <a:t>    // 1) Detect</a:t>
            </a:r>
          </a:p>
          <a:p>
            <a:pPr>
              <a:spcAft>
                <a:spcPts val="100"/>
              </a:spcAft>
              <a:defRPr sz="1150">
                <a:solidFill>
                  <a:srgbClr val="FFFFFF"/>
                </a:solidFill>
                <a:latin typeface="Consolas"/>
              </a:defRPr>
            </a:pPr>
            <a:r>
              <a:t>    do {</a:t>
            </a:r>
          </a:p>
          <a:p>
            <a:pPr>
              <a:spcAft>
                <a:spcPts val="100"/>
              </a:spcAft>
              <a:defRPr sz="1150">
                <a:solidFill>
                  <a:srgbClr val="FFFFFF"/>
                </a:solidFill>
                <a:latin typeface="Consolas"/>
              </a:defRPr>
            </a:pPr>
            <a:r>
              <a:t>        if (fast == nullptr || fast-&gt;next == nullptr)</a:t>
            </a:r>
          </a:p>
          <a:p>
            <a:pPr>
              <a:spcAft>
                <a:spcPts val="100"/>
              </a:spcAft>
              <a:defRPr sz="1150">
                <a:solidFill>
                  <a:srgbClr val="FFFFFF"/>
                </a:solidFill>
                <a:latin typeface="Consolas"/>
              </a:defRPr>
            </a:pPr>
            <a:r>
              <a:t>            return false;</a:t>
            </a:r>
          </a:p>
          <a:p>
            <a:pPr>
              <a:spcAft>
                <a:spcPts val="100"/>
              </a:spcAft>
              <a:defRPr sz="1150">
                <a:solidFill>
                  <a:srgbClr val="FFFFFF"/>
                </a:solidFill>
                <a:latin typeface="Consolas"/>
              </a:defRPr>
            </a:pPr>
            <a:r>
              <a:t>        slow = slow-&gt;next;</a:t>
            </a:r>
          </a:p>
          <a:p>
            <a:pPr>
              <a:spcAft>
                <a:spcPts val="100"/>
              </a:spcAft>
              <a:defRPr sz="1150">
                <a:solidFill>
                  <a:srgbClr val="FFFFFF"/>
                </a:solidFill>
                <a:latin typeface="Consolas"/>
              </a:defRPr>
            </a:pPr>
            <a:r>
              <a:t>        fast = fast-&gt;next-&gt;next;</a:t>
            </a:r>
          </a:p>
          <a:p>
            <a:pPr>
              <a:spcAft>
                <a:spcPts val="100"/>
              </a:spcAft>
              <a:defRPr sz="1150">
                <a:solidFill>
                  <a:srgbClr val="FFFFFF"/>
                </a:solidFill>
                <a:latin typeface="Consolas"/>
              </a:defRPr>
            </a:pPr>
            <a:r>
              <a:t>    } while (slow != fast);</a:t>
            </a:r>
          </a:p>
          <a:p>
            <a:pPr>
              <a:spcAft>
                <a:spcPts val="100"/>
              </a:spcAft>
              <a:defRPr sz="1150">
                <a:solidFill>
                  <a:srgbClr val="FFFFFF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150">
                <a:solidFill>
                  <a:srgbClr val="FFFFFF"/>
                </a:solidFill>
                <a:latin typeface="Consolas"/>
              </a:defRPr>
            </a:pPr>
            <a:r>
              <a:t>    // 2) Find cycle start</a:t>
            </a:r>
          </a:p>
          <a:p>
            <a:pPr>
              <a:spcAft>
                <a:spcPts val="100"/>
              </a:spcAft>
              <a:defRPr sz="1150">
                <a:solidFill>
                  <a:srgbClr val="FFFFFF"/>
                </a:solidFill>
                <a:latin typeface="Consolas"/>
              </a:defRPr>
            </a:pPr>
            <a:r>
              <a:t>    ListNode* cycleStart = head;</a:t>
            </a:r>
          </a:p>
          <a:p>
            <a:pPr>
              <a:spcAft>
                <a:spcPts val="100"/>
              </a:spcAft>
              <a:defRPr sz="1150">
                <a:solidFill>
                  <a:srgbClr val="FFFFFF"/>
                </a:solidFill>
                <a:latin typeface="Consolas"/>
              </a:defRPr>
            </a:pPr>
            <a:r>
              <a:t>    while (cycleStart != slow) {</a:t>
            </a:r>
          </a:p>
          <a:p>
            <a:pPr>
              <a:spcAft>
                <a:spcPts val="100"/>
              </a:spcAft>
              <a:defRPr sz="1150">
                <a:solidFill>
                  <a:srgbClr val="FFFFFF"/>
                </a:solidFill>
                <a:latin typeface="Consolas"/>
              </a:defRPr>
            </a:pPr>
            <a:r>
              <a:t>        cycleStart = cycleStart-&gt;next;</a:t>
            </a:r>
          </a:p>
          <a:p>
            <a:pPr>
              <a:spcAft>
                <a:spcPts val="100"/>
              </a:spcAft>
              <a:defRPr sz="1150">
                <a:solidFill>
                  <a:srgbClr val="FFFFFF"/>
                </a:solidFill>
                <a:latin typeface="Consolas"/>
              </a:defRPr>
            </a:pPr>
            <a:r>
              <a:t>        slow = slow-&gt;next;</a:t>
            </a:r>
          </a:p>
          <a:p>
            <a:pPr>
              <a:spcAft>
                <a:spcPts val="100"/>
              </a:spcAft>
              <a:defRPr sz="1150">
                <a:solidFill>
                  <a:srgbClr val="FFFFFF"/>
                </a:solidFill>
                <a:latin typeface="Consolas"/>
              </a:defRPr>
            </a:pPr>
            <a:r>
              <a:t>    }</a:t>
            </a:r>
          </a:p>
          <a:p>
            <a:pPr>
              <a:spcAft>
                <a:spcPts val="100"/>
              </a:spcAft>
              <a:defRPr sz="1150">
                <a:solidFill>
                  <a:srgbClr val="FFFFFF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150">
                <a:solidFill>
                  <a:srgbClr val="FFFFFF"/>
                </a:solidFill>
                <a:latin typeface="Consolas"/>
              </a:defRPr>
            </a:pPr>
            <a:r>
              <a:t>    // 3) Find last node + break cycle</a:t>
            </a:r>
          </a:p>
          <a:p>
            <a:pPr>
              <a:spcAft>
                <a:spcPts val="100"/>
              </a:spcAft>
              <a:defRPr sz="1150">
                <a:solidFill>
                  <a:srgbClr val="FFFFFF"/>
                </a:solidFill>
                <a:latin typeface="Consolas"/>
              </a:defRPr>
            </a:pPr>
            <a:r>
              <a:t>    ListNode* ptr = cycleStart;</a:t>
            </a:r>
          </a:p>
          <a:p>
            <a:pPr>
              <a:spcAft>
                <a:spcPts val="100"/>
              </a:spcAft>
              <a:defRPr sz="1150">
                <a:solidFill>
                  <a:srgbClr val="FFFFFF"/>
                </a:solidFill>
                <a:latin typeface="Consolas"/>
              </a:defRPr>
            </a:pPr>
            <a:r>
              <a:t>    while (ptr-&gt;next != cycleStart)</a:t>
            </a:r>
          </a:p>
          <a:p>
            <a:pPr>
              <a:spcAft>
                <a:spcPts val="100"/>
              </a:spcAft>
              <a:defRPr sz="1150">
                <a:solidFill>
                  <a:srgbClr val="FFFFFF"/>
                </a:solidFill>
                <a:latin typeface="Consolas"/>
              </a:defRPr>
            </a:pPr>
            <a:r>
              <a:t>        ptr = ptr-&gt;next;</a:t>
            </a:r>
          </a:p>
          <a:p>
            <a:pPr>
              <a:spcAft>
                <a:spcPts val="100"/>
              </a:spcAft>
              <a:defRPr sz="1150">
                <a:solidFill>
                  <a:srgbClr val="FFFFFF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150">
                <a:solidFill>
                  <a:srgbClr val="FFFFFF"/>
                </a:solidFill>
                <a:latin typeface="Consolas"/>
              </a:defRPr>
            </a:pPr>
            <a:r>
              <a:t>    ptr-&gt;next = nullptr;</a:t>
            </a:r>
          </a:p>
          <a:p>
            <a:pPr>
              <a:spcAft>
                <a:spcPts val="100"/>
              </a:spcAft>
              <a:defRPr sz="1150">
                <a:solidFill>
                  <a:srgbClr val="FFFFFF"/>
                </a:solidFill>
                <a:latin typeface="Consolas"/>
              </a:defRPr>
            </a:pPr>
            <a:r>
              <a:t>    return true;</a:t>
            </a:r>
          </a:p>
          <a:p>
            <a:pPr>
              <a:spcAft>
                <a:spcPts val="100"/>
              </a:spcAft>
              <a:defRPr sz="1150">
                <a:solidFill>
                  <a:srgbClr val="FFFFFF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6473952"/>
            <a:ext cx="11384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5C6369"/>
                </a:solidFill>
                <a:latin typeface="Aptos"/>
              </a:defRPr>
            </a:pPr>
            <a:r>
              <a:t>DSA From Scratch → Advanced   •   DAY 47 — REMOVE CYCLE   •   https://github.com/ritesh2687/dsa_ppt_post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914400"/>
            <a:ext cx="12191695" cy="7315"/>
          </a:xfrm>
          <a:prstGeom prst="rect">
            <a:avLst/>
          </a:prstGeom>
          <a:solidFill>
            <a:srgbClr val="EBE9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828800"/>
            <a:ext cx="12191695" cy="7315"/>
          </a:xfrm>
          <a:prstGeom prst="rect">
            <a:avLst/>
          </a:prstGeom>
          <a:solidFill>
            <a:srgbClr val="EBE9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743200"/>
            <a:ext cx="12191695" cy="7315"/>
          </a:xfrm>
          <a:prstGeom prst="rect">
            <a:avLst/>
          </a:prstGeom>
          <a:solidFill>
            <a:srgbClr val="EBE9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3657600"/>
            <a:ext cx="12191695" cy="7315"/>
          </a:xfrm>
          <a:prstGeom prst="rect">
            <a:avLst/>
          </a:prstGeom>
          <a:solidFill>
            <a:srgbClr val="EBE9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4572000"/>
            <a:ext cx="12191695" cy="7315"/>
          </a:xfrm>
          <a:prstGeom prst="rect">
            <a:avLst/>
          </a:prstGeom>
          <a:solidFill>
            <a:srgbClr val="EBE9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5486400"/>
            <a:ext cx="12191695" cy="7315"/>
          </a:xfrm>
          <a:prstGeom prst="rect">
            <a:avLst/>
          </a:prstGeom>
          <a:solidFill>
            <a:srgbClr val="EBE9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400800"/>
            <a:ext cx="12191695" cy="7315"/>
          </a:xfrm>
          <a:prstGeom prst="rect">
            <a:avLst/>
          </a:prstGeom>
          <a:solidFill>
            <a:srgbClr val="EBE9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F2429"/>
                </a:solidFill>
                <a:latin typeface="Aptos Display"/>
              </a:defRPr>
            </a:pPr>
            <a:r>
              <a:t>13 — Complexity: What Does It Cost?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932688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E7D78"/>
                </a:solidFill>
                <a:latin typeface="Comic Sans MS"/>
              </a:defRPr>
            </a:pPr>
            <a:r>
              <a:t>Removing the cycle is linear-time and constant-space.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1298448"/>
            <a:ext cx="685800" cy="50292"/>
          </a:xfrm>
          <a:prstGeom prst="rect">
            <a:avLst/>
          </a:prstGeom>
          <a:solidFill>
            <a:srgbClr val="2E7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31520" y="1828800"/>
            <a:ext cx="3154680" cy="21945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45E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103120"/>
            <a:ext cx="2743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345E9C"/>
                </a:solidFill>
                <a:latin typeface="Comic Sans MS"/>
              </a:defRPr>
            </a:pPr>
            <a:r>
              <a:t>TIME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542032"/>
            <a:ext cx="2743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700" b="1">
                <a:solidFill>
                  <a:srgbClr val="1F2429"/>
                </a:solidFill>
                <a:latin typeface="Comic Sans MS"/>
              </a:defRPr>
            </a:pPr>
            <a:r>
              <a:t>O(n)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3154680"/>
            <a:ext cx="2514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5C6369"/>
                </a:solidFill>
                <a:latin typeface="Comic Sans MS"/>
              </a:defRPr>
            </a:pPr>
            <a:r>
              <a:t>Each pointer traversal is linear.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51960" y="1828800"/>
            <a:ext cx="3154680" cy="21945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E7D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34840" y="2103120"/>
            <a:ext cx="2743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2E7D78"/>
                </a:solidFill>
                <a:latin typeface="Comic Sans MS"/>
              </a:defRPr>
            </a:pPr>
            <a:r>
              <a:t>SPACE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4840" y="2542032"/>
            <a:ext cx="2743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700" b="1">
                <a:solidFill>
                  <a:srgbClr val="1F2429"/>
                </a:solidFill>
                <a:latin typeface="Comic Sans MS"/>
              </a:defRPr>
            </a:pPr>
            <a:r>
              <a:t>O(1)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3154680"/>
            <a:ext cx="2514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5C6369"/>
                </a:solidFill>
                <a:latin typeface="Comic Sans MS"/>
              </a:defRPr>
            </a:pPr>
            <a:r>
              <a:t>Only a few pointer variables.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0" y="1828800"/>
            <a:ext cx="3154680" cy="21945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B846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55279" y="2103120"/>
            <a:ext cx="2743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B84643"/>
                </a:solidFill>
                <a:latin typeface="Comic Sans MS"/>
              </a:defRPr>
            </a:pPr>
            <a:r>
              <a:t>MUTATION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55279" y="2542032"/>
            <a:ext cx="2743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700" b="1">
                <a:solidFill>
                  <a:srgbClr val="1F2429"/>
                </a:solidFill>
                <a:latin typeface="Comic Sans MS"/>
              </a:defRPr>
            </a:pPr>
            <a:r>
              <a:t>1 link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92440" y="3154680"/>
            <a:ext cx="2514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5C6369"/>
                </a:solidFill>
                <a:latin typeface="Comic Sans MS"/>
              </a:defRPr>
            </a:pPr>
            <a:r>
              <a:t>Only the closing next pointer is changed.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920240" y="4754880"/>
            <a:ext cx="8412480" cy="777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A7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066544" y="4828032"/>
            <a:ext cx="8119871" cy="6309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F2429"/>
                </a:solidFill>
                <a:latin typeface="Comic Sans MS"/>
              </a:defRPr>
            </a:pPr>
            <a:r>
              <a:t>No extra hash set is required. Floyd keeps the solution O(1) auxiliary space.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" y="6473952"/>
            <a:ext cx="11384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5C6369"/>
                </a:solidFill>
                <a:latin typeface="Aptos"/>
              </a:defRPr>
            </a:pPr>
            <a:r>
              <a:t>DSA From Scratch → Advanced   •   DAY 47 — REMOVE CYCLE   •   https://github.com/ritesh2687/dsa_ppt_post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914400"/>
            <a:ext cx="12191695" cy="7315"/>
          </a:xfrm>
          <a:prstGeom prst="rect">
            <a:avLst/>
          </a:prstGeom>
          <a:solidFill>
            <a:srgbClr val="EBE9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828800"/>
            <a:ext cx="12191695" cy="7315"/>
          </a:xfrm>
          <a:prstGeom prst="rect">
            <a:avLst/>
          </a:prstGeom>
          <a:solidFill>
            <a:srgbClr val="EBE9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743200"/>
            <a:ext cx="12191695" cy="7315"/>
          </a:xfrm>
          <a:prstGeom prst="rect">
            <a:avLst/>
          </a:prstGeom>
          <a:solidFill>
            <a:srgbClr val="EBE9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3657600"/>
            <a:ext cx="12191695" cy="7315"/>
          </a:xfrm>
          <a:prstGeom prst="rect">
            <a:avLst/>
          </a:prstGeom>
          <a:solidFill>
            <a:srgbClr val="EBE9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4572000"/>
            <a:ext cx="12191695" cy="7315"/>
          </a:xfrm>
          <a:prstGeom prst="rect">
            <a:avLst/>
          </a:prstGeom>
          <a:solidFill>
            <a:srgbClr val="EBE9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5486400"/>
            <a:ext cx="12191695" cy="7315"/>
          </a:xfrm>
          <a:prstGeom prst="rect">
            <a:avLst/>
          </a:prstGeom>
          <a:solidFill>
            <a:srgbClr val="EBE9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400800"/>
            <a:ext cx="12191695" cy="7315"/>
          </a:xfrm>
          <a:prstGeom prst="rect">
            <a:avLst/>
          </a:prstGeom>
          <a:solidFill>
            <a:srgbClr val="EBE9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F2429"/>
                </a:solidFill>
                <a:latin typeface="Aptos Display"/>
              </a:defRPr>
            </a:pPr>
            <a:r>
              <a:t>14 — Common Mistakes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932688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DA7E30"/>
                </a:solidFill>
                <a:latin typeface="Comic Sans MS"/>
              </a:defRPr>
            </a:pPr>
            <a:r>
              <a:t>Small pointer mistakes can turn a correct idea into an infinite loop.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1298448"/>
            <a:ext cx="685800" cy="50292"/>
          </a:xfrm>
          <a:prstGeom prst="rect">
            <a:avLst/>
          </a:prstGeom>
          <a:solidFill>
            <a:srgbClr val="DA7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1508760"/>
            <a:ext cx="502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B84643"/>
                </a:solidFill>
                <a:latin typeface="Comic Sans MS"/>
              </a:defRPr>
            </a:pPr>
            <a:r>
              <a:t>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1527048"/>
            <a:ext cx="38404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F2429"/>
                </a:solidFill>
                <a:latin typeface="Comic Sans MS"/>
              </a:defRPr>
            </a:pPr>
            <a:r>
              <a:t>Using the meeting point as cycleStart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12080" y="1527048"/>
            <a:ext cx="56692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0">
                <a:solidFill>
                  <a:srgbClr val="5C6369"/>
                </a:solidFill>
                <a:latin typeface="Comic Sans MS"/>
              </a:defRPr>
            </a:pPr>
            <a:r>
              <a:t>Meeting point and cycle entry are different concepts.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2606039"/>
            <a:ext cx="502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B84643"/>
                </a:solidFill>
                <a:latin typeface="Comic Sans MS"/>
              </a:defRPr>
            </a:pPr>
            <a:r>
              <a:t>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2624327"/>
            <a:ext cx="38404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F2429"/>
                </a:solidFill>
                <a:latin typeface="Comic Sans MS"/>
              </a:defRPr>
            </a:pPr>
            <a:r>
              <a:t>Writing cycleStart-&gt;next = NULL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12080" y="2624327"/>
            <a:ext cx="56692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0">
                <a:solidFill>
                  <a:srgbClr val="5C6369"/>
                </a:solidFill>
                <a:latin typeface="Comic Sans MS"/>
              </a:defRPr>
            </a:pPr>
            <a:r>
              <a:t>That can cut the list at the wrong place.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3703320"/>
            <a:ext cx="502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B84643"/>
                </a:solidFill>
                <a:latin typeface="Comic Sans MS"/>
              </a:defRPr>
            </a:pPr>
            <a:r>
              <a:t>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3721607"/>
            <a:ext cx="38404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F2429"/>
                </a:solidFill>
                <a:latin typeface="Comic Sans MS"/>
              </a:defRPr>
            </a:pPr>
            <a:r>
              <a:t>Forgetting fast-&gt;next check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12080" y="3721607"/>
            <a:ext cx="56692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0">
                <a:solidFill>
                  <a:srgbClr val="5C6369"/>
                </a:solidFill>
                <a:latin typeface="Comic Sans MS"/>
              </a:defRPr>
            </a:pPr>
            <a:r>
              <a:t>Can dereference nullptr.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800600"/>
            <a:ext cx="502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B84643"/>
                </a:solidFill>
                <a:latin typeface="Comic Sans MS"/>
              </a:defRPr>
            </a:pPr>
            <a:r>
              <a:t>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34440" y="4818888"/>
            <a:ext cx="38404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F2429"/>
                </a:solidFill>
                <a:latin typeface="Comic Sans MS"/>
              </a:defRPr>
            </a:pPr>
            <a:r>
              <a:t>Trying to delete nodes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12080" y="4818888"/>
            <a:ext cx="56692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0">
                <a:solidFill>
                  <a:srgbClr val="5C6369"/>
                </a:solidFill>
                <a:latin typeface="Comic Sans MS"/>
              </a:defRPr>
            </a:pPr>
            <a:r>
              <a:t>The task is to remove the cycle, not remove nodes.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" y="6473952"/>
            <a:ext cx="11384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5C6369"/>
                </a:solidFill>
                <a:latin typeface="Aptos"/>
              </a:defRPr>
            </a:pPr>
            <a:r>
              <a:t>DSA From Scratch → Advanced   •   DAY 47 — REMOVE CYCLE   •   https://github.com/ritesh2687/dsa_ppt_post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914400"/>
            <a:ext cx="12191695" cy="7315"/>
          </a:xfrm>
          <a:prstGeom prst="rect">
            <a:avLst/>
          </a:prstGeom>
          <a:solidFill>
            <a:srgbClr val="EBE9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828800"/>
            <a:ext cx="12191695" cy="7315"/>
          </a:xfrm>
          <a:prstGeom prst="rect">
            <a:avLst/>
          </a:prstGeom>
          <a:solidFill>
            <a:srgbClr val="EBE9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743200"/>
            <a:ext cx="12191695" cy="7315"/>
          </a:xfrm>
          <a:prstGeom prst="rect">
            <a:avLst/>
          </a:prstGeom>
          <a:solidFill>
            <a:srgbClr val="EBE9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3657600"/>
            <a:ext cx="12191695" cy="7315"/>
          </a:xfrm>
          <a:prstGeom prst="rect">
            <a:avLst/>
          </a:prstGeom>
          <a:solidFill>
            <a:srgbClr val="EBE9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4572000"/>
            <a:ext cx="12191695" cy="7315"/>
          </a:xfrm>
          <a:prstGeom prst="rect">
            <a:avLst/>
          </a:prstGeom>
          <a:solidFill>
            <a:srgbClr val="EBE9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5486400"/>
            <a:ext cx="12191695" cy="7315"/>
          </a:xfrm>
          <a:prstGeom prst="rect">
            <a:avLst/>
          </a:prstGeom>
          <a:solidFill>
            <a:srgbClr val="EBE9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400800"/>
            <a:ext cx="12191695" cy="7315"/>
          </a:xfrm>
          <a:prstGeom prst="rect">
            <a:avLst/>
          </a:prstGeom>
          <a:solidFill>
            <a:srgbClr val="EBE9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F2429"/>
                </a:solidFill>
                <a:latin typeface="Aptos Display"/>
              </a:defRPr>
            </a:pPr>
            <a:r>
              <a:t>15 — Interview-Style Problem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932688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345E9C"/>
                </a:solidFill>
                <a:latin typeface="Comic Sans MS"/>
              </a:defRPr>
            </a:pPr>
            <a:r>
              <a:t>“Given the head of a linked list, remove the cycle if one exists.”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1298448"/>
            <a:ext cx="685800" cy="50292"/>
          </a:xfrm>
          <a:prstGeom prst="rect">
            <a:avLst/>
          </a:prstGeom>
          <a:solidFill>
            <a:srgbClr val="345E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85800" y="1600200"/>
            <a:ext cx="2011680" cy="594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A7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" y="1673352"/>
            <a:ext cx="1719072" cy="4480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F2429"/>
                </a:solidFill>
                <a:latin typeface="Comic Sans MS"/>
              </a:defRPr>
            </a:pPr>
            <a:r>
              <a:t>Interviewer follow-up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423160"/>
            <a:ext cx="5760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>
                <a:solidFill>
                  <a:srgbClr val="1F2429"/>
                </a:solidFill>
                <a:latin typeface="Aptos"/>
              </a:defRPr>
            </a:pPr>
            <a:r>
              <a:t>• Can you detect the cycle without extra space?</a:t>
            </a:r>
          </a:p>
          <a:p>
            <a:pPr>
              <a:spcAft>
                <a:spcPts val="900"/>
              </a:spcAft>
              <a:defRPr sz="1700">
                <a:solidFill>
                  <a:srgbClr val="1F2429"/>
                </a:solidFill>
                <a:latin typeface="Aptos"/>
              </a:defRPr>
            </a:pPr>
            <a:r>
              <a:t>• How do you locate the cycle entry?</a:t>
            </a:r>
          </a:p>
          <a:p>
            <a:pPr>
              <a:spcAft>
                <a:spcPts val="900"/>
              </a:spcAft>
              <a:defRPr sz="1700">
                <a:solidFill>
                  <a:srgbClr val="1F2429"/>
                </a:solidFill>
                <a:latin typeface="Aptos"/>
              </a:defRPr>
            </a:pPr>
            <a:r>
              <a:t>• How do you break the cycle without losing nodes?</a:t>
            </a:r>
          </a:p>
          <a:p>
            <a:pPr>
              <a:spcAft>
                <a:spcPts val="900"/>
              </a:spcAft>
              <a:defRPr sz="1700">
                <a:solidFill>
                  <a:srgbClr val="1F2429"/>
                </a:solidFill>
                <a:latin typeface="Aptos"/>
              </a:defRPr>
            </a:pPr>
            <a:r>
              <a:t>• What are the time and space complexities?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995160" y="2011680"/>
            <a:ext cx="4206240" cy="1143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7D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41464" y="2084832"/>
            <a:ext cx="3913631" cy="9966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1F2429"/>
                </a:solidFill>
                <a:latin typeface="Comic Sans MS"/>
              </a:defRPr>
            </a:pPr>
            <a:r>
              <a:t>Answer pattern: Detect → Find entry → Find predecessor → Cut link.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95160" y="3657600"/>
            <a:ext cx="4206240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A7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41464" y="3730752"/>
            <a:ext cx="3913631" cy="90525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1F2429"/>
                </a:solidFill>
                <a:latin typeface="Comic Sans MS"/>
              </a:defRPr>
            </a:pPr>
            <a:r>
              <a:t>💡 Interview tip: explain the pointer invariant, not just the code.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6473952"/>
            <a:ext cx="11384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5C6369"/>
                </a:solidFill>
                <a:latin typeface="Aptos"/>
              </a:defRPr>
            </a:pPr>
            <a:r>
              <a:t>DSA From Scratch → Advanced   •   DAY 47 — REMOVE CYCLE   •   https://github.com/ritesh2687/dsa_ppt_post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914400"/>
            <a:ext cx="12191695" cy="7315"/>
          </a:xfrm>
          <a:prstGeom prst="rect">
            <a:avLst/>
          </a:prstGeom>
          <a:solidFill>
            <a:srgbClr val="EBE9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828800"/>
            <a:ext cx="12191695" cy="7315"/>
          </a:xfrm>
          <a:prstGeom prst="rect">
            <a:avLst/>
          </a:prstGeom>
          <a:solidFill>
            <a:srgbClr val="EBE9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743200"/>
            <a:ext cx="12191695" cy="7315"/>
          </a:xfrm>
          <a:prstGeom prst="rect">
            <a:avLst/>
          </a:prstGeom>
          <a:solidFill>
            <a:srgbClr val="EBE9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3657600"/>
            <a:ext cx="12191695" cy="7315"/>
          </a:xfrm>
          <a:prstGeom prst="rect">
            <a:avLst/>
          </a:prstGeom>
          <a:solidFill>
            <a:srgbClr val="EBE9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4572000"/>
            <a:ext cx="12191695" cy="7315"/>
          </a:xfrm>
          <a:prstGeom prst="rect">
            <a:avLst/>
          </a:prstGeom>
          <a:solidFill>
            <a:srgbClr val="EBE9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5486400"/>
            <a:ext cx="12191695" cy="7315"/>
          </a:xfrm>
          <a:prstGeom prst="rect">
            <a:avLst/>
          </a:prstGeom>
          <a:solidFill>
            <a:srgbClr val="EBE9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400800"/>
            <a:ext cx="12191695" cy="7315"/>
          </a:xfrm>
          <a:prstGeom prst="rect">
            <a:avLst/>
          </a:prstGeom>
          <a:solidFill>
            <a:srgbClr val="EBE9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F2429"/>
                </a:solidFill>
                <a:latin typeface="Aptos Display"/>
              </a:defRPr>
            </a:pPr>
            <a:r>
              <a:t>16 — Day 47 Takeaway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932688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E7D78"/>
                </a:solidFill>
                <a:latin typeface="Comic Sans MS"/>
              </a:defRPr>
            </a:pPr>
            <a:r>
              <a:t>The mental model to carry into interviews and future linked-list problems.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1298448"/>
            <a:ext cx="685800" cy="50292"/>
          </a:xfrm>
          <a:prstGeom prst="rect">
            <a:avLst/>
          </a:prstGeom>
          <a:solidFill>
            <a:srgbClr val="2E7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14400" y="1600200"/>
            <a:ext cx="10149840" cy="658368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1728216"/>
            <a:ext cx="4114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2E7D78"/>
                </a:solidFill>
                <a:latin typeface="Comic Sans MS"/>
              </a:defRPr>
            </a:pPr>
            <a: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0200" y="1709928"/>
            <a:ext cx="8961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0">
                <a:solidFill>
                  <a:srgbClr val="1F2429"/>
                </a:solidFill>
                <a:latin typeface="Comic Sans MS"/>
              </a:defRPr>
            </a:pPr>
            <a:r>
              <a:t>Detecting a cycle ≠ removing a cycle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2560320"/>
            <a:ext cx="10149840" cy="658368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2688336"/>
            <a:ext cx="4114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2E7D78"/>
                </a:solidFill>
                <a:latin typeface="Comic Sans MS"/>
              </a:defRPr>
            </a:pPr>
            <a: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2670048"/>
            <a:ext cx="8961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0">
                <a:solidFill>
                  <a:srgbClr val="1F2429"/>
                </a:solidFill>
                <a:latin typeface="Comic Sans MS"/>
              </a:defRPr>
            </a:pPr>
            <a:r>
              <a:t>Find the cycle's starting point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3520440"/>
            <a:ext cx="10149840" cy="658368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3648456"/>
            <a:ext cx="4114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2E7D78"/>
                </a:solidFill>
                <a:latin typeface="Comic Sans MS"/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00200" y="3630168"/>
            <a:ext cx="8961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0">
                <a:solidFill>
                  <a:srgbClr val="1F2429"/>
                </a:solidFill>
                <a:latin typeface="Comic Sans MS"/>
              </a:defRPr>
            </a:pPr>
            <a:r>
              <a:t>Locate the node pointing back to it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400" y="4480560"/>
            <a:ext cx="10149840" cy="658368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846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51560" y="4608576"/>
            <a:ext cx="4114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2E7D78"/>
                </a:solidFill>
                <a:latin typeface="Comic Sans MS"/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00200" y="4590288"/>
            <a:ext cx="8961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0">
                <a:solidFill>
                  <a:srgbClr val="1F2429"/>
                </a:solidFill>
                <a:latin typeface="Comic Sans MS"/>
              </a:defRPr>
            </a:pPr>
            <a:r>
              <a:t>Break that connection safely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" y="6473952"/>
            <a:ext cx="11384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5C6369"/>
                </a:solidFill>
                <a:latin typeface="Aptos"/>
              </a:defRPr>
            </a:pPr>
            <a:r>
              <a:t>DSA From Scratch → Advanced   •   DAY 47 — REMOVE CYCLE   •   https://github.com/ritesh2687/dsa_ppt_post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914400"/>
            <a:ext cx="12191695" cy="7315"/>
          </a:xfrm>
          <a:prstGeom prst="rect">
            <a:avLst/>
          </a:prstGeom>
          <a:solidFill>
            <a:srgbClr val="EBE9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828800"/>
            <a:ext cx="12191695" cy="7315"/>
          </a:xfrm>
          <a:prstGeom prst="rect">
            <a:avLst/>
          </a:prstGeom>
          <a:solidFill>
            <a:srgbClr val="EBE9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743200"/>
            <a:ext cx="12191695" cy="7315"/>
          </a:xfrm>
          <a:prstGeom prst="rect">
            <a:avLst/>
          </a:prstGeom>
          <a:solidFill>
            <a:srgbClr val="EBE9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3657600"/>
            <a:ext cx="12191695" cy="7315"/>
          </a:xfrm>
          <a:prstGeom prst="rect">
            <a:avLst/>
          </a:prstGeom>
          <a:solidFill>
            <a:srgbClr val="EBE9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4572000"/>
            <a:ext cx="12191695" cy="7315"/>
          </a:xfrm>
          <a:prstGeom prst="rect">
            <a:avLst/>
          </a:prstGeom>
          <a:solidFill>
            <a:srgbClr val="EBE9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5486400"/>
            <a:ext cx="12191695" cy="7315"/>
          </a:xfrm>
          <a:prstGeom prst="rect">
            <a:avLst/>
          </a:prstGeom>
          <a:solidFill>
            <a:srgbClr val="EBE9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400800"/>
            <a:ext cx="12191695" cy="7315"/>
          </a:xfrm>
          <a:prstGeom prst="rect">
            <a:avLst/>
          </a:prstGeom>
          <a:solidFill>
            <a:srgbClr val="EBE9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F2429"/>
                </a:solidFill>
                <a:latin typeface="Aptos Display"/>
              </a:defRPr>
            </a:pPr>
            <a:r>
              <a:t>17 — Tomorrow Preview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932688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345E9C"/>
                </a:solidFill>
                <a:latin typeface="Comic Sans MS"/>
              </a:defRPr>
            </a:pPr>
            <a:r>
              <a:t>The linked-list journey continues.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1298448"/>
            <a:ext cx="685800" cy="50292"/>
          </a:xfrm>
          <a:prstGeom prst="rect">
            <a:avLst/>
          </a:prstGeom>
          <a:solidFill>
            <a:srgbClr val="345E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1828800"/>
            <a:ext cx="1828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DA7E30"/>
                </a:solidFill>
                <a:latin typeface="Comic Sans MS"/>
              </a:defRPr>
            </a:pPr>
            <a:r>
              <a:t>DAY 48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514600"/>
            <a:ext cx="10058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>
                <a:solidFill>
                  <a:srgbClr val="1F2429"/>
                </a:solidFill>
                <a:latin typeface="Comic Sans MS"/>
              </a:defRPr>
            </a:pPr>
            <a:r>
              <a:t>MERGE TWO SORTED LINKED LISTS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920240" y="3703320"/>
            <a:ext cx="832104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7D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066544" y="3776472"/>
            <a:ext cx="8028431" cy="8595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1F2429"/>
                </a:solidFill>
                <a:latin typeface="Comic Sans MS"/>
              </a:defRPr>
            </a:pPr>
            <a:r>
              <a:t>New pattern: compare two sorted lists → choose the smaller node → advance one pointer.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5212080"/>
            <a:ext cx="48463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345E9C"/>
                </a:solidFill>
                <a:latin typeface="Comic Sans MS"/>
              </a:defRPr>
            </a:pPr>
            <a:r>
              <a:t>DSA From Scratch → Advanced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6473952"/>
            <a:ext cx="11384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5C6369"/>
                </a:solidFill>
                <a:latin typeface="Aptos"/>
              </a:defRPr>
            </a:pPr>
            <a:r>
              <a:t>DSA From Scratch → Advanced   •   DAY 47 — REMOVE CYCLE   •   https://github.com/ritesh2687/dsa_ppt_post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