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.xml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4.xml"/><Relationship Id="rId4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5.xml"/><Relationship Id="rId4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6.xml"/><Relationship Id="rId4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7.xml"/><Relationship Id="rId4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8.xml"/><Relationship Id="rId4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9.xml"/><Relationship Id="rId4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0.xml"/><Relationship Id="rId4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1.xml"/><Relationship Id="rId4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2.xml"/><Relationship Id="rId4" Type="http://schemas.openxmlformats.org/officeDocument/2006/relationships/slide" Target="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3.xml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4.xml"/><Relationship Id="rId4" Type="http://schemas.openxmlformats.org/officeDocument/2006/relationships/slide" Target="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5.xml"/><Relationship Id="rId4" Type="http://schemas.openxmlformats.org/officeDocument/2006/relationships/slide" Target="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6.xml"/><Relationship Id="rId4" Type="http://schemas.openxmlformats.org/officeDocument/2006/relationships/slide" Target="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7.xml"/><Relationship Id="rId4" Type="http://schemas.openxmlformats.org/officeDocument/2006/relationships/slide" Target="slide19.xml"/><Relationship Id="rId5" Type="http://schemas.openxmlformats.org/officeDocument/2006/relationships/hyperlink" Target="https://leetcode.com/problems/valid-anagram/" TargetMode="External"/><Relationship Id="rId6" Type="http://schemas.openxmlformats.org/officeDocument/2006/relationships/hyperlink" Target="https://leetcode.com/problems/group-anagrams/" TargetMode="External"/><Relationship Id="rId7" Type="http://schemas.openxmlformats.org/officeDocument/2006/relationships/hyperlink" Target="https://leetcode.com/problems/find-all-anagrams-in-a-string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8.xml"/><Relationship Id="rId4" Type="http://schemas.openxmlformats.org/officeDocument/2006/relationships/slide" Target="slide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1430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6596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8892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43484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578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1325880" cy="384048"/>
          </a:xfrm>
          <a:prstGeom prst="roundRect">
            <a:avLst/>
          </a:prstGeom>
          <a:solidFill>
            <a:srgbClr val="F7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3464"/>
            <a:ext cx="1188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24221E"/>
                </a:solidFill>
                <a:latin typeface="Comic Sans MS"/>
              </a:defRPr>
            </a:pPr>
            <a:r>
              <a:t>DAY 25 •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"/>
            <a:ext cx="923544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265D82"/>
                </a:solidFill>
                <a:latin typeface="Comic Sans MS"/>
              </a:defRPr>
            </a:pPr>
            <a:r>
              <a:t>DAY 25 — ANAGRAMS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914400"/>
            <a:ext cx="1065276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0">
                <a:solidFill>
                  <a:srgbClr val="24221E"/>
                </a:solidFill>
                <a:latin typeface="Comic Sans MS"/>
              </a:defRPr>
            </a:pPr>
            <a:r>
              <a:t>DSA From Scratch → Advanced</a:t>
            </a:r>
            <a:br/>
            <a:br/>
            <a:r>
              <a:t>Today: understanding how character frequency helps us compare strings.</a:t>
            </a:r>
            <a:br/>
            <a:br/>
            <a:r>
              <a:t>CONCEPT → APPROACH → CODE → DRY RUN → PATTERN → PROBLEMS</a:t>
            </a:r>
          </a:p>
        </p:txBody>
      </p:sp>
      <p:sp>
        <p:nvSpPr>
          <p:cNvPr id="12" name="Arc 11"/>
          <p:cNvSpPr/>
          <p:nvPr/>
        </p:nvSpPr>
        <p:spPr>
          <a:xfrm>
            <a:off x="10652760" y="320040"/>
            <a:ext cx="640080" cy="411480"/>
          </a:xfrm>
          <a:prstGeom prst="arc">
            <a:avLst/>
          </a:prstGeom>
          <a:noFill/>
          <a:ln>
            <a:solidFill>
              <a:srgbClr val="BE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566928" y="6446520"/>
            <a:ext cx="4572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1">
                <a:solidFill>
                  <a:srgbClr val="265D82"/>
                </a:solidFill>
                <a:latin typeface="Aptos"/>
              </a:defRPr>
            </a:pPr>
            <a:r>
              <a:t>GitHub: 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446520"/>
            <a:ext cx="4160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24221E"/>
                </a:solidFill>
                <a:latin typeface="Aptos"/>
              </a:defRPr>
            </a:pPr>
            <a:r>
              <a:t>1/20  •  DSA From Scratch → Advanced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10744200" y="6144768"/>
            <a:ext cx="777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800" b="1">
                <a:solidFill>
                  <a:srgbClr val="265D82"/>
                </a:solidFill>
                <a:latin typeface="Aptos"/>
              </a:defRPr>
            </a:pPr>
            <a:r>
              <a:t>NEXT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1430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6596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8892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43484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578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1325880" cy="384048"/>
          </a:xfrm>
          <a:prstGeom prst="roundRect">
            <a:avLst/>
          </a:prstGeom>
          <a:solidFill>
            <a:srgbClr val="F7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3464"/>
            <a:ext cx="1188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24221E"/>
                </a:solidFill>
                <a:latin typeface="Comic Sans MS"/>
              </a:defRPr>
            </a:pPr>
            <a:r>
              <a:t>DAY 25 •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"/>
            <a:ext cx="923544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265D82"/>
                </a:solidFill>
                <a:latin typeface="Comic Sans MS"/>
              </a:defRPr>
            </a:pPr>
            <a:r>
              <a:t>🧠 What is an Anagram?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914400"/>
            <a:ext cx="1065276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0">
                <a:solidFill>
                  <a:srgbClr val="24221E"/>
                </a:solidFill>
                <a:latin typeface="Comic Sans MS"/>
              </a:defRPr>
            </a:pPr>
            <a:r>
              <a:t>Two strings are anagrams when they contain the SAME characters with the SAME FREQUENCIES, but the order can be different.</a:t>
            </a:r>
            <a:br/>
            <a:br/>
            <a:r>
              <a:t>Example:</a:t>
            </a:r>
            <a:br/>
            <a:r>
              <a:t>LISTEN  ↔  SILENT</a:t>
            </a:r>
            <a:br/>
            <a:br/>
            <a:r>
              <a:t>Same letters ✔</a:t>
            </a:r>
            <a:br/>
            <a:r>
              <a:t>Same frequency ✔</a:t>
            </a:r>
            <a:br/>
            <a:r>
              <a:t>Different order ✔</a:t>
            </a:r>
          </a:p>
        </p:txBody>
      </p:sp>
      <p:sp>
        <p:nvSpPr>
          <p:cNvPr id="12" name="Arc 11"/>
          <p:cNvSpPr/>
          <p:nvPr/>
        </p:nvSpPr>
        <p:spPr>
          <a:xfrm>
            <a:off x="10652760" y="320040"/>
            <a:ext cx="640080" cy="411480"/>
          </a:xfrm>
          <a:prstGeom prst="arc">
            <a:avLst/>
          </a:prstGeom>
          <a:noFill/>
          <a:ln>
            <a:solidFill>
              <a:srgbClr val="BE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566928" y="6446520"/>
            <a:ext cx="4572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1">
                <a:solidFill>
                  <a:srgbClr val="265D82"/>
                </a:solidFill>
                <a:latin typeface="Aptos"/>
              </a:defRPr>
            </a:pPr>
            <a:r>
              <a:t>GitHub: 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446520"/>
            <a:ext cx="4160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24221E"/>
                </a:solidFill>
                <a:latin typeface="Aptos"/>
              </a:defRPr>
            </a:pPr>
            <a:r>
              <a:t>2/20  •  DSA From Scratch → Advanced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594360" y="6144768"/>
            <a:ext cx="731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800" b="1">
                <a:solidFill>
                  <a:srgbClr val="265D82"/>
                </a:solidFill>
                <a:latin typeface="Aptos"/>
              </a:defRPr>
            </a:pPr>
            <a:r>
              <a:t>← PREV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0744200" y="6144768"/>
            <a:ext cx="777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800" b="1">
                <a:solidFill>
                  <a:srgbClr val="265D82"/>
                </a:solidFill>
                <a:latin typeface="Aptos"/>
              </a:defRPr>
            </a:pPr>
            <a:r>
              <a:t>NEXT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1430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6596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8892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43484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578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1325880" cy="384048"/>
          </a:xfrm>
          <a:prstGeom prst="roundRect">
            <a:avLst/>
          </a:prstGeom>
          <a:solidFill>
            <a:srgbClr val="F7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3464"/>
            <a:ext cx="1188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24221E"/>
                </a:solidFill>
                <a:latin typeface="Comic Sans MS"/>
              </a:defRPr>
            </a:pPr>
            <a:r>
              <a:t>DAY 25 •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"/>
            <a:ext cx="923544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265D82"/>
                </a:solidFill>
                <a:latin typeface="Comic Sans MS"/>
              </a:defRPr>
            </a:pPr>
            <a:r>
              <a:t>❓ Why is it important?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914400"/>
            <a:ext cx="1065276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0">
                <a:solidFill>
                  <a:srgbClr val="24221E"/>
                </a:solidFill>
                <a:latin typeface="Comic Sans MS"/>
              </a:defRPr>
            </a:pPr>
            <a:r>
              <a:t>Anagrams are a small problem with BIG DSA lessons.</a:t>
            </a:r>
            <a:br/>
            <a:br/>
            <a:r>
              <a:t>✦ String traversal</a:t>
            </a:r>
            <a:br/>
            <a:r>
              <a:t>✦ Sorting</a:t>
            </a:r>
            <a:br/>
            <a:r>
              <a:t>✦ Frequency counting</a:t>
            </a:r>
            <a:br/>
            <a:r>
              <a:t>✦ Arrays / Hash Maps</a:t>
            </a:r>
            <a:br/>
            <a:r>
              <a:t>✦ Pattern recognition</a:t>
            </a:r>
            <a:br/>
            <a:r>
              <a:t>✦ Interview problem solving</a:t>
            </a:r>
            <a:br/>
            <a:br/>
            <a:r>
              <a:t>The key lesson:</a:t>
            </a:r>
            <a:br/>
            <a:r>
              <a:t>ORDER may not matter → FREQUENCY does.</a:t>
            </a:r>
          </a:p>
        </p:txBody>
      </p:sp>
      <p:sp>
        <p:nvSpPr>
          <p:cNvPr id="12" name="Arc 11"/>
          <p:cNvSpPr/>
          <p:nvPr/>
        </p:nvSpPr>
        <p:spPr>
          <a:xfrm>
            <a:off x="10652760" y="320040"/>
            <a:ext cx="640080" cy="411480"/>
          </a:xfrm>
          <a:prstGeom prst="arc">
            <a:avLst/>
          </a:prstGeom>
          <a:noFill/>
          <a:ln>
            <a:solidFill>
              <a:srgbClr val="BE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566928" y="6446520"/>
            <a:ext cx="4572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1">
                <a:solidFill>
                  <a:srgbClr val="265D82"/>
                </a:solidFill>
                <a:latin typeface="Aptos"/>
              </a:defRPr>
            </a:pPr>
            <a:r>
              <a:t>GitHub: 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446520"/>
            <a:ext cx="4160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24221E"/>
                </a:solidFill>
                <a:latin typeface="Aptos"/>
              </a:defRPr>
            </a:pPr>
            <a:r>
              <a:t>3/20  •  DSA From Scratch → Advanced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594360" y="6144768"/>
            <a:ext cx="731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800" b="1">
                <a:solidFill>
                  <a:srgbClr val="265D82"/>
                </a:solidFill>
                <a:latin typeface="Aptos"/>
              </a:defRPr>
            </a:pPr>
            <a:r>
              <a:t>← PREV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0744200" y="6144768"/>
            <a:ext cx="777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800" b="1">
                <a:solidFill>
                  <a:srgbClr val="265D82"/>
                </a:solidFill>
                <a:latin typeface="Aptos"/>
              </a:defRPr>
            </a:pPr>
            <a:r>
              <a:t>NEXT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1430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6596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8892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43484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578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1325880" cy="384048"/>
          </a:xfrm>
          <a:prstGeom prst="roundRect">
            <a:avLst/>
          </a:prstGeom>
          <a:solidFill>
            <a:srgbClr val="F7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3464"/>
            <a:ext cx="1188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24221E"/>
                </a:solidFill>
                <a:latin typeface="Comic Sans MS"/>
              </a:defRPr>
            </a:pPr>
            <a:r>
              <a:t>DAY 25 •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"/>
            <a:ext cx="923544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265D82"/>
                </a:solidFill>
                <a:latin typeface="Comic Sans MS"/>
              </a:defRPr>
            </a:pPr>
            <a:r>
              <a:t>🔍 Examples vs Non-Examples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914400"/>
            <a:ext cx="1065276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0">
                <a:solidFill>
                  <a:srgbClr val="24221E"/>
                </a:solidFill>
                <a:latin typeface="Comic Sans MS"/>
              </a:defRPr>
            </a:pPr>
            <a:r>
              <a:t>ANAGRAMS ✓</a:t>
            </a:r>
            <a:br/>
            <a:r>
              <a:t>• "listen" ↔ "silent"</a:t>
            </a:r>
            <a:br/>
            <a:r>
              <a:t>• "evil" ↔ "vile"</a:t>
            </a:r>
            <a:br/>
            <a:r>
              <a:t>• "aabb" ↔ "baba"</a:t>
            </a:r>
            <a:br/>
            <a:br/>
            <a:r>
              <a:t>NOT ANAGRAMS ✗</a:t>
            </a:r>
            <a:br/>
            <a:r>
              <a:t>• "hello" ↔ "world"</a:t>
            </a:r>
            <a:br/>
            <a:r>
              <a:t>• "aabb" ↔ "abca"</a:t>
            </a:r>
            <a:br/>
            <a:r>
              <a:t>• "abc" ↔ "abcc"</a:t>
            </a:r>
            <a:br/>
            <a:br/>
            <a:r>
              <a:t>⚠️ Repeated characters matter!</a:t>
            </a:r>
          </a:p>
        </p:txBody>
      </p:sp>
      <p:sp>
        <p:nvSpPr>
          <p:cNvPr id="12" name="Arc 11"/>
          <p:cNvSpPr/>
          <p:nvPr/>
        </p:nvSpPr>
        <p:spPr>
          <a:xfrm>
            <a:off x="10652760" y="320040"/>
            <a:ext cx="640080" cy="411480"/>
          </a:xfrm>
          <a:prstGeom prst="arc">
            <a:avLst/>
          </a:prstGeom>
          <a:noFill/>
          <a:ln>
            <a:solidFill>
              <a:srgbClr val="BE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566928" y="6446520"/>
            <a:ext cx="4572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1">
                <a:solidFill>
                  <a:srgbClr val="265D82"/>
                </a:solidFill>
                <a:latin typeface="Aptos"/>
              </a:defRPr>
            </a:pPr>
            <a:r>
              <a:t>GitHub: 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446520"/>
            <a:ext cx="4160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24221E"/>
                </a:solidFill>
                <a:latin typeface="Aptos"/>
              </a:defRPr>
            </a:pPr>
            <a:r>
              <a:t>4/20  •  DSA From Scratch → Advanced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594360" y="6144768"/>
            <a:ext cx="731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800" b="1">
                <a:solidFill>
                  <a:srgbClr val="265D82"/>
                </a:solidFill>
                <a:latin typeface="Aptos"/>
              </a:defRPr>
            </a:pPr>
            <a:r>
              <a:t>← PREV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0744200" y="6144768"/>
            <a:ext cx="777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800" b="1">
                <a:solidFill>
                  <a:srgbClr val="265D82"/>
                </a:solidFill>
                <a:latin typeface="Aptos"/>
              </a:defRPr>
            </a:pPr>
            <a:r>
              <a:t>NEXT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1430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6596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8892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43484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578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1325880" cy="384048"/>
          </a:xfrm>
          <a:prstGeom prst="roundRect">
            <a:avLst/>
          </a:prstGeom>
          <a:solidFill>
            <a:srgbClr val="F7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3464"/>
            <a:ext cx="1188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24221E"/>
                </a:solidFill>
                <a:latin typeface="Comic Sans MS"/>
              </a:defRPr>
            </a:pPr>
            <a:r>
              <a:t>DAY 25 •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"/>
            <a:ext cx="923544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265D82"/>
                </a:solidFill>
                <a:latin typeface="Comic Sans MS"/>
              </a:defRPr>
            </a:pPr>
            <a:r>
              <a:t>⚙️ How to check an Anagram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914400"/>
            <a:ext cx="1065276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0">
                <a:solidFill>
                  <a:srgbClr val="24221E"/>
                </a:solidFill>
                <a:latin typeface="Comic Sans MS"/>
              </a:defRPr>
            </a:pPr>
            <a:r>
              <a:t>STEP 1 → Compare lengths</a:t>
            </a:r>
            <a:br/>
            <a:r>
              <a:t>If lengths differ → NOT anagrams.</a:t>
            </a:r>
            <a:br/>
            <a:br/>
            <a:r>
              <a:t>STEP 2 → Compare character composition</a:t>
            </a:r>
            <a:br/>
            <a:br/>
            <a:r>
              <a:t>Two popular approaches:</a:t>
            </a:r>
            <a:br/>
            <a:r>
              <a:t>① Sort both strings</a:t>
            </a:r>
            <a:br/>
            <a:r>
              <a:t>② Count character frequencies</a:t>
            </a:r>
            <a:br/>
            <a:br/>
            <a:r>
              <a:t>Think like an interviewer:</a:t>
            </a:r>
            <a:br/>
            <a:r>
              <a:t>"What information actually matters?"</a:t>
            </a:r>
          </a:p>
        </p:txBody>
      </p:sp>
      <p:sp>
        <p:nvSpPr>
          <p:cNvPr id="12" name="Arc 11"/>
          <p:cNvSpPr/>
          <p:nvPr/>
        </p:nvSpPr>
        <p:spPr>
          <a:xfrm>
            <a:off x="10652760" y="320040"/>
            <a:ext cx="640080" cy="411480"/>
          </a:xfrm>
          <a:prstGeom prst="arc">
            <a:avLst/>
          </a:prstGeom>
          <a:noFill/>
          <a:ln>
            <a:solidFill>
              <a:srgbClr val="BE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566928" y="6446520"/>
            <a:ext cx="4572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1">
                <a:solidFill>
                  <a:srgbClr val="265D82"/>
                </a:solidFill>
                <a:latin typeface="Aptos"/>
              </a:defRPr>
            </a:pPr>
            <a:r>
              <a:t>GitHub: 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446520"/>
            <a:ext cx="4160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24221E"/>
                </a:solidFill>
                <a:latin typeface="Aptos"/>
              </a:defRPr>
            </a:pPr>
            <a:r>
              <a:t>5/20  •  DSA From Scratch → Advanced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594360" y="6144768"/>
            <a:ext cx="731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800" b="1">
                <a:solidFill>
                  <a:srgbClr val="265D82"/>
                </a:solidFill>
                <a:latin typeface="Aptos"/>
              </a:defRPr>
            </a:pPr>
            <a:r>
              <a:t>← PREV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0744200" y="6144768"/>
            <a:ext cx="777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800" b="1">
                <a:solidFill>
                  <a:srgbClr val="265D82"/>
                </a:solidFill>
                <a:latin typeface="Aptos"/>
              </a:defRPr>
            </a:pPr>
            <a:r>
              <a:t>NEXT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1430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6596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8892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43484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578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1325880" cy="384048"/>
          </a:xfrm>
          <a:prstGeom prst="roundRect">
            <a:avLst/>
          </a:prstGeom>
          <a:solidFill>
            <a:srgbClr val="F7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3464"/>
            <a:ext cx="1188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24221E"/>
                </a:solidFill>
                <a:latin typeface="Comic Sans MS"/>
              </a:defRPr>
            </a:pPr>
            <a:r>
              <a:t>DAY 25 •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"/>
            <a:ext cx="923544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265D82"/>
                </a:solidFill>
                <a:latin typeface="Comic Sans MS"/>
              </a:defRPr>
            </a:pPr>
            <a:r>
              <a:t>💡 Key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914400"/>
            <a:ext cx="1065276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0">
                <a:solidFill>
                  <a:srgbClr val="24221E"/>
                </a:solidFill>
                <a:latin typeface="Comic Sans MS"/>
              </a:defRPr>
            </a:pPr>
            <a:r>
              <a:t>① Order does not matter.</a:t>
            </a:r>
            <a:br/>
            <a:r>
              <a:t>② Every character must occur equally often.</a:t>
            </a:r>
            <a:br/>
            <a:r>
              <a:t>③ Length mismatch gives an immediate answer.</a:t>
            </a:r>
            <a:br/>
            <a:r>
              <a:t>④ Fixed alphabet → frequency array is simple.</a:t>
            </a:r>
            <a:br/>
            <a:r>
              <a:t>⑤ Unknown / larger character set → Hash Map can be useful.</a:t>
            </a:r>
            <a:br/>
            <a:br/>
            <a:r>
              <a:t>🧠 Pattern:</a:t>
            </a:r>
            <a:br/>
            <a:r>
              <a:t>STRING → FREQUENCY → COMPARISON</a:t>
            </a:r>
          </a:p>
        </p:txBody>
      </p:sp>
      <p:sp>
        <p:nvSpPr>
          <p:cNvPr id="12" name="Arc 11"/>
          <p:cNvSpPr/>
          <p:nvPr/>
        </p:nvSpPr>
        <p:spPr>
          <a:xfrm>
            <a:off x="10652760" y="320040"/>
            <a:ext cx="640080" cy="411480"/>
          </a:xfrm>
          <a:prstGeom prst="arc">
            <a:avLst/>
          </a:prstGeom>
          <a:noFill/>
          <a:ln>
            <a:solidFill>
              <a:srgbClr val="BE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566928" y="6446520"/>
            <a:ext cx="4572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1">
                <a:solidFill>
                  <a:srgbClr val="265D82"/>
                </a:solidFill>
                <a:latin typeface="Aptos"/>
              </a:defRPr>
            </a:pPr>
            <a:r>
              <a:t>GitHub: 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446520"/>
            <a:ext cx="4160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24221E"/>
                </a:solidFill>
                <a:latin typeface="Aptos"/>
              </a:defRPr>
            </a:pPr>
            <a:r>
              <a:t>6/20  •  DSA From Scratch → Advanced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594360" y="6144768"/>
            <a:ext cx="731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800" b="1">
                <a:solidFill>
                  <a:srgbClr val="265D82"/>
                </a:solidFill>
                <a:latin typeface="Aptos"/>
              </a:defRPr>
            </a:pPr>
            <a:r>
              <a:t>← PREV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0744200" y="6144768"/>
            <a:ext cx="777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800" b="1">
                <a:solidFill>
                  <a:srgbClr val="265D82"/>
                </a:solidFill>
                <a:latin typeface="Aptos"/>
              </a:defRPr>
            </a:pPr>
            <a:r>
              <a:t>NEXT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1430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6596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8892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43484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578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1325880" cy="384048"/>
          </a:xfrm>
          <a:prstGeom prst="roundRect">
            <a:avLst/>
          </a:prstGeom>
          <a:solidFill>
            <a:srgbClr val="F7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3464"/>
            <a:ext cx="1188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24221E"/>
                </a:solidFill>
                <a:latin typeface="Comic Sans MS"/>
              </a:defRPr>
            </a:pPr>
            <a:r>
              <a:t>DAY 25 •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"/>
            <a:ext cx="923544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265D82"/>
                </a:solidFill>
                <a:latin typeface="Comic Sans MS"/>
              </a:defRPr>
            </a:pPr>
            <a:r>
              <a:t>🔹 Approach 1 — Sorting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914400"/>
            <a:ext cx="1065276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0">
                <a:solidFill>
                  <a:srgbClr val="24221E"/>
                </a:solidFill>
                <a:latin typeface="Comic Sans MS"/>
              </a:defRPr>
            </a:pPr>
            <a:r>
              <a:t>IDEA</a:t>
            </a:r>
            <a:br/>
            <a:r>
              <a:t>Sort both strings. If the sorted results are equal, they are anagrams.</a:t>
            </a:r>
            <a:br/>
            <a:br/>
            <a:r>
              <a:t>Example:</a:t>
            </a:r>
            <a:br/>
            <a:r>
              <a:t>race → acer</a:t>
            </a:r>
            <a:br/>
            <a:r>
              <a:t>care → acer</a:t>
            </a:r>
            <a:br/>
            <a:br/>
            <a:r>
              <a:t>So:</a:t>
            </a:r>
            <a:br/>
            <a:r>
              <a:t>"race" and "care" → ANAGRAM ✓</a:t>
            </a:r>
            <a:br/>
            <a:br/>
            <a:r>
              <a:t>Simple to understand, but sorting costs O(n log n).</a:t>
            </a:r>
          </a:p>
        </p:txBody>
      </p:sp>
      <p:sp>
        <p:nvSpPr>
          <p:cNvPr id="12" name="Arc 11"/>
          <p:cNvSpPr/>
          <p:nvPr/>
        </p:nvSpPr>
        <p:spPr>
          <a:xfrm>
            <a:off x="10652760" y="320040"/>
            <a:ext cx="640080" cy="411480"/>
          </a:xfrm>
          <a:prstGeom prst="arc">
            <a:avLst/>
          </a:prstGeom>
          <a:noFill/>
          <a:ln>
            <a:solidFill>
              <a:srgbClr val="BE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566928" y="6446520"/>
            <a:ext cx="4572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1">
                <a:solidFill>
                  <a:srgbClr val="265D82"/>
                </a:solidFill>
                <a:latin typeface="Aptos"/>
              </a:defRPr>
            </a:pPr>
            <a:r>
              <a:t>GitHub: 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446520"/>
            <a:ext cx="4160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24221E"/>
                </a:solidFill>
                <a:latin typeface="Aptos"/>
              </a:defRPr>
            </a:pPr>
            <a:r>
              <a:t>7/20  •  DSA From Scratch → Advanced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594360" y="6144768"/>
            <a:ext cx="731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800" b="1">
                <a:solidFill>
                  <a:srgbClr val="265D82"/>
                </a:solidFill>
                <a:latin typeface="Aptos"/>
              </a:defRPr>
            </a:pPr>
            <a:r>
              <a:t>← PREV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0744200" y="6144768"/>
            <a:ext cx="777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800" b="1">
                <a:solidFill>
                  <a:srgbClr val="265D82"/>
                </a:solidFill>
                <a:latin typeface="Aptos"/>
              </a:defRPr>
            </a:pPr>
            <a:r>
              <a:t>NEXT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1430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6596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8892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43484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578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1325880" cy="384048"/>
          </a:xfrm>
          <a:prstGeom prst="roundRect">
            <a:avLst/>
          </a:prstGeom>
          <a:solidFill>
            <a:srgbClr val="F7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3464"/>
            <a:ext cx="1188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24221E"/>
                </a:solidFill>
                <a:latin typeface="Comic Sans MS"/>
              </a:defRPr>
            </a:pPr>
            <a:r>
              <a:t>DAY 25 •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"/>
            <a:ext cx="923544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265D82"/>
                </a:solidFill>
                <a:latin typeface="Comic Sans MS"/>
              </a:defRPr>
            </a:pPr>
            <a:r>
              <a:t>🔹 Approach 2 — Frequency Counting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914400"/>
            <a:ext cx="1065276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0">
                <a:solidFill>
                  <a:srgbClr val="24221E"/>
                </a:solidFill>
                <a:latin typeface="Comic Sans MS"/>
              </a:defRPr>
            </a:pPr>
            <a:r>
              <a:t>IDEA</a:t>
            </a:r>
            <a:br/>
            <a:r>
              <a:t>Use a frequency table.</a:t>
            </a:r>
            <a:br/>
            <a:br/>
            <a:r>
              <a:t>For the first string:</a:t>
            </a:r>
            <a:br/>
            <a:r>
              <a:t>→ increase count</a:t>
            </a:r>
            <a:br/>
            <a:br/>
            <a:r>
              <a:t>For the second string:</a:t>
            </a:r>
            <a:br/>
            <a:r>
              <a:t>→ decrease count</a:t>
            </a:r>
            <a:br/>
            <a:br/>
            <a:r>
              <a:t>At the end:</a:t>
            </a:r>
            <a:br/>
            <a:r>
              <a:t>ALL COUNTS = 0 → ANAGRAM ✓</a:t>
            </a:r>
            <a:br/>
            <a:br/>
            <a:r>
              <a:t>For lowercase English letters, freq[26] is enough.</a:t>
            </a:r>
          </a:p>
        </p:txBody>
      </p:sp>
      <p:sp>
        <p:nvSpPr>
          <p:cNvPr id="12" name="Arc 11"/>
          <p:cNvSpPr/>
          <p:nvPr/>
        </p:nvSpPr>
        <p:spPr>
          <a:xfrm>
            <a:off x="10652760" y="320040"/>
            <a:ext cx="640080" cy="411480"/>
          </a:xfrm>
          <a:prstGeom prst="arc">
            <a:avLst/>
          </a:prstGeom>
          <a:noFill/>
          <a:ln>
            <a:solidFill>
              <a:srgbClr val="BE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566928" y="6446520"/>
            <a:ext cx="4572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1">
                <a:solidFill>
                  <a:srgbClr val="265D82"/>
                </a:solidFill>
                <a:latin typeface="Aptos"/>
              </a:defRPr>
            </a:pPr>
            <a:r>
              <a:t>GitHub: 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446520"/>
            <a:ext cx="4160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24221E"/>
                </a:solidFill>
                <a:latin typeface="Aptos"/>
              </a:defRPr>
            </a:pPr>
            <a:r>
              <a:t>8/20  •  DSA From Scratch → Advanced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594360" y="6144768"/>
            <a:ext cx="731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800" b="1">
                <a:solidFill>
                  <a:srgbClr val="265D82"/>
                </a:solidFill>
                <a:latin typeface="Aptos"/>
              </a:defRPr>
            </a:pPr>
            <a:r>
              <a:t>← PREV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0744200" y="6144768"/>
            <a:ext cx="777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800" b="1">
                <a:solidFill>
                  <a:srgbClr val="265D82"/>
                </a:solidFill>
                <a:latin typeface="Aptos"/>
              </a:defRPr>
            </a:pPr>
            <a:r>
              <a:t>NEXT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1430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6596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8892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43484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578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1325880" cy="384048"/>
          </a:xfrm>
          <a:prstGeom prst="roundRect">
            <a:avLst/>
          </a:prstGeom>
          <a:solidFill>
            <a:srgbClr val="F7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3464"/>
            <a:ext cx="1188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24221E"/>
                </a:solidFill>
                <a:latin typeface="Comic Sans MS"/>
              </a:defRPr>
            </a:pPr>
            <a:r>
              <a:t>DAY 25 •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"/>
            <a:ext cx="923544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265D82"/>
                </a:solidFill>
                <a:latin typeface="Comic Sans MS"/>
              </a:defRPr>
            </a:pPr>
            <a:r>
              <a:t>🆚 Sorting vs Frequency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914400"/>
            <a:ext cx="1065276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0">
                <a:solidFill>
                  <a:srgbClr val="24221E"/>
                </a:solidFill>
                <a:latin typeface="Comic Sans MS"/>
              </a:defRPr>
            </a:pPr>
            <a:r>
              <a:t>SORTING</a:t>
            </a:r>
            <a:br/>
            <a:r>
              <a:t>Time → O(n log n)</a:t>
            </a:r>
            <a:br/>
            <a:r>
              <a:t>Space → depends on sorting implementation</a:t>
            </a:r>
            <a:br/>
            <a:r>
              <a:t>Very intuitive</a:t>
            </a:r>
            <a:br/>
            <a:br/>
            <a:r>
              <a:t>FREQUENCY COUNTING</a:t>
            </a:r>
            <a:br/>
            <a:r>
              <a:t>Time → O(n)</a:t>
            </a:r>
            <a:br/>
            <a:r>
              <a:t>Space → O(1) for 26 lowercase letters</a:t>
            </a:r>
            <a:br/>
            <a:r>
              <a:t>Usually the better choice under fixed-alphabet constraints.</a:t>
            </a:r>
            <a:br/>
            <a:br/>
            <a:r>
              <a:t>INTERVIEW TIP → Always mention the input constraints.</a:t>
            </a:r>
          </a:p>
        </p:txBody>
      </p:sp>
      <p:sp>
        <p:nvSpPr>
          <p:cNvPr id="12" name="Arc 11"/>
          <p:cNvSpPr/>
          <p:nvPr/>
        </p:nvSpPr>
        <p:spPr>
          <a:xfrm>
            <a:off x="10652760" y="320040"/>
            <a:ext cx="640080" cy="411480"/>
          </a:xfrm>
          <a:prstGeom prst="arc">
            <a:avLst/>
          </a:prstGeom>
          <a:noFill/>
          <a:ln>
            <a:solidFill>
              <a:srgbClr val="BE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566928" y="6446520"/>
            <a:ext cx="4572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1">
                <a:solidFill>
                  <a:srgbClr val="265D82"/>
                </a:solidFill>
                <a:latin typeface="Aptos"/>
              </a:defRPr>
            </a:pPr>
            <a:r>
              <a:t>GitHub: 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446520"/>
            <a:ext cx="4160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24221E"/>
                </a:solidFill>
                <a:latin typeface="Aptos"/>
              </a:defRPr>
            </a:pPr>
            <a:r>
              <a:t>9/20  •  DSA From Scratch → Advanced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594360" y="6144768"/>
            <a:ext cx="731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800" b="1">
                <a:solidFill>
                  <a:srgbClr val="265D82"/>
                </a:solidFill>
                <a:latin typeface="Aptos"/>
              </a:defRPr>
            </a:pPr>
            <a:r>
              <a:t>← PREV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0744200" y="6144768"/>
            <a:ext cx="777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800" b="1">
                <a:solidFill>
                  <a:srgbClr val="265D82"/>
                </a:solidFill>
                <a:latin typeface="Aptos"/>
              </a:defRPr>
            </a:pPr>
            <a:r>
              <a:t>NEXT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1430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6596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8892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43484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578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1325880" cy="384048"/>
          </a:xfrm>
          <a:prstGeom prst="roundRect">
            <a:avLst/>
          </a:prstGeom>
          <a:solidFill>
            <a:srgbClr val="F7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3464"/>
            <a:ext cx="1188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24221E"/>
                </a:solidFill>
                <a:latin typeface="Comic Sans MS"/>
              </a:defRPr>
            </a:pPr>
            <a:r>
              <a:t>DAY 25 •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"/>
            <a:ext cx="923544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265D82"/>
                </a:solidFill>
                <a:latin typeface="Comic Sans MS"/>
              </a:defRPr>
            </a:pPr>
            <a:r>
              <a:t>💻 C++ — Sorting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914400"/>
            <a:ext cx="1065276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24221E"/>
                </a:solidFill>
                <a:latin typeface="Comic Sans MS"/>
              </a:defRPr>
            </a:pPr>
            <a:r>
              <a:t>bool isAnagram(string s, string t) {</a:t>
            </a:r>
            <a:br/>
            <a:r>
              <a:t>    if (s.size() != t.size()) return false;</a:t>
            </a:r>
            <a:br/>
            <a:br/>
            <a:r>
              <a:t>    sort(s.begin(), s.end());</a:t>
            </a:r>
            <a:br/>
            <a:r>
              <a:t>    sort(t.begin(), t.end());</a:t>
            </a:r>
            <a:br/>
            <a:br/>
            <a:r>
              <a:t>    return s == t;</a:t>
            </a:r>
            <a:br/>
            <a:r>
              <a:t>}</a:t>
            </a:r>
            <a:br/>
            <a:br/>
            <a:r>
              <a:t>#include &lt;algorithm&gt;</a:t>
            </a:r>
            <a:br/>
            <a:r>
              <a:t>using namespace std;</a:t>
            </a:r>
          </a:p>
        </p:txBody>
      </p:sp>
      <p:sp>
        <p:nvSpPr>
          <p:cNvPr id="12" name="Arc 11"/>
          <p:cNvSpPr/>
          <p:nvPr/>
        </p:nvSpPr>
        <p:spPr>
          <a:xfrm>
            <a:off x="10652760" y="320040"/>
            <a:ext cx="640080" cy="411480"/>
          </a:xfrm>
          <a:prstGeom prst="arc">
            <a:avLst/>
          </a:prstGeom>
          <a:noFill/>
          <a:ln>
            <a:solidFill>
              <a:srgbClr val="BE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566928" y="6446520"/>
            <a:ext cx="4572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1">
                <a:solidFill>
                  <a:srgbClr val="265D82"/>
                </a:solidFill>
                <a:latin typeface="Aptos"/>
              </a:defRPr>
            </a:pPr>
            <a:r>
              <a:t>GitHub: 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446520"/>
            <a:ext cx="4160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24221E"/>
                </a:solidFill>
                <a:latin typeface="Aptos"/>
              </a:defRPr>
            </a:pPr>
            <a:r>
              <a:t>10/20  •  DSA From Scratch → Advanced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594360" y="6144768"/>
            <a:ext cx="731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800" b="1">
                <a:solidFill>
                  <a:srgbClr val="265D82"/>
                </a:solidFill>
                <a:latin typeface="Aptos"/>
              </a:defRPr>
            </a:pPr>
            <a:r>
              <a:t>← PREV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0744200" y="6144768"/>
            <a:ext cx="777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800" b="1">
                <a:solidFill>
                  <a:srgbClr val="265D82"/>
                </a:solidFill>
                <a:latin typeface="Aptos"/>
              </a:defRPr>
            </a:pPr>
            <a:r>
              <a:t>NEXT 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1430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6596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8892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43484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578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1325880" cy="384048"/>
          </a:xfrm>
          <a:prstGeom prst="roundRect">
            <a:avLst/>
          </a:prstGeom>
          <a:solidFill>
            <a:srgbClr val="F7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3464"/>
            <a:ext cx="1188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24221E"/>
                </a:solidFill>
                <a:latin typeface="Comic Sans MS"/>
              </a:defRPr>
            </a:pPr>
            <a:r>
              <a:t>DAY 25 •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"/>
            <a:ext cx="923544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265D82"/>
                </a:solidFill>
                <a:latin typeface="Comic Sans MS"/>
              </a:defRPr>
            </a:pPr>
            <a:r>
              <a:t>💻 C++ — Frequency Counting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914400"/>
            <a:ext cx="1065276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24221E"/>
                </a:solidFill>
                <a:latin typeface="Comic Sans MS"/>
              </a:defRPr>
            </a:pPr>
            <a:r>
              <a:t>bool isAnagram(string s, string t) {</a:t>
            </a:r>
            <a:br/>
            <a:r>
              <a:t>    if (s.size() != t.size()) return false;</a:t>
            </a:r>
            <a:br/>
            <a:br/>
            <a:r>
              <a:t>    int freq[26] = {0};</a:t>
            </a:r>
            <a:br/>
            <a:br/>
            <a:r>
              <a:t>    for (char c : s) freq[c - 'a']++;</a:t>
            </a:r>
            <a:br/>
            <a:r>
              <a:t>    for (char c : t) freq[c - 'a']--;</a:t>
            </a:r>
            <a:br/>
            <a:br/>
            <a:r>
              <a:t>    for (int x : freq)</a:t>
            </a:r>
            <a:br/>
            <a:r>
              <a:t>        if (x != 0) return false;</a:t>
            </a:r>
            <a:br/>
            <a:br/>
            <a:r>
              <a:t>    return true;</a:t>
            </a:r>
            <a:br/>
            <a:r>
              <a:t>}</a:t>
            </a:r>
            <a:br/>
            <a:br/>
            <a:r>
              <a:t>Assumption: lowercase English letters only.</a:t>
            </a:r>
          </a:p>
        </p:txBody>
      </p:sp>
      <p:sp>
        <p:nvSpPr>
          <p:cNvPr id="12" name="Arc 11"/>
          <p:cNvSpPr/>
          <p:nvPr/>
        </p:nvSpPr>
        <p:spPr>
          <a:xfrm>
            <a:off x="10652760" y="320040"/>
            <a:ext cx="640080" cy="411480"/>
          </a:xfrm>
          <a:prstGeom prst="arc">
            <a:avLst/>
          </a:prstGeom>
          <a:noFill/>
          <a:ln>
            <a:solidFill>
              <a:srgbClr val="BE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566928" y="6446520"/>
            <a:ext cx="4572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1">
                <a:solidFill>
                  <a:srgbClr val="265D82"/>
                </a:solidFill>
                <a:latin typeface="Aptos"/>
              </a:defRPr>
            </a:pPr>
            <a:r>
              <a:t>GitHub: 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446520"/>
            <a:ext cx="4160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24221E"/>
                </a:solidFill>
                <a:latin typeface="Aptos"/>
              </a:defRPr>
            </a:pPr>
            <a:r>
              <a:t>11/20  •  DSA From Scratch → Advanced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594360" y="6144768"/>
            <a:ext cx="731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800" b="1">
                <a:solidFill>
                  <a:srgbClr val="265D82"/>
                </a:solidFill>
                <a:latin typeface="Aptos"/>
              </a:defRPr>
            </a:pPr>
            <a:r>
              <a:t>← PREV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0744200" y="6144768"/>
            <a:ext cx="777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800" b="1">
                <a:solidFill>
                  <a:srgbClr val="265D82"/>
                </a:solidFill>
                <a:latin typeface="Aptos"/>
              </a:defRPr>
            </a:pPr>
            <a:r>
              <a:t>NEXT 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1430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6596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8892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43484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578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1325880" cy="384048"/>
          </a:xfrm>
          <a:prstGeom prst="roundRect">
            <a:avLst/>
          </a:prstGeom>
          <a:solidFill>
            <a:srgbClr val="F7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3464"/>
            <a:ext cx="1188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24221E"/>
                </a:solidFill>
                <a:latin typeface="Comic Sans MS"/>
              </a:defRPr>
            </a:pPr>
            <a:r>
              <a:t>DAY 25 •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"/>
            <a:ext cx="923544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265D82"/>
                </a:solidFill>
                <a:latin typeface="Comic Sans MS"/>
              </a:defRPr>
            </a:pPr>
            <a:r>
              <a:t>🔍 DRY RUN — "listen" &amp; "silent"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914400"/>
            <a:ext cx="1065276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0">
                <a:solidFill>
                  <a:srgbClr val="24221E"/>
                </a:solidFill>
                <a:latin typeface="Comic Sans MS"/>
              </a:defRPr>
            </a:pPr>
            <a:r>
              <a:t>Start → all counts = 0</a:t>
            </a:r>
            <a:br/>
            <a:br/>
            <a:r>
              <a:t>Read "listen":</a:t>
            </a:r>
            <a:br/>
            <a:r>
              <a:t>l +1 | i +1 | s +1 | t +1 | e +1 | n +1</a:t>
            </a:r>
            <a:br/>
            <a:br/>
            <a:r>
              <a:t>Read "silent":</a:t>
            </a:r>
            <a:br/>
            <a:r>
              <a:t>s −1 | i −1 | l −1 | e −1 | n −1 | t −1</a:t>
            </a:r>
            <a:br/>
            <a:br/>
            <a:r>
              <a:t>Every increment is cancelled.</a:t>
            </a:r>
            <a:br/>
            <a:br/>
            <a:r>
              <a:t>FINAL → all counts = 0</a:t>
            </a:r>
            <a:br/>
            <a:br/>
            <a:r>
              <a:t>🎯 RESULT: ANAGRAM ✓</a:t>
            </a:r>
          </a:p>
        </p:txBody>
      </p:sp>
      <p:sp>
        <p:nvSpPr>
          <p:cNvPr id="12" name="Arc 11"/>
          <p:cNvSpPr/>
          <p:nvPr/>
        </p:nvSpPr>
        <p:spPr>
          <a:xfrm>
            <a:off x="10652760" y="320040"/>
            <a:ext cx="640080" cy="411480"/>
          </a:xfrm>
          <a:prstGeom prst="arc">
            <a:avLst/>
          </a:prstGeom>
          <a:noFill/>
          <a:ln>
            <a:solidFill>
              <a:srgbClr val="BE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566928" y="6446520"/>
            <a:ext cx="4572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1">
                <a:solidFill>
                  <a:srgbClr val="265D82"/>
                </a:solidFill>
                <a:latin typeface="Aptos"/>
              </a:defRPr>
            </a:pPr>
            <a:r>
              <a:t>GitHub: 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446520"/>
            <a:ext cx="4160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24221E"/>
                </a:solidFill>
                <a:latin typeface="Aptos"/>
              </a:defRPr>
            </a:pPr>
            <a:r>
              <a:t>12/20  •  DSA From Scratch → Advanced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594360" y="6144768"/>
            <a:ext cx="731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800" b="1">
                <a:solidFill>
                  <a:srgbClr val="265D82"/>
                </a:solidFill>
                <a:latin typeface="Aptos"/>
              </a:defRPr>
            </a:pPr>
            <a:r>
              <a:t>← PREV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0744200" y="6144768"/>
            <a:ext cx="777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800" b="1">
                <a:solidFill>
                  <a:srgbClr val="265D82"/>
                </a:solidFill>
                <a:latin typeface="Aptos"/>
              </a:defRPr>
            </a:pPr>
            <a:r>
              <a:t>NEXT 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1430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6596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8892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43484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578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1325880" cy="384048"/>
          </a:xfrm>
          <a:prstGeom prst="roundRect">
            <a:avLst/>
          </a:prstGeom>
          <a:solidFill>
            <a:srgbClr val="F7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3464"/>
            <a:ext cx="1188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24221E"/>
                </a:solidFill>
                <a:latin typeface="Comic Sans MS"/>
              </a:defRPr>
            </a:pPr>
            <a:r>
              <a:t>DAY 25 •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"/>
            <a:ext cx="923544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265D82"/>
                </a:solidFill>
                <a:latin typeface="Comic Sans MS"/>
              </a:defRPr>
            </a:pPr>
            <a:r>
              <a:t>⏱️ Time Complexity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914400"/>
            <a:ext cx="1065276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0">
                <a:solidFill>
                  <a:srgbClr val="24221E"/>
                </a:solidFill>
                <a:latin typeface="Comic Sans MS"/>
              </a:defRPr>
            </a:pPr>
            <a:r>
              <a:t>Let n = length of each string.</a:t>
            </a:r>
            <a:br/>
            <a:br/>
            <a:r>
              <a:t>SORTING</a:t>
            </a:r>
            <a:br/>
            <a:r>
              <a:t>→ sort(s) = O(n log n)</a:t>
            </a:r>
            <a:br/>
            <a:r>
              <a:t>→ sort(t) = O(n log n)</a:t>
            </a:r>
            <a:br/>
            <a:r>
              <a:t>→ Overall = O(n log n)</a:t>
            </a:r>
            <a:br/>
            <a:br/>
            <a:r>
              <a:t>FREQUENCY</a:t>
            </a:r>
            <a:br/>
            <a:r>
              <a:t>→ one pass through s = O(n)</a:t>
            </a:r>
            <a:br/>
            <a:r>
              <a:t>→ one pass through t = O(n)</a:t>
            </a:r>
            <a:br/>
            <a:r>
              <a:t>→ final 26 checks = O(1)</a:t>
            </a:r>
            <a:br/>
            <a:r>
              <a:t>→ Overall = O(n)</a:t>
            </a:r>
            <a:br/>
            <a:br/>
            <a:r>
              <a:t>⚡ Frequency counting wins when the alphabet is fixed.</a:t>
            </a:r>
          </a:p>
        </p:txBody>
      </p:sp>
      <p:sp>
        <p:nvSpPr>
          <p:cNvPr id="12" name="Arc 11"/>
          <p:cNvSpPr/>
          <p:nvPr/>
        </p:nvSpPr>
        <p:spPr>
          <a:xfrm>
            <a:off x="10652760" y="320040"/>
            <a:ext cx="640080" cy="411480"/>
          </a:xfrm>
          <a:prstGeom prst="arc">
            <a:avLst/>
          </a:prstGeom>
          <a:noFill/>
          <a:ln>
            <a:solidFill>
              <a:srgbClr val="BE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566928" y="6446520"/>
            <a:ext cx="4572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1">
                <a:solidFill>
                  <a:srgbClr val="265D82"/>
                </a:solidFill>
                <a:latin typeface="Aptos"/>
              </a:defRPr>
            </a:pPr>
            <a:r>
              <a:t>GitHub: 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446520"/>
            <a:ext cx="4160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24221E"/>
                </a:solidFill>
                <a:latin typeface="Aptos"/>
              </a:defRPr>
            </a:pPr>
            <a:r>
              <a:t>13/20  •  DSA From Scratch → Advanced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594360" y="6144768"/>
            <a:ext cx="731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800" b="1">
                <a:solidFill>
                  <a:srgbClr val="265D82"/>
                </a:solidFill>
                <a:latin typeface="Aptos"/>
              </a:defRPr>
            </a:pPr>
            <a:r>
              <a:t>← PREV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0744200" y="6144768"/>
            <a:ext cx="777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800" b="1">
                <a:solidFill>
                  <a:srgbClr val="265D82"/>
                </a:solidFill>
                <a:latin typeface="Aptos"/>
              </a:defRPr>
            </a:pPr>
            <a:r>
              <a:t>NEXT 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1430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6596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8892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43484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578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1325880" cy="384048"/>
          </a:xfrm>
          <a:prstGeom prst="roundRect">
            <a:avLst/>
          </a:prstGeom>
          <a:solidFill>
            <a:srgbClr val="F7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3464"/>
            <a:ext cx="1188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24221E"/>
                </a:solidFill>
                <a:latin typeface="Comic Sans MS"/>
              </a:defRPr>
            </a:pPr>
            <a:r>
              <a:t>DAY 25 •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"/>
            <a:ext cx="923544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265D82"/>
                </a:solidFill>
                <a:latin typeface="Comic Sans MS"/>
              </a:defRPr>
            </a:pPr>
            <a:r>
              <a:t>💾 Space Complexity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914400"/>
            <a:ext cx="1065276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0">
                <a:solidFill>
                  <a:srgbClr val="24221E"/>
                </a:solidFill>
                <a:latin typeface="Comic Sans MS"/>
              </a:defRPr>
            </a:pPr>
            <a:r>
              <a:t>SORTING</a:t>
            </a:r>
            <a:br/>
            <a:r>
              <a:t>Extra space depends on the sorting implementation.</a:t>
            </a:r>
            <a:br/>
            <a:br/>
            <a:r>
              <a:t>FREQUENCY ARRAY</a:t>
            </a:r>
            <a:br/>
            <a:r>
              <a:t>freq[26]</a:t>
            </a:r>
            <a:br/>
            <a:r>
              <a:t>→ fixed-size memory</a:t>
            </a:r>
            <a:br/>
            <a:r>
              <a:t>→ O(1) auxiliary space</a:t>
            </a:r>
            <a:br/>
            <a:br/>
            <a:r>
              <a:t>Important:</a:t>
            </a:r>
            <a:br/>
            <a:r>
              <a:t>O(1) space does NOT mean zero memory.</a:t>
            </a:r>
            <a:br/>
            <a:r>
              <a:t>It means the extra memory does not grow with n.</a:t>
            </a:r>
          </a:p>
        </p:txBody>
      </p:sp>
      <p:sp>
        <p:nvSpPr>
          <p:cNvPr id="12" name="Arc 11"/>
          <p:cNvSpPr/>
          <p:nvPr/>
        </p:nvSpPr>
        <p:spPr>
          <a:xfrm>
            <a:off x="10652760" y="320040"/>
            <a:ext cx="640080" cy="411480"/>
          </a:xfrm>
          <a:prstGeom prst="arc">
            <a:avLst/>
          </a:prstGeom>
          <a:noFill/>
          <a:ln>
            <a:solidFill>
              <a:srgbClr val="BE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566928" y="6446520"/>
            <a:ext cx="4572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1">
                <a:solidFill>
                  <a:srgbClr val="265D82"/>
                </a:solidFill>
                <a:latin typeface="Aptos"/>
              </a:defRPr>
            </a:pPr>
            <a:r>
              <a:t>GitHub: 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446520"/>
            <a:ext cx="4160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24221E"/>
                </a:solidFill>
                <a:latin typeface="Aptos"/>
              </a:defRPr>
            </a:pPr>
            <a:r>
              <a:t>14/20  •  DSA From Scratch → Advanced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594360" y="6144768"/>
            <a:ext cx="731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800" b="1">
                <a:solidFill>
                  <a:srgbClr val="265D82"/>
                </a:solidFill>
                <a:latin typeface="Aptos"/>
              </a:defRPr>
            </a:pPr>
            <a:r>
              <a:t>← PREV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0744200" y="6144768"/>
            <a:ext cx="777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800" b="1">
                <a:solidFill>
                  <a:srgbClr val="265D82"/>
                </a:solidFill>
                <a:latin typeface="Aptos"/>
              </a:defRPr>
            </a:pPr>
            <a:r>
              <a:t>NEXT 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1430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6596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8892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43484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578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1325880" cy="384048"/>
          </a:xfrm>
          <a:prstGeom prst="roundRect">
            <a:avLst/>
          </a:prstGeom>
          <a:solidFill>
            <a:srgbClr val="F7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3464"/>
            <a:ext cx="1188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24221E"/>
                </a:solidFill>
                <a:latin typeface="Comic Sans MS"/>
              </a:defRPr>
            </a:pPr>
            <a:r>
              <a:t>DAY 25 •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"/>
            <a:ext cx="923544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265D82"/>
                </a:solidFill>
                <a:latin typeface="Comic Sans MS"/>
              </a:defRPr>
            </a:pPr>
            <a:r>
              <a:t>🧩 Important Anagram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914400"/>
            <a:ext cx="1065276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0">
                <a:solidFill>
                  <a:srgbClr val="24221E"/>
                </a:solidFill>
                <a:latin typeface="Comic Sans MS"/>
              </a:defRPr>
            </a:pPr>
            <a:r>
              <a:t>PATTERN 1 — Direct validation</a:t>
            </a:r>
            <a:br/>
            <a:r>
              <a:t>→ Are two strings anagrams?</a:t>
            </a:r>
            <a:br/>
            <a:br/>
            <a:r>
              <a:t>PATTERN 2 — Grouping</a:t>
            </a:r>
            <a:br/>
            <a:r>
              <a:t>→ Group strings having the same character composition.</a:t>
            </a:r>
            <a:br/>
            <a:br/>
            <a:r>
              <a:t>PATTERN 3 — Sliding Window</a:t>
            </a:r>
            <a:br/>
            <a:r>
              <a:t>→ Find anagram occurrences inside another string.</a:t>
            </a:r>
            <a:br/>
            <a:br/>
            <a:r>
              <a:t>PATTERN 4 — Frequency Signature</a:t>
            </a:r>
            <a:br/>
            <a:r>
              <a:t>→ Represent a string by its character counts.</a:t>
            </a:r>
          </a:p>
        </p:txBody>
      </p:sp>
      <p:sp>
        <p:nvSpPr>
          <p:cNvPr id="12" name="Arc 11"/>
          <p:cNvSpPr/>
          <p:nvPr/>
        </p:nvSpPr>
        <p:spPr>
          <a:xfrm>
            <a:off x="10652760" y="320040"/>
            <a:ext cx="640080" cy="411480"/>
          </a:xfrm>
          <a:prstGeom prst="arc">
            <a:avLst/>
          </a:prstGeom>
          <a:noFill/>
          <a:ln>
            <a:solidFill>
              <a:srgbClr val="BE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566928" y="6446520"/>
            <a:ext cx="4572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1">
                <a:solidFill>
                  <a:srgbClr val="265D82"/>
                </a:solidFill>
                <a:latin typeface="Aptos"/>
              </a:defRPr>
            </a:pPr>
            <a:r>
              <a:t>GitHub: 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446520"/>
            <a:ext cx="4160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24221E"/>
                </a:solidFill>
                <a:latin typeface="Aptos"/>
              </a:defRPr>
            </a:pPr>
            <a:r>
              <a:t>15/20  •  DSA From Scratch → Advanced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594360" y="6144768"/>
            <a:ext cx="731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800" b="1">
                <a:solidFill>
                  <a:srgbClr val="265D82"/>
                </a:solidFill>
                <a:latin typeface="Aptos"/>
              </a:defRPr>
            </a:pPr>
            <a:r>
              <a:t>← PREV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0744200" y="6144768"/>
            <a:ext cx="777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800" b="1">
                <a:solidFill>
                  <a:srgbClr val="265D82"/>
                </a:solidFill>
                <a:latin typeface="Aptos"/>
              </a:defRPr>
            </a:pPr>
            <a:r>
              <a:t>NEXT 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1430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6596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8892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43484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578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1325880" cy="384048"/>
          </a:xfrm>
          <a:prstGeom prst="roundRect">
            <a:avLst/>
          </a:prstGeom>
          <a:solidFill>
            <a:srgbClr val="F7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3464"/>
            <a:ext cx="1188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24221E"/>
                </a:solidFill>
                <a:latin typeface="Comic Sans MS"/>
              </a:defRPr>
            </a:pPr>
            <a:r>
              <a:t>DAY 25 •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"/>
            <a:ext cx="923544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265D82"/>
                </a:solidFill>
                <a:latin typeface="Comic Sans MS"/>
              </a:defRPr>
            </a:pPr>
            <a:r>
              <a:t>🧩 LeetCode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914400"/>
            <a:ext cx="1065276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0">
                <a:solidFill>
                  <a:srgbClr val="24221E"/>
                </a:solidFill>
                <a:latin typeface="Comic Sans MS"/>
              </a:defRPr>
            </a:pPr>
            <a:r>
              <a:t>① VALID ANAGRAM — #242</a:t>
            </a:r>
            <a:br/>
            <a:r>
              <a:t>Direct frequency comparison.</a:t>
            </a:r>
            <a:br/>
            <a:br/>
            <a:r>
              <a:t>② GROUP ANAGRAMS — #49</a:t>
            </a:r>
            <a:br/>
            <a:r>
              <a:t>Use a canonical key to group matching strings.</a:t>
            </a:r>
            <a:br/>
            <a:br/>
            <a:r>
              <a:t>③ FIND ALL ANAGRAMS IN A STRING — #438</a:t>
            </a:r>
            <a:br/>
            <a:r>
              <a:t>Frequency counting + sliding window.</a:t>
            </a:r>
            <a:br/>
            <a:br/>
            <a:r>
              <a:t>🎯 Practice order:</a:t>
            </a:r>
            <a:br/>
            <a:r>
              <a:t>242 → 49 → 438</a:t>
            </a:r>
          </a:p>
        </p:txBody>
      </p:sp>
      <p:sp>
        <p:nvSpPr>
          <p:cNvPr id="12" name="Arc 11"/>
          <p:cNvSpPr/>
          <p:nvPr/>
        </p:nvSpPr>
        <p:spPr>
          <a:xfrm>
            <a:off x="10652760" y="320040"/>
            <a:ext cx="640080" cy="411480"/>
          </a:xfrm>
          <a:prstGeom prst="arc">
            <a:avLst/>
          </a:prstGeom>
          <a:noFill/>
          <a:ln>
            <a:solidFill>
              <a:srgbClr val="BE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566928" y="6446520"/>
            <a:ext cx="4572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1">
                <a:solidFill>
                  <a:srgbClr val="265D82"/>
                </a:solidFill>
                <a:latin typeface="Aptos"/>
              </a:defRPr>
            </a:pPr>
            <a:r>
              <a:t>GitHub: 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446520"/>
            <a:ext cx="4160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24221E"/>
                </a:solidFill>
                <a:latin typeface="Aptos"/>
              </a:defRPr>
            </a:pPr>
            <a:r>
              <a:t>16/20  •  DSA From Scratch → Advanced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594360" y="6144768"/>
            <a:ext cx="731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800" b="1">
                <a:solidFill>
                  <a:srgbClr val="265D82"/>
                </a:solidFill>
                <a:latin typeface="Aptos"/>
              </a:defRPr>
            </a:pPr>
            <a:r>
              <a:t>← PREV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0744200" y="6144768"/>
            <a:ext cx="777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800" b="1">
                <a:solidFill>
                  <a:srgbClr val="265D82"/>
                </a:solidFill>
                <a:latin typeface="Aptos"/>
              </a:defRPr>
            </a:pPr>
            <a:r>
              <a:t>NEXT 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1430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6596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8892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43484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578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1325880" cy="384048"/>
          </a:xfrm>
          <a:prstGeom prst="roundRect">
            <a:avLst/>
          </a:prstGeom>
          <a:solidFill>
            <a:srgbClr val="F7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3464"/>
            <a:ext cx="1188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24221E"/>
                </a:solidFill>
                <a:latin typeface="Comic Sans MS"/>
              </a:defRPr>
            </a:pPr>
            <a:r>
              <a:t>DAY 25 •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"/>
            <a:ext cx="923544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265D82"/>
                </a:solidFill>
                <a:latin typeface="Comic Sans MS"/>
              </a:defRPr>
            </a:pPr>
            <a:r>
              <a:t>💡 Interview Tip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914400"/>
            <a:ext cx="1065276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0">
                <a:solidFill>
                  <a:srgbClr val="24221E"/>
                </a:solidFill>
                <a:latin typeface="Comic Sans MS"/>
              </a:defRPr>
            </a:pPr>
            <a:r>
              <a:t>Before writing code, ask:</a:t>
            </a:r>
            <a:br/>
            <a:br/>
            <a:r>
              <a:t>• What characters can appear?</a:t>
            </a:r>
            <a:br/>
            <a:r>
              <a:t>• Is the comparison case-sensitive?</a:t>
            </a:r>
            <a:br/>
            <a:r>
              <a:t>• Are spaces included?</a:t>
            </a:r>
            <a:br/>
            <a:r>
              <a:t>• Is punctuation included?</a:t>
            </a:r>
            <a:br/>
            <a:r>
              <a:t>• Is the alphabet fixed?</a:t>
            </a:r>
            <a:br/>
            <a:br/>
            <a:r>
              <a:t>Then choose:</a:t>
            </a:r>
            <a:br/>
            <a:r>
              <a:t>ARRAY → fixed alphabet</a:t>
            </a:r>
            <a:br/>
            <a:r>
              <a:t>HASH MAP → flexible character set</a:t>
            </a:r>
            <a:br/>
            <a:r>
              <a:t>SORTING → simple general solution</a:t>
            </a:r>
          </a:p>
        </p:txBody>
      </p:sp>
      <p:sp>
        <p:nvSpPr>
          <p:cNvPr id="12" name="Arc 11"/>
          <p:cNvSpPr/>
          <p:nvPr/>
        </p:nvSpPr>
        <p:spPr>
          <a:xfrm>
            <a:off x="10652760" y="320040"/>
            <a:ext cx="640080" cy="411480"/>
          </a:xfrm>
          <a:prstGeom prst="arc">
            <a:avLst/>
          </a:prstGeom>
          <a:noFill/>
          <a:ln>
            <a:solidFill>
              <a:srgbClr val="BE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566928" y="6446520"/>
            <a:ext cx="4572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1">
                <a:solidFill>
                  <a:srgbClr val="265D82"/>
                </a:solidFill>
                <a:latin typeface="Aptos"/>
              </a:defRPr>
            </a:pPr>
            <a:r>
              <a:t>GitHub: 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446520"/>
            <a:ext cx="4160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24221E"/>
                </a:solidFill>
                <a:latin typeface="Aptos"/>
              </a:defRPr>
            </a:pPr>
            <a:r>
              <a:t>17/20  •  DSA From Scratch → Advanced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594360" y="6144768"/>
            <a:ext cx="731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800" b="1">
                <a:solidFill>
                  <a:srgbClr val="265D82"/>
                </a:solidFill>
                <a:latin typeface="Aptos"/>
              </a:defRPr>
            </a:pPr>
            <a:r>
              <a:t>← PREV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0744200" y="6144768"/>
            <a:ext cx="777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800" b="1">
                <a:solidFill>
                  <a:srgbClr val="265D82"/>
                </a:solidFill>
                <a:latin typeface="Aptos"/>
              </a:defRPr>
            </a:pPr>
            <a:r>
              <a:t>NEXT →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1430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6596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8892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43484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578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1325880" cy="384048"/>
          </a:xfrm>
          <a:prstGeom prst="roundRect">
            <a:avLst/>
          </a:prstGeom>
          <a:solidFill>
            <a:srgbClr val="F7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3464"/>
            <a:ext cx="1188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24221E"/>
                </a:solidFill>
                <a:latin typeface="Comic Sans MS"/>
              </a:defRPr>
            </a:pPr>
            <a:r>
              <a:t>DAY 25 •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"/>
            <a:ext cx="923544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265D82"/>
                </a:solidFill>
                <a:latin typeface="Comic Sans MS"/>
              </a:defRPr>
            </a:pPr>
            <a:r>
              <a:t>⚠️ Mistakes &amp; Edge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914400"/>
            <a:ext cx="1065276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0">
                <a:solidFill>
                  <a:srgbClr val="24221E"/>
                </a:solidFill>
                <a:latin typeface="Comic Sans MS"/>
              </a:defRPr>
            </a:pPr>
            <a:r>
              <a:t>COMMON MISTAKES</a:t>
            </a:r>
            <a:br/>
            <a:r>
              <a:t>✗ Forgetting the length check</a:t>
            </a:r>
            <a:br/>
            <a:r>
              <a:t>✗ Ignoring repeated characters</a:t>
            </a:r>
            <a:br/>
            <a:r>
              <a:t>✗ Using c-'a' without lowercase constraint</a:t>
            </a:r>
            <a:br/>
            <a:r>
              <a:t>✗ Mishandling spaces / uppercase</a:t>
            </a:r>
            <a:br/>
            <a:r>
              <a:t>✗ Comparing only unique characters</a:t>
            </a:r>
            <a:br/>
            <a:br/>
            <a:r>
              <a:t>EDGE CASES</a:t>
            </a:r>
            <a:br/>
            <a:r>
              <a:t>• "" and "" → anagrams</a:t>
            </a:r>
            <a:br/>
            <a:r>
              <a:t>• "a" and "a" → anagrams</a:t>
            </a:r>
            <a:br/>
            <a:r>
              <a:t>• different lengths → not anagrams</a:t>
            </a:r>
          </a:p>
        </p:txBody>
      </p:sp>
      <p:sp>
        <p:nvSpPr>
          <p:cNvPr id="12" name="Arc 11"/>
          <p:cNvSpPr/>
          <p:nvPr/>
        </p:nvSpPr>
        <p:spPr>
          <a:xfrm>
            <a:off x="10652760" y="320040"/>
            <a:ext cx="640080" cy="411480"/>
          </a:xfrm>
          <a:prstGeom prst="arc">
            <a:avLst/>
          </a:prstGeom>
          <a:noFill/>
          <a:ln>
            <a:solidFill>
              <a:srgbClr val="BE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566928" y="6446520"/>
            <a:ext cx="4572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1">
                <a:solidFill>
                  <a:srgbClr val="265D82"/>
                </a:solidFill>
                <a:latin typeface="Aptos"/>
              </a:defRPr>
            </a:pPr>
            <a:r>
              <a:t>GitHub: 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446520"/>
            <a:ext cx="4160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24221E"/>
                </a:solidFill>
                <a:latin typeface="Aptos"/>
              </a:defRPr>
            </a:pPr>
            <a:r>
              <a:t>18/20  •  DSA From Scratch → Advanced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594360" y="6144768"/>
            <a:ext cx="731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800" b="1">
                <a:solidFill>
                  <a:srgbClr val="265D82"/>
                </a:solidFill>
                <a:latin typeface="Aptos"/>
              </a:defRPr>
            </a:pPr>
            <a:r>
              <a:t>← PREV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0744200" y="6144768"/>
            <a:ext cx="777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800" b="1">
                <a:solidFill>
                  <a:srgbClr val="265D82"/>
                </a:solidFill>
                <a:latin typeface="Aptos"/>
              </a:defRPr>
            </a:pPr>
            <a:r>
              <a:t>NEXT →</a:t>
            </a:r>
          </a:p>
        </p:txBody>
      </p:sp>
      <p:sp>
        <p:nvSpPr>
          <p:cNvPr id="17" name="Rounded Rectangle 16">
            <a:hlinkClick r:id="rId5"/>
          </p:cNvPr>
          <p:cNvSpPr/>
          <p:nvPr/>
        </p:nvSpPr>
        <p:spPr>
          <a:xfrm>
            <a:off x="7452360" y="1371600"/>
            <a:ext cx="3337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65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265D82"/>
                </a:solidFill>
                <a:latin typeface="Aptos"/>
              </a:defRPr>
            </a:pPr>
            <a:r>
              <a:t>Open LeetCode #242</a:t>
            </a:r>
          </a:p>
        </p:txBody>
      </p:sp>
      <p:sp>
        <p:nvSpPr>
          <p:cNvPr id="18" name="Rounded Rectangle 17">
            <a:hlinkClick r:id="rId6"/>
          </p:cNvPr>
          <p:cNvSpPr/>
          <p:nvPr/>
        </p:nvSpPr>
        <p:spPr>
          <a:xfrm>
            <a:off x="7452360" y="2286000"/>
            <a:ext cx="3337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65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265D82"/>
                </a:solidFill>
                <a:latin typeface="Aptos"/>
              </a:defRPr>
            </a:pPr>
            <a:r>
              <a:t>Open LeetCode #49</a:t>
            </a:r>
          </a:p>
        </p:txBody>
      </p:sp>
      <p:sp>
        <p:nvSpPr>
          <p:cNvPr id="19" name="Rounded Rectangle 18">
            <a:hlinkClick r:id="rId7"/>
          </p:cNvPr>
          <p:cNvSpPr/>
          <p:nvPr/>
        </p:nvSpPr>
        <p:spPr>
          <a:xfrm>
            <a:off x="7452360" y="3200400"/>
            <a:ext cx="3337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65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265D82"/>
                </a:solidFill>
                <a:latin typeface="Aptos"/>
              </a:defRPr>
            </a:pPr>
            <a:r>
              <a:t>Open LeetCode #438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1430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6596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8892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43484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578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1325880" cy="384048"/>
          </a:xfrm>
          <a:prstGeom prst="roundRect">
            <a:avLst/>
          </a:prstGeom>
          <a:solidFill>
            <a:srgbClr val="F7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3464"/>
            <a:ext cx="1188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24221E"/>
                </a:solidFill>
                <a:latin typeface="Comic Sans MS"/>
              </a:defRPr>
            </a:pPr>
            <a:r>
              <a:t>DAY 25 •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"/>
            <a:ext cx="923544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265D82"/>
                </a:solidFill>
                <a:latin typeface="Comic Sans MS"/>
              </a:defRPr>
            </a:pPr>
            <a:r>
              <a:t>📌 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914400"/>
            <a:ext cx="1065276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0">
                <a:solidFill>
                  <a:srgbClr val="24221E"/>
                </a:solidFill>
                <a:latin typeface="Comic Sans MS"/>
              </a:defRPr>
            </a:pPr>
            <a:r>
              <a:t>✓ Anagram = same characters + same frequencies</a:t>
            </a:r>
            <a:br/>
            <a:r>
              <a:t>✓ Character order is irrelevant</a:t>
            </a:r>
            <a:br/>
            <a:r>
              <a:t>✓ Sorting → O(n log n)</a:t>
            </a:r>
            <a:br/>
            <a:r>
              <a:t>✓ Frequency counting → O(n)</a:t>
            </a:r>
            <a:br/>
            <a:r>
              <a:t>✓ Fixed alphabet → frequency array</a:t>
            </a:r>
            <a:br/>
            <a:r>
              <a:t>✓ Flexible alphabet → hash map</a:t>
            </a:r>
            <a:br/>
            <a:r>
              <a:t>✓ Anagrams lead naturally to grouping + sliding-window patterns</a:t>
            </a:r>
            <a:br/>
            <a:br/>
            <a:r>
              <a:t>ONE-LINE MEMORY TRICK:</a:t>
            </a:r>
            <a:br/>
            <a:r>
              <a:t>"Don't compare the order. Compare the counts."</a:t>
            </a:r>
          </a:p>
        </p:txBody>
      </p:sp>
      <p:sp>
        <p:nvSpPr>
          <p:cNvPr id="12" name="Arc 11"/>
          <p:cNvSpPr/>
          <p:nvPr/>
        </p:nvSpPr>
        <p:spPr>
          <a:xfrm>
            <a:off x="10652760" y="320040"/>
            <a:ext cx="640080" cy="411480"/>
          </a:xfrm>
          <a:prstGeom prst="arc">
            <a:avLst/>
          </a:prstGeom>
          <a:noFill/>
          <a:ln>
            <a:solidFill>
              <a:srgbClr val="BE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566928" y="6446520"/>
            <a:ext cx="4572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1">
                <a:solidFill>
                  <a:srgbClr val="265D82"/>
                </a:solidFill>
                <a:latin typeface="Aptos"/>
              </a:defRPr>
            </a:pPr>
            <a:r>
              <a:t>GitHub: 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446520"/>
            <a:ext cx="4160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24221E"/>
                </a:solidFill>
                <a:latin typeface="Aptos"/>
              </a:defRPr>
            </a:pPr>
            <a:r>
              <a:t>19/20  •  DSA From Scratch → Advanced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594360" y="6144768"/>
            <a:ext cx="731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800" b="1">
                <a:solidFill>
                  <a:srgbClr val="265D82"/>
                </a:solidFill>
                <a:latin typeface="Aptos"/>
              </a:defRPr>
            </a:pPr>
            <a:r>
              <a:t>← PREV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0744200" y="6144768"/>
            <a:ext cx="777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800" b="1">
                <a:solidFill>
                  <a:srgbClr val="265D82"/>
                </a:solidFill>
                <a:latin typeface="Aptos"/>
              </a:defRPr>
            </a:pPr>
            <a:r>
              <a:t>NEXT 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1430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6596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8892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43484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57800"/>
            <a:ext cx="11201400" cy="10972"/>
          </a:xfrm>
          <a:prstGeom prst="rect">
            <a:avLst/>
          </a:prstGeom>
          <a:solidFill>
            <a:srgbClr val="DC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56032"/>
            <a:ext cx="1325880" cy="384048"/>
          </a:xfrm>
          <a:prstGeom prst="roundRect">
            <a:avLst/>
          </a:prstGeom>
          <a:solidFill>
            <a:srgbClr val="F7D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3464"/>
            <a:ext cx="1188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24221E"/>
                </a:solidFill>
                <a:latin typeface="Comic Sans MS"/>
              </a:defRPr>
            </a:pPr>
            <a:r>
              <a:t>DAY 25 •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"/>
            <a:ext cx="9235440" cy="5303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265D82"/>
                </a:solidFill>
                <a:latin typeface="Comic Sans MS"/>
              </a:defRPr>
            </a:pPr>
            <a:r>
              <a:t>🔮 TOMORROW — DAY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914400"/>
            <a:ext cx="1065276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0">
                <a:solidFill>
                  <a:srgbClr val="24221E"/>
                </a:solidFill>
                <a:latin typeface="Comic Sans MS"/>
              </a:defRPr>
            </a:pPr>
            <a:r>
              <a:t>NEXT TOPIC: SUBARRAYS</a:t>
            </a:r>
            <a:br/>
            <a:br/>
            <a:r>
              <a:t>We now move from strings to arrays.</a:t>
            </a:r>
            <a:br/>
            <a:br/>
            <a:r>
              <a:t>Coming next:</a:t>
            </a:r>
            <a:br/>
            <a:r>
              <a:t>• What is a subarray?</a:t>
            </a:r>
            <a:br/>
            <a:r>
              <a:t>• Subarray vs subsequence</a:t>
            </a:r>
            <a:br/>
            <a:r>
              <a:t>• How to enumerate subarrays</a:t>
            </a:r>
            <a:br/>
            <a:r>
              <a:t>• Prefix-sum connection</a:t>
            </a:r>
            <a:br/>
            <a:r>
              <a:t>• Interview patterns</a:t>
            </a:r>
            <a:br/>
            <a:br/>
            <a:r>
              <a:t>ONE DAY. ONE CONCEPT. ONE STEP FORWARD.</a:t>
            </a:r>
          </a:p>
        </p:txBody>
      </p:sp>
      <p:sp>
        <p:nvSpPr>
          <p:cNvPr id="12" name="Arc 11"/>
          <p:cNvSpPr/>
          <p:nvPr/>
        </p:nvSpPr>
        <p:spPr>
          <a:xfrm>
            <a:off x="10652760" y="320040"/>
            <a:ext cx="640080" cy="411480"/>
          </a:xfrm>
          <a:prstGeom prst="arc">
            <a:avLst/>
          </a:prstGeom>
          <a:noFill/>
          <a:ln>
            <a:solidFill>
              <a:srgbClr val="BE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566928" y="6446520"/>
            <a:ext cx="4572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950" b="1">
                <a:solidFill>
                  <a:srgbClr val="265D82"/>
                </a:solidFill>
                <a:latin typeface="Aptos"/>
              </a:defRPr>
            </a:pPr>
            <a:r>
              <a:t>GitHub: 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446520"/>
            <a:ext cx="4160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24221E"/>
                </a:solidFill>
                <a:latin typeface="Aptos"/>
              </a:defRPr>
            </a:pPr>
            <a:r>
              <a:t>20/20  •  DSA From Scratch → Advanced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594360" y="6144768"/>
            <a:ext cx="731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800" b="1">
                <a:solidFill>
                  <a:srgbClr val="265D82"/>
                </a:solidFill>
                <a:latin typeface="Aptos"/>
              </a:defRPr>
            </a:pPr>
            <a:r>
              <a:t>← PREV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