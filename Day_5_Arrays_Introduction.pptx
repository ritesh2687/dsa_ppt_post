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CBEFF"/>
                </a:solidFill>
              </a:defRPr>
            </a:pPr>
            <a:r>
              <a:t>DAY 5</a:t>
            </a:r>
          </a:p>
          <a:p>
            <a:pPr>
              <a:defRPr sz="4200" b="1">
                <a:solidFill>
                  <a:srgbClr val="F5F7FA"/>
                </a:solidFill>
              </a:defRPr>
            </a:pPr>
            <a:r>
              <a:t>Arrays — Introduction</a:t>
            </a:r>
          </a:p>
          <a:p>
            <a:pPr>
              <a:defRPr sz="1700">
                <a:solidFill>
                  <a:srgbClr val="B4BECD"/>
                </a:solidFill>
              </a:defRPr>
            </a:pPr>
            <a:r>
              <a:t>Concept → Example → Implementation → Complexity → Pattern → Problems →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🧠 What is an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A fundamental linear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An array stores multiple values of the same data type.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Elements are stored in contiguous memory locations.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Each element is accessed using an index.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In C++, indexing starts from 0.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Example: int arr[5] = {10, 20, 30, 40, 50};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❓ Why Do We Need Arrays?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Store many related values under one variable name.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Fast random access using an index.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Easy traversal with loops.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Useful foundation for strings, matrices, heaps, hashing, and many algorithms.</a:t>
            </a:r>
          </a:p>
          <a:p>
            <a:pPr>
              <a:spcAft>
                <a:spcPts val="1200"/>
              </a:spcAft>
              <a:defRPr sz="2100" b="0">
                <a:solidFill>
                  <a:srgbClr val="F5F7FA"/>
                </a:solidFill>
              </a:defRPr>
            </a:pPr>
            <a:r>
              <a:t>Instead of: int a, b, c, d, e; → use: int arr[5];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⚙️ How Does an Array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Think of an array as numbered boxes placed next to each other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141A2B"/>
          </a:solidFill>
          <a:ln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7FA"/>
                </a:solidFill>
                <a:latin typeface="Consolas"/>
              </a:defRPr>
            </a:pPr>
            <a:r>
              <a:t>Index:    0     1     2     3     4</a:t>
            </a:r>
            <a:br/>
            <a:r>
              <a:t>Value:   [10]  [20]  [30]  [40]  [50]</a:t>
            </a:r>
            <a:br/>
            <a:br/>
            <a:r>
              <a:t>arr[0] → 10</a:t>
            </a:r>
            <a:br/>
            <a:r>
              <a:t>arr[2] → 30</a:t>
            </a:r>
            <a:br/>
            <a:r>
              <a:t>arr[4] → 50</a:t>
            </a:r>
            <a:br/>
            <a:br/>
            <a:r>
              <a:t>Address of arr[i] = base_address + i × sizeof(data_type)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💻 C++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Declaration, initialization, access, update, traversal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141A2B"/>
          </a:solidFill>
          <a:ln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7FA"/>
                </a:solidFill>
                <a:latin typeface="Consolas"/>
              </a:defRPr>
            </a:pPr>
            <a:r>
              <a:t>#include &lt;iostream&gt;</a:t>
            </a:r>
            <a:br/>
            <a:r>
              <a:t>using namespace std;</a:t>
            </a:r>
            <a:br/>
            <a:br/>
            <a:r>
              <a:t>int main() {</a:t>
            </a:r>
            <a:br/>
            <a:r>
              <a:t>    int arr[5] = {10, 20, 30, 40, 50};</a:t>
            </a:r>
            <a:br/>
            <a:br/>
            <a:r>
              <a:t>    cout &lt;&lt; arr[2] &lt;&lt; endl;   // 30</a:t>
            </a:r>
            <a:br/>
            <a:br/>
            <a:r>
              <a:t>    arr[2] = 99;              // update</a:t>
            </a:r>
            <a:br/>
            <a:br/>
            <a:r>
              <a:t>    for (int i = 0; i &lt; 5; i++) {</a:t>
            </a:r>
            <a:br/>
            <a:r>
              <a:t>        cout &lt;&lt; arr[i] &lt;&lt; " ";</a:t>
            </a:r>
            <a:br/>
            <a:r>
              <a:t>    }</a:t>
            </a:r>
            <a:br/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🔍 Example — Find the Maximum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Pattern: Traverse → Compare →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141A2B"/>
          </a:solidFill>
          <a:ln>
            <a:solidFill>
              <a:srgbClr val="2D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7FA"/>
                </a:solidFill>
                <a:latin typeface="Consolas"/>
              </a:defRPr>
            </a:pPr>
            <a:r>
              <a:t>int arr[] = {7, 2, 9, 4, 5};</a:t>
            </a:r>
            <a:br/>
            <a:r>
              <a:t>int n = 5;</a:t>
            </a:r>
            <a:br/>
            <a:br/>
            <a:r>
              <a:t>int mx = arr[0];</a:t>
            </a:r>
            <a:br/>
            <a:br/>
            <a:r>
              <a:t>for (int i = 1; i &lt; n; i++) {</a:t>
            </a:r>
            <a:br/>
            <a:r>
              <a:t>    if (arr[i] &gt; mx)</a:t>
            </a:r>
            <a:br/>
            <a:r>
              <a:t>        mx = arr[i];</a:t>
            </a:r>
            <a:br/>
            <a:r>
              <a:t>}</a:t>
            </a:r>
            <a:br/>
            <a:br/>
            <a:r>
              <a:t>cout &lt;&lt; mx;   //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F5F7FA"/>
                </a:solidFill>
              </a:defRPr>
            </a:pPr>
            <a:r>
              <a:t>Start with the first element as the current maximum.</a:t>
            </a:r>
          </a:p>
          <a:p>
            <a:pPr>
              <a:spcAft>
                <a:spcPts val="1200"/>
              </a:spcAft>
              <a:defRPr sz="1500" b="0">
                <a:solidFill>
                  <a:srgbClr val="F5F7FA"/>
                </a:solidFill>
              </a:defRPr>
            </a:pPr>
            <a:r>
              <a:t>Compare every next element with mx.</a:t>
            </a:r>
          </a:p>
          <a:p>
            <a:pPr>
              <a:spcAft>
                <a:spcPts val="1200"/>
              </a:spcAft>
              <a:defRPr sz="1500" b="0">
                <a:solidFill>
                  <a:srgbClr val="F5F7FA"/>
                </a:solidFill>
              </a:defRPr>
            </a:pPr>
            <a:r>
              <a:t>Update mx whenever a larger value is found.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⏱️ Time &amp; Space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Know the cost of common array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5F7FA"/>
                </a:solidFill>
              </a:defRPr>
            </a:pPr>
            <a:r>
              <a:t>Access arr[i] → O(1)</a:t>
            </a:r>
          </a:p>
          <a:p>
            <a:pPr>
              <a:spcAft>
                <a:spcPts val="1200"/>
              </a:spcAft>
              <a:defRPr sz="1900" b="0">
                <a:solidFill>
                  <a:srgbClr val="F5F7FA"/>
                </a:solidFill>
              </a:defRPr>
            </a:pPr>
            <a:r>
              <a:t>Update arr[i] → O(1)</a:t>
            </a:r>
          </a:p>
          <a:p>
            <a:pPr>
              <a:spcAft>
                <a:spcPts val="1200"/>
              </a:spcAft>
              <a:defRPr sz="1900" b="0">
                <a:solidFill>
                  <a:srgbClr val="F5F7FA"/>
                </a:solidFill>
              </a:defRPr>
            </a:pPr>
            <a:r>
              <a:t>Traverse all n elements → O(n)</a:t>
            </a:r>
          </a:p>
          <a:p>
            <a:pPr>
              <a:spcAft>
                <a:spcPts val="1200"/>
              </a:spcAft>
              <a:defRPr sz="1900" b="0">
                <a:solidFill>
                  <a:srgbClr val="F5F7FA"/>
                </a:solidFill>
              </a:defRPr>
            </a:pPr>
            <a:r>
              <a:t>Linear search → O(n)</a:t>
            </a:r>
          </a:p>
          <a:p>
            <a:pPr>
              <a:spcAft>
                <a:spcPts val="1200"/>
              </a:spcAft>
              <a:defRPr sz="1900" b="0">
                <a:solidFill>
                  <a:srgbClr val="F5F7FA"/>
                </a:solidFill>
              </a:defRPr>
            </a:pPr>
            <a:r>
              <a:t>Insert/delete in the middle of a fixed array → O(n)</a:t>
            </a:r>
          </a:p>
          <a:p>
            <a:pPr>
              <a:spcAft>
                <a:spcPts val="1200"/>
              </a:spcAft>
              <a:defRPr sz="1900" b="0">
                <a:solidFill>
                  <a:srgbClr val="F5F7FA"/>
                </a:solidFill>
              </a:defRPr>
            </a:pPr>
            <a:r>
              <a:t>Extra space for simple in-place traversal → O(1)</a:t>
            </a:r>
          </a:p>
          <a:p>
            <a:pPr>
              <a:spcAft>
                <a:spcPts val="1200"/>
              </a:spcAft>
              <a:defRPr sz="1900" b="0">
                <a:solidFill>
                  <a:srgbClr val="F5F7FA"/>
                </a:solidFill>
              </a:defRPr>
            </a:pPr>
            <a:r>
              <a:t>Note: a fixed C++ array has a fixed size; std::vector is preferred when size can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🧩 3 LeetCode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Start with simple array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7FA"/>
                </a:solidFill>
              </a:defRPr>
            </a:pPr>
            <a:r>
              <a:t>1. Two Sum — Hashing + array traversal</a:t>
            </a:r>
          </a:p>
          <a:p>
            <a:pPr lvl="1">
              <a:spcAft>
                <a:spcPts val="1200"/>
              </a:spcAft>
              <a:defRPr sz="1500">
                <a:solidFill>
                  <a:srgbClr val="B4BECD"/>
                </a:solidFill>
              </a:defRPr>
            </a:pPr>
            <a:r>
              <a:t>Goal: find two indices whose values add up to target.</a:t>
            </a:r>
          </a:p>
          <a:p>
            <a:pPr>
              <a:spcAft>
                <a:spcPts val="1200"/>
              </a:spcAft>
              <a:defRPr sz="1800" b="0">
                <a:solidFill>
                  <a:srgbClr val="F5F7FA"/>
                </a:solidFill>
              </a:defRPr>
            </a:pPr>
            <a:r>
              <a:t>2. 1480. Running Sum of 1d Array — Prefix-sum idea</a:t>
            </a:r>
          </a:p>
          <a:p>
            <a:pPr lvl="1">
              <a:spcAft>
                <a:spcPts val="1200"/>
              </a:spcAft>
              <a:defRPr sz="1500">
                <a:solidFill>
                  <a:srgbClr val="B4BECD"/>
                </a:solidFill>
              </a:defRPr>
            </a:pPr>
            <a:r>
              <a:t>Goal: build cumulative sums from left to right.</a:t>
            </a:r>
          </a:p>
          <a:p>
            <a:pPr>
              <a:spcAft>
                <a:spcPts val="1200"/>
              </a:spcAft>
              <a:defRPr sz="1800" b="0">
                <a:solidFill>
                  <a:srgbClr val="F5F7FA"/>
                </a:solidFill>
              </a:defRPr>
            </a:pPr>
            <a:r>
              <a:t>3. 1929. Concatenation of Array — Basic array manipulation</a:t>
            </a:r>
          </a:p>
          <a:p>
            <a:pPr lvl="1">
              <a:spcAft>
                <a:spcPts val="1200"/>
              </a:spcAft>
              <a:defRPr sz="1500">
                <a:solidFill>
                  <a:srgbClr val="B4BECD"/>
                </a:solidFill>
              </a:defRPr>
            </a:pPr>
            <a:r>
              <a:t>Goal: create an array containing nums followed by nums.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💡 Interview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Don't just memorize O(1)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7FA"/>
                </a:solidFill>
              </a:defRPr>
            </a:pPr>
            <a:r>
              <a:t>When an interviewer asks about an array, explain:</a:t>
            </a:r>
          </a:p>
          <a:p>
            <a:pPr lvl="1">
              <a:spcAft>
                <a:spcPts val="1200"/>
              </a:spcAft>
              <a:defRPr sz="1500">
                <a:solidFill>
                  <a:srgbClr val="B4BECD"/>
                </a:solidFill>
              </a:defRPr>
            </a:pPr>
            <a:r>
              <a:t>1. Access pattern: index-based access is O(1).</a:t>
            </a:r>
          </a:p>
          <a:p>
            <a:pPr lvl="1">
              <a:spcAft>
                <a:spcPts val="1200"/>
              </a:spcAft>
              <a:defRPr sz="1500">
                <a:solidFill>
                  <a:srgbClr val="B4BECD"/>
                </a:solidFill>
              </a:defRPr>
            </a:pPr>
            <a:r>
              <a:t>2. Size: fixed array vs dynamic array/vector.</a:t>
            </a:r>
          </a:p>
          <a:p>
            <a:pPr lvl="1">
              <a:spcAft>
                <a:spcPts val="1200"/>
              </a:spcAft>
              <a:defRPr sz="1500">
                <a:solidFill>
                  <a:srgbClr val="B4BECD"/>
                </a:solidFill>
              </a:defRPr>
            </a:pPr>
            <a:r>
              <a:t>3. Operation: access, search, insert, or delete.</a:t>
            </a:r>
          </a:p>
          <a:p>
            <a:pPr lvl="1">
              <a:spcAft>
                <a:spcPts val="1200"/>
              </a:spcAft>
              <a:defRPr sz="1500">
                <a:solidFill>
                  <a:srgbClr val="B4BECD"/>
                </a:solidFill>
              </a:defRPr>
            </a:pPr>
            <a:r>
              <a:t>4. Trade-off: contiguous memory gives fast access but middle insertion/deletion can be costly.</a:t>
            </a:r>
          </a:p>
          <a:p>
            <a:pPr>
              <a:spcAft>
                <a:spcPts val="1200"/>
              </a:spcAft>
              <a:defRPr sz="1800" b="0">
                <a:solidFill>
                  <a:srgbClr val="F5F7FA"/>
                </a:solidFill>
              </a:defRPr>
            </a:pPr>
            <a:r>
              <a:t>A strong answer connects the data structure to the operation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🧠 Core Array Patterns to Learn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Traversal</a:t>
            </a:r>
          </a:p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Two Pointers</a:t>
            </a:r>
          </a:p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Sliding Window</a:t>
            </a:r>
          </a:p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Prefix Sum</a:t>
            </a:r>
          </a:p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Kadane's Algorithm</a:t>
            </a:r>
          </a:p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Binary Search on sorted arrays</a:t>
            </a:r>
          </a:p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Frequency / Hashing</a:t>
            </a:r>
          </a:p>
          <a:p>
            <a:pPr>
              <a:spcAft>
                <a:spcPts val="1200"/>
              </a:spcAft>
              <a:defRPr sz="2000" b="0">
                <a:solidFill>
                  <a:srgbClr val="F5F7FA"/>
                </a:solidFill>
              </a:defRPr>
            </a:pPr>
            <a:r>
              <a:t>These patterns turn basic array knowledge into interview-ready problem solving.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📚 What I'll Learn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Day 6 — Array Operations &amp;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Insertion &amp; deletion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Searching in arrays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Traversal techniques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Two Pointers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Basic array problem-solving patterns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More C++ practice + interview-style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🎯 Day 5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ECD"/>
                </a:solidFill>
              </a:defRPr>
            </a:pPr>
            <a:r>
              <a:t>Master the basics before jumping to advanced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Arrays = same-type elements stored in contiguous memory.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Indexing gives O(1) access.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Traversal/search generally takes O(n).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Arrays are the foundation for many DSA patterns.</a:t>
            </a:r>
          </a:p>
          <a:p>
            <a:pPr>
              <a:spcAft>
                <a:spcPts val="1200"/>
              </a:spcAft>
              <a:defRPr sz="2200" b="0">
                <a:solidFill>
                  <a:srgbClr val="F5F7FA"/>
                </a:solidFill>
              </a:defRPr>
            </a:pPr>
            <a:r>
              <a:t>Next step: learn operations + patterns and solve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CD"/>
                </a:solidFill>
              </a:defRPr>
            </a:pPr>
            <a:r>
              <a:t>DSA From Scratch to Advanced  •  DAY 5  •  Arrays —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