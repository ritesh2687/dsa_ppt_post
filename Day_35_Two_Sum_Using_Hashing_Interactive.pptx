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58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96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35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573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981199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050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6289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9527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2766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6004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9243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42481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8958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2197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5435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8674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1912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151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0"/>
            <a:ext cx="10972" cy="6858000"/>
          </a:xfrm>
          <a:prstGeom prst="rect">
            <a:avLst/>
          </a:prstGeom>
          <a:solidFill>
            <a:srgbClr val="E8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02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5E78"/>
                </a:solidFill>
                <a:latin typeface="Aptos"/>
              </a:rPr>
              <a:t>DSA FROM SCRATCH → ADVANCED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117043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23262A"/>
                </a:solidFill>
                <a:latin typeface="Aptos Display"/>
              </a:rPr>
              <a:t>DAY 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1828800"/>
            <a:ext cx="749807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3262A"/>
                </a:solidFill>
                <a:latin typeface="Aptos Display"/>
              </a:rPr>
              <a:t>TWO SUM
USING HASHING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40156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067"/>
                </a:solidFill>
                <a:latin typeface="Aptos"/>
              </a:rPr>
              <a:t>From nested loops → one-pass lookup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041648"/>
            <a:ext cx="1691640" cy="347472"/>
          </a:xfrm>
          <a:prstGeom prst="roundRect">
            <a:avLst/>
          </a:prstGeom>
          <a:solidFill>
            <a:srgbClr val="285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078224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ARRAY + HASHING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51760" y="4041648"/>
            <a:ext cx="1874519" cy="347472"/>
          </a:xfrm>
          <a:prstGeom prst="roundRect">
            <a:avLst/>
          </a:prstGeom>
          <a:solidFill>
            <a:srgbClr val="41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4078224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INTERVIEW PATTERN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58200" y="1234440"/>
            <a:ext cx="278892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59368" y="1399032"/>
            <a:ext cx="2386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59648"/>
                </a:solidFill>
                <a:latin typeface="Aptos"/>
              </a:rPr>
              <a:t>TODAY'S TARGET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59368" y="1801368"/>
            <a:ext cx="238658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Find two indices whose values add up to a target.
Think:
value → complement → lookup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647395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67"/>
                </a:solidFill>
                <a:latin typeface="Aptos"/>
              </a:rPr>
              <a:t>01  |  DSA From Scratch → Advanced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6437376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285E78"/>
                </a:solidFill>
                <a:latin typeface="Aptos"/>
              </a:rPr>
              <a:t>https://github.com/ritesh2687/dsa_ppt_post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58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96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35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573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981199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050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6289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9527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2766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6004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9243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42481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8958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2197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5435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8674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1912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151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0"/>
            <a:ext cx="10972" cy="6858000"/>
          </a:xfrm>
          <a:prstGeom prst="rect">
            <a:avLst/>
          </a:prstGeom>
          <a:solidFill>
            <a:srgbClr val="E8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20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5E78"/>
                </a:solidFill>
                <a:latin typeface="Aptos"/>
              </a:rPr>
              <a:t>DAY 35  •  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62A"/>
                </a:solidFill>
                <a:latin typeface="Aptos Display"/>
              </a:rPr>
              <a:t>Learning 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12984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067"/>
                </a:solidFill>
                <a:latin typeface="Aptos"/>
              </a:rPr>
              <a:t>A quick route before we code.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1719072"/>
            <a:ext cx="1920240" cy="22860"/>
          </a:xfrm>
          <a:prstGeom prst="rect">
            <a:avLst/>
          </a:prstGeom>
          <a:solidFill>
            <a:srgbClr val="D5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192024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2084832"/>
            <a:ext cx="2843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5E78"/>
                </a:solidFill>
                <a:latin typeface="Aptos"/>
              </a:rPr>
              <a:t>01  Problem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2487168"/>
            <a:ext cx="2843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What exactly are we searching for?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26280" y="192024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27448" y="2084832"/>
            <a:ext cx="2843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5E78"/>
                </a:solidFill>
                <a:latin typeface="Aptos"/>
              </a:rPr>
              <a:t>02  Brute Force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27448" y="2487168"/>
            <a:ext cx="2843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Try every pair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192024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30768" y="2084832"/>
            <a:ext cx="2843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5E78"/>
                </a:solidFill>
                <a:latin typeface="Aptos"/>
              </a:rPr>
              <a:t>03  Hashing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2487168"/>
            <a:ext cx="2843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Remember what we've seen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3749039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" y="3913631"/>
            <a:ext cx="2843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17858"/>
                </a:solidFill>
                <a:latin typeface="Aptos"/>
              </a:rPr>
              <a:t>04  Dry Run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" y="4315968"/>
            <a:ext cx="2843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Trace the optimized idea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26280" y="3749039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27448" y="3913631"/>
            <a:ext cx="2843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17858"/>
                </a:solidFill>
                <a:latin typeface="Aptos"/>
              </a:rPr>
              <a:t>05 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27448" y="4315968"/>
            <a:ext cx="2843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Clean C++ implementation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3749039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30768" y="3913631"/>
            <a:ext cx="2843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17858"/>
                </a:solidFill>
                <a:latin typeface="Aptos"/>
              </a:rPr>
              <a:t>06  Pattern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0768" y="4315968"/>
            <a:ext cx="2843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Recognize it in interviews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" y="647395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67"/>
                </a:solidFill>
                <a:latin typeface="Aptos"/>
              </a:rPr>
              <a:t>02  |  DSA From Scratch → Advanced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0" y="6437376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285E78"/>
                </a:solidFill>
                <a:latin typeface="Aptos"/>
              </a:rPr>
              <a:t>https://github.com/ritesh2687/dsa_ppt_post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58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96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35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573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981199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050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6289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9527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2766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6004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9243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42481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8958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2197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5435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8674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1912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151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0"/>
            <a:ext cx="10972" cy="6858000"/>
          </a:xfrm>
          <a:prstGeom prst="rect">
            <a:avLst/>
          </a:prstGeom>
          <a:solidFill>
            <a:srgbClr val="E8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20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5E78"/>
                </a:solidFill>
                <a:latin typeface="Aptos"/>
              </a:rPr>
              <a:t>DAY 35  • 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62A"/>
                </a:solidFill>
                <a:latin typeface="Aptos Display"/>
              </a:rPr>
              <a:t>What is Two Sum?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12984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067"/>
                </a:solidFill>
                <a:latin typeface="Aptos"/>
              </a:rPr>
              <a:t>Classic problem: find a pair that reaches the target.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1719072"/>
            <a:ext cx="1920240" cy="22860"/>
          </a:xfrm>
          <a:prstGeom prst="rect">
            <a:avLst/>
          </a:prstGeom>
          <a:solidFill>
            <a:srgbClr val="D5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1965960"/>
            <a:ext cx="4572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2130552"/>
            <a:ext cx="41696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5E78"/>
                </a:solidFill>
                <a:latin typeface="Aptos"/>
              </a:rPr>
              <a:t>INPUT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2532888"/>
            <a:ext cx="4169663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Array: [2, 7, 11, 15]
Target: 9
Question:
Which two indices have values adding to 9?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23560" y="1965960"/>
            <a:ext cx="52120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24728" y="2130552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17858"/>
                </a:solidFill>
                <a:latin typeface="Aptos"/>
              </a:rPr>
              <a:t>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24728" y="2532888"/>
            <a:ext cx="480974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Answer: [0, 1]
Because:
2 + 7 = 9
The output is usually indices,
not the two values.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77639" y="5321808"/>
            <a:ext cx="3657600" cy="347472"/>
          </a:xfrm>
          <a:prstGeom prst="roundRect">
            <a:avLst/>
          </a:prstGeom>
          <a:solidFill>
            <a:srgbClr val="D5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77639" y="535838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KEY IDEA  →  pair sum = target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647395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67"/>
                </a:solidFill>
                <a:latin typeface="Aptos"/>
              </a:rPr>
              <a:t>03  |  DSA From Scratch → Advanced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6437376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285E78"/>
                </a:solidFill>
                <a:latin typeface="Aptos"/>
              </a:rPr>
              <a:t>https://github.com/ritesh2687/dsa_ppt_post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58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96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35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573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981199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050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6289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9527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2766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6004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9243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42481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8958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2197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5435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8674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1912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151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0"/>
            <a:ext cx="10972" cy="6858000"/>
          </a:xfrm>
          <a:prstGeom prst="rect">
            <a:avLst/>
          </a:prstGeom>
          <a:solidFill>
            <a:srgbClr val="E8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20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5E78"/>
                </a:solidFill>
                <a:latin typeface="Aptos"/>
              </a:rPr>
              <a:t>DAY 35  • 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62A"/>
                </a:solidFill>
                <a:latin typeface="Aptos Display"/>
              </a:rPr>
              <a:t>Brute Force approach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12984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067"/>
                </a:solidFill>
                <a:latin typeface="Aptos"/>
              </a:rPr>
              <a:t>The direct idea: check every pair.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1719072"/>
            <a:ext cx="1920240" cy="22860"/>
          </a:xfrm>
          <a:prstGeom prst="rect">
            <a:avLst/>
          </a:prstGeom>
          <a:solidFill>
            <a:srgbClr val="D5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1874519"/>
            <a:ext cx="5852160" cy="3474720"/>
          </a:xfrm>
          <a:prstGeom prst="roundRect">
            <a:avLst/>
          </a:prstGeom>
          <a:solidFill>
            <a:srgbClr val="22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20025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59648"/>
                </a:solidFill>
                <a:latin typeface="Aptos"/>
              </a:rPr>
              <a:t>C++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2313432"/>
            <a:ext cx="5449824" cy="29077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150">
                <a:solidFill>
                  <a:srgbClr val="EBEEF0"/>
                </a:solidFill>
                <a:latin typeface="Consolas"/>
              </a:rPr>
              <a:t>for (int i = 0; i &lt; n; i++) {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BEEF0"/>
                </a:solidFill>
                <a:latin typeface="Consolas"/>
              </a:rPr>
              <a:t>    for (int j = i + 1; j &lt; n; j++) {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BEEF0"/>
                </a:solidFill>
                <a:latin typeface="Consolas"/>
              </a:rPr>
              <a:t>        if (nums[i] + nums[j] == target)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BEEF0"/>
                </a:solidFill>
                <a:latin typeface="Consolas"/>
              </a:rPr>
              <a:t>            return {i, j};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BEEF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BEEF0"/>
                </a:solidFill>
                <a:latin typeface="Consolas"/>
              </a:rPr>
              <a:t>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95160" y="1874519"/>
            <a:ext cx="38862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96328" y="2039112"/>
            <a:ext cx="3483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59648"/>
                </a:solidFill>
                <a:latin typeface="Aptos"/>
              </a:rPr>
              <a:t>HOW IT THINKS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96328" y="2441448"/>
            <a:ext cx="348386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Pick i
→ pair it with every j
→ compare sum with target
→ repeat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5596128"/>
            <a:ext cx="1508760" cy="347472"/>
          </a:xfrm>
          <a:prstGeom prst="roundRect">
            <a:avLst/>
          </a:prstGeom>
          <a:solidFill>
            <a:srgbClr val="A64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63270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TIME: O(n²)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0" y="5596128"/>
            <a:ext cx="1508760" cy="347472"/>
          </a:xfrm>
          <a:prstGeom prst="roundRect">
            <a:avLst/>
          </a:prstGeom>
          <a:solidFill>
            <a:srgbClr val="41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0" y="563270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SPACE: O(1)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647395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67"/>
                </a:solidFill>
                <a:latin typeface="Aptos"/>
              </a:rPr>
              <a:t>04  |  DSA From Scratch → Advanced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6437376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285E78"/>
                </a:solidFill>
                <a:latin typeface="Aptos"/>
              </a:rPr>
              <a:t>https://github.com/ritesh2687/dsa_ppt_post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58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96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35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573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981199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050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6289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9527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2766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6004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9243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42481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8958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2197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5435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8674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1912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151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0"/>
            <a:ext cx="10972" cy="6858000"/>
          </a:xfrm>
          <a:prstGeom prst="rect">
            <a:avLst/>
          </a:prstGeom>
          <a:solidFill>
            <a:srgbClr val="E8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20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5E78"/>
                </a:solidFill>
                <a:latin typeface="Aptos"/>
              </a:rPr>
              <a:t>DAY 35  •  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62A"/>
                </a:solidFill>
                <a:latin typeface="Aptos Display"/>
              </a:rPr>
              <a:t>Why brute force slows 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12984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067"/>
                </a:solidFill>
                <a:latin typeface="Aptos"/>
              </a:rPr>
              <a:t>The same work gets repeated.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1719072"/>
            <a:ext cx="1920240" cy="22860"/>
          </a:xfrm>
          <a:prstGeom prst="rect">
            <a:avLst/>
          </a:prstGeom>
          <a:solidFill>
            <a:srgbClr val="D5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1874519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62A"/>
                </a:solidFill>
                <a:latin typeface="Aptos"/>
              </a:rPr>
              <a:t>For n elements, the number of pairs grows roughly like n².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2606040"/>
            <a:ext cx="457200" cy="292608"/>
          </a:xfrm>
          <a:prstGeom prst="roundRect">
            <a:avLst/>
          </a:prstGeom>
          <a:solidFill>
            <a:srgbClr val="F8F6F0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463040" y="2606040"/>
            <a:ext cx="457200" cy="292608"/>
          </a:xfrm>
          <a:prstGeom prst="roundRect">
            <a:avLst/>
          </a:prstGeom>
          <a:solidFill>
            <a:srgbClr val="E5EBEE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057400" y="2606040"/>
            <a:ext cx="457200" cy="292608"/>
          </a:xfrm>
          <a:prstGeom prst="roundRect">
            <a:avLst/>
          </a:prstGeom>
          <a:solidFill>
            <a:srgbClr val="E5EBEE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651760" y="2606040"/>
            <a:ext cx="457200" cy="292608"/>
          </a:xfrm>
          <a:prstGeom prst="roundRect">
            <a:avLst/>
          </a:prstGeom>
          <a:solidFill>
            <a:srgbClr val="E5EBEE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46120" y="2606040"/>
            <a:ext cx="457200" cy="292608"/>
          </a:xfrm>
          <a:prstGeom prst="roundRect">
            <a:avLst/>
          </a:prstGeom>
          <a:solidFill>
            <a:srgbClr val="E5EBEE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840480" y="2606040"/>
            <a:ext cx="457200" cy="292608"/>
          </a:xfrm>
          <a:prstGeom prst="roundRect">
            <a:avLst/>
          </a:prstGeom>
          <a:solidFill>
            <a:srgbClr val="E5EBEE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8680" y="3044952"/>
            <a:ext cx="457200" cy="292608"/>
          </a:xfrm>
          <a:prstGeom prst="roundRect">
            <a:avLst/>
          </a:prstGeom>
          <a:solidFill>
            <a:srgbClr val="F8F6F0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463040" y="3044952"/>
            <a:ext cx="457200" cy="292608"/>
          </a:xfrm>
          <a:prstGeom prst="roundRect">
            <a:avLst/>
          </a:prstGeom>
          <a:solidFill>
            <a:srgbClr val="F8F6F0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057400" y="3044952"/>
            <a:ext cx="457200" cy="292608"/>
          </a:xfrm>
          <a:prstGeom prst="roundRect">
            <a:avLst/>
          </a:prstGeom>
          <a:solidFill>
            <a:srgbClr val="E5EBEE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651760" y="3044952"/>
            <a:ext cx="457200" cy="292608"/>
          </a:xfrm>
          <a:prstGeom prst="roundRect">
            <a:avLst/>
          </a:prstGeom>
          <a:solidFill>
            <a:srgbClr val="E5EBEE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246120" y="3044952"/>
            <a:ext cx="457200" cy="292608"/>
          </a:xfrm>
          <a:prstGeom prst="roundRect">
            <a:avLst/>
          </a:prstGeom>
          <a:solidFill>
            <a:srgbClr val="E5EBEE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840480" y="3044952"/>
            <a:ext cx="457200" cy="292608"/>
          </a:xfrm>
          <a:prstGeom prst="roundRect">
            <a:avLst/>
          </a:prstGeom>
          <a:solidFill>
            <a:srgbClr val="E5EBEE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68680" y="3483864"/>
            <a:ext cx="457200" cy="292608"/>
          </a:xfrm>
          <a:prstGeom prst="roundRect">
            <a:avLst/>
          </a:prstGeom>
          <a:solidFill>
            <a:srgbClr val="F8F6F0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463040" y="3483864"/>
            <a:ext cx="457200" cy="292608"/>
          </a:xfrm>
          <a:prstGeom prst="roundRect">
            <a:avLst/>
          </a:prstGeom>
          <a:solidFill>
            <a:srgbClr val="F8F6F0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057400" y="3483864"/>
            <a:ext cx="457200" cy="292608"/>
          </a:xfrm>
          <a:prstGeom prst="roundRect">
            <a:avLst/>
          </a:prstGeom>
          <a:solidFill>
            <a:srgbClr val="F8F6F0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651760" y="3483864"/>
            <a:ext cx="457200" cy="292608"/>
          </a:xfrm>
          <a:prstGeom prst="roundRect">
            <a:avLst/>
          </a:prstGeom>
          <a:solidFill>
            <a:srgbClr val="E5EBEE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246120" y="3483864"/>
            <a:ext cx="457200" cy="292608"/>
          </a:xfrm>
          <a:prstGeom prst="roundRect">
            <a:avLst/>
          </a:prstGeom>
          <a:solidFill>
            <a:srgbClr val="E5EBEE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840480" y="3483864"/>
            <a:ext cx="457200" cy="292608"/>
          </a:xfrm>
          <a:prstGeom prst="roundRect">
            <a:avLst/>
          </a:prstGeom>
          <a:solidFill>
            <a:srgbClr val="E5EBEE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68680" y="3922776"/>
            <a:ext cx="457200" cy="292608"/>
          </a:xfrm>
          <a:prstGeom prst="roundRect">
            <a:avLst/>
          </a:prstGeom>
          <a:solidFill>
            <a:srgbClr val="F8F6F0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463040" y="3922776"/>
            <a:ext cx="457200" cy="292608"/>
          </a:xfrm>
          <a:prstGeom prst="roundRect">
            <a:avLst/>
          </a:prstGeom>
          <a:solidFill>
            <a:srgbClr val="F8F6F0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2057400" y="3922776"/>
            <a:ext cx="457200" cy="292608"/>
          </a:xfrm>
          <a:prstGeom prst="roundRect">
            <a:avLst/>
          </a:prstGeom>
          <a:solidFill>
            <a:srgbClr val="F8F6F0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651760" y="3922776"/>
            <a:ext cx="457200" cy="292608"/>
          </a:xfrm>
          <a:prstGeom prst="roundRect">
            <a:avLst/>
          </a:prstGeom>
          <a:solidFill>
            <a:srgbClr val="F8F6F0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246120" y="3922776"/>
            <a:ext cx="457200" cy="292608"/>
          </a:xfrm>
          <a:prstGeom prst="roundRect">
            <a:avLst/>
          </a:prstGeom>
          <a:solidFill>
            <a:srgbClr val="E5EBEE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840480" y="3922776"/>
            <a:ext cx="457200" cy="292608"/>
          </a:xfrm>
          <a:prstGeom prst="roundRect">
            <a:avLst/>
          </a:prstGeom>
          <a:solidFill>
            <a:srgbClr val="E5EBEE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68680" y="4361688"/>
            <a:ext cx="457200" cy="292608"/>
          </a:xfrm>
          <a:prstGeom prst="roundRect">
            <a:avLst/>
          </a:prstGeom>
          <a:solidFill>
            <a:srgbClr val="F8F6F0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463040" y="4361688"/>
            <a:ext cx="457200" cy="292608"/>
          </a:xfrm>
          <a:prstGeom prst="roundRect">
            <a:avLst/>
          </a:prstGeom>
          <a:solidFill>
            <a:srgbClr val="F8F6F0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057400" y="4361688"/>
            <a:ext cx="457200" cy="292608"/>
          </a:xfrm>
          <a:prstGeom prst="roundRect">
            <a:avLst/>
          </a:prstGeom>
          <a:solidFill>
            <a:srgbClr val="F8F6F0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651760" y="4361688"/>
            <a:ext cx="457200" cy="292608"/>
          </a:xfrm>
          <a:prstGeom prst="roundRect">
            <a:avLst/>
          </a:prstGeom>
          <a:solidFill>
            <a:srgbClr val="F8F6F0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246120" y="4361688"/>
            <a:ext cx="457200" cy="292608"/>
          </a:xfrm>
          <a:prstGeom prst="roundRect">
            <a:avLst/>
          </a:prstGeom>
          <a:solidFill>
            <a:srgbClr val="F8F6F0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840480" y="4361688"/>
            <a:ext cx="457200" cy="292608"/>
          </a:xfrm>
          <a:prstGeom prst="roundRect">
            <a:avLst/>
          </a:prstGeom>
          <a:solidFill>
            <a:srgbClr val="E5EBEE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68680" y="4800600"/>
            <a:ext cx="457200" cy="292608"/>
          </a:xfrm>
          <a:prstGeom prst="roundRect">
            <a:avLst/>
          </a:prstGeom>
          <a:solidFill>
            <a:srgbClr val="F8F6F0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463040" y="4800600"/>
            <a:ext cx="457200" cy="292608"/>
          </a:xfrm>
          <a:prstGeom prst="roundRect">
            <a:avLst/>
          </a:prstGeom>
          <a:solidFill>
            <a:srgbClr val="F8F6F0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2057400" y="4800600"/>
            <a:ext cx="457200" cy="292608"/>
          </a:xfrm>
          <a:prstGeom prst="roundRect">
            <a:avLst/>
          </a:prstGeom>
          <a:solidFill>
            <a:srgbClr val="F8F6F0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2651760" y="4800600"/>
            <a:ext cx="457200" cy="292608"/>
          </a:xfrm>
          <a:prstGeom prst="roundRect">
            <a:avLst/>
          </a:prstGeom>
          <a:solidFill>
            <a:srgbClr val="F8F6F0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246120" y="4800600"/>
            <a:ext cx="457200" cy="292608"/>
          </a:xfrm>
          <a:prstGeom prst="roundRect">
            <a:avLst/>
          </a:prstGeom>
          <a:solidFill>
            <a:srgbClr val="F8F6F0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3840480" y="4800600"/>
            <a:ext cx="457200" cy="292608"/>
          </a:xfrm>
          <a:prstGeom prst="roundRect">
            <a:avLst/>
          </a:prstGeom>
          <a:solidFill>
            <a:srgbClr val="F8F6F0"/>
          </a:solidFill>
          <a:ln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486400" y="2514600"/>
            <a:ext cx="50749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687568" y="2679192"/>
            <a:ext cx="46725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17858"/>
                </a:solidFill>
                <a:latin typeface="Aptos"/>
              </a:rPr>
              <a:t>INTERVIEW SIGNAL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87568" y="3081528"/>
            <a:ext cx="4672583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If you repeatedly scan the array, ask:
“Can I remember previous values?”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629400" y="4892040"/>
            <a:ext cx="2423160" cy="347472"/>
          </a:xfrm>
          <a:prstGeom prst="roundRect">
            <a:avLst/>
          </a:prstGeom>
          <a:solidFill>
            <a:srgbClr val="285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29400" y="4928616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OPTIMIZATION QUESTION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3232" y="647395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67"/>
                </a:solidFill>
                <a:latin typeface="Aptos"/>
              </a:rPr>
              <a:t>05  |  DSA From Scratch → Advanced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0" y="6437376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285E78"/>
                </a:solidFill>
                <a:latin typeface="Aptos"/>
              </a:rPr>
              <a:t>https://github.com/ritesh2687/dsa_ppt_post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58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96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35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573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981199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050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6289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9527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2766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6004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9243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42481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8958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2197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5435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8674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1912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151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0"/>
            <a:ext cx="10972" cy="6858000"/>
          </a:xfrm>
          <a:prstGeom prst="rect">
            <a:avLst/>
          </a:prstGeom>
          <a:solidFill>
            <a:srgbClr val="E8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20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5E78"/>
                </a:solidFill>
                <a:latin typeface="Aptos"/>
              </a:rPr>
              <a:t>DAY 35  •  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62A"/>
                </a:solidFill>
                <a:latin typeface="Aptos Display"/>
              </a:rPr>
              <a:t>Hashing: the optimization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12984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067"/>
                </a:solidFill>
                <a:latin typeface="Aptos"/>
              </a:rPr>
              <a:t>Trade extra memory for faster lookup.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1719072"/>
            <a:ext cx="1920240" cy="22860"/>
          </a:xfrm>
          <a:prstGeom prst="rect">
            <a:avLst/>
          </a:prstGeom>
          <a:solidFill>
            <a:srgbClr val="D5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1965960"/>
            <a:ext cx="315468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2130552"/>
            <a:ext cx="2752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5E78"/>
                </a:solidFill>
                <a:latin typeface="Aptos"/>
              </a:rPr>
              <a:t>STORE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2532888"/>
            <a:ext cx="27523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Keep values already seen.
Example:
2 → index 0
7 → index 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1965960"/>
            <a:ext cx="315468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53128" y="2130552"/>
            <a:ext cx="2752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59648"/>
                </a:solidFill>
                <a:latin typeface="Aptos"/>
              </a:rPr>
              <a:t>LOOK FOR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2532888"/>
            <a:ext cx="27523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For current value x,
we need:
target − 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80960" y="1965960"/>
            <a:ext cx="315468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82128" y="2130552"/>
            <a:ext cx="2752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17858"/>
                </a:solidFill>
                <a:latin typeface="Aptos"/>
              </a:rPr>
              <a:t>LOOK 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2128" y="2532888"/>
            <a:ext cx="27523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Ask the hash map:
“Have I seen this complement?”
Average lookup: O(1)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800" y="534924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62A"/>
                </a:solidFill>
                <a:latin typeface="Aptos"/>
              </a:rPr>
              <a:t>Remember: complement = target - current value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647395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67"/>
                </a:solidFill>
                <a:latin typeface="Aptos"/>
              </a:rPr>
              <a:t>06  |  DSA From Scratch → Advanced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6437376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285E78"/>
                </a:solidFill>
                <a:latin typeface="Aptos"/>
              </a:rPr>
              <a:t>https://github.com/ritesh2687/dsa_ppt_post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58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96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35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573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981199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050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6289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9527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2766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6004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9243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42481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8958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2197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5435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8674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1912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151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0"/>
            <a:ext cx="10972" cy="6858000"/>
          </a:xfrm>
          <a:prstGeom prst="rect">
            <a:avLst/>
          </a:prstGeom>
          <a:solidFill>
            <a:srgbClr val="E8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20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5E78"/>
                </a:solidFill>
                <a:latin typeface="Aptos"/>
              </a:rPr>
              <a:t>DAY 35  •  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62A"/>
                </a:solidFill>
                <a:latin typeface="Aptos Display"/>
              </a:rPr>
              <a:t>Step-by-step 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12984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067"/>
                </a:solidFill>
                <a:latin typeface="Aptos"/>
              </a:rPr>
              <a:t>nums = [2, 7, 11, 15], target = 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1719072"/>
            <a:ext cx="1920240" cy="22860"/>
          </a:xfrm>
          <a:prstGeom prst="rect">
            <a:avLst/>
          </a:prstGeom>
          <a:solidFill>
            <a:srgbClr val="D5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8680" y="1965960"/>
            <a:ext cx="1005840" cy="347472"/>
          </a:xfrm>
          <a:prstGeom prst="roundRect">
            <a:avLst/>
          </a:prstGeom>
          <a:solidFill>
            <a:srgbClr val="285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200253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 =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20116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262A"/>
                </a:solidFill>
                <a:latin typeface="Aptos"/>
              </a:rPr>
              <a:t>current =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201167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59648"/>
                </a:solidFill>
                <a:latin typeface="Aptos"/>
              </a:rPr>
              <a:t>need = 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201167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17858"/>
                </a:solidFill>
                <a:latin typeface="Aptos"/>
              </a:rPr>
              <a:t>7 not seen → store 2:0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067"/>
                </a:solidFill>
                <a:latin typeface="Aptos"/>
              </a:rPr>
              <a:t>map = {2: 0}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3474720"/>
            <a:ext cx="1005840" cy="347472"/>
          </a:xfrm>
          <a:prstGeom prst="roundRect">
            <a:avLst/>
          </a:prstGeom>
          <a:solidFill>
            <a:srgbClr val="285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351129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 =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35204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262A"/>
                </a:solidFill>
                <a:latin typeface="Aptos"/>
              </a:rPr>
              <a:t>current = 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352043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59648"/>
                </a:solidFill>
                <a:latin typeface="Aptos"/>
              </a:rPr>
              <a:t>need =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352043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17858"/>
                </a:solidFill>
                <a:latin typeface="Aptos"/>
              </a:rPr>
              <a:t>2 seen at index 0 → found!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39776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17858"/>
                </a:solidFill>
                <a:latin typeface="Aptos"/>
              </a:rPr>
              <a:t>answer = [0, 1]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4983480"/>
            <a:ext cx="9875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9848" y="5148072"/>
            <a:ext cx="9473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5E78"/>
                </a:solidFill>
                <a:latin typeface="Aptos"/>
              </a:rPr>
              <a:t>MENTAL 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" y="5550408"/>
            <a:ext cx="9473184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Current value → calculate complement → check map → otherwise store current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647395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67"/>
                </a:solidFill>
                <a:latin typeface="Aptos"/>
              </a:rPr>
              <a:t>07  |  DSA From Scratch → Advanced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6437376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285E78"/>
                </a:solidFill>
                <a:latin typeface="Aptos"/>
              </a:rPr>
              <a:t>https://github.com/ritesh2687/dsa_ppt_post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58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96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35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573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981199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050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6289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9527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2766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6004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9243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42481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8958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2197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5435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8674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1912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151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0"/>
            <a:ext cx="10972" cy="6858000"/>
          </a:xfrm>
          <a:prstGeom prst="rect">
            <a:avLst/>
          </a:prstGeom>
          <a:solidFill>
            <a:srgbClr val="E8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20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5E78"/>
                </a:solidFill>
                <a:latin typeface="Aptos"/>
              </a:rPr>
              <a:t>DAY 35  •  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62A"/>
                </a:solidFill>
                <a:latin typeface="Aptos Display"/>
              </a:rPr>
              <a:t>The one-pass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12984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067"/>
                </a:solidFill>
                <a:latin typeface="Aptos"/>
              </a:rPr>
              <a:t>The map is our memory.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1719072"/>
            <a:ext cx="1920240" cy="22860"/>
          </a:xfrm>
          <a:prstGeom prst="rect">
            <a:avLst/>
          </a:prstGeom>
          <a:solidFill>
            <a:srgbClr val="D5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1920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85E78"/>
                </a:solidFill>
                <a:latin typeface="Aptos"/>
              </a:rPr>
              <a:t>ARRAY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2423160"/>
            <a:ext cx="749808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85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2551176"/>
            <a:ext cx="749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74519" y="2423160"/>
            <a:ext cx="749808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85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74519" y="2551176"/>
            <a:ext cx="749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34640" y="2423160"/>
            <a:ext cx="749808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85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0" y="2551176"/>
            <a:ext cx="749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94760" y="2423160"/>
            <a:ext cx="749808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85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94760" y="2551176"/>
            <a:ext cx="749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2514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85E78"/>
                </a:solidFill>
                <a:latin typeface="Aptos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0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417858"/>
                </a:solidFill>
                <a:latin typeface="Aptos"/>
              </a:rPr>
              <a:t>HASH MAP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57800" y="2423160"/>
            <a:ext cx="2651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58968" y="2587752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17858"/>
                </a:solidFill>
                <a:latin typeface="Aptos"/>
              </a:rPr>
              <a:t>SEEN VALUES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58968" y="2990088"/>
            <a:ext cx="22494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value → index
2 → 0
7 → 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2423160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30768" y="2587752"/>
            <a:ext cx="21122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59648"/>
                </a:solidFill>
                <a:latin typeface="Aptos"/>
              </a:rPr>
              <a:t>QUERY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0768" y="2990088"/>
            <a:ext cx="211226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need = target - x
check in O(1) avg.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40280" y="49834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3262A"/>
                </a:solidFill>
                <a:latin typeface="Aptos"/>
              </a:rPr>
              <a:t>This avoids re-scanning all previous elements.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" y="647395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67"/>
                </a:solidFill>
                <a:latin typeface="Aptos"/>
              </a:rPr>
              <a:t>08  |  DSA From Scratch → Advanced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0" y="6437376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285E78"/>
                </a:solidFill>
                <a:latin typeface="Aptos"/>
              </a:rPr>
              <a:t>https://github.com/ritesh2687/dsa_ppt_post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58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96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35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573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981199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050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6289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9527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2766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6004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9243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42481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8958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2197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5435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8674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1912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151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0"/>
            <a:ext cx="10972" cy="6858000"/>
          </a:xfrm>
          <a:prstGeom prst="rect">
            <a:avLst/>
          </a:prstGeom>
          <a:solidFill>
            <a:srgbClr val="E8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20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5E78"/>
                </a:solidFill>
                <a:latin typeface="Aptos"/>
              </a:rPr>
              <a:t>DAY 35  •  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62A"/>
                </a:solidFill>
                <a:latin typeface="Aptos Display"/>
              </a:rPr>
              <a:t>C++ implementation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12984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067"/>
                </a:solidFill>
                <a:latin typeface="Aptos"/>
              </a:rPr>
              <a:t>Clean, interview-ready version.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1719072"/>
            <a:ext cx="1920240" cy="22860"/>
          </a:xfrm>
          <a:prstGeom prst="rect">
            <a:avLst/>
          </a:prstGeom>
          <a:solidFill>
            <a:srgbClr val="D5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1828800"/>
            <a:ext cx="7315200" cy="4114800"/>
          </a:xfrm>
          <a:prstGeom prst="roundRect">
            <a:avLst/>
          </a:prstGeom>
          <a:solidFill>
            <a:srgbClr val="22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195681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59648"/>
                </a:solidFill>
                <a:latin typeface="Aptos"/>
              </a:rPr>
              <a:t>C++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2267712"/>
            <a:ext cx="6912864" cy="3547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150">
                <a:solidFill>
                  <a:srgbClr val="EBEEF0"/>
                </a:solidFill>
                <a:latin typeface="Consolas"/>
              </a:rPr>
              <a:t>vector&lt;int&gt; twoSum(vector&lt;int&gt;&amp; nums, int target) {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BEEF0"/>
                </a:solidFill>
                <a:latin typeface="Consolas"/>
              </a:rPr>
              <a:t>    unordered_map&lt;int, int&gt; mp;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BEEF0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BEEF0"/>
                </a:solidFill>
                <a:latin typeface="Consolas"/>
              </a:rPr>
              <a:t>    for (int i = 0; i &lt; nums.size(); i++) {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BEEF0"/>
                </a:solidFill>
                <a:latin typeface="Consolas"/>
              </a:rPr>
              <a:t>        int need = target - nums[i];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BEEF0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BEEF0"/>
                </a:solidFill>
                <a:latin typeface="Consolas"/>
              </a:rPr>
              <a:t>        if (mp.find(need) != mp.end())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BEEF0"/>
                </a:solidFill>
                <a:latin typeface="Consolas"/>
              </a:rPr>
              <a:t>            return {mp[need], i};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BEEF0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BEEF0"/>
                </a:solidFill>
                <a:latin typeface="Consolas"/>
              </a:rPr>
              <a:t>        mp[nums[i]] = i;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BEEF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BEEF0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BEEF0"/>
                </a:solidFill>
                <a:latin typeface="Consolas"/>
              </a:rPr>
              <a:t>    return {};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EBEEF0"/>
                </a:solidFill>
                <a:latin typeface="Consolas"/>
              </a:rPr>
              <a:t>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66760" y="1828800"/>
            <a:ext cx="2743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67928" y="1993392"/>
            <a:ext cx="2340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59648"/>
                </a:solidFill>
                <a:latin typeface="Aptos"/>
              </a:rPr>
              <a:t>READ IT 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7928" y="2395728"/>
            <a:ext cx="2340864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1. Create map
2. Calculate need
3. Check need
4. Return pair
5. Store current
Order matters!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647395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67"/>
                </a:solidFill>
                <a:latin typeface="Aptos"/>
              </a:rPr>
              <a:t>09  |  DSA From Scratch → Advanced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6437376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285E78"/>
                </a:solidFill>
                <a:latin typeface="Aptos"/>
              </a:rPr>
              <a:t>https://github.com/ritesh2687/dsa_ppt_post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58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96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35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573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981199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050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6289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9527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2766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6004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9243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42481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8958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2197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5435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8674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1912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151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0"/>
            <a:ext cx="10972" cy="6858000"/>
          </a:xfrm>
          <a:prstGeom prst="rect">
            <a:avLst/>
          </a:prstGeom>
          <a:solidFill>
            <a:srgbClr val="E8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20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5E78"/>
                </a:solidFill>
                <a:latin typeface="Aptos"/>
              </a:rPr>
              <a:t>DAY 35  • 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62A"/>
                </a:solidFill>
                <a:latin typeface="Aptos Display"/>
              </a:rPr>
              <a:t>Why check before storing?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12984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067"/>
                </a:solidFill>
                <a:latin typeface="Aptos"/>
              </a:rPr>
              <a:t>This prevents using the same element twice.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1719072"/>
            <a:ext cx="1920240" cy="22860"/>
          </a:xfrm>
          <a:prstGeom prst="rect">
            <a:avLst/>
          </a:prstGeom>
          <a:solidFill>
            <a:srgbClr val="D5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1920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62A"/>
                </a:solidFill>
                <a:latin typeface="Aptos"/>
              </a:rPr>
              <a:t>Example: [3, 3], target = 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2514600"/>
            <a:ext cx="47548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9848" y="2679192"/>
            <a:ext cx="4352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5E78"/>
                </a:solidFill>
                <a:latin typeface="Aptos"/>
              </a:rPr>
              <a:t>i =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" y="3081528"/>
            <a:ext cx="435254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need = 3
3 is not in map
→ store 3 : 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2514600"/>
            <a:ext cx="47548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44768" y="2679192"/>
            <a:ext cx="4352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17858"/>
                </a:solidFill>
                <a:latin typeface="Aptos"/>
              </a:rPr>
              <a:t>i =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3081528"/>
            <a:ext cx="435254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need = 3
3 is already in map
→ return [0, 1]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94760" y="5257800"/>
            <a:ext cx="2743200" cy="347472"/>
          </a:xfrm>
          <a:prstGeom prst="roundRect">
            <a:avLst/>
          </a:prstGeom>
          <a:solidFill>
            <a:srgbClr val="D5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94760" y="529437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CHECK → THEN STORE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647395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67"/>
                </a:solidFill>
                <a:latin typeface="Aptos"/>
              </a:rPr>
              <a:t>10  |  DSA From Scratch → Advanced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37376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285E78"/>
                </a:solidFill>
                <a:latin typeface="Aptos"/>
              </a:rPr>
              <a:t>https://github.com/ritesh2687/dsa_ppt_post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58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96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35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573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981199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050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6289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9527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2766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6004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9243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42481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8958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2197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5435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8674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1912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151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0"/>
            <a:ext cx="10972" cy="6858000"/>
          </a:xfrm>
          <a:prstGeom prst="rect">
            <a:avLst/>
          </a:prstGeom>
          <a:solidFill>
            <a:srgbClr val="E8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20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5E78"/>
                </a:solidFill>
                <a:latin typeface="Aptos"/>
              </a:rPr>
              <a:t>DAY 35  •  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62A"/>
                </a:solidFill>
                <a:latin typeface="Aptos Display"/>
              </a:rPr>
              <a:t>Complexity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12984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067"/>
                </a:solidFill>
                <a:latin typeface="Aptos"/>
              </a:rPr>
              <a:t>Why hashing changes the game.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1719072"/>
            <a:ext cx="1920240" cy="22860"/>
          </a:xfrm>
          <a:prstGeom prst="rect">
            <a:avLst/>
          </a:prstGeom>
          <a:solidFill>
            <a:srgbClr val="D5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8680" y="1920240"/>
            <a:ext cx="484632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2084832"/>
            <a:ext cx="4443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64C45"/>
                </a:solidFill>
                <a:latin typeface="Aptos"/>
              </a:rPr>
              <a:t>BRUTE FORCE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" y="2487168"/>
            <a:ext cx="4443983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Time: O(n²)
Space: O(1)
Every pair is considered.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1920240"/>
            <a:ext cx="484632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0488" y="2084832"/>
            <a:ext cx="4443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17858"/>
                </a:solidFill>
                <a:latin typeface="Aptos"/>
              </a:rPr>
              <a:t>HASHING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0488" y="2487168"/>
            <a:ext cx="4443983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Average Time: O(n)
Space: O(n)
One pass + fast average lookup.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53492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3262A"/>
                </a:solidFill>
                <a:latin typeface="Aptos"/>
              </a:rPr>
              <a:t>Trade-off: more memory → less repeated 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647395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67"/>
                </a:solidFill>
                <a:latin typeface="Aptos"/>
              </a:rPr>
              <a:t>11  |  DSA From Scratch → Advanced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6437376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285E78"/>
                </a:solidFill>
                <a:latin typeface="Aptos"/>
              </a:rPr>
              <a:t>https://github.com/ritesh2687/dsa_ppt_post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58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96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35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573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981199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050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6289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9527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2766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6004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9243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42481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8958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2197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5435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8674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1912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151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0"/>
            <a:ext cx="10972" cy="6858000"/>
          </a:xfrm>
          <a:prstGeom prst="rect">
            <a:avLst/>
          </a:prstGeom>
          <a:solidFill>
            <a:srgbClr val="E8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20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5E78"/>
                </a:solidFill>
                <a:latin typeface="Aptos"/>
              </a:rPr>
              <a:t>DAY 35  • 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62A"/>
                </a:solidFill>
                <a:latin typeface="Aptos Display"/>
              </a:rPr>
              <a:t>Common mistakes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12984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067"/>
                </a:solidFill>
                <a:latin typeface="Aptos"/>
              </a:rPr>
              <a:t>Small details can break an otherwise correct idea.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1719072"/>
            <a:ext cx="1920240" cy="22860"/>
          </a:xfrm>
          <a:prstGeom prst="rect">
            <a:avLst/>
          </a:prstGeom>
          <a:solidFill>
            <a:srgbClr val="D5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18288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64C45"/>
                </a:solidFill>
                <a:latin typeface="Aptos"/>
              </a:rPr>
              <a:t>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18288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262A"/>
                </a:solidFill>
                <a:latin typeface="Aptos"/>
              </a:rPr>
              <a:t>Checking after storing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1828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067"/>
                </a:solidFill>
                <a:latin typeface="Aptos"/>
              </a:rPr>
              <a:t>Can accidentally reuse the same index.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2788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64C45"/>
                </a:solidFill>
                <a:latin typeface="Aptos"/>
              </a:rPr>
              <a:t>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2788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262A"/>
                </a:solidFill>
                <a:latin typeface="Aptos"/>
              </a:rPr>
              <a:t>Returning values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2788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067"/>
                </a:solidFill>
                <a:latin typeface="Aptos"/>
              </a:rPr>
              <a:t>LeetCode #1 expects indices.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37490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64C45"/>
                </a:solidFill>
                <a:latin typeface="Aptos"/>
              </a:rPr>
              <a:t>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37490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262A"/>
                </a:solidFill>
                <a:latin typeface="Aptos"/>
              </a:rPr>
              <a:t>Forgetting duplicates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374903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067"/>
                </a:solidFill>
                <a:latin typeface="Aptos"/>
              </a:rPr>
              <a:t>[3,3] is valid for target 6.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7091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64C45"/>
                </a:solidFill>
                <a:latin typeface="Aptos"/>
              </a:rPr>
              <a:t>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4709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262A"/>
                </a:solidFill>
                <a:latin typeface="Aptos"/>
              </a:rPr>
              <a:t>Using O(n²) without thinking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709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067"/>
                </a:solidFill>
                <a:latin typeface="Aptos"/>
              </a:rPr>
              <a:t>Ask whether a lookup structure can help.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647395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67"/>
                </a:solidFill>
                <a:latin typeface="Aptos"/>
              </a:rPr>
              <a:t>12  |  DSA From Scratch → Advanced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437376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285E78"/>
                </a:solidFill>
                <a:latin typeface="Aptos"/>
              </a:rPr>
              <a:t>https://github.com/ritesh2687/dsa_ppt_post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58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96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35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573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981199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050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6289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9527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2766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6004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9243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42481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8958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2197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5435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8674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1912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151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0"/>
            <a:ext cx="10972" cy="6858000"/>
          </a:xfrm>
          <a:prstGeom prst="rect">
            <a:avLst/>
          </a:prstGeom>
          <a:solidFill>
            <a:srgbClr val="E8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20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5E78"/>
                </a:solidFill>
                <a:latin typeface="Aptos"/>
              </a:rPr>
              <a:t>DAY 35  •  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62A"/>
                </a:solidFill>
                <a:latin typeface="Aptos Display"/>
              </a:rPr>
              <a:t>Pattern: Hashing + Array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12984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067"/>
                </a:solidFill>
                <a:latin typeface="Aptos"/>
              </a:rPr>
              <a:t>A reusable interview pattern, not just one problem.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1719072"/>
            <a:ext cx="1920240" cy="22860"/>
          </a:xfrm>
          <a:prstGeom prst="rect">
            <a:avLst/>
          </a:prstGeom>
          <a:solidFill>
            <a:srgbClr val="D5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8680" y="2011680"/>
            <a:ext cx="32461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2176272"/>
            <a:ext cx="2843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5E78"/>
                </a:solidFill>
                <a:latin typeface="Aptos"/>
              </a:rPr>
              <a:t>PAIR / COMPLEMENT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" y="2578608"/>
            <a:ext cx="284378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Two values must satisfy a relation
Example: Two Sum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2011680"/>
            <a:ext cx="32461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2176272"/>
            <a:ext cx="2843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59648"/>
                </a:solidFill>
                <a:latin typeface="Aptos"/>
              </a:rPr>
              <a:t>FREQUENCY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2578608"/>
            <a:ext cx="284378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Count occurrences quickly
Example: Frequency problems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19" y="2011680"/>
            <a:ext cx="32461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76488" y="2176272"/>
            <a:ext cx="2843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17858"/>
                </a:solidFill>
                <a:latin typeface="Aptos"/>
              </a:rPr>
              <a:t>SEEN / DUPLICATE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6488" y="2578608"/>
            <a:ext cx="284378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Remember what appeared before
Example: Duplicate checks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525780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3262A"/>
                </a:solidFill>
                <a:latin typeface="Aptos"/>
              </a:rPr>
              <a:t>Trigger words: pair • complement • seen before • frequency • duplicate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647395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67"/>
                </a:solidFill>
                <a:latin typeface="Aptos"/>
              </a:rPr>
              <a:t>13  |  DSA From Scratch → Advanced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6437376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285E78"/>
                </a:solidFill>
                <a:latin typeface="Aptos"/>
              </a:rPr>
              <a:t>https://github.com/ritesh2687/dsa_ppt_post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58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96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35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573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981199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050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6289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9527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2766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6004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9243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42481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8958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2197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5435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8674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1912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151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0"/>
            <a:ext cx="10972" cy="6858000"/>
          </a:xfrm>
          <a:prstGeom prst="rect">
            <a:avLst/>
          </a:prstGeom>
          <a:solidFill>
            <a:srgbClr val="E8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20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5E78"/>
                </a:solidFill>
                <a:latin typeface="Aptos"/>
              </a:rPr>
              <a:t>DAY 35  •  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62A"/>
                </a:solidFill>
                <a:latin typeface="Aptos Display"/>
              </a:rPr>
              <a:t>LeetCode #1 — Two Sum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12984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067"/>
                </a:solidFill>
                <a:latin typeface="Aptos"/>
              </a:rPr>
              <a:t>The canonical problem for this pattern.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1719072"/>
            <a:ext cx="1920240" cy="22860"/>
          </a:xfrm>
          <a:prstGeom prst="rect">
            <a:avLst/>
          </a:prstGeom>
          <a:solidFill>
            <a:srgbClr val="D5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8680" y="1920240"/>
            <a:ext cx="49377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2084832"/>
            <a:ext cx="4535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5E78"/>
                </a:solidFill>
                <a:latin typeface="Aptos"/>
              </a:rPr>
              <a:t>PROBLEM SNAPSHOT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" y="2487168"/>
            <a:ext cx="453542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Given nums and a target, return indices of two numbers whose sum equals target.
Assumption: exactly one solution.
Order of indices does not matter.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1920240"/>
            <a:ext cx="46177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2084832"/>
            <a:ext cx="42153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17858"/>
                </a:solidFill>
                <a:latin typeface="Aptos"/>
              </a:rPr>
              <a:t>INTERVIEW CHECKLIST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2487168"/>
            <a:ext cx="4215383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□ Can I avoid nested loops?
□ What is the complement?
□ Can I store value → index?
□ Do I check before storing?
□ What are time + space costs?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09160" y="5440680"/>
            <a:ext cx="1554480" cy="347472"/>
          </a:xfrm>
          <a:prstGeom prst="roundRect">
            <a:avLst/>
          </a:prstGeom>
          <a:solidFill>
            <a:srgbClr val="D5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547725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LEETCODE #1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647395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67"/>
                </a:solidFill>
                <a:latin typeface="Aptos"/>
              </a:rPr>
              <a:t>14  |  DSA From Scratch → Advanced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6437376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285E78"/>
                </a:solidFill>
                <a:latin typeface="Aptos"/>
              </a:rPr>
              <a:t>https://github.com/ritesh2687/dsa_ppt_post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58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96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35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573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981199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050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6289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9527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2766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6004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9243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42481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8958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2197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5435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8674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1912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151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0"/>
            <a:ext cx="10972" cy="6858000"/>
          </a:xfrm>
          <a:prstGeom prst="rect">
            <a:avLst/>
          </a:prstGeom>
          <a:solidFill>
            <a:srgbClr val="E8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20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5E78"/>
                </a:solidFill>
                <a:latin typeface="Aptos"/>
              </a:rPr>
              <a:t>DAY 35  •  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62A"/>
                </a:solidFill>
                <a:latin typeface="Aptos Display"/>
              </a:rPr>
              <a:t>Practice 01 — Contains Duplicate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12984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067"/>
                </a:solidFill>
                <a:latin typeface="Aptos"/>
              </a:rPr>
              <a:t>LeetCode #217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1719072"/>
            <a:ext cx="1920240" cy="22860"/>
          </a:xfrm>
          <a:prstGeom prst="rect">
            <a:avLst/>
          </a:prstGeom>
          <a:solidFill>
            <a:srgbClr val="D5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8680" y="1920240"/>
            <a:ext cx="48463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2084832"/>
            <a:ext cx="4443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5E78"/>
                </a:solidFill>
                <a:latin typeface="Aptos"/>
              </a:rPr>
              <a:t>QUESTION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" y="2487168"/>
            <a:ext cx="4443983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Determine whether any value appears at least twice.
Hint:
You need memory of what you've seen.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1920240"/>
            <a:ext cx="47091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6207" y="2084832"/>
            <a:ext cx="4306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17858"/>
                </a:solidFill>
                <a:latin typeface="Aptos"/>
              </a:rPr>
              <a:t>PATTERN CONNECTION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7" y="2487168"/>
            <a:ext cx="430682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Two Sum taught:
value → fast lookup
Here:
seen set → duplicate lookup
Think: unordered_set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647395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67"/>
                </a:solidFill>
                <a:latin typeface="Aptos"/>
              </a:rPr>
              <a:t>15  |  DSA From Scratch → Advanced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6437376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285E78"/>
                </a:solidFill>
                <a:latin typeface="Aptos"/>
              </a:rPr>
              <a:t>https://github.com/ritesh2687/dsa_ppt_post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58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96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35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573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981199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050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6289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9527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2766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6004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9243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42481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8958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2197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5435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8674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1912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151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0"/>
            <a:ext cx="10972" cy="6858000"/>
          </a:xfrm>
          <a:prstGeom prst="rect">
            <a:avLst/>
          </a:prstGeom>
          <a:solidFill>
            <a:srgbClr val="E8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20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5E78"/>
                </a:solidFill>
                <a:latin typeface="Aptos"/>
              </a:rPr>
              <a:t>DAY 35  •  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62A"/>
                </a:solidFill>
                <a:latin typeface="Aptos Display"/>
              </a:rPr>
              <a:t>Practice 02 — 4Sum II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12984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067"/>
                </a:solidFill>
                <a:latin typeface="Aptos"/>
              </a:rPr>
              <a:t>LeetCode #454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1719072"/>
            <a:ext cx="1920240" cy="22860"/>
          </a:xfrm>
          <a:prstGeom prst="rect">
            <a:avLst/>
          </a:prstGeom>
          <a:solidFill>
            <a:srgbClr val="D5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8680" y="1920240"/>
            <a:ext cx="489204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2084832"/>
            <a:ext cx="44897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59648"/>
                </a:solidFill>
                <a:latin typeface="Aptos"/>
              </a:rPr>
              <a:t>QUESTION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" y="2487168"/>
            <a:ext cx="4489703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Count tuples (i, j, k, l) such that:
A[i] + B[j] + C[k] + D[l] = 0
Hint:
Split the expression into two pair sums.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60" y="1920240"/>
            <a:ext cx="461772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1928" y="2084832"/>
            <a:ext cx="42153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17858"/>
                </a:solidFill>
                <a:latin typeface="Aptos"/>
              </a:rPr>
              <a:t>PATTERN CONNECTION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2487168"/>
            <a:ext cx="4215383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Build a frequency map of pair sums from A+B.
Then query complementary sums from C+D.
compute → store → lookup.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647395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67"/>
                </a:solidFill>
                <a:latin typeface="Aptos"/>
              </a:rPr>
              <a:t>16  |  DSA From Scratch → Advanced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6437376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285E78"/>
                </a:solidFill>
                <a:latin typeface="Aptos"/>
              </a:rPr>
              <a:t>https://github.com/ritesh2687/dsa_ppt_post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58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96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35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573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981199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050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6289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9527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2766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6004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9243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42481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8958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2197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5435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8674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1912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151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0"/>
            <a:ext cx="10972" cy="6858000"/>
          </a:xfrm>
          <a:prstGeom prst="rect">
            <a:avLst/>
          </a:prstGeom>
          <a:solidFill>
            <a:srgbClr val="E8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20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5E78"/>
                </a:solidFill>
                <a:latin typeface="Aptos"/>
              </a:rPr>
              <a:t>DAY 35  •  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62A"/>
                </a:solidFill>
                <a:latin typeface="Aptos Display"/>
              </a:rPr>
              <a:t>Interview takeaway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12984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067"/>
                </a:solidFill>
                <a:latin typeface="Aptos"/>
              </a:rPr>
              <a:t>The real lesson is how to spot the pattern.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1719072"/>
            <a:ext cx="1920240" cy="22860"/>
          </a:xfrm>
          <a:prstGeom prst="rect">
            <a:avLst/>
          </a:prstGeom>
          <a:solidFill>
            <a:srgbClr val="D5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1920240"/>
            <a:ext cx="10058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3262A"/>
                </a:solidFill>
                <a:latin typeface="Aptos Display"/>
              </a:rPr>
              <a:t>“If I keep searching for something I have already seen,
can I store it for faster lookup?”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1560" y="3429000"/>
            <a:ext cx="2926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52728" y="3593592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5E78"/>
                </a:solidFill>
                <a:latin typeface="Aptos"/>
              </a:rPr>
              <a:t>1. IDENTIFY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2728" y="3995928"/>
            <a:ext cx="2523744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Repeated search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3429000"/>
            <a:ext cx="2926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18888" y="3593592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59648"/>
                </a:solidFill>
                <a:latin typeface="Aptos"/>
              </a:rPr>
              <a:t>2. STORE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18888" y="3995928"/>
            <a:ext cx="2523744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Hash map / set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79" y="3429000"/>
            <a:ext cx="2926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5048" y="3593592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17858"/>
                </a:solidFill>
                <a:latin typeface="Aptos"/>
              </a:rPr>
              <a:t>3. LOOK 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5048" y="3995928"/>
            <a:ext cx="2523744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Average O(1)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534924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B6067"/>
                </a:solidFill>
                <a:latin typeface="Aptos"/>
              </a:rPr>
              <a:t>Interview habit: state the brute force first, then explain what repeated work hashing removes.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647395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67"/>
                </a:solidFill>
                <a:latin typeface="Aptos"/>
              </a:rPr>
              <a:t>17  |  DSA From Scratch → Advanced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437376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285E78"/>
                </a:solidFill>
                <a:latin typeface="Aptos"/>
              </a:rPr>
              <a:t>https://github.com/ritesh2687/dsa_ppt_post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58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96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35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573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981199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050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6289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9527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2766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6004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9243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42481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8958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2197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5435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8674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1912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151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0"/>
            <a:ext cx="10972" cy="6858000"/>
          </a:xfrm>
          <a:prstGeom prst="rect">
            <a:avLst/>
          </a:prstGeom>
          <a:solidFill>
            <a:srgbClr val="E8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20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5E78"/>
                </a:solidFill>
                <a:latin typeface="Aptos"/>
              </a:rPr>
              <a:t>DAY 35  • 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62A"/>
                </a:solidFill>
                <a:latin typeface="Aptos Display"/>
              </a:rPr>
              <a:t>Key takeaways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12984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067"/>
                </a:solidFill>
                <a:latin typeface="Aptos"/>
              </a:rPr>
              <a:t>Five lines to remember.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1719072"/>
            <a:ext cx="1920240" cy="22860"/>
          </a:xfrm>
          <a:prstGeom prst="rect">
            <a:avLst/>
          </a:prstGeom>
          <a:solidFill>
            <a:srgbClr val="D5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" y="1874519"/>
            <a:ext cx="411480" cy="347472"/>
          </a:xfrm>
          <a:prstGeom prst="roundRect">
            <a:avLst/>
          </a:prstGeom>
          <a:solidFill>
            <a:srgbClr val="285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1911095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1901952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62A"/>
                </a:solidFill>
                <a:latin typeface="Aptos"/>
              </a:rPr>
              <a:t>Two Sum asks for a pair whose sum equals target.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2496312"/>
            <a:ext cx="411480" cy="347472"/>
          </a:xfrm>
          <a:prstGeom prst="roundRect">
            <a:avLst/>
          </a:prstGeom>
          <a:solidFill>
            <a:srgbClr val="D5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53288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2523744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62A"/>
                </a:solidFill>
                <a:latin typeface="Aptos"/>
              </a:rPr>
              <a:t>Brute force checks pairs → O(n²).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3118104"/>
            <a:ext cx="411480" cy="347472"/>
          </a:xfrm>
          <a:prstGeom prst="roundRect">
            <a:avLst/>
          </a:prstGeom>
          <a:solidFill>
            <a:srgbClr val="41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315468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3145536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62A"/>
                </a:solidFill>
                <a:latin typeface="Aptos"/>
              </a:rPr>
              <a:t>Hashing stores value → index for fast average lookup.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3739896"/>
            <a:ext cx="411480" cy="347472"/>
          </a:xfrm>
          <a:prstGeom prst="roundRect">
            <a:avLst/>
          </a:prstGeom>
          <a:solidFill>
            <a:srgbClr val="285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377647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3767328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62A"/>
                </a:solidFill>
                <a:latin typeface="Aptos"/>
              </a:rPr>
              <a:t>Complement = target − current value.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4361688"/>
            <a:ext cx="411480" cy="347472"/>
          </a:xfrm>
          <a:prstGeom prst="roundRect">
            <a:avLst/>
          </a:prstGeom>
          <a:solidFill>
            <a:srgbClr val="D5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398264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4389120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262A"/>
                </a:solidFill>
                <a:latin typeface="Aptos"/>
              </a:rPr>
              <a:t>Check the map first, then store the current value.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647395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67"/>
                </a:solidFill>
                <a:latin typeface="Aptos"/>
              </a:rPr>
              <a:t>18  |  DSA From Scratch → Advanced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6437376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285E78"/>
                </a:solidFill>
                <a:latin typeface="Aptos"/>
              </a:rPr>
              <a:t>https://github.com/ritesh2687/dsa_ppt_post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58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96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35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573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981199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050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6289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9527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2766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6004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9243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42481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8958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2197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5435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8674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1912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151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0"/>
            <a:ext cx="10972" cy="6858000"/>
          </a:xfrm>
          <a:prstGeom prst="rect">
            <a:avLst/>
          </a:prstGeom>
          <a:solidFill>
            <a:srgbClr val="E8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20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5E78"/>
                </a:solidFill>
                <a:latin typeface="Aptos"/>
              </a:rPr>
              <a:t>DAY 35  •  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62A"/>
                </a:solidFill>
                <a:latin typeface="Aptos Display"/>
              </a:rPr>
              <a:t>Day 36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12984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067"/>
                </a:solidFill>
                <a:latin typeface="Aptos"/>
              </a:rPr>
              <a:t>Next: build on today's array + hashing pattern.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1719072"/>
            <a:ext cx="1920240" cy="22860"/>
          </a:xfrm>
          <a:prstGeom prst="rect">
            <a:avLst/>
          </a:prstGeom>
          <a:solidFill>
            <a:srgbClr val="D59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18288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85E78"/>
                </a:solidFill>
                <a:latin typeface="Aptos"/>
              </a:rPr>
              <a:t>DAY 36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24231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23262A"/>
                </a:solidFill>
                <a:latin typeface="Aptos Display"/>
              </a:rPr>
              <a:t>Next topic →
Hashing-based problem solving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60" y="1965960"/>
            <a:ext cx="274320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0728" y="2130552"/>
            <a:ext cx="2340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17858"/>
                </a:solidFill>
                <a:latin typeface="Aptos"/>
              </a:rPr>
              <a:t>KEEP PRACTICING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0728" y="2532888"/>
            <a:ext cx="234086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62A"/>
                </a:solidFill>
                <a:latin typeface="Aptos"/>
              </a:rPr>
              <a:t>• Two Sum
• Contains Duplicate
• 4Sum II
Don't memorize.
Recognize the pattern.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16636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B6067"/>
                </a:solidFill>
                <a:latin typeface="Aptos"/>
              </a:rPr>
              <a:t>Save today's notes • code it yourself • then solve without looking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647395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67"/>
                </a:solidFill>
                <a:latin typeface="Aptos"/>
              </a:rPr>
              <a:t>19  |  DSA From Scratch → Advanced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6437376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285E78"/>
                </a:solidFill>
                <a:latin typeface="Aptos"/>
              </a:rPr>
              <a:t>https://github.com/ritesh2687/dsa_ppt_post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58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96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35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573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981199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050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6289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9527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2766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6004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9243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42481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8958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2197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5435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8674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19125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15100"/>
            <a:ext cx="12191695" cy="5486"/>
          </a:xfrm>
          <a:prstGeom prst="rect">
            <a:avLst/>
          </a:prstGeom>
          <a:solidFill>
            <a:srgbClr val="DC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0"/>
            <a:ext cx="10972" cy="6858000"/>
          </a:xfrm>
          <a:prstGeom prst="rect">
            <a:avLst/>
          </a:prstGeom>
          <a:solidFill>
            <a:srgbClr val="E8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40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5E78"/>
                </a:solidFill>
                <a:latin typeface="Aptos"/>
              </a:rPr>
              <a:t>DSA FROM SCRATCH → ADVANCED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1417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3262A"/>
                </a:solidFill>
                <a:latin typeface="Aptos Display"/>
              </a:rPr>
              <a:t>DAY 35 COMPLETE 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233172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3262A"/>
                </a:solidFill>
                <a:latin typeface="Aptos"/>
              </a:rPr>
              <a:t>Two Sum using Hashing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15468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067"/>
                </a:solidFill>
                <a:latin typeface="Aptos"/>
              </a:rPr>
              <a:t>Brute Force  →  Complement  →  Hash Map  →  One Pass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977639"/>
            <a:ext cx="1737360" cy="347472"/>
          </a:xfrm>
          <a:prstGeom prst="roundRect">
            <a:avLst/>
          </a:prstGeom>
          <a:solidFill>
            <a:srgbClr val="285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014215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ARRAY + HASHING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24912" y="3977639"/>
            <a:ext cx="1874519" cy="347472"/>
          </a:xfrm>
          <a:prstGeom prst="roundRect">
            <a:avLst/>
          </a:prstGeom>
          <a:solidFill>
            <a:srgbClr val="41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24912" y="4014215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INTERVIEW PATTERN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074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6067"/>
                </a:solidFill>
                <a:latin typeface="Aptos"/>
              </a:rPr>
              <a:t>GitHub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41324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85E78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9893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262A"/>
                </a:solidFill>
                <a:latin typeface="Aptos"/>
              </a:rPr>
              <a:t>Keep learning. Keep solving. Keep building.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647395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67"/>
                </a:solidFill>
                <a:latin typeface="Aptos"/>
              </a:rPr>
              <a:t>20  |  DSA From Scratch → Advanced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6437376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285E78"/>
                </a:solidFill>
                <a:latin typeface="Aptos"/>
              </a:rPr>
              <a:t>https://github.com/ritesh2687/dsa_ppt_post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