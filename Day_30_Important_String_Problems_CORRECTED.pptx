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583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omic Sans MS"/>
              </a:rPr>
              <a:t>DAY 30  •  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193248"/>
                </a:solidFill>
                <a:latin typeface="Comic Sans MS"/>
              </a:rPr>
              <a:t>DAY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Comic Sans MS"/>
              </a:rPr>
              <a:t>IMPORTANT STRING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78608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45536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12464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79392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46320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13248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980176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547104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7114032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7680960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8247888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8814816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9381744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9948672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10515600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11082528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11649455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12216384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12783312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13350240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13917167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14484096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5051024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15617951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16184880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16751808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17318735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17885664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18452592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19019520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19586448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20153376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20720304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21287231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21854160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22421088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22988016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23554944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24121872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24688800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Comic Sans MS"/>
              </a:rPr>
              <a:t>✎ 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73952"/>
            <a:ext cx="6858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64646"/>
                </a:solidFill>
                <a:latin typeface="Comic Sans MS"/>
              </a:rPr>
              <a:t>github.com/ritesh2687/dsa_ppt_post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01400" y="2286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Comic Sans M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583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omic Sans MS"/>
              </a:rPr>
              <a:t>DAY 30  •  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248"/>
                </a:solidFill>
                <a:latin typeface="Comic Sans MS"/>
              </a:rPr>
              <a:t>Today's Interview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Comic Sans MS"/>
              </a:rPr>
              <a:t>Think in patterns — not isolated tricks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1  Identify what the problem is asking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2  Match it to a string pattern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3  State the invariant before coding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4  Dry-run on a small example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32504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096512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5  Check time + space complexity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053328"/>
            <a:ext cx="4754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A5A5A"/>
                </a:solidFill>
                <a:latin typeface="Comic Sans MS"/>
              </a:rPr>
              <a:t>PATTERN → INVARIANT → CODE → 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858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64646"/>
                </a:solidFill>
                <a:latin typeface="Comic Sans MS"/>
              </a:rPr>
              <a:t>github.com/ritesh2687/dsa_ppt_post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2286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Comic Sans M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583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omic Sans MS"/>
              </a:rPr>
              <a:t>DAY 30  •  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248"/>
                </a:solidFill>
                <a:latin typeface="Comic Sans MS"/>
              </a:rPr>
              <a:t>Pattern 1 — Frequency / Hashing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Comic Sans MS"/>
              </a:rPr>
              <a:t>Best when the problem depends on character counts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73737"/>
                </a:solidFill>
                <a:latin typeface="Comic Sans MS"/>
              </a:rPr>
              <a:t>✎ Use an array when the alphabet is fixed (e.g. lowercase English).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73737"/>
                </a:solidFill>
                <a:latin typeface="Comic Sans MS"/>
              </a:rPr>
              <a:t>✎ Use unordered_map when the character set is broader or dynamic.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73737"/>
                </a:solidFill>
                <a:latin typeface="Comic Sans MS"/>
              </a:rPr>
              <a:t>✎ Typical signals: anagram, frequency, duplicates, 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73737"/>
                </a:solidFill>
                <a:latin typeface="Comic Sans MS"/>
              </a:rPr>
              <a:t>✎ Goal: compare/count in O(n), not repeatedly sort or scan.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053328"/>
            <a:ext cx="4754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A5A5A"/>
                </a:solidFill>
                <a:latin typeface="Comic Sans MS"/>
              </a:rPr>
              <a:t>PATTERN → INVARIANT → CODE → 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6858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64646"/>
                </a:solidFill>
                <a:latin typeface="Comic Sans MS"/>
              </a:rPr>
              <a:t>github.com/ritesh2687/dsa_ppt_post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2286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Comic Sans M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583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omic Sans MS"/>
              </a:rPr>
              <a:t>DAY 30  •  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248"/>
                </a:solidFill>
                <a:latin typeface="Comic Sans MS"/>
              </a:rPr>
              <a:t>Problem 1 — Valid Anagram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Comic Sans MS"/>
              </a:rPr>
              <a:t>LeetCode 242  |  Pattern: Frequency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73737"/>
                </a:solidFill>
                <a:latin typeface="Comic Sans MS"/>
              </a:rPr>
              <a:t>✎ s = "listen", t = "silent"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73737"/>
                </a:solidFill>
                <a:latin typeface="Comic Sans MS"/>
              </a:rPr>
              <a:t>✎ Both strings have the same length.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73737"/>
                </a:solidFill>
                <a:latin typeface="Comic Sans MS"/>
              </a:rPr>
              <a:t>✎ Increment counts for s; decrement for 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73737"/>
                </a:solidFill>
                <a:latin typeface="Comic Sans MS"/>
              </a:rPr>
              <a:t>✎ Every final count must be 0 → valid anagram.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053328"/>
            <a:ext cx="4754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A5A5A"/>
                </a:solidFill>
                <a:latin typeface="Comic Sans MS"/>
              </a:rPr>
              <a:t>PATTERN → INVARIANT → CODE → 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6858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64646"/>
                </a:solidFill>
                <a:latin typeface="Comic Sans MS"/>
              </a:rPr>
              <a:t>github.com/ritesh2687/dsa_ppt_post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2286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Comic Sans M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583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omic Sans MS"/>
              </a:rPr>
              <a:t>DAY 30  •  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248"/>
                </a:solidFill>
                <a:latin typeface="Comic Sans MS"/>
              </a:rPr>
              <a:t>C++ — Valid Anagram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Comic Sans MS"/>
              </a:rPr>
              <a:t>Time: O(n)  |  Space: O(1) for fixed ASCII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4251960"/>
          </a:xfrm>
          <a:prstGeom prst="roundRect">
            <a:avLst/>
          </a:prstGeom>
          <a:solidFill>
            <a:srgbClr val="EEF1EC"/>
          </a:solidFill>
          <a:ln>
            <a:solidFill>
              <a:srgbClr val="CDC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bool isAnagram(string s, string t)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if (s.size() != t.size()) return false;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52344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int freq[256] = {};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45536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for (unsigned char c : s) freq[c]++;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38728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for (unsigned char c : t) freq[c]--;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for (int x : freq) if (x) return false;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25112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return true;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18304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05332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15046"/>
                </a:solidFill>
                <a:latin typeface="Comic Sans MS"/>
              </a:rPr>
              <a:t>Time: O(n)  |  Space: O(1) for fixed ASCII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858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64646"/>
                </a:solidFill>
                <a:latin typeface="Comic Sans MS"/>
              </a:rPr>
              <a:t>github.com/ritesh2687/dsa_ppt_post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2286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Comic Sans M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583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omic Sans MS"/>
              </a:rPr>
              <a:t>DAY 30  •  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248"/>
                </a:solidFill>
                <a:latin typeface="Comic Sans MS"/>
              </a:rPr>
              <a:t>Pattern 2 — Two Pointers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Comic Sans MS"/>
              </a:rPr>
              <a:t>Compare or process characters from both ends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73737"/>
                </a:solidFill>
                <a:latin typeface="Comic Sans MS"/>
              </a:rPr>
              <a:t>✎ left starts at the beginning; right starts at the 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73737"/>
                </a:solidFill>
                <a:latin typeface="Comic Sans MS"/>
              </a:rPr>
              <a:t>✎ Skip characters that do not matter to the rule.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73737"/>
                </a:solidFill>
                <a:latin typeface="Comic Sans MS"/>
              </a:rPr>
              <a:t>✎ Compare the current pair, then move inward.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73737"/>
                </a:solidFill>
                <a:latin typeface="Comic Sans MS"/>
              </a:rPr>
              <a:t>✎ Typical signals: palindrome, reverse, symmetric comparison.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053328"/>
            <a:ext cx="4754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A5A5A"/>
                </a:solidFill>
                <a:latin typeface="Comic Sans MS"/>
              </a:rPr>
              <a:t>PATTERN → INVARIANT → CODE → 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6858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64646"/>
                </a:solidFill>
                <a:latin typeface="Comic Sans MS"/>
              </a:rPr>
              <a:t>github.com/ritesh2687/dsa_ppt_post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2286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Comic Sans M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583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omic Sans MS"/>
              </a:rPr>
              <a:t>DAY 30  •  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248"/>
                </a:solidFill>
                <a:latin typeface="Comic Sans MS"/>
              </a:rPr>
              <a:t>Problem 2 — Valid Palindrome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Comic Sans MS"/>
              </a:rPr>
              <a:t>LeetCode 125  |  Pattern: Two Pointers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73737"/>
                </a:solidFill>
                <a:latin typeface="Comic Sans MS"/>
              </a:rPr>
              <a:t>✎ Input: "A man, a plan, a canal: Panama"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73737"/>
                </a:solidFill>
                <a:latin typeface="Comic Sans MS"/>
              </a:rPr>
              <a:t>✎ Ignore spaces, punctuation and case.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73737"/>
                </a:solidFill>
                <a:latin typeface="Comic Sans MS"/>
              </a:rPr>
              <a:t>✎ Compare the next valid character from each side.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73737"/>
                </a:solidFill>
                <a:latin typeface="Comic Sans MS"/>
              </a:rPr>
              <a:t>✎ Any mismatch → false; if pointers meet → true.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053328"/>
            <a:ext cx="4754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A5A5A"/>
                </a:solidFill>
                <a:latin typeface="Comic Sans MS"/>
              </a:rPr>
              <a:t>PATTERN → INVARIANT → CODE → 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6858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64646"/>
                </a:solidFill>
                <a:latin typeface="Comic Sans MS"/>
              </a:rPr>
              <a:t>github.com/ritesh2687/dsa_ppt_post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2286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Comic Sans M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583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omic Sans MS"/>
              </a:rPr>
              <a:t>DAY 30  •  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248"/>
                </a:solidFill>
                <a:latin typeface="Comic Sans MS"/>
              </a:rPr>
              <a:t>Dry Run — Valid Palindrome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Comic Sans MS"/>
              </a:rPr>
              <a:t>Input: "A man, a plan, a canal: Panama"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92807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A ↔ a 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50592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14600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m ↔ m 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72384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136392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a ↔ a  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94176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n ↔ n  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15968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379976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Continue inward → all pairs match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60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001768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Result → 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053328"/>
            <a:ext cx="4754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A5A5A"/>
                </a:solidFill>
                <a:latin typeface="Comic Sans MS"/>
              </a:rPr>
              <a:t>PATTERN → INVARIANT → CODE → COMPLEXITY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6858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64646"/>
                </a:solidFill>
                <a:latin typeface="Comic Sans MS"/>
              </a:rPr>
              <a:t>github.com/ritesh2687/dsa_ppt_post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2286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Comic Sans M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583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omic Sans MS"/>
              </a:rPr>
              <a:t>DAY 30  •  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248"/>
                </a:solidFill>
                <a:latin typeface="Comic Sans MS"/>
              </a:rPr>
              <a:t>C++ — Valid Palindrome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Comic Sans MS"/>
              </a:rPr>
              <a:t>Time: O(n)  |  Space: O(1)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4251960"/>
          </a:xfrm>
          <a:prstGeom prst="roundRect">
            <a:avLst/>
          </a:prstGeom>
          <a:solidFill>
            <a:srgbClr val="EEF1EC"/>
          </a:solidFill>
          <a:ln>
            <a:solidFill>
              <a:srgbClr val="CDC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bool isPalindrome(string s)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int l = 0, r = (int)s.size() - 1;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52344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while (l &lt; r)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45536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    while (l &lt; r &amp;&amp; !isalnum((unsigned char)s[l])) l++;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38728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    while (l &lt; r &amp;&amp; !isalnum((unsigned char)s[r])) r--;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    if (tolower((unsigned char)s[l]) != tolower((unsigned char)s[r])) return false;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25112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    l++; r--;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18304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111496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return true;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504688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05332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15046"/>
                </a:solidFill>
                <a:latin typeface="Comic Sans MS"/>
              </a:rPr>
              <a:t>Time: O(n)  |  Space: O(1)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858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64646"/>
                </a:solidFill>
                <a:latin typeface="Comic Sans MS"/>
              </a:rPr>
              <a:t>github.com/ritesh2687/dsa_ppt_post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2286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Comic Sans M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583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omic Sans MS"/>
              </a:rPr>
              <a:t>DAY 30  •  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248"/>
                </a:solidFill>
                <a:latin typeface="Comic Sans MS"/>
              </a:rPr>
              <a:t>Pattern 3 — Sliding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Comic Sans MS"/>
              </a:rPr>
              <a:t>Maintain one useful contiguous window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73737"/>
                </a:solidFill>
                <a:latin typeface="Comic Sans MS"/>
              </a:rPr>
              <a:t>✎ right expands the window.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73737"/>
                </a:solidFill>
                <a:latin typeface="Comic Sans MS"/>
              </a:rPr>
              <a:t>✎ When the rule breaks, move left until it is valid again.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73737"/>
                </a:solidFill>
                <a:latin typeface="Comic Sans MS"/>
              </a:rPr>
              <a:t>✎ Track counts or the last-seen position.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73737"/>
                </a:solidFill>
                <a:latin typeface="Comic Sans MS"/>
              </a:rPr>
              <a:t>✎ Typical signals: longest/shortest substring, at most/exactly K, no repeats.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053328"/>
            <a:ext cx="4754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A5A5A"/>
                </a:solidFill>
                <a:latin typeface="Comic Sans MS"/>
              </a:rPr>
              <a:t>PATTERN → INVARIANT → CODE → 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6858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64646"/>
                </a:solidFill>
                <a:latin typeface="Comic Sans MS"/>
              </a:rPr>
              <a:t>github.com/ritesh2687/dsa_ppt_post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2286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Comic Sans M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583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omic Sans MS"/>
              </a:rPr>
              <a:t>DAY 30  •  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248"/>
                </a:solidFill>
                <a:latin typeface="Comic Sans MS"/>
              </a:rPr>
              <a:t>Problem 3 — Longest Substring Without Repeating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Comic Sans MS"/>
              </a:rPr>
              <a:t>LeetCode 3  |  Pattern: Sliding Window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Input: "abcabcbb"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Expand → "abc" gives length 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Next 'a' repeats → move left past the old 'a'.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Continue with valid windows; keep the maximum.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32504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096512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Answer = 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053328"/>
            <a:ext cx="4754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A5A5A"/>
                </a:solidFill>
                <a:latin typeface="Comic Sans MS"/>
              </a:rPr>
              <a:t>PATTERN → INVARIANT → CODE → 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858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64646"/>
                </a:solidFill>
                <a:latin typeface="Comic Sans MS"/>
              </a:rPr>
              <a:t>github.com/ritesh2687/dsa_ppt_post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2286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Comic Sans M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583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omic Sans MS"/>
              </a:rPr>
              <a:t>DAY 30  •  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248"/>
                </a:solidFill>
                <a:latin typeface="Comic Sans MS"/>
              </a:rPr>
              <a:t>Dry Run — Sliding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Comic Sans MS"/>
              </a:rPr>
              <a:t>Input: "abcabcbb"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[a b c] → best =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Read a → duplicate in current window.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Move left to index after the old 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Current window becomes [b c a].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32504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096512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No window longer than 3 → answer = 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053328"/>
            <a:ext cx="4754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A5A5A"/>
                </a:solidFill>
                <a:latin typeface="Comic Sans MS"/>
              </a:rPr>
              <a:t>PATTERN → INVARIANT → CODE → 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858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64646"/>
                </a:solidFill>
                <a:latin typeface="Comic Sans MS"/>
              </a:rPr>
              <a:t>github.com/ritesh2687/dsa_ppt_post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2286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Comic Sans M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583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omic Sans MS"/>
              </a:rPr>
              <a:t>DAY 30  •  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248"/>
                </a:solidFill>
                <a:latin typeface="Comic Sans MS"/>
              </a:rPr>
              <a:t>C++ — Longest Unique Substring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Comic Sans MS"/>
              </a:rPr>
              <a:t>Time: O(n)  |  Space: O(1) for fixed ASCII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4251960"/>
          </a:xfrm>
          <a:prstGeom prst="roundRect">
            <a:avLst/>
          </a:prstGeom>
          <a:solidFill>
            <a:srgbClr val="EEF1EC"/>
          </a:solidFill>
          <a:ln>
            <a:solidFill>
              <a:srgbClr val="CDC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int lengthOfLongestSubstring(string s)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int last[256]; fill(last, last + 256, -1);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52344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int left = 0, ans = 0;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45536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for (int right = 0; right &lt; (int)s.size(); right++) 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38728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    unsigned char c = s[right];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    if (last[c] &gt;= left) left = last[c] + 1;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25112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    last[c] = right;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18304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    ans = max(ans, right - left + 1);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111496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504688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return ans;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97879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05332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15046"/>
                </a:solidFill>
                <a:latin typeface="Comic Sans MS"/>
              </a:rPr>
              <a:t>Time: O(n)  |  Space: O(1) for fixed ASCII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6858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64646"/>
                </a:solidFill>
                <a:latin typeface="Comic Sans MS"/>
              </a:rPr>
              <a:t>github.com/ritesh2687/dsa_ppt_post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2286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Comic Sans M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583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omic Sans MS"/>
              </a:rPr>
              <a:t>DAY 30  •  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248"/>
                </a:solidFill>
                <a:latin typeface="Comic Sans MS"/>
              </a:rPr>
              <a:t>Pattern 4 — Stack /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Comic Sans MS"/>
              </a:rPr>
              <a:t>Nested structures need the most recent opening symbol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Push every opening bracket.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For a closing bracket, the stack must be non-empty.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The top must be the matching opening bracket.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Pop after a successful match.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32504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096512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End with an empty stack → valid.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053328"/>
            <a:ext cx="4754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A5A5A"/>
                </a:solidFill>
                <a:latin typeface="Comic Sans MS"/>
              </a:rPr>
              <a:t>PATTERN → INVARIANT → CODE → 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858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64646"/>
                </a:solidFill>
                <a:latin typeface="Comic Sans MS"/>
              </a:rPr>
              <a:t>github.com/ritesh2687/dsa_ppt_post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2286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Comic Sans M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583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omic Sans MS"/>
              </a:rPr>
              <a:t>DAY 30  •  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248"/>
                </a:solidFill>
                <a:latin typeface="Comic Sans MS"/>
              </a:rPr>
              <a:t>Problem 4 — Valid Parentheses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Comic Sans MS"/>
              </a:rPr>
              <a:t>LeetCode 20  |  Pattern: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Input: "{[()]}"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Push { → [ → (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')' matches '(' → pop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']' matches '[' → pop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32504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096512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'}' matches '{' → pop → valid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053328"/>
            <a:ext cx="4754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A5A5A"/>
                </a:solidFill>
                <a:latin typeface="Comic Sans MS"/>
              </a:rPr>
              <a:t>PATTERN → INVARIANT → CODE → 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858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64646"/>
                </a:solidFill>
                <a:latin typeface="Comic Sans MS"/>
              </a:rPr>
              <a:t>github.com/ritesh2687/dsa_ppt_post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2286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Comic Sans M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583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omic Sans MS"/>
              </a:rPr>
              <a:t>DAY 30  •  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248"/>
                </a:solidFill>
                <a:latin typeface="Comic Sans MS"/>
              </a:rPr>
              <a:t>C++ — Valid Parentheses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Comic Sans MS"/>
              </a:rPr>
              <a:t>Time: O(n)  |  Space: O(n) worst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4251960"/>
          </a:xfrm>
          <a:prstGeom prst="roundRect">
            <a:avLst/>
          </a:prstGeom>
          <a:solidFill>
            <a:srgbClr val="EEF1EC"/>
          </a:solidFill>
          <a:ln>
            <a:solidFill>
              <a:srgbClr val="CDC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bool isValid(string s)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stack&lt;char&gt; st;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52344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for (char c : s)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45536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    if (c == '(' || c == '[' || c == '{') st.push(c);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38728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    else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        if (st.empty()) return false;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25112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        char t = st.top(); st.pop();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18304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        if ((c == ')' &amp;&amp; t != '(') || (c == ']' &amp;&amp; t != '[') || (c == '}' &amp;&amp; t != '{')) return false;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111496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   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504688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97879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    return st.empty();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291071"/>
            <a:ext cx="104698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D32"/>
                </a:solidFill>
                <a:latin typeface="Consolas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05332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15046"/>
                </a:solidFill>
                <a:latin typeface="Comic Sans MS"/>
              </a:rPr>
              <a:t>Time: O(n)  |  Space: O(n) worst 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858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64646"/>
                </a:solidFill>
                <a:latin typeface="Comic Sans MS"/>
              </a:rPr>
              <a:t>github.com/ritesh2687/dsa_ppt_post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2286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Comic Sans M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583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omic Sans MS"/>
              </a:rPr>
              <a:t>DAY 30  •  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248"/>
                </a:solidFill>
                <a:latin typeface="Comic Sans MS"/>
              </a:rPr>
              <a:t>Pattern 5 — Prefix / Common Prefix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Comic Sans MS"/>
              </a:rPr>
              <a:t>When every string must share the same beginning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Start with one string as the current prefix.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Compare it with the next string.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Shrink the prefix until that string starts with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Repeat for all strings.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32504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096512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Typical signal: longest common prefix / starts with.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053328"/>
            <a:ext cx="4754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A5A5A"/>
                </a:solidFill>
                <a:latin typeface="Comic Sans MS"/>
              </a:rPr>
              <a:t>PATTERN → INVARIANT → CODE → 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858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64646"/>
                </a:solidFill>
                <a:latin typeface="Comic Sans MS"/>
              </a:rPr>
              <a:t>github.com/ritesh2687/dsa_ppt_post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2286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Comic Sans M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583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omic Sans MS"/>
              </a:rPr>
              <a:t>DAY 30  •  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248"/>
                </a:solidFill>
                <a:latin typeface="Comic Sans MS"/>
              </a:rPr>
              <a:t>Problem 5 — Longest Common Prefix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Comic Sans MS"/>
              </a:rPr>
              <a:t>LeetCode 14  |  Pattern: Prefix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["flower", "flow", "flight"]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Start prefix = "flower".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Compare with "flow" → prefix becomes "flow".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Compare with "flight" → prefix becomes "fl".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32504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096512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Answer = "fl".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053328"/>
            <a:ext cx="4754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A5A5A"/>
                </a:solidFill>
                <a:latin typeface="Comic Sans MS"/>
              </a:rPr>
              <a:t>PATTERN → INVARIANT → CODE → 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858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64646"/>
                </a:solidFill>
                <a:latin typeface="Comic Sans MS"/>
              </a:rPr>
              <a:t>github.com/ritesh2687/dsa_ppt_post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2286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Comic Sans M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583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omic Sans MS"/>
              </a:rPr>
              <a:t>DAY 30  •  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248"/>
                </a:solidFill>
                <a:latin typeface="Comic Sans MS"/>
              </a:rPr>
              <a:t>The 5-Problem Core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Comic Sans MS"/>
              </a:rPr>
              <a:t>Master the pattern before memorizing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LC 242 — Valid Anagram → Frequency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938527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LC 125 — Valid Palindrome → Two Pointers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LC 3 — Longest Substring Without Repeating → Sliding Window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953511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3017519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LC 20 — Valid Parentheses → 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32504"/>
            <a:ext cx="5074920" cy="822960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096512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LC 14 — Longest Common Prefix → Prefix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053328"/>
            <a:ext cx="4754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A5A5A"/>
                </a:solidFill>
                <a:latin typeface="Comic Sans MS"/>
              </a:rPr>
              <a:t>PATTERN → INVARIANT → CODE → 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858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64646"/>
                </a:solidFill>
                <a:latin typeface="Comic Sans MS"/>
              </a:rPr>
              <a:t>github.com/ritesh2687/dsa_ppt_post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2286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Comic Sans M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583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omic Sans MS"/>
              </a:rPr>
              <a:t>DAY 30  •  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248"/>
                </a:solidFill>
                <a:latin typeface="Comic Sans MS"/>
              </a:rPr>
              <a:t>Interview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Comic Sans MS"/>
              </a:rPr>
              <a:t>A fast decision tree before you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92807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Frequency? → count with array/map.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50592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14600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Symmetry or two ends? → two pointers.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72384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136392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Contiguous substring + longest/shortest? → sliding window.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94176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Nested brackets? → stack.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15968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379976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Shared beginning? → prefix comparison.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60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001768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Then state the invariant + complexity.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053328"/>
            <a:ext cx="4754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A5A5A"/>
                </a:solidFill>
                <a:latin typeface="Comic Sans MS"/>
              </a:rPr>
              <a:t>PATTERN → INVARIANT → CODE → COMPLEXITY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6858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64646"/>
                </a:solidFill>
                <a:latin typeface="Comic Sans MS"/>
              </a:rPr>
              <a:t>github.com/ritesh2687/dsa_ppt_post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2286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Comic Sans M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583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omic Sans MS"/>
              </a:rPr>
              <a:t>DAY 30  •  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248"/>
                </a:solidFill>
                <a:latin typeface="Comic Sans MS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Comic Sans MS"/>
              </a:rPr>
              <a:t>The pattern is the real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92807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Count → Frequency / Hashing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50592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14600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Compare ends → Two Pointers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72384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136392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Maintain a range → Sliding Window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94176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Match nesting → 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15968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379976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Compare beginnings → Prefix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60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001768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Practice: identify the pattern before writing code.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053328"/>
            <a:ext cx="4754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A5A5A"/>
                </a:solidFill>
                <a:latin typeface="Comic Sans MS"/>
              </a:rPr>
              <a:t>PATTERN → INVARIANT → CODE → COMPLEXITY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6858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64646"/>
                </a:solidFill>
                <a:latin typeface="Comic Sans MS"/>
              </a:rPr>
              <a:t>github.com/ritesh2687/dsa_ppt_post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2286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Comic Sans M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583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omic Sans MS"/>
              </a:rPr>
              <a:t>DAY 30  •  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248"/>
                </a:solidFill>
                <a:latin typeface="Comic Sans MS"/>
              </a:rPr>
              <a:t>DAY 31 → STRING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Comic Sans MS"/>
              </a:rPr>
              <a:t>From interview patterns to stronger matching techniques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92807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50592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14600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72384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136392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94176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15968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379976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60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001768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59552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623560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6181344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6245352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6803136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6867144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7424928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7488936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8046720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8110728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8668512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8732520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9290304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9354312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v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9912096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9976104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10533888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10597896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11155680"/>
            <a:ext cx="10561320" cy="475488"/>
          </a:xfrm>
          <a:prstGeom prst="roundRect">
            <a:avLst/>
          </a:prstGeom>
          <a:solidFill>
            <a:srgbClr val="F4F1E9"/>
          </a:solidFill>
          <a:ln>
            <a:solidFill>
              <a:srgbClr val="D4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11219688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Comic Sans MS"/>
              </a:rPr>
              <a:t>✎ 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053328"/>
            <a:ext cx="4754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A5A5A"/>
                </a:solidFill>
                <a:latin typeface="Comic Sans MS"/>
              </a:rPr>
              <a:t>PATTERN → INVARIANT → CODE → COMPLEXITY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6858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64646"/>
                </a:solidFill>
                <a:latin typeface="Comic Sans MS"/>
              </a:rPr>
              <a:t>github.com/ritesh2687/dsa_ppt_post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2286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Comic Sans MS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