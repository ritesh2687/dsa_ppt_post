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C496"/>
                </a:solidFill>
                <a:latin typeface="Aptos"/>
              </a:rPr>
              <a:t>DSA DAILY — DAY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8961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0F3F8"/>
                </a:solidFill>
                <a:latin typeface="Aptos"/>
              </a:rPr>
              <a:t>Character Frequency
&amp; 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AB4C3"/>
                </a:solidFill>
                <a:latin typeface="Aptos"/>
              </a:rPr>
              <a:t>A simple counting technique that becomes a powerful DSA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283464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2219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097280"/>
            <a:ext cx="2331720" cy="329184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157276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2C496"/>
                </a:solidFill>
                <a:latin typeface="Aptos"/>
              </a:rPr>
              <a:t>a  a 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2860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896FF"/>
                </a:solidFill>
                <a:latin typeface="Aptos"/>
              </a:rPr>
              <a:t>b   n  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315468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0F3F8"/>
                </a:solidFill>
                <a:latin typeface="Aptos"/>
              </a:rPr>
              <a:t>COUNT → STORE →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01</a:t>
            </a:r>
          </a:p>
        </p:txBody>
      </p:sp>
      <p:sp>
        <p:nvSpPr>
          <p:cNvPr id="12" name="TextBox 11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What is Character Frequency?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Start with one simple idea: count how often each character appears.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4846320" cy="41605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4C3"/>
                </a:solidFill>
                <a:latin typeface="Aptos"/>
              </a:rPr>
              <a:t>CHARACTER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3F8"/>
                </a:solidFill>
                <a:latin typeface="Aptos"/>
              </a:rPr>
              <a:t>A single symbol in a string.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4C3"/>
                </a:solidFill>
                <a:latin typeface="Aptos"/>
              </a:rPr>
              <a:t>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3F8"/>
                </a:solidFill>
                <a:latin typeface="Aptos"/>
              </a:rPr>
              <a:t>The number of times it occurs.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C496"/>
                </a:solidFill>
                <a:latin typeface="Aptos"/>
              </a:rPr>
              <a:t>CHARACTER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3F8"/>
                </a:solidFill>
                <a:latin typeface="Aptos"/>
              </a:rPr>
              <a:t>Count every character and store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508760"/>
            <a:ext cx="5669280" cy="41605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8288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0F3F8"/>
                </a:solidFill>
                <a:latin typeface="Aptos"/>
              </a:rPr>
              <a:t>banana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743200"/>
            <a:ext cx="1234440" cy="141732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944368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52C496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66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3F8"/>
                </a:solidFill>
                <a:latin typeface="Aptos"/>
              </a:rPr>
              <a:t>→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743200"/>
            <a:ext cx="1234440" cy="141732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944368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52C496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566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3F8"/>
                </a:solidFill>
                <a:latin typeface="Aptos"/>
              </a:rPr>
              <a:t>→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743200"/>
            <a:ext cx="1234440" cy="141732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944368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52C496"/>
                </a:solidFill>
                <a:latin typeface="Aptos"/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566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3F8"/>
                </a:solidFill>
                <a:latin typeface="Aptos"/>
              </a:rPr>
              <a:t>→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091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AB4C3"/>
                </a:solidFill>
                <a:latin typeface="Aptos"/>
              </a:rPr>
              <a:t>Same character? Same counter.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02</a:t>
            </a:r>
          </a:p>
        </p:txBody>
      </p:sp>
      <p:sp>
        <p:nvSpPr>
          <p:cNvPr id="24" name="TextBox 23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Why Do We Need Character Frequency?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The value is not the counting itself — it is what the counts let us decide.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874519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733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C496"/>
                </a:solidFill>
                <a:latin typeface="Aptos"/>
              </a:rPr>
              <a:t>Duplicate characters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6712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Aptos"/>
              </a:rPr>
              <a:t>A count &gt; 1 tells us a character repeats.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1874519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733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96FF"/>
                </a:solidFill>
                <a:latin typeface="Aptos"/>
              </a:rPr>
              <a:t>Unique characters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6712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Aptos"/>
              </a:rPr>
              <a:t>A count == 1 helps identify one-time occurrences.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429000" cy="1874519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733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B4B"/>
                </a:solidFill>
                <a:latin typeface="Aptos"/>
              </a:rPr>
              <a:t>Anagrams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16712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Aptos"/>
              </a:rPr>
              <a:t>Two strings can be compared by their character 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3429000" cy="1874519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136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480E8"/>
                </a:solidFill>
                <a:latin typeface="Aptos"/>
              </a:rPr>
              <a:t>String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0740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Aptos"/>
              </a:rPr>
              <a:t>Frequency gives a compact summary of a string.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657600"/>
            <a:ext cx="3429000" cy="1874519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9136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C496"/>
                </a:solidFill>
                <a:latin typeface="Aptos"/>
              </a:rPr>
              <a:t>Hashing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0740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Aptos"/>
              </a:rPr>
              <a:t>Frequency maps are one of the easiest uses of hashing.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657600"/>
            <a:ext cx="3429000" cy="1874519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9136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96FF"/>
                </a:solidFill>
                <a:latin typeface="Aptos"/>
              </a:rPr>
              <a:t>Sliding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40740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Aptos"/>
              </a:rPr>
              <a:t>Counts help track what enters and leaves a window.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03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Basic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Think of frequency counting as a tiny bookkeeping process.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468880" cy="2011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41148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Traverse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Visit each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060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2C49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2011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2057400"/>
            <a:ext cx="41148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8483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Pick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906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Read the current character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6060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2C49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2468880" cy="2011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2057400"/>
            <a:ext cx="41148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8483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906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Increase its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060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2C496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828800"/>
            <a:ext cx="2468880" cy="2011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19" y="2057400"/>
            <a:ext cx="41148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08483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30906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Keep the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F3F8"/>
                </a:solidFill>
                <a:latin typeface="Aptos"/>
              </a:rPr>
              <a:t>Example: apple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40740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2C496"/>
                </a:solidFill>
                <a:latin typeface="Aptos"/>
              </a:rPr>
              <a:t>a → 1    p → 2    l → 1    e →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04</a:t>
            </a:r>
          </a:p>
        </p:txBody>
      </p:sp>
      <p:sp>
        <p:nvSpPr>
          <p:cNvPr id="30" name="TextBox 29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Frequency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When the character set is small and known, an array is fast and simple.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86400" cy="429768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5084064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3F8"/>
                </a:solidFill>
                <a:latin typeface="Consolas"/>
              </a:rPr>
              <a:t>int freq[26] = {0};
for(char ch : s) {
    freq[ch - 'a']++;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5074920" cy="4297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2C496"/>
                </a:solidFill>
                <a:latin typeface="Aptos"/>
              </a:rPr>
              <a:t>Why ch - 'a'?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31720"/>
            <a:ext cx="4297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3F8"/>
                </a:solidFill>
                <a:latin typeface="Aptos"/>
              </a:rPr>
              <a:t>For lowercase English letters:
'a' is index 0
'b' is index 1
...
'z' is index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069080"/>
            <a:ext cx="4297680" cy="114300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4233672"/>
            <a:ext cx="3895344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3F8"/>
                </a:solidFill>
                <a:latin typeface="Consolas"/>
              </a:rPr>
              <a:t>'c' - 'a'  →  2
freq[2]++  →  count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05</a:t>
            </a:r>
          </a:p>
        </p:txBody>
      </p:sp>
      <p:sp>
        <p:nvSpPr>
          <p:cNvPr id="12" name="TextBox 11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C++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Beginner-friendly version for lowercase English letters.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6400800" cy="498348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90472"/>
            <a:ext cx="5998464" cy="4654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Consolas"/>
              </a:rPr>
              <a:t>#include &lt;iostream&gt;
using namespace std;
int main() {
    string s = "banana";
    int freq[26] = {0};
    for (char ch : s)
        freq[ch - 'a']++;
    for (int i = 0; i &lt; 26; i++) {
        if (freq[i] &gt; 0)
            cout &lt;&lt; char('a' + i)
                 &lt;&lt; " -&gt; " &lt;&lt; freq[i] &lt;&lt; '\n';
  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4297680" cy="49834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69164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4C3"/>
                </a:solidFill>
                <a:latin typeface="Aptos"/>
              </a:rPr>
              <a:t>Sample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1168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0F3F8"/>
                </a:solidFill>
                <a:latin typeface="Aptos"/>
              </a:rPr>
              <a:t>banana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743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4C3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27248"/>
            <a:ext cx="3474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2C496"/>
                </a:solidFill>
                <a:latin typeface="Aptos"/>
              </a:rPr>
              <a:t>a → 3
b → 1
n →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4C3"/>
                </a:solidFill>
                <a:latin typeface="Aptos"/>
              </a:rPr>
              <a:t>Key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16636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3F8"/>
                </a:solidFill>
                <a:latin typeface="Aptos"/>
              </a:rPr>
              <a:t>Every visit updates one counter.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06</a:t>
            </a:r>
          </a:p>
        </p:txBody>
      </p:sp>
      <p:sp>
        <p:nvSpPr>
          <p:cNvPr id="14" name="TextBox 13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Worked Example: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Traverse once, then read the non-zero 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0F3F8"/>
                </a:solidFill>
                <a:latin typeface="Aptos"/>
              </a:rPr>
              <a:t>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1176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4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14616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4616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9992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240280"/>
            <a:ext cx="713232" cy="658368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37744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2C496"/>
                </a:solidFill>
                <a:latin typeface="Aptos"/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3375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Final frequency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94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p →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94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r →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94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o →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794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g →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720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a →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5720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m →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5720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i →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5720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n →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07</a:t>
            </a:r>
          </a:p>
        </p:txBody>
      </p:sp>
      <p:sp>
        <p:nvSpPr>
          <p:cNvPr id="37" name="TextBox 36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What If Characters Are Not Just a–z?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A fixed 26-slot array assumes a specific character 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20640" cy="4389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2C496"/>
                </a:solidFill>
                <a:latin typeface="Aptos"/>
              </a:rPr>
              <a:t>Fixed array works well when...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Only lowercase a–z matters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The character range is known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You want simple, fast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348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But what about: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2803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B4C3"/>
                </a:solidFill>
                <a:latin typeface="Aptos"/>
              </a:rPr>
              <a:t>A–Z   digits   spaces   punctuation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17320"/>
            <a:ext cx="5440680" cy="4389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896FF"/>
                </a:solidFill>
                <a:latin typeface="Aptos"/>
              </a:rPr>
              <a:t>Use a hash map when the set is flexible.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697480"/>
            <a:ext cx="4617720" cy="82296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862072"/>
            <a:ext cx="4215383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3F8"/>
                </a:solidFill>
                <a:latin typeface="Consolas"/>
              </a:rPr>
              <a:t>unordered_map&lt;char, int&gt; freq;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84048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It creates a key for each character you actually see.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08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unordered_map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Same counting idea — different storage.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577840" cy="233172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27632"/>
            <a:ext cx="5175503" cy="2002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3F8"/>
                </a:solidFill>
                <a:latin typeface="Consolas"/>
              </a:rPr>
              <a:t>unordered_map&lt;char, int&gt; freq;
for(char ch : s) {
    freq[ch]++;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63040"/>
            <a:ext cx="4983480" cy="420624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8308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2C496"/>
                </a:solidFill>
                <a:latin typeface="Aptos"/>
              </a:rPr>
              <a:t>What happens?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31720"/>
            <a:ext cx="4160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ch becomes the key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freq[ch] is its counter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++ increases the count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Works naturally beyond a–z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8006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3F8"/>
                </a:solidFill>
                <a:latin typeface="Aptos"/>
              </a:rPr>
              <a:t>Example: "A1 A!"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2120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96FF"/>
                </a:solidFill>
                <a:latin typeface="Aptos"/>
              </a:rPr>
              <a:t>A → 2   1 → 1   ! →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09</a:t>
            </a:r>
          </a:p>
        </p:txBody>
      </p:sp>
      <p:sp>
        <p:nvSpPr>
          <p:cNvPr id="12" name="TextBox 11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Array vs unordered_map vs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Choose the simplest structure that matches the input.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508760" cy="64008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554480"/>
            <a:ext cx="13624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2C496"/>
                </a:solidFill>
                <a:latin typeface="Aptos"/>
              </a:rPr>
              <a:t>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17320"/>
            <a:ext cx="2240280" cy="64008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84832" y="1554480"/>
            <a:ext cx="20939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2C496"/>
                </a:solidFill>
                <a:latin typeface="Aptos"/>
              </a:rPr>
              <a:t>Best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417320"/>
            <a:ext cx="1645920" cy="64008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554480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2C496"/>
                </a:solidFill>
                <a:latin typeface="Aptos"/>
              </a:rPr>
              <a:t>Typical time*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417320"/>
            <a:ext cx="1234440" cy="64008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155448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2C496"/>
                </a:solidFill>
                <a:latin typeface="Aptos"/>
              </a:rPr>
              <a:t>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417320"/>
            <a:ext cx="5623560" cy="640080"/>
          </a:xfrm>
          <a:prstGeom prst="roundRect">
            <a:avLst/>
          </a:prstGeom>
          <a:solidFill>
            <a:srgbClr val="1D2432"/>
          </a:solidFill>
          <a:ln>
            <a:solidFill>
              <a:srgbClr val="1D2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1554480"/>
            <a:ext cx="5477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2C496"/>
                </a:solidFill>
                <a:latin typeface="Aptos"/>
              </a:rPr>
              <a:t>Strength / limitation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48840"/>
            <a:ext cx="150876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76856"/>
            <a:ext cx="1325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3F8"/>
                </a:solidFill>
                <a:latin typeface="Aptos"/>
              </a:rPr>
              <a:t>Array[26]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148840"/>
            <a:ext cx="22402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276856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Known lowercase a–z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2148840"/>
            <a:ext cx="164592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2276856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2148840"/>
            <a:ext cx="123444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2276856"/>
            <a:ext cx="1051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O(1)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148840"/>
            <a:ext cx="562356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2276856"/>
            <a:ext cx="5440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Very fast / fixed alphabet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91840"/>
            <a:ext cx="150876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19856"/>
            <a:ext cx="1325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3F8"/>
                </a:solidFill>
                <a:latin typeface="Aptos"/>
              </a:rPr>
              <a:t>unordered_map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3291840"/>
            <a:ext cx="22402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3419856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Flexible character keys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59" y="3291840"/>
            <a:ext cx="164592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3419856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O(n) avg.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3291840"/>
            <a:ext cx="123444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419856"/>
            <a:ext cx="1051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O(k)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3291840"/>
            <a:ext cx="562356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3419856"/>
            <a:ext cx="5440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Flexible / hash overhead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34840"/>
            <a:ext cx="150876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562855"/>
            <a:ext cx="1325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3F8"/>
                </a:solidFill>
                <a:latin typeface="Aptos"/>
              </a:rPr>
              <a:t>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4434840"/>
            <a:ext cx="22402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0" y="4562855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Ordered character keys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59" y="4434840"/>
            <a:ext cx="164592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399" y="4562855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O(n log k)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4434840"/>
            <a:ext cx="123444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4562855"/>
            <a:ext cx="1051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O(k)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0" y="4434840"/>
            <a:ext cx="562356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59" y="4562855"/>
            <a:ext cx="5440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0F3F8"/>
                </a:solidFill>
                <a:latin typeface="Aptos"/>
              </a:rPr>
              <a:t>Sorted keys / tree overhead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7150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4C3"/>
                </a:solidFill>
                <a:latin typeface="Aptos"/>
              </a:rPr>
              <a:t>*For a string of length n and k distinct keys; exact constants depend on implementation.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10</a:t>
            </a:r>
          </a:p>
        </p:txBody>
      </p:sp>
      <p:sp>
        <p:nvSpPr>
          <p:cNvPr id="46" name="TextBox 45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Time &amp; Space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The traversal is linear because each character is processed.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66360" cy="434340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AB4C3"/>
                </a:solidFill>
                <a:latin typeface="Aptos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C496"/>
                </a:solidFill>
                <a:latin typeface="Aptos"/>
              </a:rPr>
              <a:t>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4297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We generally visit each of the n characters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AB4C3"/>
                </a:solidFill>
                <a:latin typeface="Aptos"/>
              </a:rPr>
              <a:t>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5371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896FF"/>
                </a:solidFill>
                <a:latin typeface="Aptos"/>
              </a:rPr>
              <a:t>Depends on the character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440680" cy="434340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3F8"/>
                </a:solidFill>
                <a:latin typeface="Aptos"/>
              </a:rPr>
              <a:t>Typical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Array[26]  →  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896FF"/>
                </a:solidFill>
                <a:latin typeface="Aptos"/>
              </a:rPr>
              <a:t>unordered_map → O(k)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033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480E8"/>
                </a:solidFill>
                <a:latin typeface="Aptos"/>
              </a:rPr>
              <a:t>map → O(k)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where k = number of distinct keys stored.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11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DSA Pattern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Today's counting trick is a building block for bigger string problems.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1965960" cy="10972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1783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3F8"/>
                </a:solidFill>
                <a:latin typeface="Aptos"/>
              </a:rPr>
              <a:t>Character Frequency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2C496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331720"/>
            <a:ext cx="1965960" cy="10972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606040"/>
            <a:ext cx="1783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3F8"/>
                </a:solidFill>
                <a:latin typeface="Aptos"/>
              </a:rPr>
              <a:t>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2C49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331720"/>
            <a:ext cx="1965960" cy="10972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606040"/>
            <a:ext cx="1783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3F8"/>
                </a:solidFill>
                <a:latin typeface="Aptos"/>
              </a:rPr>
              <a:t>Anagrams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2C49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331720"/>
            <a:ext cx="1965960" cy="10972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606040"/>
            <a:ext cx="1783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3F8"/>
                </a:solidFill>
                <a:latin typeface="Aptos"/>
              </a:rPr>
              <a:t>Sliding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2C49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331720"/>
            <a:ext cx="1965960" cy="10972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606040"/>
            <a:ext cx="1783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3F8"/>
                </a:solidFill>
                <a:latin typeface="Aptos"/>
              </a:rPr>
              <a:t>Substring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3F8"/>
                </a:solidFill>
                <a:latin typeface="Aptos"/>
              </a:rPr>
              <a:t>Once you recognize “count occurrences,” you can often reduce a harder-looking problem to maintaining a small frequency 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12</a:t>
            </a:r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LeetCode: Valid Anagram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Core idea: two strings are anagrams when their character counts match.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657600" cy="45262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2C496"/>
                </a:solidFill>
                <a:latin typeface="Aptos"/>
              </a:rPr>
              <a:t>Problem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3F8"/>
                </a:solidFill>
                <a:latin typeface="Aptos"/>
              </a:rPr>
              <a:t>Given two strings, determine whether one can be rearranged to form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AB4C3"/>
                </a:solidFill>
                <a:latin typeface="Aptos"/>
              </a:rPr>
              <a:t>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896FF"/>
                </a:solidFill>
                <a:latin typeface="Aptos"/>
              </a:rPr>
              <a:t>Count → Compare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6949440" cy="45262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3F8"/>
                </a:solidFill>
                <a:latin typeface="Aptos"/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5943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If lengths differ, return false.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Count each character in the first string.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Subtract counts using the second string.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If every count ends at zero, they 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5074920"/>
            <a:ext cx="123444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5102352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Time O(n)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074920"/>
            <a:ext cx="2514600" cy="347472"/>
          </a:xfrm>
          <a:prstGeom prst="roundRect">
            <a:avLst/>
          </a:prstGeom>
          <a:solidFill>
            <a:srgbClr val="5896FF"/>
          </a:solidFill>
          <a:ln>
            <a:solidFill>
              <a:srgbClr val="58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5102352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Space O(1) for fixed alphabet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13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LeetCode: First Unique Character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The two-pass pattern is the key.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337560" cy="3154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41148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Count frequencies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Build the frequency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337560" cy="3154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1874519"/>
            <a:ext cx="41148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0195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6032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Traverse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5468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Keep the original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337560" cy="315468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1874519"/>
            <a:ext cx="41148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90195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First count ==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5468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That index is the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2C496"/>
                </a:solidFill>
                <a:latin typeface="Aptos"/>
              </a:rPr>
              <a:t>Complexity: O(n) time • O(1) extra space with a fixed alphabet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14</a:t>
            </a:r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LeetCode: Ransom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Frequency answers a resource question: do we have enough of each character?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4800600" cy="434340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2C496"/>
                </a:solidFill>
                <a:latin typeface="Aptos"/>
              </a:rPr>
              <a:t>Problem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Can the characters available in one string supply everything required by another?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AB4C3"/>
                </a:solidFill>
                <a:latin typeface="Aptos"/>
              </a:rPr>
              <a:t>Think: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896FF"/>
                </a:solidFill>
                <a:latin typeface="Aptos"/>
              </a:rPr>
              <a:t>available count ≥ required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417320"/>
            <a:ext cx="5760720" cy="434340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7830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3F8"/>
                </a:solidFill>
                <a:latin typeface="Aptos"/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3317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Count characters in the source string.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For each required character, decrease its count.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If a count becomes unavailable, the answer is false.</a:t>
            </a:r>
          </a:p>
          <a:p>
            <a:pPr>
              <a:spcAft>
                <a:spcPts val="800"/>
              </a:spcAft>
              <a:defRPr sz="1500">
                <a:solidFill>
                  <a:srgbClr val="F0F3F8"/>
                </a:solidFill>
                <a:latin typeface="Aptos"/>
              </a:defRPr>
            </a:pPr>
            <a:r>
              <a:t>• Otherwise, all required characters can be supplied.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50749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2C496"/>
                </a:solidFill>
                <a:latin typeface="Aptos"/>
              </a:rPr>
              <a:t>Typical complexity: O(n) time, O(k)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15</a:t>
            </a:r>
          </a:p>
        </p:txBody>
      </p:sp>
      <p:sp>
        <p:nvSpPr>
          <p:cNvPr id="14" name="TextBox 13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Most bugs here are assumptions, not complicated algorithms.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960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676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81912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Forget to initialize the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12080" cy="960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27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676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581912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Use ch - 'a' without checking the input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5212080" cy="960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8620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676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16352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Treat uppercase and lowercase as the same by accident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51760"/>
            <a:ext cx="5212080" cy="960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8620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6767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816352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Ignore spaces or punctuation when they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5212080" cy="960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096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6767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50791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Assume every string contains only lowercase letters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86200"/>
            <a:ext cx="5212080" cy="960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096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6767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050791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Pick a structure that does not match the character 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20640"/>
            <a:ext cx="5212080" cy="96012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3309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6767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285232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Turn a simple counting problem into an unnecessarily complex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16</a:t>
            </a:r>
          </a:p>
        </p:txBody>
      </p:sp>
      <p:sp>
        <p:nvSpPr>
          <p:cNvPr id="26" name="TextBox 25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Interview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Don't memorize one implementation. Recognize the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10652760" cy="3337560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057400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0F3F8"/>
                </a:solidFill>
                <a:latin typeface="Aptos"/>
              </a:rPr>
              <a:t>“How many times does this occur?”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74320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2C496"/>
                </a:solidFill>
                <a:latin typeface="Aptos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46120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2C496"/>
                </a:solidFill>
                <a:latin typeface="Aptos"/>
              </a:rPr>
              <a:t>Think frequency counting /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977639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AB4C3"/>
                </a:solidFill>
                <a:latin typeface="Aptos"/>
              </a:rPr>
              <a:t>Then choose the smallest structure that fits the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17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Try answering before checking your notes.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C496"/>
                </a:solidFill>
                <a:latin typeface="Aptos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3258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3F8"/>
                </a:solidFill>
                <a:latin typeface="Aptos"/>
              </a:rPr>
              <a:t>What is the frequency of 'a' in banana?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C496"/>
                </a:solidFill>
                <a:latin typeface="Aptos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3F8"/>
                </a:solidFill>
                <a:latin typeface="Aptos"/>
              </a:rPr>
              <a:t>What does freq[ch - 'a']++ 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C496"/>
                </a:solidFill>
                <a:latin typeface="Aptos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3F8"/>
                </a:solidFill>
                <a:latin typeface="Aptos"/>
              </a:rPr>
              <a:t>When is unordered_map a useful choice?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C496"/>
                </a:solidFill>
                <a:latin typeface="Aptos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0624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3F8"/>
                </a:solidFill>
                <a:latin typeface="Aptos"/>
              </a:rPr>
              <a:t>What is the time complexity of one frequency pass?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C496"/>
                </a:solidFill>
                <a:latin typeface="Aptos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6636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3F8"/>
                </a:solidFill>
                <a:latin typeface="Aptos"/>
              </a:rPr>
              <a:t>Which future DSA pattern commonly uses frequency counts?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4C3"/>
                </a:solidFill>
                <a:latin typeface="Aptos"/>
              </a:rPr>
              <a:t>Answers: 3 • increment the indexed counter • flexible key sets • O(n) • sliding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18</a:t>
            </a:r>
          </a:p>
        </p:txBody>
      </p:sp>
      <p:sp>
        <p:nvSpPr>
          <p:cNvPr id="16" name="TextBox 15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3F8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A small idea worth recognizing again and again.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81912"/>
            <a:ext cx="4160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3F8"/>
                </a:solidFill>
                <a:latin typeface="Aptos"/>
              </a:rPr>
              <a:t>Frequency = number of occurrences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417320"/>
            <a:ext cx="52120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6459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9" y="1581912"/>
            <a:ext cx="4160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3F8"/>
                </a:solidFill>
                <a:latin typeface="Aptos"/>
              </a:rPr>
              <a:t>Frequency arrays are efficient for fixed character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2120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07792"/>
            <a:ext cx="4160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3F8"/>
                </a:solidFill>
                <a:latin typeface="Aptos"/>
              </a:rPr>
              <a:t>unordered_map provides flexibility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743200"/>
            <a:ext cx="52120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9718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907792"/>
            <a:ext cx="4160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3F8"/>
                </a:solidFill>
                <a:latin typeface="Aptos"/>
              </a:rPr>
              <a:t>Frequency counting is generally O(n) for a string of length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52120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33672"/>
            <a:ext cx="4160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3F8"/>
                </a:solidFill>
                <a:latin typeface="Aptos"/>
              </a:rPr>
              <a:t>It is a foundation for hashing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069080"/>
            <a:ext cx="5212080" cy="987552"/>
          </a:xfrm>
          <a:prstGeom prst="roundRect">
            <a:avLst/>
          </a:prstGeom>
          <a:solidFill>
            <a:srgbClr val="161C27"/>
          </a:solidFill>
          <a:ln>
            <a:solidFill>
              <a:srgbClr val="16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4297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496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4233672"/>
            <a:ext cx="4160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3F8"/>
                </a:solidFill>
                <a:latin typeface="Aptos"/>
              </a:rPr>
              <a:t>It appears often in string and sliding-window problems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19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C496"/>
                </a:solidFill>
                <a:latin typeface="Aptos"/>
              </a:rPr>
              <a:t>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0F3F8"/>
                </a:solidFill>
                <a:latin typeface="Aptos"/>
              </a:rPr>
              <a:t>DAY 24 — PALINDROME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AAB4C3"/>
                </a:solidFill>
                <a:latin typeface="Aptos"/>
              </a:rPr>
              <a:t>Can we determine whether a string reads the same forward and backward?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2834640" cy="347472"/>
          </a:xfrm>
          <a:prstGeom prst="roundRect">
            <a:avLst/>
          </a:prstGeom>
          <a:solidFill>
            <a:srgbClr val="52C496"/>
          </a:solidFill>
          <a:ln>
            <a:solidFill>
              <a:srgbClr val="52C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2219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1018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Keep learning. Keep solving. Keep building the pattern library.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4C3"/>
                </a:solidFill>
                <a:latin typeface="Aptos"/>
              </a:rPr>
              <a:t>20</a:t>
            </a: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3657600" y="6428232"/>
            <a:ext cx="79552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C496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