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04672"/>
            <a:ext cx="7132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45B8C"/>
                </a:solidFill>
                <a:latin typeface="Comic Sans MS"/>
              </a:rPr>
              <a:t>DSA From Scratch → 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51560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600" b="1">
                <a:solidFill>
                  <a:srgbClr val="23262A"/>
                </a:solidFill>
                <a:latin typeface="Aptos"/>
              </a:rPr>
              <a:t>DAY 42 — SINGLY LINKED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7863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5D6369"/>
                </a:solidFill>
                <a:latin typeface="Comic Sans MS"/>
              </a:rPr>
              <a:t>From “data in a row” → “nodes connected by pointers”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703320"/>
            <a:ext cx="1234440" cy="640080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67328"/>
            <a:ext cx="80238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8099" y="3703320"/>
            <a:ext cx="24688" cy="64008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45132" y="3794759"/>
            <a:ext cx="308610" cy="50291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03120" y="4023360"/>
            <a:ext cx="822960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71800" y="3703320"/>
            <a:ext cx="1234440" cy="640080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3767328"/>
            <a:ext cx="80238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1219" y="3703320"/>
            <a:ext cx="24688" cy="64008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8252" y="3794759"/>
            <a:ext cx="308610" cy="50291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06240" y="4023360"/>
            <a:ext cx="822960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74920" y="3703320"/>
            <a:ext cx="1234440" cy="640080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767328"/>
            <a:ext cx="80238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14339" y="3703320"/>
            <a:ext cx="24688" cy="64008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51372" y="3794759"/>
            <a:ext cx="308610" cy="50291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9360" y="4023360"/>
            <a:ext cx="822960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178040" y="3703320"/>
            <a:ext cx="1234440" cy="640080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59" y="3767328"/>
            <a:ext cx="80238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7459" y="3703320"/>
            <a:ext cx="24688" cy="64008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54492" y="3794759"/>
            <a:ext cx="308610" cy="50291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0" y="4023360"/>
            <a:ext cx="822960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281160" y="3703320"/>
            <a:ext cx="1234440" cy="640080"/>
          </a:xfrm>
          <a:prstGeom prst="roundRect">
            <a:avLst/>
          </a:prstGeom>
          <a:solidFill>
            <a:srgbClr val="FAEBD7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3767328"/>
            <a:ext cx="80238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NULL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20579" y="3703320"/>
            <a:ext cx="24688" cy="64008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57612" y="3794759"/>
            <a:ext cx="308610" cy="50291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617720"/>
            <a:ext cx="9601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3262A"/>
                </a:solidFill>
                <a:latin typeface="Consolas"/>
              </a:rPr>
              <a:t>head → 10 → 20 → 30 → 40 → NULL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20" y="1325880"/>
            <a:ext cx="1280160" cy="310896"/>
          </a:xfrm>
          <a:prstGeom prst="roundRect">
            <a:avLst/>
          </a:prstGeom>
          <a:solidFill>
            <a:srgbClr val="E2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1353312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D7D79"/>
                </a:solidFill>
                <a:latin typeface="Comic Sans MS"/>
              </a:rPr>
              <a:t>POINTERS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89920" y="1325880"/>
            <a:ext cx="914400" cy="310896"/>
          </a:xfrm>
          <a:prstGeom prst="roundRect">
            <a:avLst/>
          </a:prstGeom>
          <a:solidFill>
            <a:srgbClr val="E2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0" y="1353312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45B8C"/>
                </a:solidFill>
                <a:latin typeface="Comic Sans MS"/>
              </a:rPr>
              <a:t>NODES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01  What is a Linked List?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A linear data structure built from connected nodes.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48920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45B8C"/>
                </a:solidFill>
                <a:latin typeface="Aptos"/>
              </a:rPr>
              <a:t>The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4251960" cy="22860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62A"/>
                </a:solidFill>
                <a:latin typeface="Aptos"/>
              </a:defRPr>
            </a:pPr>
            <a:r>
              <a:t>•  Elements are stored inside separate nodes.</a:t>
            </a:r>
          </a:p>
          <a:p>
            <a:pPr>
              <a:spcAft>
                <a:spcPts val="500"/>
              </a:spcAft>
              <a:defRPr sz="1600">
                <a:solidFill>
                  <a:srgbClr val="23262A"/>
                </a:solidFill>
                <a:latin typeface="Aptos"/>
              </a:defRPr>
            </a:pPr>
            <a:r>
              <a:t>•  Each node stores data + a link to the next node.</a:t>
            </a:r>
          </a:p>
          <a:p>
            <a:pPr>
              <a:spcAft>
                <a:spcPts val="500"/>
              </a:spcAft>
              <a:defRPr sz="1600">
                <a:solidFill>
                  <a:srgbClr val="23262A"/>
                </a:solidFill>
                <a:latin typeface="Aptos"/>
              </a:defRPr>
            </a:pPr>
            <a:r>
              <a:t>•  The first node is reached through head.</a:t>
            </a:r>
          </a:p>
          <a:p>
            <a:pPr>
              <a:spcAft>
                <a:spcPts val="500"/>
              </a:spcAft>
              <a:defRPr sz="1600">
                <a:solidFill>
                  <a:srgbClr val="23262A"/>
                </a:solidFill>
                <a:latin typeface="Aptos"/>
              </a:defRPr>
            </a:pPr>
            <a:r>
              <a:t>•  The last node points to NULL.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166360"/>
            <a:ext cx="4251960" cy="502920"/>
          </a:xfrm>
          <a:prstGeom prst="roundRect">
            <a:avLst/>
          </a:prstGeom>
          <a:solidFill>
            <a:srgbClr val="E2F2EF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5257800"/>
            <a:ext cx="40325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Comic Sans MS"/>
              </a:rPr>
              <a:t>✎ Think: “follow the arrows”, not “jump by index”.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737360"/>
            <a:ext cx="5212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3262A"/>
                </a:solidFill>
                <a:latin typeface="Aptos"/>
              </a:rPr>
              <a:t>Linked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788920"/>
            <a:ext cx="1325880" cy="685800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2852927"/>
            <a:ext cx="861822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36638" y="2788920"/>
            <a:ext cx="26517" cy="68580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414" y="2880360"/>
            <a:ext cx="33147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60919" y="3136392"/>
            <a:ext cx="484633" cy="0"/>
          </a:xfrm>
          <a:prstGeom prst="line">
            <a:avLst/>
          </a:prstGeom>
          <a:ln w="25400">
            <a:solidFill>
              <a:srgbClr val="2D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09560" y="2788920"/>
            <a:ext cx="1325880" cy="685800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2852927"/>
            <a:ext cx="861822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11158" y="2788920"/>
            <a:ext cx="26517" cy="68580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0934" y="2880360"/>
            <a:ext cx="33147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35440" y="3136392"/>
            <a:ext cx="484632" cy="0"/>
          </a:xfrm>
          <a:prstGeom prst="line">
            <a:avLst/>
          </a:prstGeom>
          <a:ln w="25400">
            <a:solidFill>
              <a:srgbClr val="2D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84080" y="2788920"/>
            <a:ext cx="1325880" cy="685800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852927"/>
            <a:ext cx="861822" cy="5760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41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85678" y="2788920"/>
            <a:ext cx="26517" cy="68580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25454" y="2880360"/>
            <a:ext cx="33147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33172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E4A4A"/>
                </a:solidFill>
                <a:latin typeface="Comic Sans MS"/>
              </a:rPr>
              <a:t>head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37960" y="2542032"/>
            <a:ext cx="64008" cy="228600"/>
          </a:xfrm>
          <a:prstGeom prst="line">
            <a:avLst/>
          </a:prstGeom>
          <a:ln w="19050">
            <a:solidFill>
              <a:srgbClr val="BE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89320" y="3822191"/>
            <a:ext cx="5120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D6369"/>
                </a:solidFill>
                <a:latin typeface="Comic Sans MS"/>
              </a:rPr>
              <a:t>No direct index access.
Traversal follows next → next →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02  Array vs Linked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Same goal — different way of organizing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492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57400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345B8C"/>
                </a:solidFill>
                <a:latin typeface="Aptos"/>
              </a:rPr>
              <a:t>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D7D79"/>
                </a:solidFill>
                <a:latin typeface="Aptos"/>
              </a:rPr>
              <a:t>SINGLY LINKED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743200"/>
            <a:ext cx="914400" cy="658368"/>
          </a:xfrm>
          <a:prstGeom prst="rect">
            <a:avLst/>
          </a:prstGeom>
          <a:solidFill>
            <a:srgbClr val="E2EBF6"/>
          </a:solidFill>
          <a:ln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07792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3262A"/>
                </a:solidFill>
                <a:latin typeface="Aptos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2743200"/>
            <a:ext cx="914400" cy="658368"/>
          </a:xfrm>
          <a:prstGeom prst="rect">
            <a:avLst/>
          </a:prstGeom>
          <a:solidFill>
            <a:srgbClr val="E2EBF6"/>
          </a:solidFill>
          <a:ln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2907792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39" y="2743200"/>
            <a:ext cx="914400" cy="658368"/>
          </a:xfrm>
          <a:prstGeom prst="rect">
            <a:avLst/>
          </a:prstGeom>
          <a:solidFill>
            <a:srgbClr val="E2EBF6"/>
          </a:solidFill>
          <a:ln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39" y="2907792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743200"/>
            <a:ext cx="914400" cy="658368"/>
          </a:xfrm>
          <a:prstGeom prst="rect">
            <a:avLst/>
          </a:prstGeom>
          <a:solidFill>
            <a:srgbClr val="E2EBF6"/>
          </a:solidFill>
          <a:ln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2907792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3262A"/>
                </a:solidFill>
                <a:latin typeface="Aptos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57600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3262A"/>
                </a:solidFill>
                <a:latin typeface="Aptos"/>
              </a:rPr>
              <a:t>Fast index access: O(1)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60520"/>
            <a:ext cx="45720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Aptos"/>
              </a:rPr>
              <a:t>But inserting/deleting near the front
may require shifting elements.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743200"/>
            <a:ext cx="1143000" cy="658368"/>
          </a:xfrm>
          <a:prstGeom prst="roundRect">
            <a:avLst/>
          </a:prstGeom>
          <a:solidFill>
            <a:srgbClr val="E2F2EF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807208"/>
            <a:ext cx="74295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2743200"/>
            <a:ext cx="22860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58050" y="2834640"/>
            <a:ext cx="28575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89520" y="3072384"/>
            <a:ext cx="393192" cy="0"/>
          </a:xfrm>
          <a:prstGeom prst="line">
            <a:avLst/>
          </a:prstGeom>
          <a:ln w="25400">
            <a:solidFill>
              <a:srgbClr val="2D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818120" y="2743200"/>
            <a:ext cx="1143000" cy="658368"/>
          </a:xfrm>
          <a:prstGeom prst="roundRect">
            <a:avLst/>
          </a:prstGeom>
          <a:solidFill>
            <a:srgbClr val="E2F2EF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2807208"/>
            <a:ext cx="74295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2743200"/>
            <a:ext cx="22860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29650" y="2834640"/>
            <a:ext cx="28575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61120" y="3072384"/>
            <a:ext cx="393192" cy="0"/>
          </a:xfrm>
          <a:prstGeom prst="line">
            <a:avLst/>
          </a:prstGeom>
          <a:ln w="25400">
            <a:solidFill>
              <a:srgbClr val="2D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89720" y="2743200"/>
            <a:ext cx="1143000" cy="658368"/>
          </a:xfrm>
          <a:prstGeom prst="roundRect">
            <a:avLst/>
          </a:prstGeom>
          <a:solidFill>
            <a:srgbClr val="E2F2EF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2807208"/>
            <a:ext cx="74295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2743200"/>
            <a:ext cx="22860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01250" y="2834640"/>
            <a:ext cx="28575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332720" y="3072384"/>
            <a:ext cx="393192" cy="0"/>
          </a:xfrm>
          <a:prstGeom prst="line">
            <a:avLst/>
          </a:prstGeom>
          <a:ln w="25400">
            <a:solidFill>
              <a:srgbClr val="2D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561320" y="2743200"/>
            <a:ext cx="1143000" cy="658368"/>
          </a:xfrm>
          <a:prstGeom prst="roundRect">
            <a:avLst/>
          </a:prstGeom>
          <a:solidFill>
            <a:srgbClr val="E2F2EF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0" y="2807208"/>
            <a:ext cx="74295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338560" y="2743200"/>
            <a:ext cx="22860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372850" y="2834640"/>
            <a:ext cx="28575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657600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3262A"/>
                </a:solidFill>
                <a:latin typeface="Aptos"/>
              </a:rPr>
              <a:t>Access by traversal: O(n)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160520"/>
            <a:ext cx="45720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Aptos"/>
              </a:rPr>
              <a:t>Insert/delete can be O(1)
when the relevant pointer is known.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11880" y="5559552"/>
            <a:ext cx="4983480" cy="502920"/>
          </a:xfrm>
          <a:prstGeom prst="roundRect">
            <a:avLst/>
          </a:prstGeom>
          <a:solidFill>
            <a:srgbClr val="FAEBD7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21608" y="5650992"/>
            <a:ext cx="47640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Comic Sans MS"/>
              </a:rPr>
              <a:t>✎ Rule of thumb: arrays favor indexing; lists favor pointer-based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03  What is a Node?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The smallest building block of a singly linked 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39319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345B8C"/>
                </a:solidFill>
                <a:latin typeface="Aptos"/>
              </a:rPr>
              <a:t>Node = DATA +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3291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262A"/>
                </a:solidFill>
                <a:latin typeface="Aptos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27248"/>
            <a:ext cx="3291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D7D79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49039"/>
            <a:ext cx="324612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D6369"/>
                </a:solidFill>
                <a:latin typeface="Aptos"/>
              </a:rPr>
              <a:t>data → the value
next → address/link of the next node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874519"/>
            <a:ext cx="6355080" cy="2240280"/>
          </a:xfrm>
          <a:prstGeom prst="roundRect">
            <a:avLst/>
          </a:prstGeom>
          <a:solidFill>
            <a:srgbClr val="272B30"/>
          </a:solidFill>
          <a:ln w="12700">
            <a:solidFill>
              <a:srgbClr val="27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984248"/>
            <a:ext cx="6080760" cy="202082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onsolas"/>
              </a:rPr>
              <a:t>struct Node {
    int data;
    Node* next;
    Node(int x) {
        data = x;
        next = nullptr;
    }
};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4572000"/>
            <a:ext cx="1828800" cy="777240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4636008"/>
            <a:ext cx="1188720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9984" y="4572000"/>
            <a:ext cx="36576" cy="7772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4663440"/>
            <a:ext cx="4572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21" name="Oval 20"/>
          <p:cNvSpPr/>
          <p:nvPr/>
        </p:nvSpPr>
        <p:spPr>
          <a:xfrm>
            <a:off x="7726679" y="4645152"/>
            <a:ext cx="594360" cy="594360"/>
          </a:xfrm>
          <a:prstGeom prst="ellipse">
            <a:avLst/>
          </a:prstGeom>
          <a:solidFill>
            <a:srgbClr val="E2F2EF"/>
          </a:solidFill>
          <a:ln w="15240">
            <a:solidFill>
              <a:srgbClr val="2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2" y="4773168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2D7D79"/>
                </a:solidFill>
                <a:latin typeface="Comic Sans MS"/>
              </a:rPr>
              <a:t>next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11312" y="4937760"/>
            <a:ext cx="932688" cy="0"/>
          </a:xfrm>
          <a:prstGeom prst="line">
            <a:avLst/>
          </a:prstGeom>
          <a:ln w="25400">
            <a:solidFill>
              <a:srgbClr val="2D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89720" y="4727448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BE4A4A"/>
                </a:solidFill>
                <a:latin typeface="Consolas"/>
              </a:rPr>
              <a:t>nullptr / NULL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04  Creating a Singly Linked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Connect nodes one by one — each node remembers only the next node.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5349240" cy="4251960"/>
          </a:xfrm>
          <a:prstGeom prst="roundRect">
            <a:avLst/>
          </a:prstGeom>
          <a:solidFill>
            <a:srgbClr val="272B30"/>
          </a:solidFill>
          <a:ln w="12700">
            <a:solidFill>
              <a:srgbClr val="27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01368"/>
            <a:ext cx="5074920" cy="40325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onsolas"/>
              </a:rPr>
              <a:t>Node* head = new Node(10);
head-&gt;next = new Node(20);
head-&gt;next-&gt;next = new Node(30);
head
 ↓
10 → 20 → 30 → NULL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45B8C"/>
                </a:solidFill>
                <a:latin typeface="Aptos"/>
              </a:rPr>
              <a:t>Pointer picture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743200"/>
            <a:ext cx="128016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807208"/>
            <a:ext cx="832103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2748" y="2743200"/>
            <a:ext cx="25603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1153" y="2834640"/>
            <a:ext cx="32004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0" y="3072384"/>
            <a:ext cx="393192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0" y="2743200"/>
            <a:ext cx="128016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807208"/>
            <a:ext cx="832103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0108" y="2743200"/>
            <a:ext cx="25603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8513" y="2834640"/>
            <a:ext cx="32004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09760" y="3072384"/>
            <a:ext cx="393192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66960" y="2743200"/>
            <a:ext cx="1280160" cy="658368"/>
          </a:xfrm>
          <a:prstGeom prst="roundRect">
            <a:avLst/>
          </a:prstGeom>
          <a:solidFill>
            <a:srgbClr val="FAEBD7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2807208"/>
            <a:ext cx="832103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37468" y="2743200"/>
            <a:ext cx="25603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75873" y="2834640"/>
            <a:ext cx="32004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94760"/>
            <a:ext cx="4846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62A"/>
                </a:solidFill>
                <a:latin typeface="Consolas"/>
              </a:rPr>
              <a:t>head → first node → next → next → NULL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434840"/>
            <a:ext cx="4892040" cy="502920"/>
          </a:xfrm>
          <a:prstGeom prst="roundRect">
            <a:avLst/>
          </a:prstGeom>
          <a:solidFill>
            <a:srgbClr val="E2F2EF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4526279"/>
            <a:ext cx="4672583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Comic Sans MS"/>
              </a:rPr>
              <a:t>✎ Only head is needed to reach the whole 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05  Traversing a Linked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Start at head. Visit. Move to next. Stop at NULL.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06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1783080"/>
            <a:ext cx="438912" cy="438912"/>
          </a:xfrm>
          <a:prstGeom prst="ellipse">
            <a:avLst/>
          </a:prstGeom>
          <a:solidFill>
            <a:srgbClr val="E2EBF6"/>
          </a:solidFill>
          <a:ln w="1524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19"/>
            <a:ext cx="4389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345B8C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773936"/>
            <a:ext cx="3474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3262A"/>
                </a:solidFill>
                <a:latin typeface="Consolas"/>
              </a:rPr>
              <a:t>curr = head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770632"/>
            <a:ext cx="438912" cy="438912"/>
          </a:xfrm>
          <a:prstGeom prst="ellipse">
            <a:avLst/>
          </a:prstGeom>
          <a:solidFill>
            <a:srgbClr val="E2EBF6"/>
          </a:solidFill>
          <a:ln w="1524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62072"/>
            <a:ext cx="4389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345B8C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61488"/>
            <a:ext cx="3474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3262A"/>
                </a:solidFill>
                <a:latin typeface="Aptos"/>
              </a:rPr>
              <a:t>use curr-&gt;data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758184"/>
            <a:ext cx="438912" cy="438912"/>
          </a:xfrm>
          <a:prstGeom prst="ellipse">
            <a:avLst/>
          </a:prstGeom>
          <a:solidFill>
            <a:srgbClr val="E2EBF6"/>
          </a:solidFill>
          <a:ln w="1524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49624"/>
            <a:ext cx="4389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345B8C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49040"/>
            <a:ext cx="3474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3262A"/>
                </a:solidFill>
                <a:latin typeface="Consolas"/>
              </a:rPr>
              <a:t>curr = curr-&gt;next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745736"/>
            <a:ext cx="438912" cy="438912"/>
          </a:xfrm>
          <a:prstGeom prst="ellipse">
            <a:avLst/>
          </a:prstGeom>
          <a:solidFill>
            <a:srgbClr val="E2EBF6"/>
          </a:solidFill>
          <a:ln w="1524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37176"/>
            <a:ext cx="4389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345B8C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736592"/>
            <a:ext cx="3474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3262A"/>
                </a:solidFill>
                <a:latin typeface="Consolas"/>
              </a:rPr>
              <a:t>stop when curr == NULL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1783080"/>
            <a:ext cx="6126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262A"/>
                </a:solidFill>
                <a:latin typeface="Aptos"/>
              </a:rPr>
              <a:t>Dry run: 10 → 20 → 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74320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280720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4299" y="274320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31332" y="283464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89320" y="3072384"/>
            <a:ext cx="548640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629400" y="2743200"/>
            <a:ext cx="1234440" cy="658368"/>
          </a:xfrm>
          <a:prstGeom prst="roundRect">
            <a:avLst/>
          </a:prstGeom>
          <a:solidFill>
            <a:srgbClr val="E2F2EF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80720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8819" y="274320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5852" y="283464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63840" y="3072384"/>
            <a:ext cx="548640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503920" y="2743200"/>
            <a:ext cx="1234440" cy="658368"/>
          </a:xfrm>
          <a:prstGeom prst="roundRect">
            <a:avLst/>
          </a:prstGeom>
          <a:solidFill>
            <a:srgbClr val="E2F2EF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280720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43339" y="274320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0372" y="283464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3822191"/>
            <a:ext cx="6217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62A"/>
                </a:solidFill>
                <a:latin typeface="Consolas"/>
              </a:rPr>
              <a:t>curr = 10   →   curr = 20   →   curr = 30   →   NULL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09160" y="4754880"/>
            <a:ext cx="6080760" cy="502920"/>
          </a:xfrm>
          <a:prstGeom prst="roundRect">
            <a:avLst/>
          </a:prstGeom>
          <a:solidFill>
            <a:srgbClr val="FAEBD7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18888" y="4846320"/>
            <a:ext cx="58613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Comic Sans MS"/>
              </a:rPr>
              <a:t>✎ Traversal time = O(n). You cannot skip nodes by index.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09160" y="5440680"/>
            <a:ext cx="6126480" cy="658368"/>
          </a:xfrm>
          <a:prstGeom prst="roundRect">
            <a:avLst/>
          </a:prstGeom>
          <a:solidFill>
            <a:srgbClr val="272B30"/>
          </a:solidFill>
          <a:ln w="12700">
            <a:solidFill>
              <a:srgbClr val="27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5550408"/>
            <a:ext cx="5852160" cy="4389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onsolas"/>
              </a:rPr>
              <a:t>for(Node* curr=head; curr!=nullptr; curr=curr-&gt;next) cout &lt;&lt; curr-&gt;data;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06  Insertion at the Beginning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The new node becomes the new head.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45B8C"/>
                </a:solidFill>
                <a:latin typeface="Aptos"/>
              </a:rPr>
              <a:t>Before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42316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3819" y="242316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90852" y="251460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2752344"/>
            <a:ext cx="393192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60320" y="242316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39" y="248716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99739" y="242316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6772" y="251460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94760" y="2752344"/>
            <a:ext cx="393192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06240" y="242316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59" y="248716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5659" y="242316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2692" y="251460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42900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E4A4A"/>
                </a:solidFill>
                <a:latin typeface="Comic Sans MS"/>
              </a:rPr>
              <a:t>head →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737360"/>
            <a:ext cx="4846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D7D79"/>
                </a:solidFill>
                <a:latin typeface="Aptos"/>
              </a:rPr>
              <a:t>After inserting 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423160"/>
            <a:ext cx="1234440" cy="658368"/>
          </a:xfrm>
          <a:prstGeom prst="roundRect">
            <a:avLst/>
          </a:prstGeom>
          <a:solidFill>
            <a:srgbClr val="FAEBD7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48716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31659" y="242316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8692" y="251460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26679" y="2752344"/>
            <a:ext cx="393192" cy="0"/>
          </a:xfrm>
          <a:prstGeom prst="line">
            <a:avLst/>
          </a:prstGeom>
          <a:ln w="25400">
            <a:solidFill>
              <a:srgbClr val="D6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83879" y="242316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48716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23299" y="242316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0332" y="251460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418319" y="2752344"/>
            <a:ext cx="393192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75520" y="242316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248716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714939" y="242316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51972" y="251460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429000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E4A4A"/>
                </a:solidFill>
                <a:latin typeface="Comic Sans MS"/>
              </a:rPr>
              <a:t>head → 10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4069080"/>
            <a:ext cx="5486400" cy="1600200"/>
          </a:xfrm>
          <a:prstGeom prst="roundRect">
            <a:avLst/>
          </a:prstGeom>
          <a:solidFill>
            <a:srgbClr val="272B30"/>
          </a:solidFill>
          <a:ln w="12700">
            <a:solidFill>
              <a:srgbClr val="27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39" y="4178808"/>
            <a:ext cx="5212080" cy="1380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onsolas"/>
              </a:rPr>
              <a:t>Node* newNode = new Node(10);
newNode-&gt;next = head;
head = newNode;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4069080"/>
            <a:ext cx="4663440" cy="502920"/>
          </a:xfrm>
          <a:prstGeom prst="roundRect">
            <a:avLst/>
          </a:prstGeom>
          <a:solidFill>
            <a:srgbClr val="E2F2EF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1968" y="4160520"/>
            <a:ext cx="4443983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Comic Sans MS"/>
              </a:rPr>
              <a:t>✎ Only 2 pointer updates.
Time: O(1)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074920"/>
            <a:ext cx="47548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D67E30"/>
                </a:solidFill>
                <a:latin typeface="Comic Sans MS"/>
              </a:rPr>
              <a:t>KEY ORDER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440680"/>
            <a:ext cx="47548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62A"/>
                </a:solidFill>
                <a:latin typeface="Consolas"/>
              </a:rPr>
              <a:t>1) newNode-&gt;next = head
2) head = newNode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07  Insertion in the Middle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Find the previous node → splice the new node into the chain.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5394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262A"/>
                </a:solidFill>
                <a:latin typeface="Aptos"/>
              </a:rPr>
              <a:t>Insert 25 between 20 and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46888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3819" y="246888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90852" y="256032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2798064"/>
            <a:ext cx="411480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606040" y="246888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253288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5459" y="246888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2492" y="256032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0" y="2798064"/>
            <a:ext cx="411480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97680" y="246888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53288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7099" y="246888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4132" y="256032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78608" y="3401568"/>
            <a:ext cx="914400" cy="310896"/>
          </a:xfrm>
          <a:prstGeom prst="roundRect">
            <a:avLst/>
          </a:prstGeom>
          <a:solidFill>
            <a:srgbClr val="FA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8608" y="342900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D67E30"/>
                </a:solidFill>
                <a:latin typeface="Comic Sans MS"/>
              </a:rPr>
              <a:t>prev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246888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53288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85939" y="246888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22972" y="256032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680960" y="2798064"/>
            <a:ext cx="393192" cy="0"/>
          </a:xfrm>
          <a:prstGeom prst="line">
            <a:avLst/>
          </a:prstGeom>
          <a:ln w="25400">
            <a:solidFill>
              <a:srgbClr val="D6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38160" y="2468880"/>
            <a:ext cx="1234440" cy="658368"/>
          </a:xfrm>
          <a:prstGeom prst="roundRect">
            <a:avLst/>
          </a:prstGeom>
          <a:solidFill>
            <a:srgbClr val="FAEBD7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253288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77579" y="246888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14612" y="256032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72600" y="2798064"/>
            <a:ext cx="393192" cy="0"/>
          </a:xfrm>
          <a:prstGeom prst="line">
            <a:avLst/>
          </a:prstGeom>
          <a:ln w="25400">
            <a:solidFill>
              <a:srgbClr val="2D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29800" y="2468880"/>
            <a:ext cx="1234440" cy="658368"/>
          </a:xfrm>
          <a:prstGeom prst="roundRect">
            <a:avLst/>
          </a:prstGeom>
          <a:solidFill>
            <a:srgbClr val="E2F2EF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0" y="253288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69219" y="246888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06252" y="256032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160520"/>
            <a:ext cx="6400800" cy="1554480"/>
          </a:xfrm>
          <a:prstGeom prst="roundRect">
            <a:avLst/>
          </a:prstGeom>
          <a:solidFill>
            <a:srgbClr val="272B30"/>
          </a:solidFill>
          <a:ln w="12700">
            <a:solidFill>
              <a:srgbClr val="27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270248"/>
            <a:ext cx="6126480" cy="133502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Node* newNode = new Node(25);
newNode-&gt;next = prev-&gt;next;
prev-&gt;next = newNode;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26679" y="4160520"/>
            <a:ext cx="3657600" cy="502920"/>
          </a:xfrm>
          <a:prstGeom prst="roundRect">
            <a:avLst/>
          </a:prstGeom>
          <a:solidFill>
            <a:srgbClr val="FAEBD7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36407" y="4251959"/>
            <a:ext cx="34381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Comic Sans MS"/>
              </a:rPr>
              <a:t>✎ Do NOT lose the old next pointer.
Save the link first.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5074920"/>
            <a:ext cx="36576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62A"/>
                </a:solidFill>
                <a:latin typeface="Comic Sans MS"/>
              </a:rPr>
              <a:t>Time: O(n) to find position
O(1) pointer rewiring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08  Insertion at the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Walk to the last node, then attach the new node.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4884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1284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3819" y="214884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0852" y="224028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48840" y="2478024"/>
            <a:ext cx="411480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06040" y="214884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21284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5459" y="214884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2492" y="224028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0" y="2478024"/>
            <a:ext cx="411480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97680" y="214884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21284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37099" y="214884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74132" y="224028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06324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D6369"/>
                </a:solidFill>
                <a:latin typeface="Comic Sans MS"/>
              </a:rPr>
              <a:t>curr walks until curr-&gt;next == NULL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148840"/>
            <a:ext cx="1234440" cy="658368"/>
          </a:xfrm>
          <a:prstGeom prst="roundRect">
            <a:avLst/>
          </a:prstGeom>
          <a:solidFill>
            <a:srgbClr val="FAEBD7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21284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23099" y="214884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0132" y="224028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23560" y="2478024"/>
            <a:ext cx="914400" cy="0"/>
          </a:xfrm>
          <a:prstGeom prst="line">
            <a:avLst/>
          </a:prstGeom>
          <a:ln w="25400">
            <a:solidFill>
              <a:srgbClr val="D6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37960" y="306324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262A"/>
                </a:solidFill>
                <a:latin typeface="Consolas"/>
              </a:rPr>
              <a:t>last-&gt;next = newNode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977639"/>
            <a:ext cx="6400800" cy="1737360"/>
          </a:xfrm>
          <a:prstGeom prst="roundRect">
            <a:avLst/>
          </a:prstGeom>
          <a:solidFill>
            <a:srgbClr val="272B30"/>
          </a:solidFill>
          <a:ln w="12700">
            <a:solidFill>
              <a:srgbClr val="27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087368"/>
            <a:ext cx="6126480" cy="15179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nsolas"/>
              </a:rPr>
              <a:t>Node* newNode = new Node(40);
Node* curr = head;
while (curr-&gt;next != nullptr)
    curr = curr-&gt;next;
curr-&gt;next = newNode;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3977639"/>
            <a:ext cx="3474720" cy="502920"/>
          </a:xfrm>
          <a:prstGeom prst="roundRect">
            <a:avLst/>
          </a:prstGeom>
          <a:solidFill>
            <a:srgbClr val="E2F2EF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36407" y="4069079"/>
            <a:ext cx="3255263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Comic Sans MS"/>
              </a:rPr>
              <a:t>✎ Without a tail pointer:
Time = O(n)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79" y="4617720"/>
            <a:ext cx="3474720" cy="502920"/>
          </a:xfrm>
          <a:prstGeom prst="roundRect">
            <a:avLst/>
          </a:prstGeom>
          <a:solidFill>
            <a:srgbClr val="E2EBF6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36407" y="4709159"/>
            <a:ext cx="3255263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Comic Sans MS"/>
              </a:rPr>
              <a:t>✎ With a maintained tail:
append can be O(1)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09  Deletion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Deletion = bypass the target node, then release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19072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262A"/>
                </a:solidFill>
                <a:latin typeface="Aptos"/>
              </a:rPr>
              <a:t>Example: delete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42316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3819" y="242316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90852" y="251460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2752344"/>
            <a:ext cx="411480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606040" y="2423160"/>
            <a:ext cx="1234440" cy="658368"/>
          </a:xfrm>
          <a:prstGeom prst="roundRect">
            <a:avLst/>
          </a:prstGeom>
          <a:solidFill>
            <a:srgbClr val="FAEBD7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248716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5459" y="242316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2492" y="251460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0" y="2752344"/>
            <a:ext cx="411480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97680" y="242316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48716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7099" y="242316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4132" y="251460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1938528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E4A4A"/>
                </a:solidFill>
                <a:latin typeface="Comic Sans MS"/>
              </a:rPr>
              <a:t>delete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242316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8716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7379" y="242316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14412" y="251460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58200" y="2423160"/>
            <a:ext cx="1234440" cy="658368"/>
          </a:xfrm>
          <a:prstGeom prst="roundRect">
            <a:avLst/>
          </a:prstGeom>
          <a:solidFill>
            <a:srgbClr val="E2F2EF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248716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7619" y="242316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4652" y="251460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2400" y="2752344"/>
            <a:ext cx="640080" cy="0"/>
          </a:xfrm>
          <a:prstGeom prst="line">
            <a:avLst/>
          </a:prstGeom>
          <a:ln w="25400">
            <a:solidFill>
              <a:srgbClr val="2D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92240" y="324612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262A"/>
                </a:solidFill>
                <a:latin typeface="Comic Sans MS"/>
              </a:rPr>
              <a:t>20-&gt;next now skips 30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069080"/>
            <a:ext cx="6400800" cy="1645920"/>
          </a:xfrm>
          <a:prstGeom prst="roundRect">
            <a:avLst/>
          </a:prstGeom>
          <a:solidFill>
            <a:srgbClr val="272B30"/>
          </a:solidFill>
          <a:ln w="12700">
            <a:solidFill>
              <a:srgbClr val="27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178808"/>
            <a:ext cx="6126480" cy="142646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Node* temp = prev-&gt;next;
prev-&gt;next = temp-&gt;next;
delete temp;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26679" y="4069080"/>
            <a:ext cx="3566160" cy="502920"/>
          </a:xfrm>
          <a:prstGeom prst="roundRect">
            <a:avLst/>
          </a:prstGeom>
          <a:solidFill>
            <a:srgbClr val="FAEBD7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36407" y="4160520"/>
            <a:ext cx="33467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Comic Sans MS"/>
              </a:rPr>
              <a:t>✎ Two jobs:
1. reconnect the chain
2. free the removed node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5074920"/>
            <a:ext cx="35661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62A"/>
                </a:solidFill>
                <a:latin typeface="Comic Sans MS"/>
              </a:rPr>
              <a:t>Special case: deleting head
means head = head-&gt;next.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10  Pointer Dry Run — The Critical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Watch what happens to next before changing the link.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262A"/>
                </a:solidFill>
                <a:latin typeface="Aptos"/>
              </a:rPr>
              <a:t>Insert 25 between 20 and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48840"/>
            <a:ext cx="914400" cy="310896"/>
          </a:xfrm>
          <a:prstGeom prst="roundRect">
            <a:avLst/>
          </a:prstGeom>
          <a:solidFill>
            <a:srgbClr val="E2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76272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45B8C"/>
                </a:solidFill>
                <a:latin typeface="Comic Sans MS"/>
              </a:rPr>
              <a:t>STEP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74320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0720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53819" y="274320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90852" y="283464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743200"/>
            <a:ext cx="1234440" cy="658368"/>
          </a:xfrm>
          <a:prstGeom prst="roundRect">
            <a:avLst/>
          </a:prstGeom>
          <a:solidFill>
            <a:srgbClr val="E2F2EF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280720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2619" y="274320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9652" y="283464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743200"/>
            <a:ext cx="1234440" cy="65836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280720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1419" y="274320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8452" y="283464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48840" y="3072384"/>
            <a:ext cx="548640" cy="0"/>
          </a:xfrm>
          <a:prstGeom prst="line">
            <a:avLst/>
          </a:prstGeom>
          <a:ln w="2540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977639" y="3072384"/>
            <a:ext cx="548641" cy="0"/>
          </a:xfrm>
          <a:prstGeom prst="line">
            <a:avLst/>
          </a:prstGeom>
          <a:ln w="25400">
            <a:solidFill>
              <a:srgbClr val="2D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49440" y="2743200"/>
            <a:ext cx="1234440" cy="658368"/>
          </a:xfrm>
          <a:prstGeom prst="roundRect">
            <a:avLst/>
          </a:prstGeom>
          <a:solidFill>
            <a:srgbClr val="FAEBD7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59" y="2807208"/>
            <a:ext cx="802386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88859" y="2743200"/>
            <a:ext cx="24688" cy="65836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25892" y="2834640"/>
            <a:ext cx="30861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55080" y="3072384"/>
            <a:ext cx="548640" cy="0"/>
          </a:xfrm>
          <a:prstGeom prst="line">
            <a:avLst/>
          </a:prstGeom>
          <a:ln w="25400">
            <a:solidFill>
              <a:srgbClr val="D6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00" y="3657600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62A"/>
                </a:solidFill>
                <a:latin typeface="Consolas"/>
              </a:rPr>
              <a:t>newNode-&gt;next = prev-&gt;next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657600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D7D79"/>
                </a:solidFill>
                <a:latin typeface="Comic Sans MS"/>
              </a:rPr>
              <a:t>25 now points to 30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343400"/>
            <a:ext cx="914400" cy="310896"/>
          </a:xfrm>
          <a:prstGeom prst="roundRect">
            <a:avLst/>
          </a:prstGeom>
          <a:solidFill>
            <a:srgbClr val="E2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370832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D7D79"/>
                </a:solidFill>
                <a:latin typeface="Comic Sans MS"/>
              </a:rPr>
              <a:t>STEP 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48840" y="5257800"/>
            <a:ext cx="4754880" cy="0"/>
          </a:xfrm>
          <a:prstGeom prst="line">
            <a:avLst/>
          </a:prstGeom>
          <a:ln w="25400">
            <a:solidFill>
              <a:srgbClr val="BE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31720" y="4919472"/>
            <a:ext cx="4297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BE4A4A"/>
                </a:solidFill>
                <a:latin typeface="Consolas"/>
              </a:rPr>
              <a:t>prev-&gt;next = newNode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5440680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262A"/>
                </a:solidFill>
                <a:latin typeface="Consolas"/>
              </a:rPr>
              <a:t>Final: 20 → 25 → 30 →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11  A Clean C++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Build once, then practice each operation separately.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583680" cy="4434840"/>
          </a:xfrm>
          <a:prstGeom prst="roundRect">
            <a:avLst/>
          </a:prstGeom>
          <a:solidFill>
            <a:srgbClr val="272B30"/>
          </a:solidFill>
          <a:ln w="12700">
            <a:solidFill>
              <a:srgbClr val="27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01368"/>
            <a:ext cx="6309360" cy="4215383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nsolas"/>
              </a:rPr>
              <a:t>struct Node {
    int data;
    Node* next;
    Node(int x) : data(x), next(nullptr) {}
};
void printList(Node* head) {
    while (head != nullptr) {
        cout &lt;&lt; head-&gt;data &lt;&lt; " ";
        head = head-&gt;next;
    }
}
void insertFront(Node*&amp; head, int x) {
    Node* n = new Node(x);
    n-&gt;next = head;
    head = n;
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691640"/>
            <a:ext cx="3886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993392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45B8C"/>
                </a:solidFill>
                <a:latin typeface="Aptos"/>
              </a:rPr>
              <a:t>Why Node*&amp; head?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542032"/>
            <a:ext cx="315468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D6369"/>
                </a:solidFill>
                <a:latin typeface="Aptos"/>
              </a:rPr>
              <a:t>Passing head by reference lets the function change the caller’s head.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794760"/>
            <a:ext cx="1554480" cy="310896"/>
          </a:xfrm>
          <a:prstGeom prst="roundRect">
            <a:avLst/>
          </a:prstGeom>
          <a:solidFill>
            <a:srgbClr val="FA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822192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D67E30"/>
                </a:solidFill>
                <a:latin typeface="Comic Sans MS"/>
              </a:rPr>
              <a:t>INTERVIEW NOTE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251960"/>
            <a:ext cx="315468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3262A"/>
                </a:solidFill>
                <a:latin typeface="Aptos"/>
              </a:rPr>
              <a:t>If head changes, pass Node*&amp;.
If only reading/traversing, Node* is enough.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12  Complexity Cheat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The operation cost depends on whether you already know the node.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2926080" cy="502920"/>
          </a:xfrm>
          <a:prstGeom prst="round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92807"/>
            <a:ext cx="2926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Operation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0752" y="1783080"/>
            <a:ext cx="1234440" cy="502920"/>
          </a:xfrm>
          <a:prstGeom prst="round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892807"/>
            <a:ext cx="1234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1783080"/>
            <a:ext cx="6172200" cy="502920"/>
          </a:xfrm>
          <a:prstGeom prst="round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1892807"/>
            <a:ext cx="6172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Why?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04872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496312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Access by position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30752" y="2404872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4" y="2496312"/>
            <a:ext cx="10881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D67E30"/>
                </a:solidFill>
                <a:latin typeface="Aptos"/>
              </a:rPr>
              <a:t>O(n)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8344" y="2404872"/>
            <a:ext cx="6172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1496" y="2496312"/>
            <a:ext cx="602589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No indexing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935224"/>
            <a:ext cx="2926080" cy="438912"/>
          </a:xfrm>
          <a:prstGeom prst="rect">
            <a:avLst/>
          </a:prstGeom>
          <a:solidFill>
            <a:srgbClr val="F2F4F3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026664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Search by 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30752" y="2935224"/>
            <a:ext cx="1234440" cy="438912"/>
          </a:xfrm>
          <a:prstGeom prst="rect">
            <a:avLst/>
          </a:prstGeom>
          <a:solidFill>
            <a:srgbClr val="F2F4F3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03904" y="3026664"/>
            <a:ext cx="10881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D67E30"/>
                </a:solidFill>
                <a:latin typeface="Aptos"/>
              </a:rPr>
              <a:t>O(n)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8344" y="2935224"/>
            <a:ext cx="6172200" cy="438912"/>
          </a:xfrm>
          <a:prstGeom prst="rect">
            <a:avLst/>
          </a:prstGeom>
          <a:solidFill>
            <a:srgbClr val="F2F4F3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1496" y="3026664"/>
            <a:ext cx="602589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May scan all nodes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465576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557016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Insert at head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30752" y="3465576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03904" y="3557016"/>
            <a:ext cx="10881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7D79"/>
                </a:solidFill>
                <a:latin typeface="Aptos"/>
              </a:rPr>
              <a:t>O(1)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8344" y="3465576"/>
            <a:ext cx="6172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11496" y="3557016"/>
            <a:ext cx="602589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Pointer rewiring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995927"/>
            <a:ext cx="2926080" cy="438912"/>
          </a:xfrm>
          <a:prstGeom prst="rect">
            <a:avLst/>
          </a:prstGeom>
          <a:solidFill>
            <a:srgbClr val="F2F4F3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087367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Insert after known node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30752" y="3995927"/>
            <a:ext cx="1234440" cy="438912"/>
          </a:xfrm>
          <a:prstGeom prst="rect">
            <a:avLst/>
          </a:prstGeom>
          <a:solidFill>
            <a:srgbClr val="F2F4F3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03904" y="4087367"/>
            <a:ext cx="10881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7D79"/>
                </a:solidFill>
                <a:latin typeface="Aptos"/>
              </a:rPr>
              <a:t>O(1)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8344" y="3995927"/>
            <a:ext cx="6172200" cy="438912"/>
          </a:xfrm>
          <a:prstGeom prst="rect">
            <a:avLst/>
          </a:prstGeom>
          <a:solidFill>
            <a:srgbClr val="F2F4F3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11496" y="4087367"/>
            <a:ext cx="602589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Position already known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526279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4617719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Insert at 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30752" y="4526279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03904" y="4617719"/>
            <a:ext cx="10881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D67E30"/>
                </a:solidFill>
                <a:latin typeface="Aptos"/>
              </a:rPr>
              <a:t>O(n)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38344" y="4526279"/>
            <a:ext cx="6172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11496" y="4617719"/>
            <a:ext cx="602589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O(1) with tail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056631"/>
            <a:ext cx="2926080" cy="438912"/>
          </a:xfrm>
          <a:prstGeom prst="rect">
            <a:avLst/>
          </a:prstGeom>
          <a:solidFill>
            <a:srgbClr val="F2F4F3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" y="5148071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Delete after known node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30752" y="5056631"/>
            <a:ext cx="1234440" cy="438912"/>
          </a:xfrm>
          <a:prstGeom prst="rect">
            <a:avLst/>
          </a:prstGeom>
          <a:solidFill>
            <a:srgbClr val="F2F4F3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03904" y="5148071"/>
            <a:ext cx="10881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7D79"/>
                </a:solidFill>
                <a:latin typeface="Aptos"/>
              </a:rPr>
              <a:t>O(1)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38344" y="5056631"/>
            <a:ext cx="6172200" cy="438912"/>
          </a:xfrm>
          <a:prstGeom prst="rect">
            <a:avLst/>
          </a:prstGeom>
          <a:solidFill>
            <a:srgbClr val="F2F4F3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11496" y="5148071"/>
            <a:ext cx="602589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Pointer rewiring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5586983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" y="5678423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Traverse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30752" y="5586983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03904" y="5678423"/>
            <a:ext cx="10881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D67E30"/>
                </a:solidFill>
                <a:latin typeface="Aptos"/>
              </a:rPr>
              <a:t>O(n)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38344" y="5586983"/>
            <a:ext cx="6172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11496" y="5678423"/>
            <a:ext cx="602589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Aptos"/>
              </a:rPr>
              <a:t>Visit each node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" y="5897880"/>
            <a:ext cx="10241280" cy="502920"/>
          </a:xfrm>
          <a:prstGeom prst="roundRect">
            <a:avLst/>
          </a:prstGeom>
          <a:solidFill>
            <a:srgbClr val="E2F2EF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4128" y="5989320"/>
            <a:ext cx="100218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Comic Sans MS"/>
              </a:rPr>
              <a:t>✎ Space: O(n) for n nodes. Each node stores data + one pointer.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13  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Most linked-list bugs are pointer-order bugs.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011680"/>
            <a:ext cx="502920" cy="502920"/>
          </a:xfrm>
          <a:prstGeom prst="ellipse">
            <a:avLst/>
          </a:prstGeom>
          <a:solidFill>
            <a:srgbClr val="FAEBD7"/>
          </a:solidFill>
          <a:ln w="15240">
            <a:solidFill>
              <a:srgbClr val="D6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2140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D67E3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993392"/>
            <a:ext cx="3886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262A"/>
                </a:solidFill>
                <a:latin typeface="Aptos"/>
              </a:rPr>
              <a:t>Losing the next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441448"/>
            <a:ext cx="3931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D6369"/>
                </a:solidFill>
                <a:latin typeface="Aptos"/>
              </a:rPr>
              <a:t>Overwrite a pointer before saving the link.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78308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7" y="2011680"/>
            <a:ext cx="502920" cy="502920"/>
          </a:xfrm>
          <a:prstGeom prst="ellipse">
            <a:avLst/>
          </a:prstGeom>
          <a:solidFill>
            <a:srgbClr val="FAEBD7"/>
          </a:solidFill>
          <a:ln w="15240">
            <a:solidFill>
              <a:srgbClr val="D6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7" y="212140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D67E30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993392"/>
            <a:ext cx="3886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262A"/>
                </a:solidFill>
                <a:latin typeface="Aptos"/>
              </a:rPr>
              <a:t>Forgetting NULL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41448"/>
            <a:ext cx="3931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D6369"/>
                </a:solidFill>
                <a:latin typeface="Aptos"/>
              </a:rPr>
              <a:t>Traversal may dereference an invalid pointer.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688" y="3886200"/>
            <a:ext cx="502920" cy="502920"/>
          </a:xfrm>
          <a:prstGeom prst="ellipse">
            <a:avLst/>
          </a:prstGeom>
          <a:solidFill>
            <a:srgbClr val="FAEBD7"/>
          </a:solidFill>
          <a:ln w="15240">
            <a:solidFill>
              <a:srgbClr val="D6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9959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D67E30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867912"/>
            <a:ext cx="3886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262A"/>
                </a:solidFill>
                <a:latin typeface="Aptos"/>
              </a:rPr>
              <a:t>Not updating 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315968"/>
            <a:ext cx="3931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D6369"/>
                </a:solidFill>
                <a:latin typeface="Aptos"/>
              </a:rPr>
              <a:t>Front insertion/deletion changes the entry point.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65760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0527" y="3886200"/>
            <a:ext cx="502920" cy="502920"/>
          </a:xfrm>
          <a:prstGeom prst="ellipse">
            <a:avLst/>
          </a:prstGeom>
          <a:solidFill>
            <a:srgbClr val="FAEBD7"/>
          </a:solidFill>
          <a:ln w="15240">
            <a:solidFill>
              <a:srgbClr val="D6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7" y="39959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D67E30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867912"/>
            <a:ext cx="3886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262A"/>
                </a:solidFill>
                <a:latin typeface="Aptos"/>
              </a:rPr>
              <a:t>Memory leak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315968"/>
            <a:ext cx="3931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D6369"/>
                </a:solidFill>
                <a:latin typeface="Aptos"/>
              </a:rPr>
              <a:t>If you new a node and remove it, delete it when appropriate.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623560"/>
            <a:ext cx="10332720" cy="502920"/>
          </a:xfrm>
          <a:prstGeom prst="roundRect">
            <a:avLst/>
          </a:prstGeom>
          <a:solidFill>
            <a:srgbClr val="E2EBF6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715000"/>
            <a:ext cx="101132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Comic Sans MS"/>
              </a:rPr>
              <a:t>✎ Pointer habit: draw the arrows on paper before writing the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14  Interview Pattern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When should “linked list” immediately come to mind?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1828800" cy="310896"/>
          </a:xfrm>
          <a:prstGeom prst="roundRect">
            <a:avLst/>
          </a:prstGeom>
          <a:solidFill>
            <a:srgbClr val="E2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64792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45B8C"/>
                </a:solidFill>
                <a:latin typeface="Comic Sans MS"/>
              </a:rPr>
              <a:t>Rearrange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755648"/>
            <a:ext cx="8138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62A"/>
                </a:solidFill>
                <a:latin typeface="Aptos"/>
              </a:rPr>
              <a:t>Reverse / reorder nodes without moving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97480"/>
            <a:ext cx="1828800" cy="310896"/>
          </a:xfrm>
          <a:prstGeom prst="roundRect">
            <a:avLst/>
          </a:prstGeom>
          <a:solidFill>
            <a:srgbClr val="E2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24912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D7D79"/>
                </a:solidFill>
                <a:latin typeface="Comic Sans MS"/>
              </a:rPr>
              <a:t>Slow + fast pointers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715768"/>
            <a:ext cx="8138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62A"/>
                </a:solidFill>
                <a:latin typeface="Aptos"/>
              </a:rPr>
              <a:t>Cycle detection, middle node, kth from 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1828800" cy="310896"/>
          </a:xfrm>
          <a:prstGeom prst="roundRect">
            <a:avLst/>
          </a:prstGeom>
          <a:solidFill>
            <a:srgbClr val="E2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85032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45B8C"/>
                </a:solidFill>
                <a:latin typeface="Comic Sans MS"/>
              </a:rPr>
              <a:t>Dummy node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675887"/>
            <a:ext cx="8138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62A"/>
                </a:solidFill>
                <a:latin typeface="Aptos"/>
              </a:rPr>
              <a:t>Simplifies head-edge cases.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17720"/>
            <a:ext cx="1828800" cy="310896"/>
          </a:xfrm>
          <a:prstGeom prst="roundRect">
            <a:avLst/>
          </a:prstGeom>
          <a:solidFill>
            <a:srgbClr val="E2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45152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D7D79"/>
                </a:solidFill>
                <a:latin typeface="Comic Sans MS"/>
              </a:rPr>
              <a:t>Two pointers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636008"/>
            <a:ext cx="8138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62A"/>
                </a:solidFill>
                <a:latin typeface="Aptos"/>
              </a:rPr>
              <a:t>Compare, delete, or reconnect around a target.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440680"/>
            <a:ext cx="3154680" cy="502920"/>
          </a:xfrm>
          <a:prstGeom prst="roundRect">
            <a:avLst/>
          </a:prstGeom>
          <a:solidFill>
            <a:srgbClr val="FAEBD7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5559552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D67E30"/>
                </a:solidFill>
                <a:latin typeface="Comic Sans MS"/>
              </a:rPr>
              <a:t>Interview tip: draw first 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15  Practice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Use these to turn pointer mechanics into problem-solving skill.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106527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130552"/>
            <a:ext cx="1417320" cy="310896"/>
          </a:xfrm>
          <a:prstGeom prst="roundRect">
            <a:avLst/>
          </a:prstGeom>
          <a:solidFill>
            <a:srgbClr val="E2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57984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45B8C"/>
                </a:solidFill>
                <a:latin typeface="Comic Sans MS"/>
              </a:rPr>
              <a:t>LeetCode 206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947672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3262A"/>
                </a:solidFill>
                <a:latin typeface="Aptos"/>
              </a:rPr>
              <a:t>Reverse Linked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947672"/>
            <a:ext cx="4800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Aptos"/>
              </a:rPr>
              <a:t>Reverse the links in-place.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496312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2D7D79"/>
                </a:solidFill>
                <a:latin typeface="Comic Sans MS"/>
              </a:rPr>
              <a:t>practice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81528"/>
            <a:ext cx="106527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429000"/>
            <a:ext cx="1417320" cy="310896"/>
          </a:xfrm>
          <a:prstGeom prst="roundRect">
            <a:avLst/>
          </a:prstGeom>
          <a:solidFill>
            <a:srgbClr val="E2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56432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45B8C"/>
                </a:solidFill>
                <a:latin typeface="Comic Sans MS"/>
              </a:rPr>
              <a:t>LeetCode 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246120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3262A"/>
                </a:solidFill>
                <a:latin typeface="Aptos"/>
              </a:rPr>
              <a:t>Merge Two Sorted Lists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246120"/>
            <a:ext cx="4800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Aptos"/>
              </a:rPr>
              <a:t>Repeatedly choose the smaller node.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3794760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2D7D79"/>
                </a:solidFill>
                <a:latin typeface="Comic Sans MS"/>
              </a:rPr>
              <a:t>practice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79976"/>
            <a:ext cx="106527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" y="4727448"/>
            <a:ext cx="1417320" cy="310896"/>
          </a:xfrm>
          <a:prstGeom prst="roundRect">
            <a:avLst/>
          </a:prstGeom>
          <a:solidFill>
            <a:srgbClr val="E2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754880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45B8C"/>
                </a:solidFill>
                <a:latin typeface="Comic Sans MS"/>
              </a:rPr>
              <a:t>LeetCode 141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544568"/>
            <a:ext cx="3566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3262A"/>
                </a:solidFill>
                <a:latin typeface="Aptos"/>
              </a:rPr>
              <a:t>Linked List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544568"/>
            <a:ext cx="4800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Aptos"/>
              </a:rPr>
              <a:t>Detect whether a cycle exists.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509320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2D7D79"/>
                </a:solidFill>
                <a:latin typeface="Comic Sans MS"/>
              </a:rPr>
              <a:t>practice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897880"/>
            <a:ext cx="10058400" cy="502920"/>
          </a:xfrm>
          <a:prstGeom prst="roundRect">
            <a:avLst/>
          </a:prstGeom>
          <a:solidFill>
            <a:srgbClr val="E2F2EF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5989320"/>
            <a:ext cx="9838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Comic Sans MS"/>
              </a:rPr>
              <a:t>✎ Suggested order: 206 → 21 → 141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16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A singly linked list is simple once the pointer story is clear.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17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1737360"/>
            <a:ext cx="347472" cy="347472"/>
          </a:xfrm>
          <a:prstGeom prst="ellipse">
            <a:avLst/>
          </a:prstGeom>
          <a:solidFill>
            <a:srgbClr val="E2F2EF"/>
          </a:solidFill>
          <a:ln w="15240">
            <a:solidFill>
              <a:srgbClr val="2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10512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7D79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719072"/>
            <a:ext cx="9784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262A"/>
                </a:solidFill>
                <a:latin typeface="Aptos"/>
              </a:rPr>
              <a:t>Node = data + next pointer.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359152"/>
            <a:ext cx="347472" cy="347472"/>
          </a:xfrm>
          <a:prstGeom prst="ellipse">
            <a:avLst/>
          </a:prstGeom>
          <a:solidFill>
            <a:srgbClr val="E2F2EF"/>
          </a:solidFill>
          <a:ln w="15240">
            <a:solidFill>
              <a:srgbClr val="2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32304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7D79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340864"/>
            <a:ext cx="9784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3262A"/>
                </a:solidFill>
                <a:latin typeface="Aptos"/>
              </a:rPr>
              <a:t>head is the entry point to the list.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2980944"/>
            <a:ext cx="347472" cy="347472"/>
          </a:xfrm>
          <a:prstGeom prst="ellipse">
            <a:avLst/>
          </a:prstGeom>
          <a:solidFill>
            <a:srgbClr val="E2F2EF"/>
          </a:solidFill>
          <a:ln w="15240">
            <a:solidFill>
              <a:srgbClr val="2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54096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7D79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962656"/>
            <a:ext cx="9784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3262A"/>
                </a:solidFill>
                <a:latin typeface="Aptos"/>
              </a:rPr>
              <a:t>Traversal follows next until NULL.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602736"/>
            <a:ext cx="347472" cy="347472"/>
          </a:xfrm>
          <a:prstGeom prst="ellipse">
            <a:avLst/>
          </a:prstGeom>
          <a:solidFill>
            <a:srgbClr val="E2F2EF"/>
          </a:solidFill>
          <a:ln w="15240">
            <a:solidFill>
              <a:srgbClr val="2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75887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7D79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584448"/>
            <a:ext cx="9784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262A"/>
                </a:solidFill>
                <a:latin typeface="Aptos"/>
              </a:rPr>
              <a:t>Insert/delete = reconnect pointers carefully.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224528"/>
            <a:ext cx="347472" cy="347472"/>
          </a:xfrm>
          <a:prstGeom prst="ellipse">
            <a:avLst/>
          </a:prstGeom>
          <a:solidFill>
            <a:srgbClr val="E2F2EF"/>
          </a:solidFill>
          <a:ln w="15240">
            <a:solidFill>
              <a:srgbClr val="2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97680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7D79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206240"/>
            <a:ext cx="9784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3262A"/>
                </a:solidFill>
                <a:latin typeface="Aptos"/>
              </a:rPr>
              <a:t>Access/search are O(n); head insertion is O(1).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846320"/>
            <a:ext cx="347472" cy="347472"/>
          </a:xfrm>
          <a:prstGeom prst="ellipse">
            <a:avLst/>
          </a:prstGeom>
          <a:solidFill>
            <a:srgbClr val="E2F2EF"/>
          </a:solidFill>
          <a:ln w="15240">
            <a:solidFill>
              <a:srgbClr val="2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919472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7D79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828032"/>
            <a:ext cx="9784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3262A"/>
                </a:solidFill>
                <a:latin typeface="Aptos"/>
              </a:rPr>
              <a:t>Always consider edge cases: empty list, one node, head/tail.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5394960"/>
            <a:ext cx="1005840" cy="56692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5458968"/>
            <a:ext cx="653796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6291" y="5394960"/>
            <a:ext cx="20116" cy="56692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6466" y="5486400"/>
            <a:ext cx="25146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38160" y="5678424"/>
            <a:ext cx="429768" cy="0"/>
          </a:xfrm>
          <a:prstGeom prst="line">
            <a:avLst/>
          </a:prstGeom>
          <a:ln w="2159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641080" y="5394960"/>
            <a:ext cx="1005840" cy="56692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5458968"/>
            <a:ext cx="653796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5051" y="5394960"/>
            <a:ext cx="20116" cy="56692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55226" y="5486400"/>
            <a:ext cx="25146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46919" y="5678424"/>
            <a:ext cx="429769" cy="0"/>
          </a:xfrm>
          <a:prstGeom prst="line">
            <a:avLst/>
          </a:prstGeom>
          <a:ln w="21590">
            <a:solidFill>
              <a:srgbClr val="3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149840" y="5394960"/>
            <a:ext cx="1005840" cy="566928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60" y="5458968"/>
            <a:ext cx="653796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33811" y="5394960"/>
            <a:ext cx="20116" cy="566928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63986" y="5486400"/>
            <a:ext cx="25146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45B8C"/>
                </a:solidFill>
                <a:latin typeface="Comic Sans MS"/>
              </a:rPr>
              <a:t>DAY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82880"/>
            <a:ext cx="3337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3262A"/>
                </a:solidFill>
                <a:latin typeface="Aptos"/>
              </a:rPr>
              <a:t>17  Day 43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D6369"/>
                </a:solidFill>
                <a:latin typeface="Comic Sans MS"/>
              </a:rPr>
              <a:t>Next: go beyond the basics — patterns that make linked lists interview-ready.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8046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D6369"/>
                </a:solidFill>
                <a:latin typeface="Consola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D6369"/>
                </a:solidFill>
                <a:latin typeface="Aptos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57400"/>
            <a:ext cx="4480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345B8C"/>
                </a:solidFill>
                <a:latin typeface="Aptos"/>
              </a:rPr>
              <a:t>DAY 43 — LINKED LIST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97480"/>
            <a:ext cx="4297680" cy="21945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62A"/>
                </a:solidFill>
                <a:latin typeface="Aptos"/>
              </a:defRPr>
            </a:pPr>
            <a:r>
              <a:t>•  Reverse a linked list</a:t>
            </a:r>
          </a:p>
          <a:p>
            <a:pPr>
              <a:spcAft>
                <a:spcPts val="500"/>
              </a:spcAft>
              <a:defRPr sz="1600">
                <a:solidFill>
                  <a:srgbClr val="23262A"/>
                </a:solidFill>
                <a:latin typeface="Aptos"/>
              </a:defRPr>
            </a:pPr>
            <a:r>
              <a:t>•  Slow &amp; fast pointer technique</a:t>
            </a:r>
          </a:p>
          <a:p>
            <a:pPr>
              <a:spcAft>
                <a:spcPts val="500"/>
              </a:spcAft>
              <a:defRPr sz="1600">
                <a:solidFill>
                  <a:srgbClr val="23262A"/>
                </a:solidFill>
                <a:latin typeface="Aptos"/>
              </a:defRPr>
            </a:pPr>
            <a:r>
              <a:t>•  Find the middle node</a:t>
            </a:r>
          </a:p>
          <a:p>
            <a:pPr>
              <a:spcAft>
                <a:spcPts val="500"/>
              </a:spcAft>
              <a:defRPr sz="1600">
                <a:solidFill>
                  <a:srgbClr val="23262A"/>
                </a:solidFill>
                <a:latin typeface="Aptos"/>
              </a:defRPr>
            </a:pPr>
            <a:r>
              <a:t>•  Cycle detection</a:t>
            </a:r>
          </a:p>
          <a:p>
            <a:pPr>
              <a:spcAft>
                <a:spcPts val="500"/>
              </a:spcAft>
              <a:defRPr sz="1600">
                <a:solidFill>
                  <a:srgbClr val="23262A"/>
                </a:solidFill>
                <a:latin typeface="Aptos"/>
              </a:defRPr>
            </a:pPr>
            <a:r>
              <a:t>•  Common interview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257800"/>
            <a:ext cx="1234440" cy="310896"/>
          </a:xfrm>
          <a:prstGeom prst="roundRect">
            <a:avLst/>
          </a:prstGeom>
          <a:solidFill>
            <a:srgbClr val="FA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285232"/>
            <a:ext cx="1234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D67E30"/>
                </a:solidFill>
                <a:latin typeface="Comic Sans MS"/>
              </a:rPr>
              <a:t>NEXT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3262A"/>
                </a:solidFill>
                <a:latin typeface="Aptos"/>
              </a:rPr>
              <a:t>One picture to remember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743200"/>
            <a:ext cx="1143000" cy="640080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807208"/>
            <a:ext cx="74295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2743200"/>
            <a:ext cx="22860" cy="64008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8050" y="2834640"/>
            <a:ext cx="285750" cy="50291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20" y="3063240"/>
            <a:ext cx="365759" cy="0"/>
          </a:xfrm>
          <a:prstGeom prst="line">
            <a:avLst/>
          </a:prstGeom>
          <a:ln w="25400">
            <a:solidFill>
              <a:srgbClr val="2D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01000" y="2743200"/>
            <a:ext cx="1143000" cy="640080"/>
          </a:xfrm>
          <a:prstGeom prst="roundRect">
            <a:avLst/>
          </a:prstGeom>
          <a:solidFill>
            <a:srgbClr val="E2F2EF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07208"/>
            <a:ext cx="74295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743200"/>
            <a:ext cx="22860" cy="64008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12530" y="2834640"/>
            <a:ext cx="285750" cy="50291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0" y="3063240"/>
            <a:ext cx="365760" cy="0"/>
          </a:xfrm>
          <a:prstGeom prst="line">
            <a:avLst/>
          </a:prstGeom>
          <a:ln w="25400">
            <a:solidFill>
              <a:srgbClr val="2D7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55480" y="2743200"/>
            <a:ext cx="1143000" cy="640080"/>
          </a:xfrm>
          <a:prstGeom prst="roundRect">
            <a:avLst/>
          </a:prstGeom>
          <a:solidFill>
            <a:srgbClr val="E2EBF6"/>
          </a:solidFill>
          <a:ln w="19050">
            <a:solidFill>
              <a:srgbClr val="34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807208"/>
            <a:ext cx="74295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3262A"/>
                </a:solidFill>
                <a:latin typeface="Aptos"/>
              </a:rPr>
              <a:t>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19" y="2743200"/>
            <a:ext cx="22860" cy="640080"/>
          </a:xfrm>
          <a:prstGeom prst="rect">
            <a:avLst/>
          </a:prstGeom>
          <a:solidFill>
            <a:srgbClr val="34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7009" y="2834640"/>
            <a:ext cx="285750" cy="50291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5D6369"/>
                </a:solidFill>
                <a:latin typeface="Comic Sans MS"/>
              </a:rPr>
              <a:t>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703320"/>
            <a:ext cx="48463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3262A"/>
                </a:solidFill>
                <a:latin typeface="Consolas"/>
              </a:rPr>
              <a:t>data → next → next → NULL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709160"/>
            <a:ext cx="4846320" cy="502920"/>
          </a:xfrm>
          <a:prstGeom prst="roundRect">
            <a:avLst/>
          </a:prstGeom>
          <a:solidFill>
            <a:srgbClr val="E2F2EF"/>
          </a:solidFill>
          <a:ln w="12700">
            <a:solidFill>
              <a:srgbClr val="E6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4800600"/>
            <a:ext cx="46268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3262A"/>
                </a:solidFill>
                <a:latin typeface="Comic Sans MS"/>
              </a:rPr>
              <a:t>✎ Master the arrows. The code becomes much easier.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