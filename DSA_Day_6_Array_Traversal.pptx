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7B4FF"/>
                </a:solidFill>
                <a:latin typeface="Aptos"/>
              </a:rPr>
              <a:t>DAY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315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0F5FA"/>
                </a:solidFill>
                <a:latin typeface="Aptos"/>
              </a:rPr>
              <a:t>ARRAY
TRAVERSAL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0E6DC"/>
                </a:solidFill>
                <a:latin typeface="Aptos"/>
              </a:rPr>
              <a:t>DSA From Scratch to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5B4C8"/>
                </a:solidFill>
                <a:latin typeface="Aptos"/>
              </a:rPr>
              <a:t>Concept → Example → Implementation → Pattern → Problems → Takeaway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08760"/>
            <a:ext cx="850392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600200"/>
            <a:ext cx="850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33172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08760"/>
            <a:ext cx="850392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850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3172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508760"/>
            <a:ext cx="850392" cy="777240"/>
          </a:xfrm>
          <a:prstGeom prst="roundRect">
            <a:avLst/>
          </a:prstGeom>
          <a:solidFill>
            <a:srgbClr val="1E6487"/>
          </a:solidFill>
          <a:ln>
            <a:solidFill>
              <a:srgbClr val="3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600200"/>
            <a:ext cx="850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33172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1508760"/>
            <a:ext cx="850392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1600200"/>
            <a:ext cx="850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33172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81360" y="1508760"/>
            <a:ext cx="850392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1600200"/>
            <a:ext cx="850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2331720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743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7B4FF"/>
                </a:solidFill>
                <a:latin typeface="Aptos"/>
              </a:rPr>
              <a:t>0 → 1 → 2 → 3 →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6576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0F5FA"/>
                </a:solidFill>
                <a:latin typeface="Aptos"/>
              </a:rPr>
              <a:t>Visit • Process • Repeat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What We'll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What array traversal means and why it matters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Indexing, forward traversal and reverse traversal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C++ index-based and range-based loops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Traversal + condition, sum, min/max and search patterns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Time/space complexity and common mistakes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Three LeetCode practice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00200"/>
            <a:ext cx="3840480" cy="438912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1728216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TODAY'S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1488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0F5FA"/>
                </a:solidFill>
                <a:latin typeface="Aptos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56032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7B4FF"/>
                </a:solidFill>
                <a:latin typeface="Aptos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926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0F5FA"/>
                </a:solidFill>
                <a:latin typeface="Aptos"/>
              </a:rPr>
              <a:t>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337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7B4FF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7033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0F5FA"/>
                </a:solidFill>
                <a:latin typeface="Aptos"/>
              </a:rPr>
              <a:t>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114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7B4FF"/>
                </a:solidFill>
                <a:latin typeface="Aptos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4805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0F5FA"/>
                </a:solidFill>
                <a:latin typeface="Aptos"/>
              </a:rPr>
              <a:t>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Quick Recap: Arrays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Day 5 → Day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06EFF"/>
                </a:solidFill>
                <a:latin typeface="Aptos"/>
              </a:rPr>
              <a:t>DAY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F5FA"/>
                </a:solidFill>
                <a:latin typeface="Aptos"/>
              </a:rPr>
              <a:t>Store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987551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987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98755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743200"/>
            <a:ext cx="987551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834640"/>
            <a:ext cx="987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66160"/>
            <a:ext cx="98755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743200"/>
            <a:ext cx="987551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834640"/>
            <a:ext cx="987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566160"/>
            <a:ext cx="98755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2743200"/>
            <a:ext cx="987551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834640"/>
            <a:ext cx="987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566160"/>
            <a:ext cx="98755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79" y="2743200"/>
            <a:ext cx="987551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79" y="2834640"/>
            <a:ext cx="987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3566160"/>
            <a:ext cx="98755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600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B4FF"/>
                </a:solidFill>
                <a:latin typeface="Aptos"/>
              </a:rPr>
              <a:t>DAY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0574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0F5FA"/>
                </a:solidFill>
                <a:latin typeface="Aptos"/>
              </a:rPr>
              <a:t>Visit +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971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0E6DC"/>
                </a:solidFill>
                <a:latin typeface="Aptos"/>
              </a:rPr>
              <a:t>10  →  20  →  30  →  40  →  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4048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5B4C8"/>
                </a:solidFill>
                <a:latin typeface="Aptos"/>
              </a:rPr>
              <a:t>Traversal is the bridge from storing data to solving problems.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What Is Array Traversal?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A beginner-friendly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50E6DC"/>
                </a:solidFill>
                <a:latin typeface="Aptos"/>
              </a:rPr>
              <a:t>Traversal = systematic visiting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987551" cy="777240"/>
          </a:xfrm>
          <a:prstGeom prst="roundRect">
            <a:avLst/>
          </a:prstGeom>
          <a:solidFill>
            <a:srgbClr val="1E6487"/>
          </a:solidFill>
          <a:ln>
            <a:solidFill>
              <a:srgbClr val="3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987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98755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423160"/>
            <a:ext cx="987551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514600"/>
            <a:ext cx="987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46120"/>
            <a:ext cx="98755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423160"/>
            <a:ext cx="987551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514600"/>
            <a:ext cx="987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46120"/>
            <a:ext cx="98755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423160"/>
            <a:ext cx="987551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514600"/>
            <a:ext cx="987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246120"/>
            <a:ext cx="98755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79" y="2423160"/>
            <a:ext cx="987551" cy="77724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79" y="2514600"/>
            <a:ext cx="9875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79" y="3246120"/>
            <a:ext cx="98755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747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290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7B4FF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47472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42900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7B4FF"/>
                </a:solidFill>
                <a:latin typeface="Aptos"/>
              </a:rPr>
              <a:t>→  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1554480"/>
            <a:ext cx="4754880" cy="40233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682495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THE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05740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Start from an index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Access element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Process element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Move to next index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Stop when the condition fails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Why Do We Need Traversal?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One simple loop powers many DSA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212080" cy="44805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3677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WHAT CAN ONE PASS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Print → output every value</a:t>
            </a:r>
          </a:p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Search → compare with target</a:t>
            </a:r>
          </a:p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Max/Min → maintain best value</a:t>
            </a:r>
          </a:p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Sum → accumulate state</a:t>
            </a:r>
          </a:p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Count → increment on a condition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12080" cy="44805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3677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A5B4C8"/>
                </a:solidFill>
                <a:latin typeface="Aptos"/>
              </a:rPr>
              <a:t>Many beginner problems are simply: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34640"/>
            <a:ext cx="4389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0E6DC"/>
                </a:solidFill>
                <a:latin typeface="Aptos"/>
              </a:rPr>
              <a:t>Traversal + Condition +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794760"/>
            <a:ext cx="4389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0F5FA"/>
                </a:solidFill>
                <a:latin typeface="Aptos"/>
              </a:rPr>
              <a:t>Once this pattern becomes automatic,
new problems become easier to recognize.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How Traversal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Trace the index, not just the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1078992" cy="731520"/>
          </a:xfrm>
          <a:prstGeom prst="roundRect">
            <a:avLst/>
          </a:prstGeom>
          <a:solidFill>
            <a:srgbClr val="1E6487"/>
          </a:solidFill>
          <a:ln>
            <a:solidFill>
              <a:srgbClr val="3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78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078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645920"/>
            <a:ext cx="107899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737360"/>
            <a:ext cx="1078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23160"/>
            <a:ext cx="1078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645920"/>
            <a:ext cx="107899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737360"/>
            <a:ext cx="1078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423160"/>
            <a:ext cx="1078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645920"/>
            <a:ext cx="107899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737360"/>
            <a:ext cx="1078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23160"/>
            <a:ext cx="10789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974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B4FF"/>
                </a:solidFill>
                <a:latin typeface="Aptos"/>
              </a:rPr>
              <a:t>i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6517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7B4FF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6974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B4FF"/>
                </a:solidFill>
                <a:latin typeface="Aptos"/>
              </a:rPr>
              <a:t>i =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7B4FF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6974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B4FF"/>
                </a:solidFill>
                <a:latin typeface="Aptos"/>
              </a:rPr>
              <a:t>i =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65176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7B4FF"/>
                </a:solidFill>
                <a:latin typeface="Aptos"/>
              </a:rPr>
              <a:t>→ 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508760"/>
            <a:ext cx="4754880" cy="429768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63677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WHY i &lt; n?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05740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5B4C8"/>
                </a:solidFill>
                <a:latin typeface="Aptos"/>
              </a:rPr>
              <a:t>Valid indices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51460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50E6DC"/>
                </a:solidFill>
                <a:latin typeface="Aptos"/>
              </a:rPr>
              <a:t>0  1  2  3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15468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0F5FA"/>
                </a:solidFill>
                <a:latin typeface="Aptos"/>
              </a:rPr>
              <a:t>n = 4  →  last index =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77639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CD5A"/>
                </a:solidFill>
                <a:latin typeface="Aptos"/>
              </a:rPr>
              <a:t>i = 4 would access arr[4] → out of bounds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Array Indexing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The rule that prevents out-of-bounds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937760" cy="438912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INDEX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First index = 0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Last index = n - 1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Number of elements = n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Safe traversal: 0 → n - 1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57400"/>
            <a:ext cx="85039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850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3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057400"/>
            <a:ext cx="85039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850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83463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57400"/>
            <a:ext cx="85039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48840"/>
            <a:ext cx="850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3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057400"/>
            <a:ext cx="85039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148840"/>
            <a:ext cx="850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3463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2057400"/>
            <a:ext cx="85039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148840"/>
            <a:ext cx="850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834639"/>
            <a:ext cx="850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46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size =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49039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0E6DC"/>
                </a:solidFill>
                <a:latin typeface="Aptos"/>
              </a:rPr>
              <a:t>last index = 5 - 1 =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Basic for Loop Traversal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The core C++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6400800" cy="438912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19"/>
            <a:ext cx="6035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BF5"/>
                </a:solidFill>
                <a:latin typeface="Consolas"/>
              </a:rPr>
              <a:t>int arr[] = {10, 20, 30, 40, 50};
int n = 5;
for (int i = 0; i &lt; n; i++) {
    cout &lt;&lt; arr[i] &lt;&lt; " ";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4114800" cy="438912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19" y="163677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37744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0E6DC"/>
                </a:solidFill>
                <a:latin typeface="Aptos"/>
              </a:rPr>
              <a:t>10 20 30 40 50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324612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0F5FA"/>
                </a:solidFill>
                <a:latin typeface="Aptos"/>
              </a:defRPr>
            </a:pPr>
            <a:r>
              <a:t>• i starts at 0</a:t>
            </a:r>
          </a:p>
          <a:p>
            <a:pPr>
              <a:spcAft>
                <a:spcPts val="800"/>
              </a:spcAft>
              <a:defRPr sz="1600">
                <a:solidFill>
                  <a:srgbClr val="F0F5FA"/>
                </a:solidFill>
                <a:latin typeface="Aptos"/>
              </a:defRPr>
            </a:pPr>
            <a:r>
              <a:t>• i increases by 1</a:t>
            </a:r>
          </a:p>
          <a:p>
            <a:pPr>
              <a:spcAft>
                <a:spcPts val="800"/>
              </a:spcAft>
              <a:defRPr sz="1600">
                <a:solidFill>
                  <a:srgbClr val="F0F5FA"/>
                </a:solidFill>
                <a:latin typeface="Aptos"/>
              </a:defRPr>
            </a:pPr>
            <a:r>
              <a:t>• arr[i] accesses current element</a:t>
            </a:r>
          </a:p>
          <a:p>
            <a:pPr>
              <a:spcAft>
                <a:spcPts val="800"/>
              </a:spcAft>
              <a:defRPr sz="1600">
                <a:solidFill>
                  <a:srgbClr val="F0F5FA"/>
                </a:solidFill>
                <a:latin typeface="Aptos"/>
              </a:defRPr>
            </a:pPr>
            <a:r>
              <a:t>• loop stops when i ==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Trace the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Dry run: every iteration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698480" cy="438912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103327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DRY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0E6DC"/>
                </a:solidFill>
                <a:latin typeface="Aptos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65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0E6DC"/>
                </a:solidFill>
                <a:latin typeface="Aptos"/>
              </a:rPr>
              <a:t>arr[i]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9659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0E6DC"/>
                </a:solidFill>
                <a:latin typeface="Aptos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688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358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358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3580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027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6027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6027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6966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6966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16966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3659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73659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73659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4864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5B4C8"/>
                </a:solidFill>
                <a:latin typeface="Aptos"/>
              </a:rPr>
              <a:t>After i = 4, i++ makes i = 5 → condition 5 &lt; 5 is false → stop.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User Input + Traversal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Runtime-sized arrays with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492240" cy="47091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126479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CEBF5"/>
                </a:solidFill>
                <a:latin typeface="Consolas"/>
              </a:rPr>
              <a:t>int n;
cin &gt;&gt; n;
vector&lt;int&gt; arr(n);
for (int i = 0; i &lt; n; i++)
    cin &gt;&gt; arr[i];
for (int i = 0; i &lt; n; i++)
    cout &lt;&lt; arr[i] &lt;&lt; " ";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417320"/>
            <a:ext cx="4023360" cy="47091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54533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WHY vector?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0116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Runtime-sized</a:t>
            </a:r>
          </a:p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Dynamic storage</a:t>
            </a:r>
          </a:p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Safer, idiomatic C++</a:t>
            </a:r>
          </a:p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Rich STL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47091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CD5A"/>
                </a:solidFill>
                <a:latin typeface="Aptos"/>
              </a:rPr>
              <a:t>Avoid: int arr[n];
(Standard C++ does not support VLAs.)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Range-Based for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When the index is not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37744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7548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DCEBF5"/>
                </a:solidFill>
                <a:latin typeface="Consolas"/>
              </a:rPr>
              <a:t>for (int x : arr) {
    cout &lt;&lt; x &lt;&lt; " ";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074920" cy="35661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82495"/>
            <a:ext cx="470915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WHAT IS x?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0F5FA"/>
                </a:solidFill>
                <a:latin typeface="Aptos"/>
              </a:rPr>
              <a:t>x is the current element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8892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0E6DC"/>
                </a:solidFill>
                <a:latin typeface="Aptos"/>
              </a:rPr>
              <a:t>No index is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A5B4C8"/>
                </a:solidFill>
                <a:latin typeface="Aptos"/>
              </a:rPr>
              <a:t>Great for read-only/simple value processing.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Index-Based vs Range-Based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Choose the loop that matches the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789920" cy="44805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45336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0E6DC"/>
                </a:solidFill>
                <a:latin typeface="Aptos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0E6DC"/>
                </a:solidFill>
                <a:latin typeface="Aptos"/>
              </a:rPr>
              <a:t>Index-based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0E6DC"/>
                </a:solidFill>
                <a:latin typeface="Aptos"/>
              </a:rPr>
              <a:t>Range-based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Access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231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4231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9008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Access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9008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9008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57015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Modify by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57015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Easy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557015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Use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239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Readability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1239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1239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Excellent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908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Beginner friendly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6908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6908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4864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5B4C8"/>
                </a:solidFill>
                <a:latin typeface="Aptos"/>
              </a:rPr>
              <a:t>Choose index-based when position matters; range-based when only values matter.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Forward Traversal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The most common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94183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941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645920"/>
            <a:ext cx="94183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1737360"/>
            <a:ext cx="941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42316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645920"/>
            <a:ext cx="94183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37360"/>
            <a:ext cx="941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645920"/>
            <a:ext cx="94183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1737360"/>
            <a:ext cx="941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42316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645920"/>
            <a:ext cx="94183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737360"/>
            <a:ext cx="941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42316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889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7B4FF"/>
                </a:solidFill>
                <a:latin typeface="Aptos"/>
              </a:rPr>
              <a:t>0  →  1  →  2  →  3  → 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508760"/>
            <a:ext cx="4663440" cy="40233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36776"/>
            <a:ext cx="4297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COMMON 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05740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Printing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Searching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Sum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Maximum / minimum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Counting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Reverse Traversal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Walk from n - 1 back to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94183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941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1645920"/>
            <a:ext cx="94183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1737360"/>
            <a:ext cx="941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42316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645920"/>
            <a:ext cx="94183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37360"/>
            <a:ext cx="941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645920"/>
            <a:ext cx="941832" cy="731520"/>
          </a:xfrm>
          <a:prstGeom prst="roundRect">
            <a:avLst/>
          </a:prstGeom>
          <a:solidFill>
            <a:srgbClr val="182A41"/>
          </a:solidFill>
          <a:ln>
            <a:solidFill>
              <a:srgbClr val="3C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1737360"/>
            <a:ext cx="941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42316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645920"/>
            <a:ext cx="941832" cy="731520"/>
          </a:xfrm>
          <a:prstGeom prst="roundRect">
            <a:avLst/>
          </a:prstGeom>
          <a:solidFill>
            <a:srgbClr val="1E6487"/>
          </a:solidFill>
          <a:ln>
            <a:solidFill>
              <a:srgbClr val="37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737360"/>
            <a:ext cx="9418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242316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5B4C8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889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06EFF"/>
                </a:solidFill>
                <a:latin typeface="Aptos"/>
              </a:rPr>
              <a:t>4  →  3  →  2  →  1  → 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508760"/>
            <a:ext cx="4663440" cy="201168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645919"/>
            <a:ext cx="4297679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CEBF5"/>
                </a:solidFill>
                <a:latin typeface="Consolas"/>
              </a:rPr>
              <a:t>for (int i = n - 1; i &gt;= 0; i--) {
    cout &lt;&lt; arr[i] &lt;&lt; " ";
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39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A5B4C8"/>
                </a:solidFill>
                <a:latin typeface="Aptos"/>
              </a:rPr>
              <a:t>Use cases: reverse output, right-to-left processing,
comparisons from the end.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Traversal With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Visit → Check →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50E6DC"/>
                </a:solidFill>
                <a:latin typeface="Aptos"/>
              </a:rPr>
              <a:t>Traversal + Condition = Powerful DSA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5486400" cy="228600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5120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BF5"/>
                </a:solidFill>
                <a:latin typeface="Consolas"/>
              </a:rPr>
              <a:t>for (int i = 0; i &lt; n; i++) {
    if (arr[i] % 2 == 0)
        cout &lt;&lt; arr[i] &lt;&lt; " ";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240280"/>
            <a:ext cx="4297680" cy="228600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36829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MENTAL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74320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0F5FA"/>
                </a:solidFill>
                <a:latin typeface="Aptos"/>
              </a:rPr>
              <a:t>VISIT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7432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7B4FF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4320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0F5FA"/>
                </a:solidFill>
                <a:latin typeface="Aptos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7432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7B4FF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7432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0F5FA"/>
                </a:solidFill>
                <a:latin typeface="Aptos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657600"/>
            <a:ext cx="3657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5B4C8"/>
                </a:solidFill>
                <a:latin typeface="Aptos"/>
              </a:rPr>
              <a:t>Examples: even, positive, &gt; X, target, duplicates.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Pattern: Sum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Maintain the answer while traversing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37744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47548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BF5"/>
                </a:solidFill>
                <a:latin typeface="Consolas"/>
              </a:rPr>
              <a:t>int sum = 0;
for (int i = 0; i &lt; n; i++) {
    sum += arr[i];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4937760" cy="35661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82495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INVARIANT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4884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50E6DC"/>
                </a:solidFill>
                <a:latin typeface="Aptos"/>
              </a:rPr>
              <a:t>sum = total of elements processed so 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0632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0F5FA"/>
                </a:solidFill>
                <a:latin typeface="Aptos"/>
              </a:rPr>
              <a:t>[5, 10, 15]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576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7B4FF"/>
                </a:solidFill>
                <a:latin typeface="Aptos"/>
              </a:rPr>
              <a:t>5 → 10 →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2519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0D282"/>
                </a:solidFill>
                <a:latin typeface="Aptos"/>
              </a:rPr>
              <a:t>sum = 5 → 15 →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Pattern: Min / Max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Initialize from real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6492240" cy="44805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126479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CEBF5"/>
                </a:solidFill>
                <a:latin typeface="Consolas"/>
              </a:rPr>
              <a:t>int mx = arr[0];
for (int i = 1; i &lt; n; i++)
    mx = max(mx, arr[i]);
int mn = arr[0];
for (int i = 1; i &lt; n; i++)
    mn = min(mn, arr[i]);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463040"/>
            <a:ext cx="3977639" cy="44805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591056"/>
            <a:ext cx="3611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WHY arr[0]?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1031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0E6DC"/>
                </a:solidFill>
                <a:latin typeface="Aptos"/>
              </a:rPr>
              <a:t>Initialize from actual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88036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It works with negative values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840480"/>
            <a:ext cx="3291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5B4C8"/>
                </a:solidFill>
                <a:latin typeface="Aptos"/>
              </a:rPr>
              <a:t>Avoid arbitrary values like 0 when the array may contain negatives.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Pattern: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Traverse and stop early when possible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400800" cy="47091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035040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DCEBF5"/>
                </a:solidFill>
                <a:latin typeface="Consolas"/>
              </a:rPr>
              <a:t>int target = 30;
int index = -1;
for (int i = 0; i &lt; n; i++) {
    if (arr[i] == target) {
        index = i;
        break;
    }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114800" cy="47091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54533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LINEAR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0116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Checks elements in order</a:t>
            </a:r>
          </a:p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Stops immediately after a match</a:t>
            </a:r>
          </a:p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Best case: O(1)</a:t>
            </a:r>
          </a:p>
          <a:p>
            <a:pPr>
              <a:spcAft>
                <a:spcPts val="800"/>
              </a:spcAft>
              <a:defRPr sz="1700">
                <a:solidFill>
                  <a:srgbClr val="F0F5FA"/>
                </a:solidFill>
                <a:latin typeface="Aptos"/>
              </a:defRPr>
            </a:pPr>
            <a:r>
              <a:t>• Worst case: O(n)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754880"/>
            <a:ext cx="3383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0E6DC"/>
                </a:solidFill>
                <a:latin typeface="Aptos"/>
              </a:rPr>
              <a:t>This becomes a foundation for later searching topics.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Important Traversal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A visual map of beginner DSA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468880" cy="15087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73351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5FA"/>
                </a:solidFill>
                <a:latin typeface="Aptos"/>
              </a:rPr>
              <a:t>Visit every element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508760"/>
            <a:ext cx="2468880" cy="15087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1" y="1673351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28800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5FA"/>
                </a:solidFill>
                <a:latin typeface="Aptos"/>
              </a:rPr>
              <a:t>Traverse + condition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508760"/>
            <a:ext cx="2468880" cy="15087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1" y="1673351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28800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5FA"/>
                </a:solidFill>
                <a:latin typeface="Aptos"/>
              </a:rPr>
              <a:t>Maintain answer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508760"/>
            <a:ext cx="2468880" cy="15087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1673351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59" y="1828800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5FA"/>
                </a:solidFill>
                <a:latin typeface="Aptos"/>
              </a:rPr>
              <a:t>Count occurrences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2468880" cy="15087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63931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94759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5FA"/>
                </a:solidFill>
                <a:latin typeface="Aptos"/>
              </a:rPr>
              <a:t>Search + stop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39" y="3474720"/>
            <a:ext cx="2468880" cy="15087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1" y="363931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794759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5FA"/>
                </a:solidFill>
                <a:latin typeface="Aptos"/>
              </a:rPr>
              <a:t>Reverse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474720"/>
            <a:ext cx="2468880" cy="15087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1" y="363931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794759"/>
            <a:ext cx="1600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0F5FA"/>
                </a:solidFill>
                <a:latin typeface="Aptos"/>
              </a:rPr>
              <a:t>Compare neighbors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A5B4C8"/>
                </a:solidFill>
                <a:latin typeface="Aptos"/>
              </a:rPr>
              <a:t>Most beginner array problems are combinations of these patterns.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Time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Why one complete traversal is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5B4C8"/>
                </a:solidFill>
                <a:latin typeface="Aptos"/>
              </a:rPr>
              <a:t>ONE COMPLETE TRAVERSAL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7B4FF"/>
                </a:solidFill>
                <a:latin typeface="Aptos"/>
              </a:rPr>
              <a:t>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5FA"/>
                </a:solidFill>
                <a:latin typeface="Aptos"/>
              </a:rPr>
              <a:t>Because n elements may be visited.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4754880" cy="411480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3677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0574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50E6DC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0574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5FA"/>
                </a:solidFill>
                <a:latin typeface="Aptos"/>
              </a:rPr>
              <a:t>≈ 5 visits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50E6DC"/>
                </a:solidFill>
                <a:latin typeface="Aptos"/>
              </a:rPr>
              <a:t>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971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5FA"/>
                </a:solidFill>
                <a:latin typeface="Aptos"/>
              </a:rPr>
              <a:t>≈ 1,000 visits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886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50E6DC"/>
                </a:solidFill>
                <a:latin typeface="Aptos"/>
              </a:rPr>
              <a:t>1,000,000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8862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5FA"/>
                </a:solidFill>
                <a:latin typeface="Aptos"/>
              </a:rPr>
              <a:t>≈ 1,000,000 visits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98348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CD5A"/>
                </a:solidFill>
                <a:latin typeface="Aptos"/>
              </a:rPr>
              <a:t>Search with early break: best O(1), worst O(n).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Space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Input space vs auxiliary 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29200" cy="429768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SIMPLE TRAVERSAL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50D282"/>
                </a:solidFill>
                <a:latin typeface="Aptos"/>
              </a:rPr>
              <a:t>O(1) auxiliary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4389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F0F5FA"/>
                </a:solidFill>
                <a:latin typeface="Aptos"/>
              </a:rPr>
              <a:t>Only a few variables:
i, sum, max, 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029200" cy="429768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36776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NEW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488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A06EFF"/>
                </a:solidFill>
                <a:latin typeface="Aptos"/>
              </a:rPr>
              <a:t>O(n) extra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971800"/>
            <a:ext cx="4389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F0F5FA"/>
                </a:solidFill>
                <a:latin typeface="Aptos"/>
              </a:rPr>
              <a:t>If you create another
array/vector of size 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98932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0E6DC"/>
                </a:solidFill>
                <a:latin typeface="Aptos"/>
              </a:rPr>
              <a:t>Input space ≠ auxiliary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LeetCode #1480 — Running Sum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Traversal + running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49377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53895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5FA"/>
                </a:solidFill>
                <a:latin typeface="Aptos"/>
              </a:rPr>
              <a:t>Input: [1, 2, 3, 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0E6DC"/>
                </a:solidFill>
                <a:latin typeface="Aptos"/>
              </a:rPr>
              <a:t>Output: [1, 3, 6, 10]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5B4C8"/>
                </a:solidFill>
                <a:latin typeface="Aptos"/>
              </a:rPr>
              <a:t>Intuition: keep a running sum and store it back into the array.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657600"/>
            <a:ext cx="5760720" cy="192024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794760"/>
            <a:ext cx="539495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BF5"/>
                </a:solidFill>
                <a:latin typeface="Consolas"/>
              </a:rPr>
              <a:t>vector&lt;int&gt; runningSum(vector&lt;int&gt;&amp; nums) {
    for (int i = 1; i &lt; nums.size(); i++)
        nums[i] += nums[i - 1];
    return nums;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84048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7B4FF"/>
                </a:solidFill>
                <a:latin typeface="Aptos"/>
              </a:rPr>
              <a:t>TIME  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48056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0D282"/>
                </a:solidFill>
                <a:latin typeface="Aptos"/>
              </a:rPr>
              <a:t>EXTRA SPACE  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52120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Key lesson: traversal + accumulated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LeetCode #1295 — Even Number of Digits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Traversal + digit count + condition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49377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53895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5FA"/>
                </a:solidFill>
                <a:latin typeface="Aptos"/>
              </a:rPr>
              <a:t>Count numbers whose number of digits is even.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9418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0E6DC"/>
                </a:solidFill>
                <a:latin typeface="Aptos"/>
              </a:rPr>
              <a:t>Pattern: Traverse → Count digits → Check condition → Increment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17520"/>
            <a:ext cx="5669280" cy="246888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54679"/>
            <a:ext cx="5303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BF5"/>
                </a:solidFill>
                <a:latin typeface="Consolas"/>
              </a:rPr>
              <a:t>int ans = 0;
for (int x : nums) {
    int digits = 0;
    do { digits++; x /= 10; } while (x);
    if (digits % 2 == 0) ans++;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3375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7B4FF"/>
                </a:solidFill>
                <a:latin typeface="Aptos"/>
              </a:rPr>
              <a:t>TIME  O(n · 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977639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5B4C8"/>
                </a:solidFill>
                <a:latin typeface="Aptos"/>
              </a:rPr>
              <a:t>For fixed-width integers,
d is effectively bounded.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4983480"/>
            <a:ext cx="3200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0F5FA"/>
                </a:solidFill>
                <a:latin typeface="Aptos"/>
              </a:rPr>
              <a:t>Key lesson: traversal can wrap a helper computation.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LeetCode #724 — Find Pivot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Total sum + left sum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789920" cy="49377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53895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5FA"/>
                </a:solidFill>
                <a:latin typeface="Aptos"/>
              </a:rPr>
              <a:t>Pivot index: sum(left) == sum(right)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0E6DC"/>
                </a:solidFill>
                <a:latin typeface="Aptos"/>
              </a:rPr>
              <a:t>Idea: compute total sum first, then maintain leftSum during one traversal.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26080"/>
            <a:ext cx="6400800" cy="260604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63240"/>
            <a:ext cx="603504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BF5"/>
                </a:solidFill>
                <a:latin typeface="Consolas"/>
              </a:rPr>
              <a:t>int total = accumulate(nums.begin(), nums.end(), 0);
int left = 0;
for (int i = 0; i &lt; nums.size(); i++) {
    if (left == total - left - nums[i]) return i;
    left += nums[i];
}
return -1;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2461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37B4FF"/>
                </a:solidFill>
                <a:latin typeface="Aptos"/>
              </a:rPr>
              <a:t>TIME  O(n)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977639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0D282"/>
                </a:solidFill>
                <a:latin typeface="Aptos"/>
              </a:rPr>
              <a:t>EXTRA SPACE  O(1)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48006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0F5FA"/>
                </a:solidFill>
                <a:latin typeface="Aptos"/>
              </a:rPr>
              <a:t>Key lesson: a global total can make a local comparison O(1).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Interview Tip + Common Mistakes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Explain the loop like an engineer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44805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4533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INTERVIEW TIP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CD5A"/>
                </a:solidFill>
                <a:latin typeface="Aptos"/>
              </a:rPr>
              <a:t>Don't say only:
“I'll use a loop.”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4572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F0F5FA"/>
                </a:solidFill>
                <a:latin typeface="Aptos"/>
              </a:rPr>
              <a:t>Say what you traverse, what state you maintain, when you stop, and the complexity.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44805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4533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COMMON MISTAKES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i &lt;= n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Accessing arr[n]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Incorrect reverse loop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Wrong initialization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Forgetting empty input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Unnecessary nested loops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Extra memory without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Practice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Solve these without copying a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75488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103327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YOUR 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7B4FF"/>
                </a:solidFill>
                <a:latin typeface="Aptos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2024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5FA"/>
                </a:solidFill>
                <a:latin typeface="Aptos"/>
              </a:rPr>
              <a:t>Print all elements at even indices.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7B4FF"/>
                </a:solidFill>
                <a:latin typeface="Aptos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06324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5FA"/>
                </a:solidFill>
                <a:latin typeface="Aptos"/>
              </a:rPr>
              <a:t>Find the minimum element.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7B4FF"/>
                </a:solidFill>
                <a:latin typeface="Aptos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20624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5FA"/>
                </a:solidFill>
                <a:latin typeface="Aptos"/>
              </a:rPr>
              <a:t>Count negative numbers.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920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7B4FF"/>
                </a:solidFill>
                <a:latin typeface="Aptos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5FA"/>
                </a:solidFill>
                <a:latin typeface="Aptos"/>
              </a:rPr>
              <a:t>Find the first occurrence of a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063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7B4FF"/>
                </a:solidFill>
                <a:latin typeface="Aptos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6324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5FA"/>
                </a:solidFill>
                <a:latin typeface="Aptos"/>
              </a:rPr>
              <a:t>Print the array in reverse.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7B4FF"/>
                </a:solidFill>
                <a:latin typeface="Aptos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5FA"/>
                </a:solidFill>
                <a:latin typeface="Aptos"/>
              </a:rPr>
              <a:t>Calculate the average of elements.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76072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0E6DC"/>
                </a:solidFill>
                <a:latin typeface="Aptos"/>
              </a:rPr>
              <a:t>No full solutions here — build the pattern yourself.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Day 6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Turn the lesson into a reusable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0F5FA"/>
                </a:solidFill>
                <a:latin typeface="Aptos"/>
              </a:rPr>
              <a:t>Array Traversal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916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2377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0E6DC"/>
                </a:solidFill>
                <a:latin typeface="Aptos"/>
              </a:rPr>
              <a:t>Access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4231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2377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Process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154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2377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Use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8862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2377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Analyze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6177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7B4FF"/>
                </a:solidFill>
                <a:latin typeface="Aptos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2377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0F5FA"/>
                </a:solidFill>
                <a:latin typeface="Aptos"/>
              </a:rPr>
              <a:t>Solve problems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1417320"/>
            <a:ext cx="5486400" cy="44805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54533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KEY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96596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Traversal = systematic visiting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Indices = 0 to n - 1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Forward = most common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Reverse = n - 1 to 0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Basic traversal = O(n)</a:t>
            </a:r>
          </a:p>
          <a:p>
            <a:pPr>
              <a:spcAft>
                <a:spcPts val="800"/>
              </a:spcAft>
              <a:defRPr sz="1800">
                <a:solidFill>
                  <a:srgbClr val="F0F5FA"/>
                </a:solidFill>
                <a:latin typeface="Aptos"/>
              </a:defRPr>
            </a:pPr>
            <a:r>
              <a:t>• Extra variables = O(1)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Tomorrow: Day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Array Insertion &amp; Deletion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A06EFF"/>
                </a:solidFill>
                <a:latin typeface="Aptos"/>
              </a:rPr>
              <a:t>DAY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5943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0F5FA"/>
                </a:solidFill>
                <a:latin typeface="Aptos"/>
              </a:rPr>
              <a:t>ARRAY INSERTION
&amp; DELETION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08760"/>
            <a:ext cx="4206240" cy="4023360"/>
          </a:xfrm>
          <a:prstGeom prst="roundRect">
            <a:avLst/>
          </a:prstGeom>
          <a:solidFill>
            <a:srgbClr val="121C2E"/>
          </a:solidFill>
          <a:ln>
            <a:solidFill>
              <a:srgbClr val="26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36776"/>
            <a:ext cx="38404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0E6DC"/>
                </a:solidFill>
                <a:latin typeface="Aptos"/>
              </a:rPr>
              <a:t>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011680"/>
            <a:ext cx="3566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Insertion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Deletion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Shifting elements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Static array limitations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Vector insertion/deletion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Complexity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Practical examples</a:t>
            </a:r>
          </a:p>
          <a:p>
            <a:pPr>
              <a:spcAft>
                <a:spcPts val="800"/>
              </a:spcAft>
              <a:defRPr sz="1500">
                <a:solidFill>
                  <a:srgbClr val="F0F5FA"/>
                </a:solidFill>
                <a:latin typeface="Aptos"/>
              </a:defRPr>
            </a:pPr>
            <a:r>
              <a:t>• Interview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50E6DC"/>
                </a:solidFill>
                <a:latin typeface="Aptos"/>
              </a:rPr>
              <a:t>Next: understand what happens when data changes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0F5FA"/>
                </a:solidFill>
                <a:latin typeface="Aptos"/>
              </a:rPr>
              <a:t>Final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143000" cy="41148"/>
          </a:xfrm>
          <a:prstGeom prst="rect">
            <a:avLst/>
          </a:prstGeom>
          <a:solidFill>
            <a:srgbClr val="37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5B4C8"/>
                </a:solidFill>
                <a:latin typeface="Aptos"/>
              </a:rPr>
              <a:t>MASTER THE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50E6DC"/>
                </a:solidFill>
                <a:latin typeface="Aptos"/>
              </a:rPr>
              <a:t>MASTER THE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468880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A5B4C8"/>
                </a:solidFill>
                <a:latin typeface="Aptos"/>
              </a:rPr>
              <a:t>Many DSA problems begin with one simple skill: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063240"/>
            <a:ext cx="8321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0F5FA"/>
                </a:solidFill>
                <a:latin typeface="Aptos"/>
              </a:rPr>
              <a:t>Traverse the data correctly.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6908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7B4FF"/>
                </a:solidFill>
                <a:latin typeface="Aptos"/>
              </a:rPr>
              <a:t>Concept → Example → Implementation → Complexity
→ Pattern → Problem → Solution →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4C8"/>
                </a:solidFill>
                <a:latin typeface="Aptos"/>
              </a:rPr>
              <a:t>DSA From Scratch to Advanced  •  Day 6    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