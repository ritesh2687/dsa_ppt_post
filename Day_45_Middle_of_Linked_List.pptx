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25C7B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23262A"/>
                </a:solidFill>
                <a:latin typeface="Aptos"/>
              </a:rPr>
              <a:t>DAY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749807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3262A"/>
                </a:solidFill>
                <a:latin typeface="Aptos"/>
              </a:rPr>
              <a:t>FIND THE MIDDLE
OF A LINKED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337560"/>
            <a:ext cx="7132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5B6168"/>
                </a:solidFill>
                <a:latin typeface="Aptos"/>
              </a:rPr>
              <a:t>From two traversals → one smart pointer pass</a:t>
            </a:r>
          </a:p>
        </p:txBody>
      </p:sp>
      <p:sp>
        <p:nvSpPr>
          <p:cNvPr id="6" name="Oval 5"/>
          <p:cNvSpPr/>
          <p:nvPr/>
        </p:nvSpPr>
        <p:spPr>
          <a:xfrm>
            <a:off x="7818120" y="1874519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9476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21040" y="2130552"/>
            <a:ext cx="3657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732520" y="1874519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9476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35440" y="2130552"/>
            <a:ext cx="3657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646920" y="1874519"/>
            <a:ext cx="502920" cy="502920"/>
          </a:xfrm>
          <a:prstGeom prst="ellipse">
            <a:avLst/>
          </a:prstGeom>
          <a:solidFill>
            <a:srgbClr val="EBCF6F"/>
          </a:solidFill>
          <a:ln w="25400">
            <a:solidFill>
              <a:srgbClr val="225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19476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49840" y="2130552"/>
            <a:ext cx="3657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561320" y="1874519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61320" y="19476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064240" y="2130552"/>
            <a:ext cx="3657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475720" y="1874519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5720" y="19476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7432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25C7B"/>
                </a:solidFill>
                <a:latin typeface="Comic Sans MS"/>
              </a:rPr>
              <a:t>middle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79476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25C7B"/>
                </a:solidFill>
                <a:latin typeface="Comic Sans MS"/>
              </a:rPr>
              <a:t>slow → 1 step     fast → 2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Where is the Middle?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The task sounds simple — but the list has no index.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25C7B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3262A"/>
                </a:solidFill>
                <a:latin typeface="Aptos"/>
              </a:rPr>
              <a:t>Given the head of a singly linked list,
return the middle 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4206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5B6168"/>
                </a:solidFill>
                <a:latin typeface="Aptos"/>
              </a:rPr>
              <a:t>Key constraint: you can only move
forward through next pointers.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25C37"/>
                </a:solidFill>
                <a:latin typeface="Comic Sans MS"/>
              </a:rPr>
              <a:t>Think → “How can pointer movement tell me position?”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20840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59" y="2587752"/>
            <a:ext cx="3657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635240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38160" y="2587752"/>
            <a:ext cx="365759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549640" y="2331720"/>
            <a:ext cx="502920" cy="502920"/>
          </a:xfrm>
          <a:prstGeom prst="ellipse">
            <a:avLst/>
          </a:prstGeom>
          <a:solidFill>
            <a:srgbClr val="EBCF6F"/>
          </a:solidFill>
          <a:ln w="25400">
            <a:solidFill>
              <a:srgbClr val="225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52560" y="2587752"/>
            <a:ext cx="365759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464040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966960" y="2587752"/>
            <a:ext cx="365759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378440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375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23262A"/>
                </a:solidFill>
                <a:latin typeface="Aptos"/>
              </a:rPr>
              <a:t>1 → 2 → 3 → 4 →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06908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225C7B"/>
                </a:solidFill>
                <a:latin typeface="Aptos"/>
              </a:rPr>
              <a:t>Middle =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Visualize the List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Every node has data + a next pointer.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168"/>
                </a:solidFill>
                <a:latin typeface="Comic Sans MS"/>
              </a:rPr>
              <a:t>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1097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783080"/>
            <a:ext cx="1097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next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2103120"/>
            <a:ext cx="822960" cy="0"/>
          </a:xfrm>
          <a:prstGeom prst="line">
            <a:avLst/>
          </a:prstGeom>
          <a:ln w="19050">
            <a:solidFill>
              <a:srgbClr val="225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60520" y="1938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63440" y="2103120"/>
            <a:ext cx="68580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77840" y="1938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103120"/>
            <a:ext cx="68580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95160" y="1938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79" y="2103120"/>
            <a:ext cx="68580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0" y="1938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23262A"/>
                </a:solidFill>
                <a:latin typeface="Aptos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15400" y="2103120"/>
            <a:ext cx="68580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829800" y="1938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246120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23262A"/>
                </a:solidFill>
                <a:latin typeface="Aptos"/>
              </a:rPr>
              <a:t>No random access like arr[i].
We discover the middle by traversal.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3434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C25C37"/>
                </a:solidFill>
                <a:latin typeface="Comic Sans MS"/>
              </a:rPr>
              <a:t>← That is why pointer strategy matters.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Even Number of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Which “middle” should we return?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2176272"/>
            <a:ext cx="86868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331720" y="192024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99339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39" y="2176272"/>
            <a:ext cx="868681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749039" y="192024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99339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51959" y="2176272"/>
            <a:ext cx="868681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66360" y="192024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99339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0" y="2176272"/>
            <a:ext cx="86868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99339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6600" y="2176272"/>
            <a:ext cx="868679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001000" y="192024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99339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3262A"/>
                </a:solidFill>
                <a:latin typeface="Aptos"/>
              </a:rPr>
              <a:t>Two middle positions: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657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225C7B"/>
                </a:solidFill>
                <a:latin typeface="Aptos"/>
              </a:rPr>
              <a:t>3rd →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657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C25C37"/>
                </a:solidFill>
                <a:latin typeface="Aptos"/>
              </a:rPr>
              <a:t>4th →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1417320"/>
            <a:ext cx="44805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173736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25C7B"/>
                </a:solidFill>
                <a:latin typeface="Aptos"/>
              </a:rPr>
              <a:t>LeetCode 876 convention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331720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3262A"/>
                </a:solidFill>
                <a:latin typeface="Aptos"/>
              </a:rPr>
              <a:t>Return the SECOND middle.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06324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3262A"/>
                </a:solidFill>
                <a:latin typeface="Aptos"/>
              </a:rPr>
              <a:t>For 1 → 2 → 3 → 4 → 5 → 6
answer =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160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25C37"/>
                </a:solidFill>
                <a:latin typeface="Comic Sans MS"/>
              </a:rPr>
              <a:t>slow/fast loop naturally lands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Approach 1 — Count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A straightforward two-pass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5C7B"/>
                </a:solidFill>
                <a:latin typeface="Aptos"/>
              </a:rPr>
              <a:t>PASS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3262A"/>
                </a:solidFill>
                <a:latin typeface="Aptos"/>
              </a:rPr>
              <a:t>Traverse the list and count 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C25C37"/>
                </a:solidFill>
                <a:latin typeface="Aptos"/>
              </a:rPr>
              <a:t>n =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8620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5B6168"/>
                </a:solidFill>
                <a:latin typeface="Aptos"/>
              </a:rPr>
              <a:t>Middle position = n /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B6168"/>
                </a:solidFill>
                <a:latin typeface="Aptos"/>
              </a:rPr>
              <a:t>(0-indexed)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716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6916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5C7B"/>
                </a:solidFill>
                <a:latin typeface="Aptos"/>
              </a:rPr>
              <a:t>PASS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24028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3262A"/>
                </a:solidFill>
                <a:latin typeface="Aptos"/>
              </a:rPr>
              <a:t>Start again from head.
Move to the middle index.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52044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25C37"/>
                </a:solidFill>
                <a:latin typeface="Aptos"/>
              </a:rPr>
              <a:t>2 moves → node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29768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5B6168"/>
                </a:solidFill>
                <a:latin typeface="Comic Sans MS"/>
              </a:rPr>
              <a:t>Simple • correct • easy to explain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71600"/>
            <a:ext cx="32918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7373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C25C37"/>
                </a:solidFill>
                <a:latin typeface="Aptos"/>
              </a:rPr>
              <a:t>But…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46888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23262A"/>
                </a:solidFill>
                <a:latin typeface="Aptos"/>
              </a:rPr>
              <a:t>We walk the list twice.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70332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225C7B"/>
                </a:solidFill>
                <a:latin typeface="Comic Sans MS"/>
              </a:rPr>
              <a:t>Can two pointers
find it in one pass?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Count Nodes — Visual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First count, then jump conceptually to n/2.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EBCF6F"/>
          </a:solidFill>
          <a:ln w="25400">
            <a:solidFill>
              <a:srgbClr val="225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25880" y="2084832"/>
            <a:ext cx="86868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240280" y="18288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9019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084832"/>
            <a:ext cx="86868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657600" y="18288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9019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60520" y="2084832"/>
            <a:ext cx="86868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074920" y="18288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19019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77840" y="2084832"/>
            <a:ext cx="86868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7889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25C7B"/>
                </a:solidFill>
                <a:latin typeface="Aptos"/>
              </a:rPr>
              <a:t>PASS 1: count = 1 → 2 → 3 → 4 →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18288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C25C37"/>
                </a:solidFill>
                <a:latin typeface="Aptos"/>
              </a:rPr>
              <a:t>n =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4231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middle index = 5 / 2 = 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7280" y="4251960"/>
            <a:ext cx="2560320" cy="0"/>
          </a:xfrm>
          <a:prstGeom prst="line">
            <a:avLst/>
          </a:prstGeom>
          <a:ln w="25400">
            <a:solidFill>
              <a:srgbClr val="C25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3977639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6168"/>
                </a:solidFill>
                <a:latin typeface="Aptos"/>
              </a:rPr>
              <a:t>PASS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5720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6168"/>
                </a:solidFill>
                <a:latin typeface="Comic Sans MS"/>
              </a:rPr>
              <a:t>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553712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3262A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44805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5C7B"/>
                </a:solidFill>
                <a:latin typeface="Comic Sans MS"/>
              </a:rPr>
              <a:t>move 2 times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40740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C25C37"/>
                </a:solidFill>
                <a:latin typeface="Aptos"/>
              </a:rPr>
              <a:t>→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Approach 1 —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Useful baseline before optimizing.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486400" cy="4526280"/>
          </a:xfrm>
          <a:prstGeom prst="roundRect">
            <a:avLst/>
          </a:prstGeom>
          <a:solidFill>
            <a:srgbClr val="272B30"/>
          </a:solidFill>
          <a:ln w="12700">
            <a:solidFill>
              <a:srgbClr val="27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63039"/>
            <a:ext cx="5157216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scadia Mono"/>
              </a:rPr>
              <a:t>int count = 0;
Node* curr = head;
while (curr) {
    count++;
    curr = curr-&gt;next;
}
curr = head;
for (int i = 0; i &lt; count / 2; i++) {
    curr = curr-&gt;next;
}
return curr;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325880"/>
            <a:ext cx="5029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6916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25C7B"/>
                </a:solidFill>
                <a:latin typeface="Aptos"/>
              </a:rPr>
              <a:t>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3317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5B6168"/>
                </a:solidFill>
                <a:latin typeface="Aptos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26771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O(n) + O(n/2) → 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063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5B6168"/>
                </a:solidFill>
                <a:latin typeface="Aptos"/>
              </a:rPr>
              <a:t>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99923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7947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25C37"/>
                </a:solidFill>
                <a:latin typeface="Comic Sans MS"/>
              </a:rPr>
              <a:t>Good baseline.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343400"/>
            <a:ext cx="3474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3262A"/>
                </a:solidFill>
                <a:latin typeface="Aptos"/>
              </a:rPr>
              <a:t>But the list is traversed twice.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Why Can We Do Better?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The key observation is about relative speed.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23262A"/>
                </a:solidFill>
                <a:latin typeface="Aptos"/>
              </a:rPr>
              <a:t>If one pointer moves 1 step and another moves 2…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7180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3756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25C7B"/>
                </a:solidFill>
                <a:latin typeface="Comic Sans MS"/>
              </a:rPr>
              <a:t>slow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31012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1 step / 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690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25C37"/>
                </a:solidFill>
                <a:latin typeface="Comic Sans MS"/>
              </a:rPr>
              <a:t>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04164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2 steps / move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97180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3832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3262A"/>
                </a:solidFill>
                <a:latin typeface="Aptos"/>
              </a:rPr>
              <a:t>When fast reaches the end…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25C7B"/>
                </a:solidFill>
                <a:latin typeface="Aptos"/>
              </a:rPr>
              <a:t>slow is around the middle.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61772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25C37"/>
                </a:solidFill>
                <a:latin typeface="Comic Sans MS"/>
              </a:rPr>
              <a:t>One pass. O(1) extra 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Slow &amp; Fast Pointer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A classic linked-list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2267712"/>
            <a:ext cx="109728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670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25C7B"/>
                </a:solidFill>
                <a:latin typeface="Comic Sans MS"/>
              </a:rPr>
              <a:t>slow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C25C37"/>
                </a:solidFill>
                <a:latin typeface="Comic Sans MS"/>
              </a:rPr>
              <a:t>fast</a:t>
            </a:r>
          </a:p>
        </p:txBody>
      </p:sp>
      <p:sp>
        <p:nvSpPr>
          <p:cNvPr id="12" name="Oval 11"/>
          <p:cNvSpPr/>
          <p:nvPr/>
        </p:nvSpPr>
        <p:spPr>
          <a:xfrm>
            <a:off x="2560320" y="201168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0848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39" y="2267712"/>
            <a:ext cx="1097281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206240" y="201168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0848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09159" y="2267712"/>
            <a:ext cx="1097281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852160" y="201168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0848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2267712"/>
            <a:ext cx="1097279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98079" y="201168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0848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57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25C7B"/>
                </a:solidFill>
                <a:latin typeface="Comic Sans MS"/>
              </a:rPr>
              <a:t>slow → 1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657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C25C37"/>
                </a:solidFill>
                <a:latin typeface="Comic Sans MS"/>
              </a:rPr>
              <a:t>fast → 2 steps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98079" y="2194560"/>
            <a:ext cx="1645921" cy="0"/>
          </a:xfrm>
          <a:prstGeom prst="line">
            <a:avLst/>
          </a:prstGeom>
          <a:ln w="38100">
            <a:solidFill>
              <a:srgbClr val="225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0" y="27432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23262A"/>
                </a:solidFill>
                <a:latin typeface="Aptos"/>
              </a:rPr>
              <a:t>fast gains 1 node
on slow every move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977639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25C7B"/>
                </a:solidFill>
                <a:latin typeface="Cascadia Mono"/>
              </a:rPr>
              <a:t>while (fast &amp;&amp; fast-&gt;next)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Pointer Movement — One Frame at 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Odd-length example: 1 → 2 → 3 → 4 →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5C7B"/>
                </a:solidFill>
                <a:latin typeface="Aptos"/>
              </a:rPr>
              <a:t>Start</a:t>
            </a:r>
          </a:p>
        </p:txBody>
      </p:sp>
      <p:sp>
        <p:nvSpPr>
          <p:cNvPr id="9" name="Oval 8"/>
          <p:cNvSpPr/>
          <p:nvPr/>
        </p:nvSpPr>
        <p:spPr>
          <a:xfrm>
            <a:off x="850392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2" y="2587752"/>
            <a:ext cx="18288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8952" y="2990087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25C7B"/>
                </a:solidFill>
                <a:latin typeface="Comic Sans MS"/>
              </a:rPr>
              <a:t>slow</a:t>
            </a:r>
          </a:p>
        </p:txBody>
      </p:sp>
      <p:sp>
        <p:nvSpPr>
          <p:cNvPr id="13" name="Oval 12"/>
          <p:cNvSpPr/>
          <p:nvPr/>
        </p:nvSpPr>
        <p:spPr>
          <a:xfrm>
            <a:off x="1417320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2587752"/>
            <a:ext cx="18288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25880" y="324612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C25C37"/>
                </a:solidFill>
                <a:latin typeface="Comic Sans MS"/>
              </a:rPr>
              <a:t>fast</a:t>
            </a:r>
          </a:p>
        </p:txBody>
      </p:sp>
      <p:sp>
        <p:nvSpPr>
          <p:cNvPr id="17" name="Oval 16"/>
          <p:cNvSpPr/>
          <p:nvPr/>
        </p:nvSpPr>
        <p:spPr>
          <a:xfrm>
            <a:off x="1984248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84248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87168" y="2587752"/>
            <a:ext cx="18288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551176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51176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54096" y="2587752"/>
            <a:ext cx="18288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118104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18104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404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25C7B"/>
                </a:solidFill>
                <a:latin typeface="Comic Sans MS"/>
              </a:rPr>
              <a:t>slow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51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25C37"/>
                </a:solidFill>
                <a:latin typeface="Comic Sans MS"/>
              </a:rPr>
              <a:t>fast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1417320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166420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5C7B"/>
                </a:solidFill>
                <a:latin typeface="Aptos"/>
              </a:rPr>
              <a:t>After 1 move</a:t>
            </a:r>
          </a:p>
        </p:txBody>
      </p:sp>
      <p:sp>
        <p:nvSpPr>
          <p:cNvPr id="29" name="Oval 28"/>
          <p:cNvSpPr/>
          <p:nvPr/>
        </p:nvSpPr>
        <p:spPr>
          <a:xfrm>
            <a:off x="4645152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148072" y="2587752"/>
            <a:ext cx="18288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212080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15000" y="2587752"/>
            <a:ext cx="18288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20640" y="2990087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25C7B"/>
                </a:solidFill>
                <a:latin typeface="Comic Sans MS"/>
              </a:rPr>
              <a:t>slow</a:t>
            </a:r>
          </a:p>
        </p:txBody>
      </p:sp>
      <p:sp>
        <p:nvSpPr>
          <p:cNvPr id="36" name="Oval 35"/>
          <p:cNvSpPr/>
          <p:nvPr/>
        </p:nvSpPr>
        <p:spPr>
          <a:xfrm>
            <a:off x="5779008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79008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81928" y="2587752"/>
            <a:ext cx="18288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45936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48856" y="2587752"/>
            <a:ext cx="18288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54496" y="324612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C25C37"/>
                </a:solidFill>
                <a:latin typeface="Comic Sans MS"/>
              </a:rPr>
              <a:t>fast</a:t>
            </a:r>
          </a:p>
        </p:txBody>
      </p:sp>
      <p:sp>
        <p:nvSpPr>
          <p:cNvPr id="43" name="Oval 42"/>
          <p:cNvSpPr/>
          <p:nvPr/>
        </p:nvSpPr>
        <p:spPr>
          <a:xfrm>
            <a:off x="6912864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12864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38404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25C7B"/>
                </a:solidFill>
                <a:latin typeface="Comic Sans MS"/>
              </a:rPr>
              <a:t>slow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4251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25C37"/>
                </a:solidFill>
                <a:latin typeface="Comic Sans MS"/>
              </a:rPr>
              <a:t>fast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83880" y="1417320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166420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5C7B"/>
                </a:solidFill>
                <a:latin typeface="Aptos"/>
              </a:rPr>
              <a:t>After 2 moves</a:t>
            </a:r>
          </a:p>
        </p:txBody>
      </p:sp>
      <p:sp>
        <p:nvSpPr>
          <p:cNvPr id="49" name="Oval 48"/>
          <p:cNvSpPr/>
          <p:nvPr/>
        </p:nvSpPr>
        <p:spPr>
          <a:xfrm>
            <a:off x="8439912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9912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942832" y="2587752"/>
            <a:ext cx="18287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9006840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6840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509760" y="2587752"/>
            <a:ext cx="18288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573768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3768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076688" y="2587752"/>
            <a:ext cx="18288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482328" y="2990087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25C7B"/>
                </a:solidFill>
                <a:latin typeface="Comic Sans MS"/>
              </a:rPr>
              <a:t>slow</a:t>
            </a:r>
          </a:p>
        </p:txBody>
      </p:sp>
      <p:sp>
        <p:nvSpPr>
          <p:cNvPr id="59" name="Oval 58"/>
          <p:cNvSpPr/>
          <p:nvPr/>
        </p:nvSpPr>
        <p:spPr>
          <a:xfrm>
            <a:off x="10140696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40696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4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643616" y="2587752"/>
            <a:ext cx="18288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707624" y="2331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07624" y="24048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16184" y="324612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C25C37"/>
                </a:solidFill>
                <a:latin typeface="Comic Sans MS"/>
              </a:rPr>
              <a:t>fast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38404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25C7B"/>
                </a:solidFill>
                <a:latin typeface="Comic Sans MS"/>
              </a:rPr>
              <a:t>slow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4251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25C37"/>
                </a:solidFill>
                <a:latin typeface="Comic Sans MS"/>
              </a:rPr>
              <a:t>fast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0" y="58978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23262A"/>
                </a:solidFill>
                <a:latin typeface="Aptos"/>
              </a:rPr>
              <a:t>When fast is at 5 → slow is at 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Dry Run — Odd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1 → 2 → 3 → 4 → 5  |  answer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2176272"/>
            <a:ext cx="10515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57860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25C7B"/>
                </a:solidFill>
                <a:latin typeface="Comic Sans MS"/>
              </a:rPr>
              <a:t>slow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C25C37"/>
                </a:solidFill>
                <a:latin typeface="Comic Sans MS"/>
              </a:rPr>
              <a:t>fast</a:t>
            </a:r>
          </a:p>
        </p:txBody>
      </p:sp>
      <p:sp>
        <p:nvSpPr>
          <p:cNvPr id="12" name="Oval 11"/>
          <p:cNvSpPr/>
          <p:nvPr/>
        </p:nvSpPr>
        <p:spPr>
          <a:xfrm>
            <a:off x="2514600" y="192024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99339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2176272"/>
            <a:ext cx="10515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114800" y="192024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99339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7720" y="2176272"/>
            <a:ext cx="10515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715000" y="192024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99339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0" y="2176272"/>
            <a:ext cx="10515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15200" y="192024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99339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971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168"/>
                </a:solidFill>
                <a:latin typeface="Aptos"/>
              </a:rPr>
              <a:t>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3262A"/>
                </a:solidFill>
                <a:latin typeface="Cascadia Mono"/>
              </a:rPr>
              <a:t>slow = 1   fast =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20240" y="3611880"/>
            <a:ext cx="1737360" cy="0"/>
          </a:xfrm>
          <a:prstGeom prst="line">
            <a:avLst/>
          </a:prstGeom>
          <a:ln w="19050">
            <a:solidFill>
              <a:srgbClr val="225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8680" y="34290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168"/>
                </a:solidFill>
                <a:latin typeface="Aptos"/>
              </a:rPr>
              <a:t>Move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5661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3262A"/>
                </a:solidFill>
                <a:latin typeface="Cascadia Mono"/>
              </a:rPr>
              <a:t>slow = 2   fast = 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0" y="4251960"/>
            <a:ext cx="1737360" cy="0"/>
          </a:xfrm>
          <a:prstGeom prst="line">
            <a:avLst/>
          </a:prstGeom>
          <a:ln w="19050">
            <a:solidFill>
              <a:srgbClr val="225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8680" y="40690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168"/>
                </a:solidFill>
                <a:latin typeface="Aptos"/>
              </a:rPr>
              <a:t>Move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062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3262A"/>
                </a:solidFill>
                <a:latin typeface="Cascadia Mono"/>
              </a:rPr>
              <a:t>slow = 3   fast = 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94760" y="4983480"/>
            <a:ext cx="4297680" cy="640080"/>
          </a:xfrm>
          <a:prstGeom prst="roundRect">
            <a:avLst/>
          </a:prstGeom>
          <a:solidFill>
            <a:srgbClr val="EBCF6F"/>
          </a:solidFill>
          <a:ln w="12700">
            <a:solidFill>
              <a:srgbClr val="225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513892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23262A"/>
                </a:solidFill>
                <a:latin typeface="Aptos"/>
              </a:rPr>
              <a:t>fast ends → slow = 3 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Dry Run — Even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1 → 2 → 3 → 4 → 5 → 6  |  answer =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733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20" y="1856232"/>
            <a:ext cx="8229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225856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25C7B"/>
                </a:solidFill>
                <a:latin typeface="Comic Sans MS"/>
              </a:rPr>
              <a:t>slow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C25C37"/>
                </a:solidFill>
                <a:latin typeface="Comic Sans MS"/>
              </a:rPr>
              <a:t>fast</a:t>
            </a:r>
          </a:p>
        </p:txBody>
      </p:sp>
      <p:sp>
        <p:nvSpPr>
          <p:cNvPr id="12" name="Oval 11"/>
          <p:cNvSpPr/>
          <p:nvPr/>
        </p:nvSpPr>
        <p:spPr>
          <a:xfrm>
            <a:off x="2057400" y="16002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6733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1856232"/>
            <a:ext cx="8229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29000" y="16002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6733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1856232"/>
            <a:ext cx="8229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800600" y="16002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6733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03520" y="1856232"/>
            <a:ext cx="8229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172200" y="16002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6733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75120" y="1856232"/>
            <a:ext cx="822959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543800" y="16002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16733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743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168"/>
                </a:solidFill>
                <a:latin typeface="Aptos"/>
              </a:rPr>
              <a:t>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2743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3262A"/>
                </a:solidFill>
                <a:latin typeface="Cascadia Mono"/>
              </a:rPr>
              <a:t>slow=1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27432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3262A"/>
                </a:solidFill>
                <a:latin typeface="Cascadia Mono"/>
              </a:rPr>
              <a:t>fast=1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3375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168"/>
                </a:solidFill>
                <a:latin typeface="Aptos"/>
              </a:rPr>
              <a:t>Move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3337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3262A"/>
                </a:solidFill>
                <a:latin typeface="Cascadia Mono"/>
              </a:rPr>
              <a:t>slow=2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3375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3262A"/>
                </a:solidFill>
                <a:latin typeface="Cascadia Mono"/>
              </a:rPr>
              <a:t>fast=3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9319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168"/>
                </a:solidFill>
                <a:latin typeface="Aptos"/>
              </a:rPr>
              <a:t>Move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3931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3262A"/>
                </a:solidFill>
                <a:latin typeface="Cascadia Mono"/>
              </a:rPr>
              <a:t>slow=3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3931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3262A"/>
                </a:solidFill>
                <a:latin typeface="Cascadia Mono"/>
              </a:rPr>
              <a:t>fast=5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5262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168"/>
                </a:solidFill>
                <a:latin typeface="Aptos"/>
              </a:rPr>
              <a:t>Move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45262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3262A"/>
                </a:solidFill>
                <a:latin typeface="Cascadia Mono"/>
              </a:rPr>
              <a:t>slow=4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45262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3262A"/>
                </a:solidFill>
                <a:latin typeface="Cascadia Mono"/>
              </a:rPr>
              <a:t>fast=null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3720" y="2743200"/>
            <a:ext cx="3931920" cy="2148840"/>
          </a:xfrm>
          <a:prstGeom prst="roundRect">
            <a:avLst/>
          </a:prstGeom>
          <a:solidFill>
            <a:srgbClr val="EBCF6F"/>
          </a:solidFill>
          <a:ln w="12700">
            <a:solidFill>
              <a:srgbClr val="225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30632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225C7B"/>
                </a:solidFill>
                <a:latin typeface="Aptos"/>
              </a:rPr>
              <a:t>Why 4?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36576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23262A"/>
                </a:solidFill>
                <a:latin typeface="Aptos"/>
              </a:rPr>
              <a:t>The loop continues while
fast AND fast-&gt;next exist.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480560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C25C37"/>
                </a:solidFill>
                <a:latin typeface="Comic Sans MS"/>
              </a:rPr>
              <a:t>That naturally returns the SECOND middle.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Optimal C++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One pass with slow &amp; fast pointers.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6400800" cy="4983480"/>
          </a:xfrm>
          <a:prstGeom prst="roundRect">
            <a:avLst/>
          </a:prstGeom>
          <a:solidFill>
            <a:srgbClr val="272B30"/>
          </a:solidFill>
          <a:ln w="12700">
            <a:solidFill>
              <a:srgbClr val="27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71600"/>
            <a:ext cx="6071616" cy="4709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scadia Mono"/>
              </a:rPr>
              <a:t>class Solution {
public:
    Node* middleNode(Node* head) {
        Node* slow = head;
        Node* fast = head;
        while (fast != nullptr &amp;&amp;
               fast-&gt;next != nullptr) {
            slow = slow-&gt;next;
            fast = fast-&gt;next-&gt;next;
        }
        return slow;
    }
};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234440"/>
            <a:ext cx="42976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002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25C7B"/>
                </a:solidFill>
                <a:latin typeface="Aptos"/>
              </a:rPr>
              <a:t>Read it like a sentence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488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3262A"/>
                </a:solidFill>
                <a:latin typeface="Cascadia Mono"/>
              </a:rPr>
              <a:t>slow =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5603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3262A"/>
                </a:solidFill>
                <a:latin typeface="Cascadia Mono"/>
              </a:rPr>
              <a:t>fast =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1546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5C7B"/>
                </a:solidFill>
                <a:latin typeface="Cascadia Mono"/>
              </a:rPr>
              <a:t>slow → +1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5661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25C37"/>
                </a:solidFill>
                <a:latin typeface="Cascadia Mono"/>
              </a:rPr>
              <a:t>fast → +2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160520"/>
            <a:ext cx="3200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stop when fast cannot
move two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0749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5754C"/>
                </a:solidFill>
                <a:latin typeface="Cascadia Mono"/>
              </a:rPr>
              <a:t>return slow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Brute Force vs Optimal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Same answer — different traversal strategy.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3035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25C7B"/>
                </a:solidFill>
                <a:latin typeface="Aptos"/>
              </a:rPr>
              <a:t>COUNT 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3262A"/>
                </a:solidFill>
                <a:latin typeface="Aptos"/>
              </a:rPr>
              <a:t>2 passes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168"/>
                </a:solidFill>
                <a:latin typeface="Aptos"/>
              </a:rP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99923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O(n)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168"/>
                </a:solidFill>
                <a:latin typeface="Aptos"/>
              </a:rPr>
              <a:t>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59359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O(1)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25C37"/>
                </a:solidFill>
                <a:latin typeface="Comic Sans MS"/>
              </a:rPr>
              <a:t>Easy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53035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373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25C7B"/>
                </a:solidFill>
                <a:latin typeface="Aptos"/>
              </a:rPr>
              <a:t>SLOW + FAST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3172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3262A"/>
                </a:solidFill>
                <a:latin typeface="Aptos"/>
              </a:rPr>
              <a:t>1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63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168"/>
                </a:solidFill>
                <a:latin typeface="Aptos"/>
              </a:rPr>
              <a:t>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99923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O(n)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576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168"/>
                </a:solidFill>
                <a:latin typeface="Aptos"/>
              </a:rPr>
              <a:t>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59359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O(1)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348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25C37"/>
                </a:solidFill>
                <a:latin typeface="Comic Sans MS"/>
              </a:rPr>
              <a:t>Classic interview pattern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Most bugs here are pointer-condition bugs.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25C37"/>
                </a:solidFill>
                <a:latin typeface="Comic Sans M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63039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3262A"/>
                </a:solidFill>
                <a:latin typeface="Aptos"/>
              </a:rPr>
              <a:t>Wrong loop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435607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168"/>
                </a:solidFill>
                <a:latin typeface="Aptos"/>
              </a:rPr>
              <a:t>Using only fast != nullptr can break even-length handling.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7919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25C37"/>
                </a:solidFill>
                <a:latin typeface="Comic Sans M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3262A"/>
                </a:solidFill>
                <a:latin typeface="Aptos"/>
              </a:rPr>
              <a:t>Move by the wrong amount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7860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168"/>
                </a:solidFill>
                <a:latin typeface="Aptos"/>
              </a:rPr>
              <a:t>slow → 1 step; fast → 2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1188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2219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25C37"/>
                </a:solidFill>
                <a:latin typeface="Comic Sans M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7490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3262A"/>
                </a:solidFill>
                <a:latin typeface="Aptos"/>
              </a:rPr>
              <a:t>Even-list confusion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2160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168"/>
                </a:solidFill>
                <a:latin typeface="Aptos"/>
              </a:rPr>
              <a:t>For 6 nodes, this version returns 4 — the second middle.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5488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6519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25C37"/>
                </a:solidFill>
                <a:latin typeface="Comic Sans M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8920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3262A"/>
                </a:solidFill>
                <a:latin typeface="Aptos"/>
              </a:rPr>
              <a:t>Dereferencing null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6460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168"/>
                </a:solidFill>
                <a:latin typeface="Aptos"/>
              </a:rPr>
              <a:t>Check fast-&gt;next before using fast-&gt;next-&gt;next.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Interview Pattern — Slow &amp; Fast Pointers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This is bigger than finding the middle.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25C7B"/>
                </a:solidFill>
                <a:latin typeface="Aptos"/>
              </a:rPr>
              <a:t>Middle of Linked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23262A"/>
                </a:solidFill>
                <a:latin typeface="Aptos"/>
              </a:rPr>
              <a:t>fast reaches end → slow reaches middle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69164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25C7B"/>
                </a:solidFill>
                <a:latin typeface="Aptos"/>
              </a:rPr>
              <a:t>Cycle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24028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23262A"/>
                </a:solidFill>
                <a:latin typeface="Aptos"/>
              </a:rPr>
              <a:t>fast and slow may meet inside a 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840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25C7B"/>
                </a:solidFill>
                <a:latin typeface="Aptos"/>
              </a:rPr>
              <a:t>Nth Node from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8912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23262A"/>
                </a:solidFill>
                <a:latin typeface="Aptos"/>
              </a:rPr>
              <a:t>two pointers maintain a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56616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3840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25C7B"/>
                </a:solidFill>
                <a:latin typeface="Aptos"/>
              </a:rPr>
              <a:t>Palindrome Linked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38912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23262A"/>
                </a:solidFill>
                <a:latin typeface="Aptos"/>
              </a:rPr>
              <a:t>find middle, then compare halves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57150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C25C37"/>
                </a:solidFill>
                <a:latin typeface="Comic Sans MS"/>
              </a:rPr>
              <a:t>Interview cue: “Can two pointers move at different speeds?”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LeetCode 876 — Middle of the Linked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A natural practice problem for this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492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25C7B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5577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23262A"/>
                </a:solidFill>
                <a:latin typeface="Aptos"/>
              </a:rPr>
              <a:t>Given the head of a singly linked list,
return its middle 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5394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If there are two middle nodes,
return the second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720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168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45537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C25C37"/>
                </a:solidFill>
                <a:latin typeface="Cascadia Mono"/>
              </a:rPr>
              <a:t>1 → 2 → 3 → 4 → 5 → 6  → 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371600"/>
            <a:ext cx="3977639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17830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25C7B"/>
                </a:solidFill>
                <a:latin typeface="Aptos"/>
              </a:rPr>
              <a:t>Pattern to 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46888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3262A"/>
                </a:solidFill>
                <a:latin typeface="Comic Sans MS"/>
              </a:rPr>
              <a:t>slow = 1 step
fast = 2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749039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3262A"/>
                </a:solidFill>
                <a:latin typeface="Aptos"/>
              </a:rPr>
              <a:t>Loop until fast
cannot move two steps.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8006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5754C"/>
                </a:solidFill>
                <a:latin typeface="Comic Sans MS"/>
              </a:rPr>
              <a:t>Then return slow.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Quick Challenge — Think Before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Try the pointer states mentally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10789920" cy="1143000"/>
          </a:xfrm>
          <a:prstGeom prst="roundRect">
            <a:avLst/>
          </a:prstGeom>
          <a:solidFill>
            <a:srgbClr val="EBCF6F"/>
          </a:solidFill>
          <a:ln w="12700">
            <a:solidFill>
              <a:srgbClr val="225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23262A"/>
                </a:solidFill>
                <a:latin typeface="Aptos"/>
              </a:rPr>
              <a:t>List: 10 → 20 → 30 → 40 → 50 → 60 → 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88920"/>
            <a:ext cx="5074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25C7B"/>
                </a:solidFill>
                <a:latin typeface="Aptos"/>
              </a:rPr>
              <a:t>Question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3262A"/>
                </a:solidFill>
                <a:latin typeface="Aptos"/>
              </a:rPr>
              <a:t>Where is slow after
2 loop iterations?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78892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1089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25C7B"/>
                </a:solidFill>
                <a:latin typeface="Aptos"/>
              </a:rPr>
              <a:t>Question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657600"/>
            <a:ext cx="4297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3262A"/>
                </a:solidFill>
                <a:latin typeface="Aptos"/>
              </a:rPr>
              <a:t>Which node should be
returned for 7 nodes?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56235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C25C37"/>
                </a:solidFill>
                <a:latin typeface="Comic Sans MS"/>
              </a:rPr>
              <a:t>Hint: simulate slow +1, fast +2.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3262A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168"/>
                </a:solidFill>
                <a:latin typeface="Aptos"/>
              </a:rPr>
              <a:t>The pattern is simple once the movement is clear.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225C7B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C25C37"/>
                </a:solidFill>
                <a:latin typeface="Comic Sans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25880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Middle = position revealed by traversal.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C25C37"/>
                </a:solidFill>
                <a:latin typeface="Comic Sans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67128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Count-nodes approach needs two passes.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0837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C25C37"/>
                </a:solidFill>
                <a:latin typeface="Comic Sans M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008376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262A"/>
                </a:solidFill>
                <a:latin typeface="Aptos"/>
              </a:rPr>
              <a:t>Slow/fast finds the middle in one pass.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49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C25C37"/>
                </a:solidFill>
                <a:latin typeface="Comic Sans M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49624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3262A"/>
                </a:solidFill>
                <a:latin typeface="Aptos"/>
              </a:rPr>
              <a:t>For even length, this loop returns the second middle.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908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C25C37"/>
                </a:solidFill>
                <a:latin typeface="Comic Sans M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90872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3262A"/>
                </a:solidFill>
                <a:latin typeface="Aptos"/>
              </a:rPr>
              <a:t>Remember the pattern — it appears in many linked-list problems.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5532120"/>
            <a:ext cx="82296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566928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225C7B"/>
                </a:solidFill>
                <a:latin typeface="Aptos"/>
              </a:rPr>
              <a:t>One pass + O(1) extra space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25C7B"/>
                </a:solidFill>
                <a:latin typeface="Aptos"/>
              </a:rPr>
              <a:t>DAY 45 COMPLETE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7315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1">
                <a:solidFill>
                  <a:srgbClr val="23262A"/>
                </a:solidFill>
                <a:latin typeface="Aptos"/>
              </a:rPr>
              <a:t>“One pointer finds the middle.
Two pointers find it efficiently.”</a:t>
            </a:r>
          </a:p>
        </p:txBody>
      </p:sp>
      <p:sp>
        <p:nvSpPr>
          <p:cNvPr id="4" name="Oval 3"/>
          <p:cNvSpPr/>
          <p:nvPr/>
        </p:nvSpPr>
        <p:spPr>
          <a:xfrm>
            <a:off x="7818120" y="18288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9019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321040" y="2084832"/>
            <a:ext cx="3657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732520" y="18288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9019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235440" y="2084832"/>
            <a:ext cx="3657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46920" y="1828800"/>
            <a:ext cx="502920" cy="502920"/>
          </a:xfrm>
          <a:prstGeom prst="ellipse">
            <a:avLst/>
          </a:prstGeom>
          <a:solidFill>
            <a:srgbClr val="EBCF6F"/>
          </a:solidFill>
          <a:ln w="25400">
            <a:solidFill>
              <a:srgbClr val="225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20" y="19019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149840" y="2084832"/>
            <a:ext cx="3657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561320" y="18288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9019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064240" y="2084832"/>
            <a:ext cx="365760" cy="0"/>
          </a:xfrm>
          <a:prstGeom prst="line">
            <a:avLst/>
          </a:prstGeom>
          <a:ln w="19050">
            <a:solidFill>
              <a:srgbClr val="232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1475720" y="182880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75720" y="190195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5603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25C7B"/>
                </a:solidFill>
                <a:latin typeface="Comic Sans MS"/>
              </a:rPr>
              <a:t>slow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25C37"/>
                </a:solidFill>
                <a:latin typeface="Aptos"/>
              </a:rPr>
              <a:t>Tomorrow → DAY 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3262A"/>
                </a:solidFill>
                <a:latin typeface="Aptos"/>
              </a:rPr>
              <a:t>DETECT CYCLE IN A LINKED 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5B6168"/>
                </a:solidFill>
                <a:latin typeface="Comic Sans MS"/>
              </a:rPr>
              <a:t>Floyd’s Cycle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2120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25C7B"/>
                </a:solidFill>
                <a:latin typeface="Comic Sans MS"/>
              </a:rPr>
              <a:t>Continue the Linked List series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168"/>
                </a:solidFill>
                <a:latin typeface="Aptos"/>
              </a:rPr>
              <a:t>DSA From Scratch → Advanced  •  DAY 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510528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225C7B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